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me présente, je nomme Briefly et le titre. L'entreprise d'accueil est Drif Consult. J'annonce que je pars du contexte, puis du besoin, avant de montrer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lis les six parties sans les détailler. Le fil est le suivant : d'où vient le besoin, comment il a été spécifié, comment l'application est construite, ce qui est en ligne.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ne lis pas les onze compétences. Je dis que le projet couvre les trois activités du titre : développer, concevoir en couches, préparer la mise en production. Le détail est dans le tableau 1.2 du mémoire.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L'alternance est rattachée à Drif Consult, avec Yasser comme tuteur. J'ai travaillé sur Roman.ai, sur le front-end et sur le parrainage. Je précise tout de suite que Briefly est mon application de mémoire, pas une brique de Roman.ai. Je ne développe pas le produit de l'entreprise.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lis la question, puis je la découpe : organisation fermée, tâche, deux supports, rôles. Le stand-up est le problème. Il n'existe pas d'objet brief séparé : la tâche porte l'avancement. Les quatre pastilles décrivent le constat, pas un incident chez Roman.ai.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outil par colonne, une limite, puis la phrase du bandeau. Monday et Linear restent dans le mémoire, tableau 1.1. Je ne fais pas un benchmark de cinq produits à l'oral.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dis le nom, pour qui, et que le stand-up tient dans la tâche. Les quatre cartes sont les fonctions réelles. J'annonce les trois rôles, détaillés juste après.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is_team_lead est le drapeau de team_user. Un compte peut diriger plusieurs équipes. Une équipe n'a qu'un chef à la fois. Quand l'administrateur en désigne un, le serveur met les autres drapeaux de cette équipe à faux. La table n'a pas de contrainte d'unicité.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lis un cas par acteur. L'administrateur crée le projet et y affecte une équipe. Le chef définit les tâches et les assigne. Le membre gère les tâches qui lui sont assignées. Les six slides suivantes reprennent chaque personne, les fonctions, puis les cas du schéma.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parle à la première personne, une phrase par rôle. Le détail de chaque journée vient juste après. Si on me demande le chef unique : is_team_lead est un booléen, et le serveur remet les autres drapeaux de l'équipe à faux.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reste sur le geste du membre : le point d'avancement. Je distingue le taux du tableau de bord et le pourcentage du statut.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J'insiste sur deux limites. L'assigné doit appartenir à l'équipe. La fiche membre n'est visible que si le chef dirige une équipe en commun.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L'administrateur tient la structure. Il ne fait pas le stand-up. Un compte nouveau est membre, puis le rôle suit les équipes qu'il dirige.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regroupe les fonctions par ce que la personne vient faire, pas par écran. La première carte est commune aux trois rôles. Les trois autres suivent le membre, le chef, l'administrateur.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reviens au diagramme des cas, montré avant ces journées, et je lis un cas par acteur. J'explique l'include du projet, l'include de l'assignation, et la note seulement si la tâche est bloquée.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ne lis pas chaque date. L'ordre : accès, membre, chef, administration, tests, mobile. Le sprint 5 dure treize semaines, je le dis. Entre le 25 juillet et le 1er septembre, pas de sprint. La mêlée Scrum n'est pas le stand-up que l'application outille.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marche le schéma. Le cas que je retiens est le refus : tâche bloquée sans note. Le mobile subit la même règle, parce que la validation est sur le serveur. Chaque point reste dans l'historique, il n'y a pas de table brief.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pivot team_user relie plusieurs comptes à une équipe. Un seul is_team_lead reste vrai. Je distingue ensuite le taux du tableau de bord et le pourcentage du statut.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lis les sept tables du métier. team_user porte plusieurs comptes, et le drapeau de chef. La base n'empêche pas deux drapeaux vrais. Le serveur remet les autres à faux quand on nomme un chef. tasks.assigned_to pointe vers un compte, task_updates est l'historique du point. progress_done et progress_next sont le réalisé et l'à venir. Je ne dessine pas les tables techniques de session, de cache et de mot de passe oublié.</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dis pourquoi une seule fois : la validation, les politiques et le métier ne sont pas recopiés dans le téléphone. Le serveur choisit la page ou les données. Les clients ne parlent jamais à la base.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écran, une phrase. Chef : je vois ce qui bloque. Membre : je remplis réalisé et à venir. Admin : je vois les équipes, les projets et le taux global. Français et anglais, thème clair et sombre, si on me le demande. Je peux aussi ouvrir https://lamraoui.alwaysdata.net.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n'est pas une maquette. L'application est installée sur un iPhone en release, URL https://lamraoui.alwaysdata.net. Les droits ne sont pas réécrits dans Flutter. Le contrôle de la note sur le téléphone est un confort. Le serveur reste l'autorité.</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choisis une protection et je la tiens. Si on me demande le mot de passe oublié : le parcours existe, En production, le courriel de réinitialisation est écrit dans le journal, il n'est pas envoyé. Je dis les deux limites avant qu'on me les trouve : pas de plafond sur les tentatives, jetons sans expiration.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prends le cas du blocage sans note, parce qu'il porte le métier. Les refus d'accès et les saisies refusées sont dans les tableaux 4.4 à 4.8. Mot de passe oublié, profil, se souvenir de moi et thème sont réalisés, ils ne sont pas tous dans cette suite. Je le dis si on me le demande, je ne l'annonce pas.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J'ouvre le site si le réseau le permet, sinon je reste sur les captures. Le seeder ne tourne pas en production. Un administrateur a été créé à la main pour les essais. Le job CI ne déploie pas tout seul : la mise en ligne reste manuelle. C'est une piste, pas un oubli caché.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reviens à la question de la slide 5 et je coche les quatre bouts. Les pastilles de droite ne sont pas dans l'application. Je le dis, puis je passe à la dernière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lis la phrase, je m'arrête, j'attends la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01 Forme"/>
          <p:cNvSpPr/>
          <p:nvPr/>
        </p:nvSpPr>
        <p:spPr>
          <a:xfrm>
            <a:off x="8366760" y="0"/>
            <a:ext cx="3824935" cy="6858000"/>
          </a:xfrm>
          <a:prstGeom prst="rect">
            <a:avLst/>
          </a:prstGeom>
          <a:solidFill>
            <a:srgbClr val="F6E8ED"/>
          </a:solidFill>
          <a:ln>
            <a:noFill/>
          </a:ln>
        </p:spPr>
        <p:txBody>
          <a:bodyPr rtlCol="0" anchor="ctr"/>
          <a:lstStyle/>
          <a:p>
            <a:pPr algn="ctr"/>
          </a:p>
        </p:txBody>
      </p:sp>
      <p:sp>
        <p:nvSpPr>
          <p:cNvPr id="3" name="01 Forme 2"/>
          <p:cNvSpPr/>
          <p:nvPr/>
        </p:nvSpPr>
        <p:spPr>
          <a:xfrm>
            <a:off x="8366760" y="0"/>
            <a:ext cx="64008" cy="6858000"/>
          </a:xfrm>
          <a:prstGeom prst="rect">
            <a:avLst/>
          </a:prstGeom>
          <a:solidFill>
            <a:srgbClr val="8B4D5C"/>
          </a:solidFill>
          <a:ln>
            <a:noFill/>
          </a:ln>
        </p:spPr>
        <p:txBody>
          <a:bodyPr rtlCol="0" anchor="ctr"/>
          <a:lstStyle/>
          <a:p>
            <a:pPr algn="ctr"/>
          </a:p>
        </p:txBody>
      </p:sp>
      <p:pic>
        <p:nvPicPr>
          <p:cNvPr id="4" name="01 Image" descr="logo-adg-education.png"/>
          <p:cNvPicPr>
            <a:picLocks noChangeAspect="1"/>
          </p:cNvPicPr>
          <p:nvPr/>
        </p:nvPicPr>
        <p:blipFill>
          <a:blip r:embed="rId2"/>
          <a:stretch>
            <a:fillRect/>
          </a:stretch>
        </p:blipFill>
        <p:spPr>
          <a:xfrm>
            <a:off x="530352" y="384048"/>
            <a:ext cx="1143000" cy="731520"/>
          </a:xfrm>
          <a:prstGeom prst="rect">
            <a:avLst/>
          </a:prstGeom>
        </p:spPr>
      </p:pic>
      <p:sp>
        <p:nvSpPr>
          <p:cNvPr id="5" name="01 ADG Education  ·  Campus Paris"/>
          <p:cNvSpPr txBox="1"/>
          <p:nvPr/>
        </p:nvSpPr>
        <p:spPr>
          <a:xfrm>
            <a:off x="1828800" y="475488"/>
            <a:ext cx="6035040" cy="256032"/>
          </a:xfrm>
          <a:prstGeom prst="rect">
            <a:avLst/>
          </a:prstGeom>
          <a:noFill/>
        </p:spPr>
        <p:txBody>
          <a:bodyPr wrap="square" lIns="0" rIns="0" tIns="0" bIns="0" anchor="t"/>
          <a:lstStyle/>
          <a:p>
            <a:pPr algn="l"/>
            <a:r>
              <a:rPr sz="1300" b="0" i="0">
                <a:solidFill>
                  <a:srgbClr val="5E4E53"/>
                </a:solidFill>
                <a:latin typeface="Arial"/>
              </a:rPr>
              <a:t>ADG Education  ·  Campus Paris</a:t>
            </a:r>
          </a:p>
        </p:txBody>
      </p:sp>
      <p:sp>
        <p:nvSpPr>
          <p:cNvPr id="6" name="01 Titre professionnel CDA  ·  RNCP 37873…"/>
          <p:cNvSpPr txBox="1"/>
          <p:nvPr/>
        </p:nvSpPr>
        <p:spPr>
          <a:xfrm>
            <a:off x="1828800" y="749808"/>
            <a:ext cx="6217920" cy="256032"/>
          </a:xfrm>
          <a:prstGeom prst="rect">
            <a:avLst/>
          </a:prstGeom>
          <a:noFill/>
        </p:spPr>
        <p:txBody>
          <a:bodyPr wrap="square" lIns="0" rIns="0" tIns="0" bIns="0" anchor="t"/>
          <a:lstStyle/>
          <a:p>
            <a:pPr algn="l"/>
            <a:r>
              <a:rPr sz="1300" b="0" i="0">
                <a:solidFill>
                  <a:srgbClr val="5E4E53"/>
                </a:solidFill>
                <a:latin typeface="Arial"/>
              </a:rPr>
              <a:t>Titre professionnel CDA  ·  RNCP 37873  ·  niveau 6</a:t>
            </a:r>
          </a:p>
        </p:txBody>
      </p:sp>
      <p:sp>
        <p:nvSpPr>
          <p:cNvPr id="7" name="01 Briefly"/>
          <p:cNvSpPr txBox="1"/>
          <p:nvPr/>
        </p:nvSpPr>
        <p:spPr>
          <a:xfrm>
            <a:off x="530352" y="1965960"/>
            <a:ext cx="7498079" cy="868680"/>
          </a:xfrm>
          <a:prstGeom prst="rect">
            <a:avLst/>
          </a:prstGeom>
          <a:noFill/>
        </p:spPr>
        <p:txBody>
          <a:bodyPr wrap="square" lIns="0" rIns="0" tIns="0" bIns="0" anchor="t"/>
          <a:lstStyle/>
          <a:p>
            <a:pPr algn="l"/>
            <a:r>
              <a:rPr sz="6000" b="1" i="0">
                <a:solidFill>
                  <a:srgbClr val="8B4D5C"/>
                </a:solidFill>
                <a:latin typeface="Arial"/>
              </a:rPr>
              <a:t>Briefly</a:t>
            </a:r>
          </a:p>
        </p:txBody>
      </p:sp>
      <p:sp>
        <p:nvSpPr>
          <p:cNvPr id="8" name="01 Conception et développement d'une appli…"/>
          <p:cNvSpPr txBox="1"/>
          <p:nvPr/>
        </p:nvSpPr>
        <p:spPr>
          <a:xfrm>
            <a:off x="502920" y="2926080"/>
            <a:ext cx="7498079" cy="868680"/>
          </a:xfrm>
          <a:prstGeom prst="rect">
            <a:avLst/>
          </a:prstGeom>
          <a:noFill/>
        </p:spPr>
        <p:txBody>
          <a:bodyPr wrap="square" lIns="18288" rIns="18288" tIns="18288" bIns="18288" anchor="t"/>
          <a:lstStyle/>
          <a:p>
            <a:pPr algn="l">
              <a:spcBef>
                <a:spcPts val="0"/>
              </a:spcBef>
              <a:spcAft>
                <a:spcPts val="200"/>
              </a:spcAft>
            </a:pPr>
            <a:r>
              <a:rPr sz="2000" b="0" i="0">
                <a:solidFill>
                  <a:srgbClr val="1A1A1A"/>
                </a:solidFill>
                <a:latin typeface="Arial"/>
              </a:rPr>
              <a:t>Conception et développement d'une application</a:t>
            </a:r>
          </a:p>
          <a:p>
            <a:pPr algn="l">
              <a:spcBef>
                <a:spcPts val="0"/>
              </a:spcBef>
              <a:spcAft>
                <a:spcPts val="0"/>
              </a:spcAft>
            </a:pPr>
            <a:r>
              <a:rPr sz="2000" b="0" i="0">
                <a:solidFill>
                  <a:srgbClr val="1A1A1A"/>
                </a:solidFill>
                <a:latin typeface="Arial"/>
              </a:rPr>
              <a:t>web et mobile de suivi de l'avancement des équipes</a:t>
            </a:r>
          </a:p>
        </p:txBody>
      </p:sp>
      <p:sp>
        <p:nvSpPr>
          <p:cNvPr id="9" name="01 Forme 3"/>
          <p:cNvSpPr/>
          <p:nvPr/>
        </p:nvSpPr>
        <p:spPr>
          <a:xfrm>
            <a:off x="530352" y="3977639"/>
            <a:ext cx="1554480" cy="41148"/>
          </a:xfrm>
          <a:prstGeom prst="rect">
            <a:avLst/>
          </a:prstGeom>
          <a:solidFill>
            <a:srgbClr val="8B4D5C"/>
          </a:solidFill>
          <a:ln>
            <a:noFill/>
          </a:ln>
        </p:spPr>
        <p:txBody>
          <a:bodyPr rtlCol="0" anchor="ctr"/>
          <a:lstStyle/>
          <a:p>
            <a:pPr algn="ctr"/>
          </a:p>
        </p:txBody>
      </p:sp>
      <p:sp>
        <p:nvSpPr>
          <p:cNvPr id="10" name="01 Mémoire de fin de formation"/>
          <p:cNvSpPr txBox="1"/>
          <p:nvPr/>
        </p:nvSpPr>
        <p:spPr>
          <a:xfrm>
            <a:off x="530352" y="4160520"/>
            <a:ext cx="5486400" cy="320040"/>
          </a:xfrm>
          <a:prstGeom prst="rect">
            <a:avLst/>
          </a:prstGeom>
          <a:noFill/>
        </p:spPr>
        <p:txBody>
          <a:bodyPr wrap="square" lIns="0" rIns="0" tIns="0" bIns="0" anchor="t"/>
          <a:lstStyle/>
          <a:p>
            <a:pPr algn="l"/>
            <a:r>
              <a:rPr sz="1400" b="0" i="0">
                <a:solidFill>
                  <a:srgbClr val="5E4E53"/>
                </a:solidFill>
                <a:latin typeface="Arial"/>
              </a:rPr>
              <a:t>Mémoire de fin de formation</a:t>
            </a:r>
          </a:p>
        </p:txBody>
      </p:sp>
      <p:sp>
        <p:nvSpPr>
          <p:cNvPr id="11" name="01 Soutenance Chiraz Lamraoui Drif Consult…"/>
          <p:cNvSpPr txBox="1"/>
          <p:nvPr/>
        </p:nvSpPr>
        <p:spPr>
          <a:xfrm>
            <a:off x="8686800" y="1417320"/>
            <a:ext cx="3108960" cy="4206240"/>
          </a:xfrm>
          <a:prstGeom prst="rect">
            <a:avLst/>
          </a:prstGeom>
          <a:noFill/>
        </p:spPr>
        <p:txBody>
          <a:bodyPr wrap="square" lIns="18288" rIns="18288" tIns="18288" bIns="18288" anchor="t"/>
          <a:lstStyle/>
          <a:p>
            <a:pPr algn="l">
              <a:spcBef>
                <a:spcPts val="0"/>
              </a:spcBef>
              <a:spcAft>
                <a:spcPts val="1000"/>
              </a:spcAft>
            </a:pPr>
            <a:r>
              <a:rPr sz="1200" b="1" i="0">
                <a:solidFill>
                  <a:srgbClr val="8B4D5C"/>
                </a:solidFill>
                <a:latin typeface="Arial"/>
              </a:rPr>
              <a:t>Soutenance</a:t>
            </a:r>
          </a:p>
          <a:p>
            <a:pPr algn="l">
              <a:spcBef>
                <a:spcPts val="0"/>
              </a:spcBef>
              <a:spcAft>
                <a:spcPts val="1600"/>
              </a:spcAft>
            </a:pPr>
            <a:r>
              <a:rPr sz="2000" b="1" i="0">
                <a:solidFill>
                  <a:srgbClr val="1A1A1A"/>
                </a:solidFill>
                <a:latin typeface="Arial"/>
              </a:rPr>
              <a:t>Chiraz Lamraoui</a:t>
            </a:r>
          </a:p>
          <a:p>
            <a:pPr algn="l">
              <a:spcBef>
                <a:spcPts val="0"/>
              </a:spcBef>
              <a:spcAft>
                <a:spcPts val="800"/>
              </a:spcAft>
            </a:pPr>
            <a:r>
              <a:rPr sz="1500" b="0" i="0">
                <a:solidFill>
                  <a:srgbClr val="1A1A1A"/>
                </a:solidFill>
                <a:latin typeface="Arial"/>
              </a:rPr>
              <a:t>Drif Consult</a:t>
            </a:r>
          </a:p>
          <a:p>
            <a:pPr algn="l">
              <a:spcBef>
                <a:spcPts val="0"/>
              </a:spcBef>
              <a:spcAft>
                <a:spcPts val="100"/>
              </a:spcAft>
            </a:pPr>
            <a:r>
              <a:rPr sz="1200" b="1" i="0">
                <a:solidFill>
                  <a:srgbClr val="8B4D5C"/>
                </a:solidFill>
                <a:latin typeface="Arial"/>
              </a:rPr>
              <a:t>Tuteur</a:t>
            </a:r>
          </a:p>
          <a:p>
            <a:pPr algn="l">
              <a:spcBef>
                <a:spcPts val="0"/>
              </a:spcBef>
              <a:spcAft>
                <a:spcPts val="1000"/>
              </a:spcAft>
            </a:pPr>
            <a:r>
              <a:rPr sz="1400" b="0" i="0">
                <a:solidFill>
                  <a:srgbClr val="1A1A1A"/>
                </a:solidFill>
                <a:latin typeface="Arial"/>
              </a:rPr>
              <a:t>Yasser El Habib Drif</a:t>
            </a:r>
          </a:p>
          <a:p>
            <a:pPr algn="l">
              <a:spcBef>
                <a:spcPts val="0"/>
              </a:spcBef>
              <a:spcAft>
                <a:spcPts val="100"/>
              </a:spcAft>
            </a:pPr>
            <a:r>
              <a:rPr sz="1200" b="1" i="0">
                <a:solidFill>
                  <a:srgbClr val="8B4D5C"/>
                </a:solidFill>
                <a:latin typeface="Arial"/>
              </a:rPr>
              <a:t>Enseignant</a:t>
            </a:r>
          </a:p>
          <a:p>
            <a:pPr algn="l">
              <a:spcBef>
                <a:spcPts val="0"/>
              </a:spcBef>
              <a:spcAft>
                <a:spcPts val="1400"/>
              </a:spcAft>
            </a:pPr>
            <a:r>
              <a:rPr sz="1400" b="0" i="0">
                <a:solidFill>
                  <a:srgbClr val="1A1A1A"/>
                </a:solidFill>
                <a:latin typeface="Arial"/>
              </a:rPr>
              <a:t>Anis Benammar</a:t>
            </a:r>
          </a:p>
          <a:p>
            <a:pPr algn="l">
              <a:spcBef>
                <a:spcPts val="0"/>
              </a:spcBef>
              <a:spcAft>
                <a:spcPts val="0"/>
              </a:spcAft>
            </a:pPr>
            <a:r>
              <a:rPr sz="1400" b="1" i="0">
                <a:solidFill>
                  <a:srgbClr val="6E3A48"/>
                </a:solidFill>
                <a:latin typeface="Arial"/>
              </a:rPr>
              <a:t>27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02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02 DÉROULÉ"/>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DÉROULÉ</a:t>
            </a:r>
          </a:p>
        </p:txBody>
      </p:sp>
      <p:sp>
        <p:nvSpPr>
          <p:cNvPr id="4" name="02 Plan de la soutenance"/>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Plan de la soutenance</a:t>
            </a:r>
          </a:p>
        </p:txBody>
      </p:sp>
      <p:sp>
        <p:nvSpPr>
          <p:cNvPr id="5" name="02 Forme 2"/>
          <p:cNvSpPr/>
          <p:nvPr/>
        </p:nvSpPr>
        <p:spPr>
          <a:xfrm>
            <a:off x="457200" y="1371600"/>
            <a:ext cx="3611880" cy="21488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02 Forme 3"/>
          <p:cNvSpPr/>
          <p:nvPr/>
        </p:nvSpPr>
        <p:spPr>
          <a:xfrm>
            <a:off x="603504" y="1572768"/>
            <a:ext cx="50292" cy="1737360"/>
          </a:xfrm>
          <a:prstGeom prst="rect">
            <a:avLst/>
          </a:prstGeom>
          <a:solidFill>
            <a:srgbClr val="8B4D5C"/>
          </a:solidFill>
          <a:ln>
            <a:noFill/>
          </a:ln>
        </p:spPr>
        <p:txBody>
          <a:bodyPr rtlCol="0" anchor="ctr"/>
          <a:lstStyle/>
          <a:p>
            <a:pPr algn="ctr"/>
          </a:p>
        </p:txBody>
      </p:sp>
      <p:sp>
        <p:nvSpPr>
          <p:cNvPr id="7" name="02 01"/>
          <p:cNvSpPr txBox="1"/>
          <p:nvPr/>
        </p:nvSpPr>
        <p:spPr>
          <a:xfrm>
            <a:off x="804672" y="1554480"/>
            <a:ext cx="1280160" cy="347472"/>
          </a:xfrm>
          <a:prstGeom prst="rect">
            <a:avLst/>
          </a:prstGeom>
          <a:noFill/>
        </p:spPr>
        <p:txBody>
          <a:bodyPr wrap="square" lIns="0" rIns="0" tIns="0" bIns="0" anchor="t"/>
          <a:lstStyle/>
          <a:p>
            <a:pPr algn="l"/>
            <a:r>
              <a:rPr sz="1800" b="1" i="0">
                <a:solidFill>
                  <a:srgbClr val="8B4D5C"/>
                </a:solidFill>
                <a:latin typeface="Arial"/>
              </a:rPr>
              <a:t>01</a:t>
            </a:r>
          </a:p>
        </p:txBody>
      </p:sp>
      <p:sp>
        <p:nvSpPr>
          <p:cNvPr id="8" name="02 Contexte"/>
          <p:cNvSpPr txBox="1"/>
          <p:nvPr/>
        </p:nvSpPr>
        <p:spPr>
          <a:xfrm>
            <a:off x="804672" y="1938528"/>
            <a:ext cx="3017520" cy="502920"/>
          </a:xfrm>
          <a:prstGeom prst="rect">
            <a:avLst/>
          </a:prstGeom>
          <a:noFill/>
        </p:spPr>
        <p:txBody>
          <a:bodyPr wrap="square" lIns="0" rIns="0" tIns="0" bIns="0" anchor="t"/>
          <a:lstStyle/>
          <a:p>
            <a:pPr algn="l"/>
            <a:r>
              <a:rPr sz="1800" b="1" i="0">
                <a:solidFill>
                  <a:srgbClr val="1A1A1A"/>
                </a:solidFill>
                <a:latin typeface="Arial"/>
              </a:rPr>
              <a:t>Contexte</a:t>
            </a:r>
          </a:p>
        </p:txBody>
      </p:sp>
      <p:sp>
        <p:nvSpPr>
          <p:cNvPr id="9" name="02 L'alternance, le constat, la question,…"/>
          <p:cNvSpPr txBox="1"/>
          <p:nvPr/>
        </p:nvSpPr>
        <p:spPr>
          <a:xfrm>
            <a:off x="804672" y="2514600"/>
            <a:ext cx="3017520" cy="822960"/>
          </a:xfrm>
          <a:prstGeom prst="rect">
            <a:avLst/>
          </a:prstGeom>
          <a:noFill/>
        </p:spPr>
        <p:txBody>
          <a:bodyPr wrap="square" lIns="0" rIns="0" tIns="0" bIns="0" anchor="t"/>
          <a:lstStyle/>
          <a:p>
            <a:pPr algn="l"/>
            <a:r>
              <a:rPr sz="1400" b="0" i="0">
                <a:solidFill>
                  <a:srgbClr val="5E4E53"/>
                </a:solidFill>
                <a:latin typeface="Arial"/>
              </a:rPr>
              <a:t>L'alternance, le constat, la question, ce que les outils du marché ne couvrent pas.</a:t>
            </a:r>
          </a:p>
        </p:txBody>
      </p:sp>
      <p:sp>
        <p:nvSpPr>
          <p:cNvPr id="10" name="02 Forme 4"/>
          <p:cNvSpPr/>
          <p:nvPr/>
        </p:nvSpPr>
        <p:spPr>
          <a:xfrm>
            <a:off x="4297680" y="1371600"/>
            <a:ext cx="3611880" cy="21488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1" name="02 Forme 5"/>
          <p:cNvSpPr/>
          <p:nvPr/>
        </p:nvSpPr>
        <p:spPr>
          <a:xfrm>
            <a:off x="4443984" y="1572768"/>
            <a:ext cx="50292" cy="1737360"/>
          </a:xfrm>
          <a:prstGeom prst="rect">
            <a:avLst/>
          </a:prstGeom>
          <a:solidFill>
            <a:srgbClr val="8B4D5C"/>
          </a:solidFill>
          <a:ln>
            <a:noFill/>
          </a:ln>
        </p:spPr>
        <p:txBody>
          <a:bodyPr rtlCol="0" anchor="ctr"/>
          <a:lstStyle/>
          <a:p>
            <a:pPr algn="ctr"/>
          </a:p>
        </p:txBody>
      </p:sp>
      <p:sp>
        <p:nvSpPr>
          <p:cNvPr id="12" name="02 02"/>
          <p:cNvSpPr txBox="1"/>
          <p:nvPr/>
        </p:nvSpPr>
        <p:spPr>
          <a:xfrm>
            <a:off x="4645152" y="1554480"/>
            <a:ext cx="1280160" cy="347472"/>
          </a:xfrm>
          <a:prstGeom prst="rect">
            <a:avLst/>
          </a:prstGeom>
          <a:noFill/>
        </p:spPr>
        <p:txBody>
          <a:bodyPr wrap="square" lIns="0" rIns="0" tIns="0" bIns="0" anchor="t"/>
          <a:lstStyle/>
          <a:p>
            <a:pPr algn="l"/>
            <a:r>
              <a:rPr sz="1800" b="1" i="0">
                <a:solidFill>
                  <a:srgbClr val="8B4D5C"/>
                </a:solidFill>
                <a:latin typeface="Arial"/>
              </a:rPr>
              <a:t>02</a:t>
            </a:r>
          </a:p>
        </p:txBody>
      </p:sp>
      <p:sp>
        <p:nvSpPr>
          <p:cNvPr id="13" name="02 Besoins et méthode"/>
          <p:cNvSpPr txBox="1"/>
          <p:nvPr/>
        </p:nvSpPr>
        <p:spPr>
          <a:xfrm>
            <a:off x="4645152" y="1938528"/>
            <a:ext cx="3017520" cy="502920"/>
          </a:xfrm>
          <a:prstGeom prst="rect">
            <a:avLst/>
          </a:prstGeom>
          <a:noFill/>
        </p:spPr>
        <p:txBody>
          <a:bodyPr wrap="square" lIns="0" rIns="0" tIns="0" bIns="0" anchor="t"/>
          <a:lstStyle/>
          <a:p>
            <a:pPr algn="l"/>
            <a:r>
              <a:rPr sz="1800" b="1" i="0">
                <a:solidFill>
                  <a:srgbClr val="1A1A1A"/>
                </a:solidFill>
                <a:latin typeface="Arial"/>
              </a:rPr>
              <a:t>Besoins et méthode</a:t>
            </a:r>
          </a:p>
        </p:txBody>
      </p:sp>
      <p:sp>
        <p:nvSpPr>
          <p:cNvPr id="14" name="02 Rôles, journée de chaque utilisateur, c…"/>
          <p:cNvSpPr txBox="1"/>
          <p:nvPr/>
        </p:nvSpPr>
        <p:spPr>
          <a:xfrm>
            <a:off x="4645152" y="2514600"/>
            <a:ext cx="3017520" cy="822960"/>
          </a:xfrm>
          <a:prstGeom prst="rect">
            <a:avLst/>
          </a:prstGeom>
          <a:noFill/>
        </p:spPr>
        <p:txBody>
          <a:bodyPr wrap="square" lIns="0" rIns="0" tIns="0" bIns="0" anchor="t"/>
          <a:lstStyle/>
          <a:p>
            <a:pPr algn="l"/>
            <a:r>
              <a:rPr sz="1400" b="0" i="0">
                <a:solidFill>
                  <a:srgbClr val="5E4E53"/>
                </a:solidFill>
                <a:latin typeface="Arial"/>
              </a:rPr>
              <a:t>Rôles, journée de chaque utilisateur, cas, puis six sprints.</a:t>
            </a:r>
          </a:p>
        </p:txBody>
      </p:sp>
      <p:sp>
        <p:nvSpPr>
          <p:cNvPr id="15" name="02 Forme 6"/>
          <p:cNvSpPr/>
          <p:nvPr/>
        </p:nvSpPr>
        <p:spPr>
          <a:xfrm>
            <a:off x="8138160" y="1371600"/>
            <a:ext cx="3611880" cy="21488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6" name="02 Forme 7"/>
          <p:cNvSpPr/>
          <p:nvPr/>
        </p:nvSpPr>
        <p:spPr>
          <a:xfrm>
            <a:off x="8284464" y="1572768"/>
            <a:ext cx="50292" cy="1737360"/>
          </a:xfrm>
          <a:prstGeom prst="rect">
            <a:avLst/>
          </a:prstGeom>
          <a:solidFill>
            <a:srgbClr val="8B4D5C"/>
          </a:solidFill>
          <a:ln>
            <a:noFill/>
          </a:ln>
        </p:spPr>
        <p:txBody>
          <a:bodyPr rtlCol="0" anchor="ctr"/>
          <a:lstStyle/>
          <a:p>
            <a:pPr algn="ctr"/>
          </a:p>
        </p:txBody>
      </p:sp>
      <p:sp>
        <p:nvSpPr>
          <p:cNvPr id="17" name="02 03"/>
          <p:cNvSpPr txBox="1"/>
          <p:nvPr/>
        </p:nvSpPr>
        <p:spPr>
          <a:xfrm>
            <a:off x="8485632" y="1554480"/>
            <a:ext cx="1280160" cy="347472"/>
          </a:xfrm>
          <a:prstGeom prst="rect">
            <a:avLst/>
          </a:prstGeom>
          <a:noFill/>
        </p:spPr>
        <p:txBody>
          <a:bodyPr wrap="square" lIns="0" rIns="0" tIns="0" bIns="0" anchor="t"/>
          <a:lstStyle/>
          <a:p>
            <a:pPr algn="l"/>
            <a:r>
              <a:rPr sz="1800" b="1" i="0">
                <a:solidFill>
                  <a:srgbClr val="8B4D5C"/>
                </a:solidFill>
                <a:latin typeface="Arial"/>
              </a:rPr>
              <a:t>03</a:t>
            </a:r>
          </a:p>
        </p:txBody>
      </p:sp>
      <p:sp>
        <p:nvSpPr>
          <p:cNvPr id="18" name="02 Conception"/>
          <p:cNvSpPr txBox="1"/>
          <p:nvPr/>
        </p:nvSpPr>
        <p:spPr>
          <a:xfrm>
            <a:off x="8485632" y="1938528"/>
            <a:ext cx="3017520" cy="502920"/>
          </a:xfrm>
          <a:prstGeom prst="rect">
            <a:avLst/>
          </a:prstGeom>
          <a:noFill/>
        </p:spPr>
        <p:txBody>
          <a:bodyPr wrap="square" lIns="0" rIns="0" tIns="0" bIns="0" anchor="t"/>
          <a:lstStyle/>
          <a:p>
            <a:pPr algn="l"/>
            <a:r>
              <a:rPr sz="1800" b="1" i="0">
                <a:solidFill>
                  <a:srgbClr val="1A1A1A"/>
                </a:solidFill>
                <a:latin typeface="Arial"/>
              </a:rPr>
              <a:t>Conception</a:t>
            </a:r>
          </a:p>
        </p:txBody>
      </p:sp>
      <p:sp>
        <p:nvSpPr>
          <p:cNvPr id="19" name="02 Le point d'avancement, le schéma des ta…"/>
          <p:cNvSpPr txBox="1"/>
          <p:nvPr/>
        </p:nvSpPr>
        <p:spPr>
          <a:xfrm>
            <a:off x="8485632" y="2514600"/>
            <a:ext cx="3017520" cy="822960"/>
          </a:xfrm>
          <a:prstGeom prst="rect">
            <a:avLst/>
          </a:prstGeom>
          <a:noFill/>
        </p:spPr>
        <p:txBody>
          <a:bodyPr wrap="square" lIns="0" rIns="0" tIns="0" bIns="0" anchor="t"/>
          <a:lstStyle/>
          <a:p>
            <a:pPr algn="l"/>
            <a:r>
              <a:rPr sz="1400" b="0" i="0">
                <a:solidFill>
                  <a:srgbClr val="5E4E53"/>
                </a:solidFill>
                <a:latin typeface="Arial"/>
              </a:rPr>
              <a:t>Le point d'avancement, le schéma des tables, un serveur pour deux clients.</a:t>
            </a:r>
          </a:p>
        </p:txBody>
      </p:sp>
      <p:sp>
        <p:nvSpPr>
          <p:cNvPr id="20" name="02 Forme 8"/>
          <p:cNvSpPr/>
          <p:nvPr/>
        </p:nvSpPr>
        <p:spPr>
          <a:xfrm>
            <a:off x="457200" y="3749039"/>
            <a:ext cx="3611880" cy="21488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21" name="02 Forme 9"/>
          <p:cNvSpPr/>
          <p:nvPr/>
        </p:nvSpPr>
        <p:spPr>
          <a:xfrm>
            <a:off x="603504" y="3950207"/>
            <a:ext cx="50292" cy="1737360"/>
          </a:xfrm>
          <a:prstGeom prst="rect">
            <a:avLst/>
          </a:prstGeom>
          <a:solidFill>
            <a:srgbClr val="8B4D5C"/>
          </a:solidFill>
          <a:ln>
            <a:noFill/>
          </a:ln>
        </p:spPr>
        <p:txBody>
          <a:bodyPr rtlCol="0" anchor="ctr"/>
          <a:lstStyle/>
          <a:p>
            <a:pPr algn="ctr"/>
          </a:p>
        </p:txBody>
      </p:sp>
      <p:sp>
        <p:nvSpPr>
          <p:cNvPr id="22" name="02 04"/>
          <p:cNvSpPr txBox="1"/>
          <p:nvPr/>
        </p:nvSpPr>
        <p:spPr>
          <a:xfrm>
            <a:off x="804672" y="3931920"/>
            <a:ext cx="1280160" cy="347472"/>
          </a:xfrm>
          <a:prstGeom prst="rect">
            <a:avLst/>
          </a:prstGeom>
          <a:noFill/>
        </p:spPr>
        <p:txBody>
          <a:bodyPr wrap="square" lIns="0" rIns="0" tIns="0" bIns="0" anchor="t"/>
          <a:lstStyle/>
          <a:p>
            <a:pPr algn="l"/>
            <a:r>
              <a:rPr sz="1800" b="1" i="0">
                <a:solidFill>
                  <a:srgbClr val="8B4D5C"/>
                </a:solidFill>
                <a:latin typeface="Arial"/>
              </a:rPr>
              <a:t>04</a:t>
            </a:r>
          </a:p>
        </p:txBody>
      </p:sp>
      <p:sp>
        <p:nvSpPr>
          <p:cNvPr id="23" name="02 Réalisation"/>
          <p:cNvSpPr txBox="1"/>
          <p:nvPr/>
        </p:nvSpPr>
        <p:spPr>
          <a:xfrm>
            <a:off x="804672" y="4315968"/>
            <a:ext cx="3017520" cy="502920"/>
          </a:xfrm>
          <a:prstGeom prst="rect">
            <a:avLst/>
          </a:prstGeom>
          <a:noFill/>
        </p:spPr>
        <p:txBody>
          <a:bodyPr wrap="square" lIns="0" rIns="0" tIns="0" bIns="0" anchor="t"/>
          <a:lstStyle/>
          <a:p>
            <a:pPr algn="l"/>
            <a:r>
              <a:rPr sz="1800" b="1" i="0">
                <a:solidFill>
                  <a:srgbClr val="1A1A1A"/>
                </a:solidFill>
                <a:latin typeface="Arial"/>
              </a:rPr>
              <a:t>Réalisation</a:t>
            </a:r>
          </a:p>
        </p:txBody>
      </p:sp>
      <p:sp>
        <p:nvSpPr>
          <p:cNvPr id="24" name="02 Les écrans web et l'application sur iPh…"/>
          <p:cNvSpPr txBox="1"/>
          <p:nvPr/>
        </p:nvSpPr>
        <p:spPr>
          <a:xfrm>
            <a:off x="804672" y="4892040"/>
            <a:ext cx="3017520" cy="822960"/>
          </a:xfrm>
          <a:prstGeom prst="rect">
            <a:avLst/>
          </a:prstGeom>
          <a:noFill/>
        </p:spPr>
        <p:txBody>
          <a:bodyPr wrap="square" lIns="0" rIns="0" tIns="0" bIns="0" anchor="t"/>
          <a:lstStyle/>
          <a:p>
            <a:pPr algn="l"/>
            <a:r>
              <a:rPr sz="1400" b="0" i="0">
                <a:solidFill>
                  <a:srgbClr val="5E4E53"/>
                </a:solidFill>
                <a:latin typeface="Arial"/>
              </a:rPr>
              <a:t>Les écrans web et l'application sur iPhone.</a:t>
            </a:r>
          </a:p>
        </p:txBody>
      </p:sp>
      <p:sp>
        <p:nvSpPr>
          <p:cNvPr id="25" name="02 Forme 10"/>
          <p:cNvSpPr/>
          <p:nvPr/>
        </p:nvSpPr>
        <p:spPr>
          <a:xfrm>
            <a:off x="4297680" y="3749039"/>
            <a:ext cx="3611880" cy="21488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26" name="02 Forme 11"/>
          <p:cNvSpPr/>
          <p:nvPr/>
        </p:nvSpPr>
        <p:spPr>
          <a:xfrm>
            <a:off x="4443984" y="3950207"/>
            <a:ext cx="50292" cy="1737360"/>
          </a:xfrm>
          <a:prstGeom prst="rect">
            <a:avLst/>
          </a:prstGeom>
          <a:solidFill>
            <a:srgbClr val="8B4D5C"/>
          </a:solidFill>
          <a:ln>
            <a:noFill/>
          </a:ln>
        </p:spPr>
        <p:txBody>
          <a:bodyPr rtlCol="0" anchor="ctr"/>
          <a:lstStyle/>
          <a:p>
            <a:pPr algn="ctr"/>
          </a:p>
        </p:txBody>
      </p:sp>
      <p:sp>
        <p:nvSpPr>
          <p:cNvPr id="27" name="02 05"/>
          <p:cNvSpPr txBox="1"/>
          <p:nvPr/>
        </p:nvSpPr>
        <p:spPr>
          <a:xfrm>
            <a:off x="4645152" y="3931920"/>
            <a:ext cx="1280160" cy="347472"/>
          </a:xfrm>
          <a:prstGeom prst="rect">
            <a:avLst/>
          </a:prstGeom>
          <a:noFill/>
        </p:spPr>
        <p:txBody>
          <a:bodyPr wrap="square" lIns="0" rIns="0" tIns="0" bIns="0" anchor="t"/>
          <a:lstStyle/>
          <a:p>
            <a:pPr algn="l"/>
            <a:r>
              <a:rPr sz="1800" b="1" i="0">
                <a:solidFill>
                  <a:srgbClr val="8B4D5C"/>
                </a:solidFill>
                <a:latin typeface="Arial"/>
              </a:rPr>
              <a:t>05</a:t>
            </a:r>
          </a:p>
        </p:txBody>
      </p:sp>
      <p:sp>
        <p:nvSpPr>
          <p:cNvPr id="28" name="02 Sécurité, tests, mise en ligne"/>
          <p:cNvSpPr txBox="1"/>
          <p:nvPr/>
        </p:nvSpPr>
        <p:spPr>
          <a:xfrm>
            <a:off x="4645152" y="4315968"/>
            <a:ext cx="3017520" cy="502920"/>
          </a:xfrm>
          <a:prstGeom prst="rect">
            <a:avLst/>
          </a:prstGeom>
          <a:noFill/>
        </p:spPr>
        <p:txBody>
          <a:bodyPr wrap="square" lIns="0" rIns="0" tIns="0" bIns="0" anchor="t"/>
          <a:lstStyle/>
          <a:p>
            <a:pPr algn="l"/>
            <a:r>
              <a:rPr sz="1800" b="1" i="0">
                <a:solidFill>
                  <a:srgbClr val="1A1A1A"/>
                </a:solidFill>
                <a:latin typeface="Arial"/>
              </a:rPr>
              <a:t>Sécurité, tests, mise en ligne</a:t>
            </a:r>
          </a:p>
        </p:txBody>
      </p:sp>
      <p:sp>
        <p:nvSpPr>
          <p:cNvPr id="29" name="02 Droits, tests, alwaysdata."/>
          <p:cNvSpPr txBox="1"/>
          <p:nvPr/>
        </p:nvSpPr>
        <p:spPr>
          <a:xfrm>
            <a:off x="4645152" y="4892040"/>
            <a:ext cx="3017520" cy="822960"/>
          </a:xfrm>
          <a:prstGeom prst="rect">
            <a:avLst/>
          </a:prstGeom>
          <a:noFill/>
        </p:spPr>
        <p:txBody>
          <a:bodyPr wrap="square" lIns="0" rIns="0" tIns="0" bIns="0" anchor="t"/>
          <a:lstStyle/>
          <a:p>
            <a:pPr algn="l"/>
            <a:r>
              <a:rPr sz="1400" b="0" i="0">
                <a:solidFill>
                  <a:srgbClr val="5E4E53"/>
                </a:solidFill>
                <a:latin typeface="Arial"/>
              </a:rPr>
              <a:t>Droits, tests, alwaysdata.</a:t>
            </a:r>
          </a:p>
        </p:txBody>
      </p:sp>
      <p:sp>
        <p:nvSpPr>
          <p:cNvPr id="30" name="02 Forme 12"/>
          <p:cNvSpPr/>
          <p:nvPr/>
        </p:nvSpPr>
        <p:spPr>
          <a:xfrm>
            <a:off x="8138160" y="3749039"/>
            <a:ext cx="3611880" cy="21488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31" name="02 Forme 13"/>
          <p:cNvSpPr/>
          <p:nvPr/>
        </p:nvSpPr>
        <p:spPr>
          <a:xfrm>
            <a:off x="8284464" y="3950207"/>
            <a:ext cx="50292" cy="1737360"/>
          </a:xfrm>
          <a:prstGeom prst="rect">
            <a:avLst/>
          </a:prstGeom>
          <a:solidFill>
            <a:srgbClr val="8B4D5C"/>
          </a:solidFill>
          <a:ln>
            <a:noFill/>
          </a:ln>
        </p:spPr>
        <p:txBody>
          <a:bodyPr rtlCol="0" anchor="ctr"/>
          <a:lstStyle/>
          <a:p>
            <a:pPr algn="ctr"/>
          </a:p>
        </p:txBody>
      </p:sp>
      <p:sp>
        <p:nvSpPr>
          <p:cNvPr id="32" name="02 06"/>
          <p:cNvSpPr txBox="1"/>
          <p:nvPr/>
        </p:nvSpPr>
        <p:spPr>
          <a:xfrm>
            <a:off x="8485632" y="3931920"/>
            <a:ext cx="1280160" cy="347472"/>
          </a:xfrm>
          <a:prstGeom prst="rect">
            <a:avLst/>
          </a:prstGeom>
          <a:noFill/>
        </p:spPr>
        <p:txBody>
          <a:bodyPr wrap="square" lIns="0" rIns="0" tIns="0" bIns="0" anchor="t"/>
          <a:lstStyle/>
          <a:p>
            <a:pPr algn="l"/>
            <a:r>
              <a:rPr sz="1800" b="1" i="0">
                <a:solidFill>
                  <a:srgbClr val="8B4D5C"/>
                </a:solidFill>
                <a:latin typeface="Arial"/>
              </a:rPr>
              <a:t>06</a:t>
            </a:r>
          </a:p>
        </p:txBody>
      </p:sp>
      <p:sp>
        <p:nvSpPr>
          <p:cNvPr id="33" name="02 Bilan"/>
          <p:cNvSpPr txBox="1"/>
          <p:nvPr/>
        </p:nvSpPr>
        <p:spPr>
          <a:xfrm>
            <a:off x="8485632" y="4315968"/>
            <a:ext cx="3017520" cy="502920"/>
          </a:xfrm>
          <a:prstGeom prst="rect">
            <a:avLst/>
          </a:prstGeom>
          <a:noFill/>
        </p:spPr>
        <p:txBody>
          <a:bodyPr wrap="square" lIns="0" rIns="0" tIns="0" bIns="0" anchor="t"/>
          <a:lstStyle/>
          <a:p>
            <a:pPr algn="l"/>
            <a:r>
              <a:rPr sz="1800" b="1" i="0">
                <a:solidFill>
                  <a:srgbClr val="1A1A1A"/>
                </a:solidFill>
                <a:latin typeface="Arial"/>
              </a:rPr>
              <a:t>Bilan</a:t>
            </a:r>
          </a:p>
        </p:txBody>
      </p:sp>
      <p:sp>
        <p:nvSpPr>
          <p:cNvPr id="34" name="02 Réponse à la question, et ce qui reste…"/>
          <p:cNvSpPr txBox="1"/>
          <p:nvPr/>
        </p:nvSpPr>
        <p:spPr>
          <a:xfrm>
            <a:off x="8485632" y="4892040"/>
            <a:ext cx="3017520" cy="822960"/>
          </a:xfrm>
          <a:prstGeom prst="rect">
            <a:avLst/>
          </a:prstGeom>
          <a:noFill/>
        </p:spPr>
        <p:txBody>
          <a:bodyPr wrap="square" lIns="0" rIns="0" tIns="0" bIns="0" anchor="t"/>
          <a:lstStyle/>
          <a:p>
            <a:pPr algn="l"/>
            <a:r>
              <a:rPr sz="1400" b="0" i="0">
                <a:solidFill>
                  <a:srgbClr val="5E4E53"/>
                </a:solidFill>
                <a:latin typeface="Arial"/>
              </a:rPr>
              <a:t>Réponse à la question, et ce qui reste ouvert.</a:t>
            </a:r>
          </a:p>
        </p:txBody>
      </p:sp>
      <p:sp>
        <p:nvSpPr>
          <p:cNvPr id="35" name="02 Forme 14"/>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36" name="02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37" name="02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38" name="02 02 2"/>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03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03 RÉFÉRENTIEL"/>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RÉFÉRENTIEL</a:t>
            </a:r>
          </a:p>
        </p:txBody>
      </p:sp>
      <p:sp>
        <p:nvSpPr>
          <p:cNvPr id="4" name="03 Compétences du titre CDA"/>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Compétences du titre CDA</a:t>
            </a:r>
          </a:p>
        </p:txBody>
      </p:sp>
      <p:sp>
        <p:nvSpPr>
          <p:cNvPr id="5" name="03 Le référentiel RNCP 37873 regroupe onze…"/>
          <p:cNvSpPr txBox="1"/>
          <p:nvPr/>
        </p:nvSpPr>
        <p:spPr>
          <a:xfrm>
            <a:off x="457200" y="1051560"/>
            <a:ext cx="11155680" cy="365760"/>
          </a:xfrm>
          <a:prstGeom prst="rect">
            <a:avLst/>
          </a:prstGeom>
          <a:noFill/>
        </p:spPr>
        <p:txBody>
          <a:bodyPr wrap="square" lIns="0" rIns="0" tIns="0" bIns="0" anchor="t"/>
          <a:lstStyle/>
          <a:p>
            <a:pPr algn="l"/>
            <a:r>
              <a:rPr sz="1500" b="0" i="0">
                <a:solidFill>
                  <a:srgbClr val="5E4E53"/>
                </a:solidFill>
                <a:latin typeface="Arial"/>
              </a:rPr>
              <a:t>Le référentiel RNCP 37873 regroupe onze compétences en trois activités. Briefly les met en œuvre.</a:t>
            </a:r>
          </a:p>
        </p:txBody>
      </p:sp>
      <p:sp>
        <p:nvSpPr>
          <p:cNvPr id="6" name="03 Forme 2"/>
          <p:cNvSpPr/>
          <p:nvPr/>
        </p:nvSpPr>
        <p:spPr>
          <a:xfrm>
            <a:off x="457200" y="1554480"/>
            <a:ext cx="3611880" cy="3977639"/>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7" name="03 Forme 3"/>
          <p:cNvSpPr/>
          <p:nvPr/>
        </p:nvSpPr>
        <p:spPr>
          <a:xfrm>
            <a:off x="457200" y="1554480"/>
            <a:ext cx="3611880" cy="1051560"/>
          </a:xfrm>
          <a:prstGeom prst="roundRect">
            <a:avLst>
              <a:gd name="adj" fmla="val 10000"/>
            </a:avLst>
          </a:prstGeom>
          <a:solidFill>
            <a:srgbClr val="F6E8ED"/>
          </a:solidFill>
          <a:ln>
            <a:noFill/>
          </a:ln>
        </p:spPr>
        <p:txBody>
          <a:bodyPr rtlCol="0" anchor="ctr"/>
          <a:lstStyle/>
          <a:p>
            <a:pPr algn="ctr"/>
          </a:p>
        </p:txBody>
      </p:sp>
      <p:sp>
        <p:nvSpPr>
          <p:cNvPr id="8" name="03 Forme 4"/>
          <p:cNvSpPr/>
          <p:nvPr/>
        </p:nvSpPr>
        <p:spPr>
          <a:xfrm>
            <a:off x="457200" y="2331720"/>
            <a:ext cx="3611880" cy="274320"/>
          </a:xfrm>
          <a:prstGeom prst="rect">
            <a:avLst/>
          </a:prstGeom>
          <a:solidFill>
            <a:srgbClr val="F6E8ED"/>
          </a:solidFill>
          <a:ln>
            <a:noFill/>
          </a:ln>
        </p:spPr>
        <p:txBody>
          <a:bodyPr rtlCol="0" anchor="ctr"/>
          <a:lstStyle/>
          <a:p>
            <a:pPr algn="ctr"/>
          </a:p>
        </p:txBody>
      </p:sp>
      <p:sp>
        <p:nvSpPr>
          <p:cNvPr id="9" name="03 Forme 5"/>
          <p:cNvSpPr/>
          <p:nvPr/>
        </p:nvSpPr>
        <p:spPr>
          <a:xfrm>
            <a:off x="658368" y="1755648"/>
            <a:ext cx="420624" cy="420624"/>
          </a:xfrm>
          <a:prstGeom prst="ellipse">
            <a:avLst/>
          </a:prstGeom>
          <a:solidFill>
            <a:srgbClr val="8B4D5C"/>
          </a:solidFill>
          <a:ln>
            <a:noFill/>
          </a:ln>
        </p:spPr>
        <p:txBody>
          <a:bodyPr rtlCol="0" anchor="ctr"/>
          <a:lstStyle/>
          <a:p>
            <a:pPr algn="ctr"/>
          </a:p>
        </p:txBody>
      </p:sp>
      <p:sp>
        <p:nvSpPr>
          <p:cNvPr id="10" name="03 1"/>
          <p:cNvSpPr txBox="1"/>
          <p:nvPr/>
        </p:nvSpPr>
        <p:spPr>
          <a:xfrm>
            <a:off x="658368" y="1819656"/>
            <a:ext cx="420624" cy="310896"/>
          </a:xfrm>
          <a:prstGeom prst="rect">
            <a:avLst/>
          </a:prstGeom>
          <a:noFill/>
        </p:spPr>
        <p:txBody>
          <a:bodyPr wrap="square" lIns="0" rIns="0" tIns="0" bIns="0" anchor="t"/>
          <a:lstStyle/>
          <a:p>
            <a:pPr algn="ctr"/>
            <a:r>
              <a:rPr sz="1500" b="1" i="0">
                <a:solidFill>
                  <a:srgbClr val="FFFFFF"/>
                </a:solidFill>
                <a:latin typeface="Arial"/>
              </a:rPr>
              <a:t>1</a:t>
            </a:r>
          </a:p>
        </p:txBody>
      </p:sp>
      <p:sp>
        <p:nvSpPr>
          <p:cNvPr id="11" name="03 Développer une application sécurisée"/>
          <p:cNvSpPr txBox="1"/>
          <p:nvPr/>
        </p:nvSpPr>
        <p:spPr>
          <a:xfrm>
            <a:off x="1207007" y="1719072"/>
            <a:ext cx="2651760" cy="731520"/>
          </a:xfrm>
          <a:prstGeom prst="rect">
            <a:avLst/>
          </a:prstGeom>
          <a:noFill/>
        </p:spPr>
        <p:txBody>
          <a:bodyPr wrap="square" lIns="0" rIns="0" tIns="0" bIns="0" anchor="t"/>
          <a:lstStyle/>
          <a:p>
            <a:pPr algn="l"/>
            <a:r>
              <a:rPr sz="1500" b="1" i="0">
                <a:solidFill>
                  <a:srgbClr val="1A1A1A"/>
                </a:solidFill>
                <a:latin typeface="Arial"/>
              </a:rPr>
              <a:t>Développer une application sécurisée</a:t>
            </a:r>
          </a:p>
        </p:txBody>
      </p:sp>
      <p:sp>
        <p:nvSpPr>
          <p:cNvPr id="12" name="03 Environnement de développement, applica…"/>
          <p:cNvSpPr txBox="1"/>
          <p:nvPr/>
        </p:nvSpPr>
        <p:spPr>
          <a:xfrm>
            <a:off x="713232" y="2834640"/>
            <a:ext cx="3108960" cy="2926080"/>
          </a:xfrm>
          <a:prstGeom prst="rect">
            <a:avLst/>
          </a:prstGeom>
          <a:noFill/>
        </p:spPr>
        <p:txBody>
          <a:bodyPr wrap="square" lIns="18288" rIns="18288" tIns="18288" bIns="18288" anchor="t"/>
          <a:lstStyle/>
          <a:p>
            <a:pPr algn="l">
              <a:spcBef>
                <a:spcPts val="0"/>
              </a:spcBef>
              <a:spcAft>
                <a:spcPts val="1200"/>
              </a:spcAft>
            </a:pPr>
            <a:r>
              <a:rPr sz="1400" b="0" i="0">
                <a:solidFill>
                  <a:srgbClr val="1A1A1A"/>
                </a:solidFill>
                <a:latin typeface="Arial"/>
              </a:rPr>
              <a:t>Environnement de développement, application mobile</a:t>
            </a:r>
          </a:p>
          <a:p>
            <a:pPr algn="l">
              <a:spcBef>
                <a:spcPts val="0"/>
              </a:spcBef>
              <a:spcAft>
                <a:spcPts val="1200"/>
              </a:spcAft>
            </a:pPr>
            <a:r>
              <a:rPr sz="1400" b="0" i="0">
                <a:solidFill>
                  <a:srgbClr val="1A1A1A"/>
                </a:solidFill>
                <a:latin typeface="Arial"/>
              </a:rPr>
              <a:t>Interfaces web et mobile, français et anglais</a:t>
            </a:r>
          </a:p>
          <a:p>
            <a:pPr algn="l">
              <a:spcBef>
                <a:spcPts val="0"/>
              </a:spcBef>
              <a:spcAft>
                <a:spcPts val="1200"/>
              </a:spcAft>
            </a:pPr>
            <a:r>
              <a:rPr sz="1400" b="0" i="0">
                <a:solidFill>
                  <a:srgbClr val="1A1A1A"/>
                </a:solidFill>
                <a:latin typeface="Arial"/>
              </a:rPr>
              <a:t>Services métier et politiques d'accès</a:t>
            </a:r>
          </a:p>
          <a:p>
            <a:pPr algn="l">
              <a:spcBef>
                <a:spcPts val="0"/>
              </a:spcBef>
              <a:spcAft>
                <a:spcPts val="1200"/>
              </a:spcAft>
            </a:pPr>
            <a:r>
              <a:rPr sz="1400" b="0" i="0">
                <a:solidFill>
                  <a:srgbClr val="1A1A1A"/>
                </a:solidFill>
                <a:latin typeface="Arial"/>
              </a:rPr>
              <a:t>Scrum en six sprints</a:t>
            </a:r>
          </a:p>
        </p:txBody>
      </p:sp>
      <p:sp>
        <p:nvSpPr>
          <p:cNvPr id="13" name="03 Forme 6"/>
          <p:cNvSpPr/>
          <p:nvPr/>
        </p:nvSpPr>
        <p:spPr>
          <a:xfrm>
            <a:off x="4297680" y="1554480"/>
            <a:ext cx="3611880" cy="3977639"/>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4" name="03 Forme 7"/>
          <p:cNvSpPr/>
          <p:nvPr/>
        </p:nvSpPr>
        <p:spPr>
          <a:xfrm>
            <a:off x="4297680" y="1554480"/>
            <a:ext cx="3611880" cy="1051560"/>
          </a:xfrm>
          <a:prstGeom prst="roundRect">
            <a:avLst>
              <a:gd name="adj" fmla="val 10000"/>
            </a:avLst>
          </a:prstGeom>
          <a:solidFill>
            <a:srgbClr val="F6E8ED"/>
          </a:solidFill>
          <a:ln>
            <a:noFill/>
          </a:ln>
        </p:spPr>
        <p:txBody>
          <a:bodyPr rtlCol="0" anchor="ctr"/>
          <a:lstStyle/>
          <a:p>
            <a:pPr algn="ctr"/>
          </a:p>
        </p:txBody>
      </p:sp>
      <p:sp>
        <p:nvSpPr>
          <p:cNvPr id="15" name="03 Forme 8"/>
          <p:cNvSpPr/>
          <p:nvPr/>
        </p:nvSpPr>
        <p:spPr>
          <a:xfrm>
            <a:off x="4297680" y="2331720"/>
            <a:ext cx="3611880" cy="274320"/>
          </a:xfrm>
          <a:prstGeom prst="rect">
            <a:avLst/>
          </a:prstGeom>
          <a:solidFill>
            <a:srgbClr val="F6E8ED"/>
          </a:solidFill>
          <a:ln>
            <a:noFill/>
          </a:ln>
        </p:spPr>
        <p:txBody>
          <a:bodyPr rtlCol="0" anchor="ctr"/>
          <a:lstStyle/>
          <a:p>
            <a:pPr algn="ctr"/>
          </a:p>
        </p:txBody>
      </p:sp>
      <p:sp>
        <p:nvSpPr>
          <p:cNvPr id="16" name="03 Forme 9"/>
          <p:cNvSpPr/>
          <p:nvPr/>
        </p:nvSpPr>
        <p:spPr>
          <a:xfrm>
            <a:off x="4498848" y="1755648"/>
            <a:ext cx="420624" cy="420624"/>
          </a:xfrm>
          <a:prstGeom prst="ellipse">
            <a:avLst/>
          </a:prstGeom>
          <a:solidFill>
            <a:srgbClr val="8B4D5C"/>
          </a:solidFill>
          <a:ln>
            <a:noFill/>
          </a:ln>
        </p:spPr>
        <p:txBody>
          <a:bodyPr rtlCol="0" anchor="ctr"/>
          <a:lstStyle/>
          <a:p>
            <a:pPr algn="ctr"/>
          </a:p>
        </p:txBody>
      </p:sp>
      <p:sp>
        <p:nvSpPr>
          <p:cNvPr id="17" name="03 2"/>
          <p:cNvSpPr txBox="1"/>
          <p:nvPr/>
        </p:nvSpPr>
        <p:spPr>
          <a:xfrm>
            <a:off x="4498848" y="1819656"/>
            <a:ext cx="420624" cy="310896"/>
          </a:xfrm>
          <a:prstGeom prst="rect">
            <a:avLst/>
          </a:prstGeom>
          <a:noFill/>
        </p:spPr>
        <p:txBody>
          <a:bodyPr wrap="square" lIns="0" rIns="0" tIns="0" bIns="0" anchor="t"/>
          <a:lstStyle/>
          <a:p>
            <a:pPr algn="ctr"/>
            <a:r>
              <a:rPr sz="1500" b="1" i="0">
                <a:solidFill>
                  <a:srgbClr val="FFFFFF"/>
                </a:solidFill>
                <a:latin typeface="Arial"/>
              </a:rPr>
              <a:t>2</a:t>
            </a:r>
          </a:p>
        </p:txBody>
      </p:sp>
      <p:sp>
        <p:nvSpPr>
          <p:cNvPr id="18" name="03 Concevoir une application en couches"/>
          <p:cNvSpPr txBox="1"/>
          <p:nvPr/>
        </p:nvSpPr>
        <p:spPr>
          <a:xfrm>
            <a:off x="5047488" y="1719072"/>
            <a:ext cx="2651760" cy="731520"/>
          </a:xfrm>
          <a:prstGeom prst="rect">
            <a:avLst/>
          </a:prstGeom>
          <a:noFill/>
        </p:spPr>
        <p:txBody>
          <a:bodyPr wrap="square" lIns="0" rIns="0" tIns="0" bIns="0" anchor="t"/>
          <a:lstStyle/>
          <a:p>
            <a:pPr algn="l"/>
            <a:r>
              <a:rPr sz="1500" b="1" i="0">
                <a:solidFill>
                  <a:srgbClr val="1A1A1A"/>
                </a:solidFill>
                <a:latin typeface="Arial"/>
              </a:rPr>
              <a:t>Concevoir une application en couches</a:t>
            </a:r>
          </a:p>
        </p:txBody>
      </p:sp>
      <p:sp>
        <p:nvSpPr>
          <p:cNvPr id="19" name="03 Acteurs, cas d'utilisation, maquettes A…"/>
          <p:cNvSpPr txBox="1"/>
          <p:nvPr/>
        </p:nvSpPr>
        <p:spPr>
          <a:xfrm>
            <a:off x="4553712" y="2834640"/>
            <a:ext cx="3108960" cy="2926080"/>
          </a:xfrm>
          <a:prstGeom prst="rect">
            <a:avLst/>
          </a:prstGeom>
          <a:noFill/>
        </p:spPr>
        <p:txBody>
          <a:bodyPr wrap="square" lIns="18288" rIns="18288" tIns="18288" bIns="18288" anchor="t"/>
          <a:lstStyle/>
          <a:p>
            <a:pPr algn="l">
              <a:spcBef>
                <a:spcPts val="0"/>
              </a:spcBef>
              <a:spcAft>
                <a:spcPts val="1200"/>
              </a:spcAft>
            </a:pPr>
            <a:r>
              <a:rPr sz="1400" b="0" i="0">
                <a:solidFill>
                  <a:srgbClr val="1A1A1A"/>
                </a:solidFill>
                <a:latin typeface="Arial"/>
              </a:rPr>
              <a:t>Acteurs, cas d'utilisation, maquettes</a:t>
            </a:r>
          </a:p>
          <a:p>
            <a:pPr algn="l">
              <a:spcBef>
                <a:spcPts val="0"/>
              </a:spcBef>
              <a:spcAft>
                <a:spcPts val="1200"/>
              </a:spcAft>
            </a:pPr>
            <a:r>
              <a:rPr sz="1400" b="0" i="0">
                <a:solidFill>
                  <a:srgbClr val="1A1A1A"/>
                </a:solidFill>
                <a:latin typeface="Arial"/>
              </a:rPr>
              <a:t>Architecture 3-tiers, HTML et JSON</a:t>
            </a:r>
          </a:p>
          <a:p>
            <a:pPr algn="l">
              <a:spcBef>
                <a:spcPts val="0"/>
              </a:spcBef>
              <a:spcAft>
                <a:spcPts val="1200"/>
              </a:spcAft>
            </a:pPr>
            <a:r>
              <a:rPr sz="1400" b="0" i="0">
                <a:solidFill>
                  <a:srgbClr val="1A1A1A"/>
                </a:solidFill>
                <a:latin typeface="Arial"/>
              </a:rPr>
              <a:t>Schéma relationnel</a:t>
            </a:r>
          </a:p>
          <a:p>
            <a:pPr algn="l">
              <a:spcBef>
                <a:spcPts val="0"/>
              </a:spcBef>
              <a:spcAft>
                <a:spcPts val="1200"/>
              </a:spcAft>
            </a:pPr>
            <a:r>
              <a:rPr sz="1400" b="0" i="0">
                <a:solidFill>
                  <a:srgbClr val="1A1A1A"/>
                </a:solidFill>
                <a:latin typeface="Arial"/>
              </a:rPr>
              <a:t>Modèles et relations</a:t>
            </a:r>
          </a:p>
        </p:txBody>
      </p:sp>
      <p:sp>
        <p:nvSpPr>
          <p:cNvPr id="20" name="03 Forme 10"/>
          <p:cNvSpPr/>
          <p:nvPr/>
        </p:nvSpPr>
        <p:spPr>
          <a:xfrm>
            <a:off x="8138160" y="1554480"/>
            <a:ext cx="3611880" cy="3977639"/>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21" name="03 Forme 11"/>
          <p:cNvSpPr/>
          <p:nvPr/>
        </p:nvSpPr>
        <p:spPr>
          <a:xfrm>
            <a:off x="8138160" y="1554480"/>
            <a:ext cx="3611880" cy="1051560"/>
          </a:xfrm>
          <a:prstGeom prst="roundRect">
            <a:avLst>
              <a:gd name="adj" fmla="val 10000"/>
            </a:avLst>
          </a:prstGeom>
          <a:solidFill>
            <a:srgbClr val="F6E8ED"/>
          </a:solidFill>
          <a:ln>
            <a:noFill/>
          </a:ln>
        </p:spPr>
        <p:txBody>
          <a:bodyPr rtlCol="0" anchor="ctr"/>
          <a:lstStyle/>
          <a:p>
            <a:pPr algn="ctr"/>
          </a:p>
        </p:txBody>
      </p:sp>
      <p:sp>
        <p:nvSpPr>
          <p:cNvPr id="22" name="03 Forme 12"/>
          <p:cNvSpPr/>
          <p:nvPr/>
        </p:nvSpPr>
        <p:spPr>
          <a:xfrm>
            <a:off x="8138160" y="2331720"/>
            <a:ext cx="3611880" cy="274320"/>
          </a:xfrm>
          <a:prstGeom prst="rect">
            <a:avLst/>
          </a:prstGeom>
          <a:solidFill>
            <a:srgbClr val="F6E8ED"/>
          </a:solidFill>
          <a:ln>
            <a:noFill/>
          </a:ln>
        </p:spPr>
        <p:txBody>
          <a:bodyPr rtlCol="0" anchor="ctr"/>
          <a:lstStyle/>
          <a:p>
            <a:pPr algn="ctr"/>
          </a:p>
        </p:txBody>
      </p:sp>
      <p:sp>
        <p:nvSpPr>
          <p:cNvPr id="23" name="03 Forme 13"/>
          <p:cNvSpPr/>
          <p:nvPr/>
        </p:nvSpPr>
        <p:spPr>
          <a:xfrm>
            <a:off x="8339328" y="1755648"/>
            <a:ext cx="420624" cy="420624"/>
          </a:xfrm>
          <a:prstGeom prst="ellipse">
            <a:avLst/>
          </a:prstGeom>
          <a:solidFill>
            <a:srgbClr val="8B4D5C"/>
          </a:solidFill>
          <a:ln>
            <a:noFill/>
          </a:ln>
        </p:spPr>
        <p:txBody>
          <a:bodyPr rtlCol="0" anchor="ctr"/>
          <a:lstStyle/>
          <a:p>
            <a:pPr algn="ctr"/>
          </a:p>
        </p:txBody>
      </p:sp>
      <p:sp>
        <p:nvSpPr>
          <p:cNvPr id="24" name="03 3"/>
          <p:cNvSpPr txBox="1"/>
          <p:nvPr/>
        </p:nvSpPr>
        <p:spPr>
          <a:xfrm>
            <a:off x="8339328" y="1819656"/>
            <a:ext cx="420624" cy="310896"/>
          </a:xfrm>
          <a:prstGeom prst="rect">
            <a:avLst/>
          </a:prstGeom>
          <a:noFill/>
        </p:spPr>
        <p:txBody>
          <a:bodyPr wrap="square" lIns="0" rIns="0" tIns="0" bIns="0" anchor="t"/>
          <a:lstStyle/>
          <a:p>
            <a:pPr algn="ctr"/>
            <a:r>
              <a:rPr sz="1500" b="1" i="0">
                <a:solidFill>
                  <a:srgbClr val="FFFFFF"/>
                </a:solidFill>
                <a:latin typeface="Arial"/>
              </a:rPr>
              <a:t>3</a:t>
            </a:r>
          </a:p>
        </p:txBody>
      </p:sp>
      <p:sp>
        <p:nvSpPr>
          <p:cNvPr id="25" name="03 Préparer le déploiement"/>
          <p:cNvSpPr txBox="1"/>
          <p:nvPr/>
        </p:nvSpPr>
        <p:spPr>
          <a:xfrm>
            <a:off x="8887968" y="1719072"/>
            <a:ext cx="2651760" cy="731520"/>
          </a:xfrm>
          <a:prstGeom prst="rect">
            <a:avLst/>
          </a:prstGeom>
          <a:noFill/>
        </p:spPr>
        <p:txBody>
          <a:bodyPr wrap="square" lIns="0" rIns="0" tIns="0" bIns="0" anchor="t"/>
          <a:lstStyle/>
          <a:p>
            <a:pPr algn="l"/>
            <a:r>
              <a:rPr sz="1500" b="1" i="0">
                <a:solidFill>
                  <a:srgbClr val="1A1A1A"/>
                </a:solidFill>
                <a:latin typeface="Arial"/>
              </a:rPr>
              <a:t>Préparer le déploiement</a:t>
            </a:r>
          </a:p>
        </p:txBody>
      </p:sp>
      <p:sp>
        <p:nvSpPr>
          <p:cNvPr id="26" name="03 Plans de tests à chaque sprint Mise en…"/>
          <p:cNvSpPr txBox="1"/>
          <p:nvPr/>
        </p:nvSpPr>
        <p:spPr>
          <a:xfrm>
            <a:off x="8394192" y="2834640"/>
            <a:ext cx="3108960" cy="2926080"/>
          </a:xfrm>
          <a:prstGeom prst="rect">
            <a:avLst/>
          </a:prstGeom>
          <a:noFill/>
        </p:spPr>
        <p:txBody>
          <a:bodyPr wrap="square" lIns="18288" rIns="18288" tIns="18288" bIns="18288" anchor="t"/>
          <a:lstStyle/>
          <a:p>
            <a:pPr algn="l">
              <a:spcBef>
                <a:spcPts val="0"/>
              </a:spcBef>
              <a:spcAft>
                <a:spcPts val="1200"/>
              </a:spcAft>
            </a:pPr>
            <a:r>
              <a:rPr sz="1400" b="0" i="0">
                <a:solidFill>
                  <a:srgbClr val="1A1A1A"/>
                </a:solidFill>
                <a:latin typeface="Arial"/>
              </a:rPr>
              <a:t>Plans de tests à chaque sprint</a:t>
            </a:r>
          </a:p>
          <a:p>
            <a:pPr algn="l">
              <a:spcBef>
                <a:spcPts val="0"/>
              </a:spcBef>
              <a:spcAft>
                <a:spcPts val="1200"/>
              </a:spcAft>
            </a:pPr>
            <a:r>
              <a:rPr sz="1400" b="0" i="0">
                <a:solidFill>
                  <a:srgbClr val="1A1A1A"/>
                </a:solidFill>
                <a:latin typeface="Arial"/>
              </a:rPr>
              <a:t>Mise en ligne alwaysdata, web et iPhone</a:t>
            </a:r>
          </a:p>
          <a:p>
            <a:pPr algn="l">
              <a:spcBef>
                <a:spcPts val="0"/>
              </a:spcBef>
              <a:spcAft>
                <a:spcPts val="1200"/>
              </a:spcAft>
            </a:pPr>
            <a:r>
              <a:rPr sz="1400" b="0" i="0">
                <a:solidFill>
                  <a:srgbClr val="1A1A1A"/>
                </a:solidFill>
                <a:latin typeface="Arial"/>
              </a:rPr>
              <a:t>GitHub Actions à chaque push</a:t>
            </a:r>
          </a:p>
          <a:p>
            <a:pPr algn="l">
              <a:spcBef>
                <a:spcPts val="0"/>
              </a:spcBef>
              <a:spcAft>
                <a:spcPts val="1200"/>
              </a:spcAft>
            </a:pPr>
            <a:r>
              <a:rPr sz="1400" b="0" i="0">
                <a:solidFill>
                  <a:srgbClr val="1A1A1A"/>
                </a:solidFill>
                <a:latin typeface="Arial"/>
              </a:rPr>
              <a:t>Déploiement du serveur documenté</a:t>
            </a:r>
          </a:p>
        </p:txBody>
      </p:sp>
      <p:sp>
        <p:nvSpPr>
          <p:cNvPr id="27" name="03 Forme 14"/>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8" name="03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9" name="03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30" name="03 Référentiel CDA  ·  activités 1 à 3"/>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Référentiel CDA  ·  activités 1 à 3</a:t>
            </a:r>
          </a:p>
        </p:txBody>
      </p:sp>
      <p:sp>
        <p:nvSpPr>
          <p:cNvPr id="31" name="03 03"/>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04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04 01   CONTEXTE"/>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01   CONTEXTE</a:t>
            </a:r>
          </a:p>
        </p:txBody>
      </p:sp>
      <p:sp>
        <p:nvSpPr>
          <p:cNvPr id="4" name="04 Où j'ai fait mon alternance"/>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Où j'ai fait mon alternance</a:t>
            </a:r>
          </a:p>
        </p:txBody>
      </p:sp>
      <p:sp>
        <p:nvSpPr>
          <p:cNvPr id="5" name="04 Forme 2"/>
          <p:cNvSpPr/>
          <p:nvPr/>
        </p:nvSpPr>
        <p:spPr>
          <a:xfrm>
            <a:off x="457200" y="1234440"/>
            <a:ext cx="3611880" cy="16916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04 Entreprise d'accueil"/>
          <p:cNvSpPr txBox="1"/>
          <p:nvPr/>
        </p:nvSpPr>
        <p:spPr>
          <a:xfrm>
            <a:off x="676656" y="1389888"/>
            <a:ext cx="3154680" cy="292608"/>
          </a:xfrm>
          <a:prstGeom prst="rect">
            <a:avLst/>
          </a:prstGeom>
          <a:noFill/>
        </p:spPr>
        <p:txBody>
          <a:bodyPr wrap="square" lIns="0" rIns="0" tIns="0" bIns="0" anchor="t"/>
          <a:lstStyle/>
          <a:p>
            <a:pPr algn="l"/>
            <a:r>
              <a:rPr sz="1200" b="1" i="0">
                <a:solidFill>
                  <a:srgbClr val="8B4D5C"/>
                </a:solidFill>
                <a:latin typeface="Arial"/>
              </a:rPr>
              <a:t>Entreprise d'accueil</a:t>
            </a:r>
          </a:p>
        </p:txBody>
      </p:sp>
      <p:sp>
        <p:nvSpPr>
          <p:cNvPr id="7" name="04 Drif Consult"/>
          <p:cNvSpPr txBox="1"/>
          <p:nvPr/>
        </p:nvSpPr>
        <p:spPr>
          <a:xfrm>
            <a:off x="676656" y="1828800"/>
            <a:ext cx="3154680" cy="822960"/>
          </a:xfrm>
          <a:prstGeom prst="rect">
            <a:avLst/>
          </a:prstGeom>
          <a:noFill/>
        </p:spPr>
        <p:txBody>
          <a:bodyPr wrap="square" lIns="0" rIns="0" tIns="0" bIns="0" anchor="t"/>
          <a:lstStyle/>
          <a:p>
            <a:pPr algn="l"/>
            <a:r>
              <a:rPr sz="1800" b="1" i="0">
                <a:solidFill>
                  <a:srgbClr val="1A1A1A"/>
                </a:solidFill>
                <a:latin typeface="Arial"/>
              </a:rPr>
              <a:t>Drif Consult</a:t>
            </a:r>
          </a:p>
        </p:txBody>
      </p:sp>
      <p:sp>
        <p:nvSpPr>
          <p:cNvPr id="8" name="04 Forme 3"/>
          <p:cNvSpPr/>
          <p:nvPr/>
        </p:nvSpPr>
        <p:spPr>
          <a:xfrm>
            <a:off x="4297680" y="1234440"/>
            <a:ext cx="3611880" cy="16916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9" name="04 Tuteur"/>
          <p:cNvSpPr txBox="1"/>
          <p:nvPr/>
        </p:nvSpPr>
        <p:spPr>
          <a:xfrm>
            <a:off x="4517136" y="1389888"/>
            <a:ext cx="3154680" cy="292608"/>
          </a:xfrm>
          <a:prstGeom prst="rect">
            <a:avLst/>
          </a:prstGeom>
          <a:noFill/>
        </p:spPr>
        <p:txBody>
          <a:bodyPr wrap="square" lIns="0" rIns="0" tIns="0" bIns="0" anchor="t"/>
          <a:lstStyle/>
          <a:p>
            <a:pPr algn="l"/>
            <a:r>
              <a:rPr sz="1200" b="1" i="0">
                <a:solidFill>
                  <a:srgbClr val="8B4D5C"/>
                </a:solidFill>
                <a:latin typeface="Arial"/>
              </a:rPr>
              <a:t>Tuteur</a:t>
            </a:r>
          </a:p>
        </p:txBody>
      </p:sp>
      <p:sp>
        <p:nvSpPr>
          <p:cNvPr id="10" name="04 Yasser El Habib Drif"/>
          <p:cNvSpPr txBox="1"/>
          <p:nvPr/>
        </p:nvSpPr>
        <p:spPr>
          <a:xfrm>
            <a:off x="4517136" y="1828800"/>
            <a:ext cx="3154680" cy="822960"/>
          </a:xfrm>
          <a:prstGeom prst="rect">
            <a:avLst/>
          </a:prstGeom>
          <a:noFill/>
        </p:spPr>
        <p:txBody>
          <a:bodyPr wrap="square" lIns="0" rIns="0" tIns="0" bIns="0" anchor="t"/>
          <a:lstStyle/>
          <a:p>
            <a:pPr algn="l"/>
            <a:r>
              <a:rPr sz="1800" b="1" i="0">
                <a:solidFill>
                  <a:srgbClr val="1A1A1A"/>
                </a:solidFill>
                <a:latin typeface="Arial"/>
              </a:rPr>
              <a:t>Yasser El Habib Drif</a:t>
            </a:r>
          </a:p>
        </p:txBody>
      </p:sp>
      <p:sp>
        <p:nvSpPr>
          <p:cNvPr id="11" name="04 Forme 4"/>
          <p:cNvSpPr/>
          <p:nvPr/>
        </p:nvSpPr>
        <p:spPr>
          <a:xfrm>
            <a:off x="8138160" y="1234440"/>
            <a:ext cx="3611880" cy="16916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2" name="04 Produit"/>
          <p:cNvSpPr txBox="1"/>
          <p:nvPr/>
        </p:nvSpPr>
        <p:spPr>
          <a:xfrm>
            <a:off x="8357616" y="1389888"/>
            <a:ext cx="3154680" cy="292608"/>
          </a:xfrm>
          <a:prstGeom prst="rect">
            <a:avLst/>
          </a:prstGeom>
          <a:noFill/>
        </p:spPr>
        <p:txBody>
          <a:bodyPr wrap="square" lIns="0" rIns="0" tIns="0" bIns="0" anchor="t"/>
          <a:lstStyle/>
          <a:p>
            <a:pPr algn="l"/>
            <a:r>
              <a:rPr sz="1200" b="1" i="0">
                <a:solidFill>
                  <a:srgbClr val="8B4D5C"/>
                </a:solidFill>
                <a:latin typeface="Arial"/>
              </a:rPr>
              <a:t>Produit</a:t>
            </a:r>
          </a:p>
        </p:txBody>
      </p:sp>
      <p:sp>
        <p:nvSpPr>
          <p:cNvPr id="13" name="04 Roman.ai, coworker pour Slack"/>
          <p:cNvSpPr txBox="1"/>
          <p:nvPr/>
        </p:nvSpPr>
        <p:spPr>
          <a:xfrm>
            <a:off x="8357616" y="1828800"/>
            <a:ext cx="3154680" cy="822960"/>
          </a:xfrm>
          <a:prstGeom prst="rect">
            <a:avLst/>
          </a:prstGeom>
          <a:noFill/>
        </p:spPr>
        <p:txBody>
          <a:bodyPr wrap="square" lIns="0" rIns="0" tIns="0" bIns="0" anchor="t"/>
          <a:lstStyle/>
          <a:p>
            <a:pPr algn="l"/>
            <a:r>
              <a:rPr sz="1800" b="1" i="0">
                <a:solidFill>
                  <a:srgbClr val="1A1A1A"/>
                </a:solidFill>
                <a:latin typeface="Arial"/>
              </a:rPr>
              <a:t>Roman.ai, coworker pour Slack</a:t>
            </a:r>
          </a:p>
        </p:txBody>
      </p:sp>
      <p:sp>
        <p:nvSpPr>
          <p:cNvPr id="14" name="04 Forme 5"/>
          <p:cNvSpPr/>
          <p:nvPr/>
        </p:nvSpPr>
        <p:spPr>
          <a:xfrm>
            <a:off x="457200" y="3154680"/>
            <a:ext cx="11247120" cy="22402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5" name="04 Missions, au niveau du produit"/>
          <p:cNvSpPr txBox="1"/>
          <p:nvPr/>
        </p:nvSpPr>
        <p:spPr>
          <a:xfrm>
            <a:off x="713232" y="3337560"/>
            <a:ext cx="7315200" cy="292608"/>
          </a:xfrm>
          <a:prstGeom prst="rect">
            <a:avLst/>
          </a:prstGeom>
          <a:noFill/>
        </p:spPr>
        <p:txBody>
          <a:bodyPr wrap="square" lIns="0" rIns="0" tIns="0" bIns="0" anchor="t"/>
          <a:lstStyle/>
          <a:p>
            <a:pPr algn="l"/>
            <a:r>
              <a:rPr sz="1300" b="1" i="0">
                <a:solidFill>
                  <a:srgbClr val="8B4D5C"/>
                </a:solidFill>
                <a:latin typeface="Arial"/>
              </a:rPr>
              <a:t>Missions, au niveau du produit</a:t>
            </a:r>
          </a:p>
        </p:txBody>
      </p:sp>
      <p:sp>
        <p:nvSpPr>
          <p:cNvPr id="16" name="04 Front-end. Interfaces du produit, cohér…"/>
          <p:cNvSpPr txBox="1"/>
          <p:nvPr/>
        </p:nvSpPr>
        <p:spPr>
          <a:xfrm>
            <a:off x="731520" y="3703320"/>
            <a:ext cx="10607040" cy="2103120"/>
          </a:xfrm>
          <a:prstGeom prst="rect">
            <a:avLst/>
          </a:prstGeom>
          <a:noFill/>
        </p:spPr>
        <p:txBody>
          <a:bodyPr wrap="square" lIns="18288" rIns="18288" tIns="18288" bIns="18288" anchor="t"/>
          <a:lstStyle/>
          <a:p>
            <a:pPr algn="l">
              <a:spcBef>
                <a:spcPts val="0"/>
              </a:spcBef>
              <a:spcAft>
                <a:spcPts val="800"/>
              </a:spcAft>
            </a:pPr>
            <a:r>
              <a:rPr sz="1600" b="0" i="0">
                <a:solidFill>
                  <a:srgbClr val="1A1A1A"/>
                </a:solidFill>
                <a:latin typeface="Arial"/>
              </a:rPr>
              <a:t>Front-end. Interfaces du produit, cohérence visuelle.</a:t>
            </a:r>
          </a:p>
          <a:p>
            <a:pPr algn="l">
              <a:spcBef>
                <a:spcPts val="0"/>
              </a:spcBef>
              <a:spcAft>
                <a:spcPts val="1400"/>
              </a:spcAft>
            </a:pPr>
            <a:r>
              <a:rPr sz="1600" b="0" i="0">
                <a:solidFill>
                  <a:srgbClr val="1A1A1A"/>
                </a:solidFill>
                <a:latin typeface="Arial"/>
              </a:rPr>
              <a:t>Parrainage. La fonction qui relie un utilisateur à ceux qu'il invite.</a:t>
            </a:r>
          </a:p>
          <a:p>
            <a:pPr algn="l">
              <a:spcBef>
                <a:spcPts val="0"/>
              </a:spcBef>
              <a:spcAft>
                <a:spcPts val="600"/>
              </a:spcAft>
            </a:pPr>
            <a:r>
              <a:rPr sz="1600" b="1" i="0">
                <a:solidFill>
                  <a:srgbClr val="1A1A1A"/>
                </a:solidFill>
                <a:latin typeface="Arial"/>
              </a:rPr>
              <a:t>Ce travail en équipe produit m'a menée au projet de titre.</a:t>
            </a:r>
          </a:p>
          <a:p>
            <a:pPr algn="l">
              <a:spcBef>
                <a:spcPts val="0"/>
              </a:spcBef>
              <a:spcAft>
                <a:spcPts val="0"/>
              </a:spcAft>
            </a:pPr>
            <a:r>
              <a:rPr sz="1600" b="1" i="0">
                <a:solidFill>
                  <a:srgbClr val="1A1A1A"/>
                </a:solidFill>
                <a:latin typeface="Arial"/>
              </a:rPr>
              <a:t>Briefly n'est pas une fonction de Roman.ai.</a:t>
            </a:r>
          </a:p>
        </p:txBody>
      </p:sp>
      <p:sp>
        <p:nvSpPr>
          <p:cNvPr id="17" name="04 Forme 6"/>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18" name="04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19" name="04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0" name="04 04"/>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05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05 01   CONTEXTE"/>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01   CONTEXTE</a:t>
            </a:r>
          </a:p>
        </p:txBody>
      </p:sp>
      <p:sp>
        <p:nvSpPr>
          <p:cNvPr id="4" name="05 La question"/>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La question</a:t>
            </a:r>
          </a:p>
        </p:txBody>
      </p:sp>
      <p:sp>
        <p:nvSpPr>
          <p:cNvPr id="5" name="05 Forme 2"/>
          <p:cNvSpPr/>
          <p:nvPr/>
        </p:nvSpPr>
        <p:spPr>
          <a:xfrm>
            <a:off x="457200" y="1115568"/>
            <a:ext cx="11247120" cy="1874519"/>
          </a:xfrm>
          <a:prstGeom prst="roundRect">
            <a:avLst>
              <a:gd name="adj" fmla="val 10000"/>
            </a:avLst>
          </a:prstGeom>
          <a:solidFill>
            <a:srgbClr val="F6E8ED"/>
          </a:solidFill>
          <a:ln w="15875">
            <a:solidFill>
              <a:srgbClr val="E8C5CE"/>
            </a:solidFill>
          </a:ln>
        </p:spPr>
        <p:txBody>
          <a:bodyPr rtlCol="0" anchor="ctr"/>
          <a:lstStyle/>
          <a:p>
            <a:pPr algn="ctr"/>
          </a:p>
        </p:txBody>
      </p:sp>
      <p:sp>
        <p:nvSpPr>
          <p:cNvPr id="6" name="05 Forme 3"/>
          <p:cNvSpPr/>
          <p:nvPr/>
        </p:nvSpPr>
        <p:spPr>
          <a:xfrm>
            <a:off x="457200" y="1115568"/>
            <a:ext cx="82296" cy="1874519"/>
          </a:xfrm>
          <a:prstGeom prst="rect">
            <a:avLst/>
          </a:prstGeom>
          <a:solidFill>
            <a:srgbClr val="8B4D5C"/>
          </a:solidFill>
          <a:ln>
            <a:noFill/>
          </a:ln>
        </p:spPr>
        <p:txBody>
          <a:bodyPr rtlCol="0" anchor="ctr"/>
          <a:lstStyle/>
          <a:p>
            <a:pPr algn="ctr"/>
          </a:p>
        </p:txBody>
      </p:sp>
      <p:sp>
        <p:nvSpPr>
          <p:cNvPr id="7" name="05 Comment offrir à une organisation fermé…"/>
          <p:cNvSpPr txBox="1"/>
          <p:nvPr/>
        </p:nvSpPr>
        <p:spPr>
          <a:xfrm>
            <a:off x="777240" y="1298448"/>
            <a:ext cx="10607040" cy="1508760"/>
          </a:xfrm>
          <a:prstGeom prst="rect">
            <a:avLst/>
          </a:prstGeom>
          <a:noFill/>
        </p:spPr>
        <p:txBody>
          <a:bodyPr wrap="square" lIns="0" rIns="0" tIns="0" bIns="0" anchor="t"/>
          <a:lstStyle/>
          <a:p>
            <a:pPr algn="l"/>
            <a:r>
              <a:rPr sz="2200" b="1" i="0">
                <a:solidFill>
                  <a:srgbClr val="1A1A1A"/>
                </a:solidFill>
                <a:latin typeface="Arial"/>
              </a:rPr>
              <a:t>Comment offrir à une organisation fermée un suivi d'avancement quotidien, structuré autour des tâches, accessible sur le web et sur mobile, avec des rôles nets ?</a:t>
            </a:r>
          </a:p>
        </p:txBody>
      </p:sp>
      <p:sp>
        <p:nvSpPr>
          <p:cNvPr id="8" name="05 Forme 4"/>
          <p:cNvSpPr/>
          <p:nvPr/>
        </p:nvSpPr>
        <p:spPr>
          <a:xfrm>
            <a:off x="457200" y="3337560"/>
            <a:ext cx="5623560" cy="126187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9" name="05 Forme 5"/>
          <p:cNvSpPr/>
          <p:nvPr/>
        </p:nvSpPr>
        <p:spPr>
          <a:xfrm>
            <a:off x="658368" y="3721608"/>
            <a:ext cx="457200" cy="457200"/>
          </a:xfrm>
          <a:prstGeom prst="ellipse">
            <a:avLst/>
          </a:prstGeom>
          <a:solidFill>
            <a:srgbClr val="F6E8ED"/>
          </a:solidFill>
          <a:ln>
            <a:solidFill>
              <a:srgbClr val="E8C5CE"/>
            </a:solidFill>
          </a:ln>
        </p:spPr>
        <p:txBody>
          <a:bodyPr rtlCol="0" anchor="ctr"/>
          <a:lstStyle/>
          <a:p>
            <a:pPr algn="ctr"/>
          </a:p>
        </p:txBody>
      </p:sp>
      <p:sp>
        <p:nvSpPr>
          <p:cNvPr id="10" name="05 1"/>
          <p:cNvSpPr txBox="1"/>
          <p:nvPr/>
        </p:nvSpPr>
        <p:spPr>
          <a:xfrm>
            <a:off x="658368" y="3794760"/>
            <a:ext cx="457200" cy="329184"/>
          </a:xfrm>
          <a:prstGeom prst="rect">
            <a:avLst/>
          </a:prstGeom>
          <a:noFill/>
        </p:spPr>
        <p:txBody>
          <a:bodyPr wrap="square" lIns="0" rIns="0" tIns="0" bIns="0" anchor="t"/>
          <a:lstStyle/>
          <a:p>
            <a:pPr algn="ctr"/>
            <a:r>
              <a:rPr sz="1600" b="1" i="0">
                <a:solidFill>
                  <a:srgbClr val="8B4D5C"/>
                </a:solidFill>
                <a:latin typeface="Arial"/>
              </a:rPr>
              <a:t>1</a:t>
            </a:r>
          </a:p>
        </p:txBody>
      </p:sp>
      <p:sp>
        <p:nvSpPr>
          <p:cNvPr id="11" name="05 Le point quotidien se fait souvent dans…"/>
          <p:cNvSpPr txBox="1"/>
          <p:nvPr/>
        </p:nvSpPr>
        <p:spPr>
          <a:xfrm>
            <a:off x="1280160" y="3685032"/>
            <a:ext cx="4572000" cy="640080"/>
          </a:xfrm>
          <a:prstGeom prst="rect">
            <a:avLst/>
          </a:prstGeom>
          <a:noFill/>
        </p:spPr>
        <p:txBody>
          <a:bodyPr wrap="square" lIns="0" rIns="0" tIns="0" bIns="0" anchor="t"/>
          <a:lstStyle/>
          <a:p>
            <a:pPr algn="l"/>
            <a:r>
              <a:rPr sz="1600" b="0" i="0">
                <a:solidFill>
                  <a:srgbClr val="1A1A1A"/>
                </a:solidFill>
                <a:latin typeface="Arial"/>
              </a:rPr>
              <a:t>Le point quotidien se fait souvent dans Slack ou Teams.</a:t>
            </a:r>
          </a:p>
        </p:txBody>
      </p:sp>
      <p:sp>
        <p:nvSpPr>
          <p:cNvPr id="12" name="05 Forme 6"/>
          <p:cNvSpPr/>
          <p:nvPr/>
        </p:nvSpPr>
        <p:spPr>
          <a:xfrm>
            <a:off x="6309360" y="3337560"/>
            <a:ext cx="5623560" cy="126187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3" name="05 Forme 7"/>
          <p:cNvSpPr/>
          <p:nvPr/>
        </p:nvSpPr>
        <p:spPr>
          <a:xfrm>
            <a:off x="6510528" y="3721608"/>
            <a:ext cx="457200" cy="457200"/>
          </a:xfrm>
          <a:prstGeom prst="ellipse">
            <a:avLst/>
          </a:prstGeom>
          <a:solidFill>
            <a:srgbClr val="F6E8ED"/>
          </a:solidFill>
          <a:ln>
            <a:solidFill>
              <a:srgbClr val="E8C5CE"/>
            </a:solidFill>
          </a:ln>
        </p:spPr>
        <p:txBody>
          <a:bodyPr rtlCol="0" anchor="ctr"/>
          <a:lstStyle/>
          <a:p>
            <a:pPr algn="ctr"/>
          </a:p>
        </p:txBody>
      </p:sp>
      <p:sp>
        <p:nvSpPr>
          <p:cNvPr id="14" name="05 2"/>
          <p:cNvSpPr txBox="1"/>
          <p:nvPr/>
        </p:nvSpPr>
        <p:spPr>
          <a:xfrm>
            <a:off x="6510528" y="3794760"/>
            <a:ext cx="457200" cy="329184"/>
          </a:xfrm>
          <a:prstGeom prst="rect">
            <a:avLst/>
          </a:prstGeom>
          <a:noFill/>
        </p:spPr>
        <p:txBody>
          <a:bodyPr wrap="square" lIns="0" rIns="0" tIns="0" bIns="0" anchor="t"/>
          <a:lstStyle/>
          <a:p>
            <a:pPr algn="ctr"/>
            <a:r>
              <a:rPr sz="1600" b="1" i="0">
                <a:solidFill>
                  <a:srgbClr val="8B4D5C"/>
                </a:solidFill>
                <a:latin typeface="Arial"/>
              </a:rPr>
              <a:t>2</a:t>
            </a:r>
          </a:p>
        </p:txBody>
      </p:sp>
      <p:sp>
        <p:nvSpPr>
          <p:cNvPr id="15" name="05 Il n'est pas relié à une tâche."/>
          <p:cNvSpPr txBox="1"/>
          <p:nvPr/>
        </p:nvSpPr>
        <p:spPr>
          <a:xfrm>
            <a:off x="7132320" y="3685032"/>
            <a:ext cx="4572000" cy="640080"/>
          </a:xfrm>
          <a:prstGeom prst="rect">
            <a:avLst/>
          </a:prstGeom>
          <a:noFill/>
        </p:spPr>
        <p:txBody>
          <a:bodyPr wrap="square" lIns="0" rIns="0" tIns="0" bIns="0" anchor="t"/>
          <a:lstStyle/>
          <a:p>
            <a:pPr algn="l"/>
            <a:r>
              <a:rPr sz="1600" b="0" i="0">
                <a:solidFill>
                  <a:srgbClr val="1A1A1A"/>
                </a:solidFill>
                <a:latin typeface="Arial"/>
              </a:rPr>
              <a:t>Il n'est pas relié à une tâche.</a:t>
            </a:r>
          </a:p>
        </p:txBody>
      </p:sp>
      <p:sp>
        <p:nvSpPr>
          <p:cNvPr id="16" name="05 Forme 8"/>
          <p:cNvSpPr/>
          <p:nvPr/>
        </p:nvSpPr>
        <p:spPr>
          <a:xfrm>
            <a:off x="457200" y="4754880"/>
            <a:ext cx="5623560" cy="126187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7" name="05 Forme 9"/>
          <p:cNvSpPr/>
          <p:nvPr/>
        </p:nvSpPr>
        <p:spPr>
          <a:xfrm>
            <a:off x="658368" y="5138928"/>
            <a:ext cx="457200" cy="457200"/>
          </a:xfrm>
          <a:prstGeom prst="ellipse">
            <a:avLst/>
          </a:prstGeom>
          <a:solidFill>
            <a:srgbClr val="F6E8ED"/>
          </a:solidFill>
          <a:ln>
            <a:solidFill>
              <a:srgbClr val="E8C5CE"/>
            </a:solidFill>
          </a:ln>
        </p:spPr>
        <p:txBody>
          <a:bodyPr rtlCol="0" anchor="ctr"/>
          <a:lstStyle/>
          <a:p>
            <a:pPr algn="ctr"/>
          </a:p>
        </p:txBody>
      </p:sp>
      <p:sp>
        <p:nvSpPr>
          <p:cNvPr id="18" name="05 3"/>
          <p:cNvSpPr txBox="1"/>
          <p:nvPr/>
        </p:nvSpPr>
        <p:spPr>
          <a:xfrm>
            <a:off x="658368" y="5212080"/>
            <a:ext cx="457200" cy="329184"/>
          </a:xfrm>
          <a:prstGeom prst="rect">
            <a:avLst/>
          </a:prstGeom>
          <a:noFill/>
        </p:spPr>
        <p:txBody>
          <a:bodyPr wrap="square" lIns="0" rIns="0" tIns="0" bIns="0" anchor="t"/>
          <a:lstStyle/>
          <a:p>
            <a:pPr algn="ctr"/>
            <a:r>
              <a:rPr sz="1600" b="1" i="0">
                <a:solidFill>
                  <a:srgbClr val="8B4D5C"/>
                </a:solidFill>
                <a:latin typeface="Arial"/>
              </a:rPr>
              <a:t>3</a:t>
            </a:r>
          </a:p>
        </p:txBody>
      </p:sp>
      <p:sp>
        <p:nvSpPr>
          <p:cNvPr id="19" name="05 Un blocage disparaît dans le fil."/>
          <p:cNvSpPr txBox="1"/>
          <p:nvPr/>
        </p:nvSpPr>
        <p:spPr>
          <a:xfrm>
            <a:off x="1280160" y="5102352"/>
            <a:ext cx="4572000" cy="640080"/>
          </a:xfrm>
          <a:prstGeom prst="rect">
            <a:avLst/>
          </a:prstGeom>
          <a:noFill/>
        </p:spPr>
        <p:txBody>
          <a:bodyPr wrap="square" lIns="0" rIns="0" tIns="0" bIns="0" anchor="t"/>
          <a:lstStyle/>
          <a:p>
            <a:pPr algn="l"/>
            <a:r>
              <a:rPr sz="1600" b="0" i="0">
                <a:solidFill>
                  <a:srgbClr val="1A1A1A"/>
                </a:solidFill>
                <a:latin typeface="Arial"/>
              </a:rPr>
              <a:t>Un blocage disparaît dans le fil.</a:t>
            </a:r>
          </a:p>
        </p:txBody>
      </p:sp>
      <p:sp>
        <p:nvSpPr>
          <p:cNvPr id="20" name="05 Forme 10"/>
          <p:cNvSpPr/>
          <p:nvPr/>
        </p:nvSpPr>
        <p:spPr>
          <a:xfrm>
            <a:off x="6309360" y="4754880"/>
            <a:ext cx="5623560" cy="126187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21" name="05 Forme 11"/>
          <p:cNvSpPr/>
          <p:nvPr/>
        </p:nvSpPr>
        <p:spPr>
          <a:xfrm>
            <a:off x="6510528" y="5138928"/>
            <a:ext cx="457200" cy="457200"/>
          </a:xfrm>
          <a:prstGeom prst="ellipse">
            <a:avLst/>
          </a:prstGeom>
          <a:solidFill>
            <a:srgbClr val="F6E8ED"/>
          </a:solidFill>
          <a:ln>
            <a:solidFill>
              <a:srgbClr val="E8C5CE"/>
            </a:solidFill>
          </a:ln>
        </p:spPr>
        <p:txBody>
          <a:bodyPr rtlCol="0" anchor="ctr"/>
          <a:lstStyle/>
          <a:p>
            <a:pPr algn="ctr"/>
          </a:p>
        </p:txBody>
      </p:sp>
      <p:sp>
        <p:nvSpPr>
          <p:cNvPr id="22" name="05 4"/>
          <p:cNvSpPr txBox="1"/>
          <p:nvPr/>
        </p:nvSpPr>
        <p:spPr>
          <a:xfrm>
            <a:off x="6510528" y="5212080"/>
            <a:ext cx="457200" cy="329184"/>
          </a:xfrm>
          <a:prstGeom prst="rect">
            <a:avLst/>
          </a:prstGeom>
          <a:noFill/>
        </p:spPr>
        <p:txBody>
          <a:bodyPr wrap="square" lIns="0" rIns="0" tIns="0" bIns="0" anchor="t"/>
          <a:lstStyle/>
          <a:p>
            <a:pPr algn="ctr"/>
            <a:r>
              <a:rPr sz="1600" b="1" i="0">
                <a:solidFill>
                  <a:srgbClr val="8B4D5C"/>
                </a:solidFill>
                <a:latin typeface="Arial"/>
              </a:rPr>
              <a:t>4</a:t>
            </a:r>
          </a:p>
        </p:txBody>
      </p:sp>
      <p:sp>
        <p:nvSpPr>
          <p:cNvPr id="23" name="05 Le chef d'équipe n'a pas de tableau de…"/>
          <p:cNvSpPr txBox="1"/>
          <p:nvPr/>
        </p:nvSpPr>
        <p:spPr>
          <a:xfrm>
            <a:off x="7132320" y="5102352"/>
            <a:ext cx="4572000" cy="640080"/>
          </a:xfrm>
          <a:prstGeom prst="rect">
            <a:avLst/>
          </a:prstGeom>
          <a:noFill/>
        </p:spPr>
        <p:txBody>
          <a:bodyPr wrap="square" lIns="0" rIns="0" tIns="0" bIns="0" anchor="t"/>
          <a:lstStyle/>
          <a:p>
            <a:pPr algn="l"/>
            <a:r>
              <a:rPr sz="1600" b="0" i="0">
                <a:solidFill>
                  <a:srgbClr val="1A1A1A"/>
                </a:solidFill>
                <a:latin typeface="Arial"/>
              </a:rPr>
              <a:t>Le chef d'équipe n'a pas de tableau de bord à jour.</a:t>
            </a:r>
          </a:p>
        </p:txBody>
      </p:sp>
      <p:sp>
        <p:nvSpPr>
          <p:cNvPr id="24" name="05 Forme 12"/>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5" name="05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6" name="05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7" name="05 C5  ·  Analyser les besoin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8" name="05 05"/>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06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06 01   CONTEXTE"/>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01   CONTEXTE</a:t>
            </a:r>
          </a:p>
        </p:txBody>
      </p:sp>
      <p:sp>
        <p:nvSpPr>
          <p:cNvPr id="4" name="06 Ce que les outils du marché ne font pas"/>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Ce que les outils du marché ne font pas</a:t>
            </a:r>
          </a:p>
        </p:txBody>
      </p:sp>
      <p:sp>
        <p:nvSpPr>
          <p:cNvPr id="5" name="06 Forme 2"/>
          <p:cNvSpPr/>
          <p:nvPr/>
        </p:nvSpPr>
        <p:spPr>
          <a:xfrm>
            <a:off x="411480" y="1115568"/>
            <a:ext cx="3703320" cy="310896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06 Messagerie"/>
          <p:cNvSpPr txBox="1"/>
          <p:nvPr/>
        </p:nvSpPr>
        <p:spPr>
          <a:xfrm>
            <a:off x="594360" y="1243584"/>
            <a:ext cx="3337560" cy="237744"/>
          </a:xfrm>
          <a:prstGeom prst="rect">
            <a:avLst/>
          </a:prstGeom>
          <a:noFill/>
        </p:spPr>
        <p:txBody>
          <a:bodyPr wrap="square" lIns="0" rIns="0" tIns="0" bIns="0" anchor="t"/>
          <a:lstStyle/>
          <a:p>
            <a:pPr algn="l"/>
            <a:r>
              <a:rPr sz="1200" b="1" i="0">
                <a:solidFill>
                  <a:srgbClr val="8B4D5C"/>
                </a:solidFill>
                <a:latin typeface="Arial"/>
              </a:rPr>
              <a:t>Messagerie</a:t>
            </a:r>
          </a:p>
        </p:txBody>
      </p:sp>
      <p:sp>
        <p:nvSpPr>
          <p:cNvPr id="7" name="06 Slack, Teams"/>
          <p:cNvSpPr txBox="1"/>
          <p:nvPr/>
        </p:nvSpPr>
        <p:spPr>
          <a:xfrm>
            <a:off x="594360" y="1481328"/>
            <a:ext cx="3337560" cy="292608"/>
          </a:xfrm>
          <a:prstGeom prst="rect">
            <a:avLst/>
          </a:prstGeom>
          <a:noFill/>
        </p:spPr>
        <p:txBody>
          <a:bodyPr wrap="square" lIns="0" rIns="0" tIns="0" bIns="0" anchor="t"/>
          <a:lstStyle/>
          <a:p>
            <a:pPr algn="l"/>
            <a:r>
              <a:rPr sz="1600" b="1" i="0">
                <a:solidFill>
                  <a:srgbClr val="1A1A1A"/>
                </a:solidFill>
                <a:latin typeface="Arial"/>
              </a:rPr>
              <a:t>Slack, Teams</a:t>
            </a:r>
          </a:p>
        </p:txBody>
      </p:sp>
      <p:sp>
        <p:nvSpPr>
          <p:cNvPr id="8" name="06 Forme 3"/>
          <p:cNvSpPr/>
          <p:nvPr/>
        </p:nvSpPr>
        <p:spPr>
          <a:xfrm>
            <a:off x="576072" y="1874519"/>
            <a:ext cx="3383280" cy="1417320"/>
          </a:xfrm>
          <a:prstGeom prst="roundRect">
            <a:avLst>
              <a:gd name="adj" fmla="val 6000"/>
            </a:avLst>
          </a:prstGeom>
          <a:solidFill>
            <a:srgbClr val="F6E8ED"/>
          </a:solidFill>
          <a:ln>
            <a:noFill/>
          </a:ln>
        </p:spPr>
        <p:txBody>
          <a:bodyPr rtlCol="0" anchor="ctr"/>
          <a:lstStyle/>
          <a:p>
            <a:pPr algn="ctr"/>
          </a:p>
        </p:txBody>
      </p:sp>
      <p:pic>
        <p:nvPicPr>
          <p:cNvPr id="9" name="06 Image" descr="existant-slack-teams.png"/>
          <p:cNvPicPr>
            <a:picLocks noChangeAspect="1"/>
          </p:cNvPicPr>
          <p:nvPr/>
        </p:nvPicPr>
        <p:blipFill>
          <a:blip r:embed="rId2"/>
          <a:stretch>
            <a:fillRect/>
          </a:stretch>
        </p:blipFill>
        <p:spPr>
          <a:xfrm>
            <a:off x="684022" y="1920240"/>
            <a:ext cx="3167379" cy="1325880"/>
          </a:xfrm>
          <a:prstGeom prst="rect">
            <a:avLst/>
          </a:prstGeom>
        </p:spPr>
      </p:pic>
      <p:sp>
        <p:nvSpPr>
          <p:cNvPr id="10" name="06 Immédiat. Rien ne reste lié à la tâche."/>
          <p:cNvSpPr txBox="1"/>
          <p:nvPr/>
        </p:nvSpPr>
        <p:spPr>
          <a:xfrm>
            <a:off x="594360" y="3364992"/>
            <a:ext cx="3337560" cy="1005840"/>
          </a:xfrm>
          <a:prstGeom prst="rect">
            <a:avLst/>
          </a:prstGeom>
          <a:noFill/>
        </p:spPr>
        <p:txBody>
          <a:bodyPr wrap="square" lIns="0" rIns="0" tIns="0" bIns="0" anchor="t"/>
          <a:lstStyle/>
          <a:p>
            <a:pPr algn="l"/>
            <a:r>
              <a:rPr sz="1400" b="0" i="0">
                <a:solidFill>
                  <a:srgbClr val="1A1A1A"/>
                </a:solidFill>
                <a:latin typeface="Arial"/>
              </a:rPr>
              <a:t>Immédiat. Rien ne reste lié à la tâche.</a:t>
            </a:r>
          </a:p>
        </p:txBody>
      </p:sp>
      <p:sp>
        <p:nvSpPr>
          <p:cNvPr id="11" name="06 Forme 4"/>
          <p:cNvSpPr/>
          <p:nvPr/>
        </p:nvSpPr>
        <p:spPr>
          <a:xfrm>
            <a:off x="4297680" y="1115568"/>
            <a:ext cx="3703320" cy="310896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2" name="06 Tableau léger"/>
          <p:cNvSpPr txBox="1"/>
          <p:nvPr/>
        </p:nvSpPr>
        <p:spPr>
          <a:xfrm>
            <a:off x="4480560" y="1243584"/>
            <a:ext cx="3337560" cy="237744"/>
          </a:xfrm>
          <a:prstGeom prst="rect">
            <a:avLst/>
          </a:prstGeom>
          <a:noFill/>
        </p:spPr>
        <p:txBody>
          <a:bodyPr wrap="square" lIns="0" rIns="0" tIns="0" bIns="0" anchor="t"/>
          <a:lstStyle/>
          <a:p>
            <a:pPr algn="l"/>
            <a:r>
              <a:rPr sz="1200" b="1" i="0">
                <a:solidFill>
                  <a:srgbClr val="8B4D5C"/>
                </a:solidFill>
                <a:latin typeface="Arial"/>
              </a:rPr>
              <a:t>Tableau léger</a:t>
            </a:r>
          </a:p>
        </p:txBody>
      </p:sp>
      <p:sp>
        <p:nvSpPr>
          <p:cNvPr id="13" name="06 Trello"/>
          <p:cNvSpPr txBox="1"/>
          <p:nvPr/>
        </p:nvSpPr>
        <p:spPr>
          <a:xfrm>
            <a:off x="4480560" y="1481328"/>
            <a:ext cx="3337560" cy="292608"/>
          </a:xfrm>
          <a:prstGeom prst="rect">
            <a:avLst/>
          </a:prstGeom>
          <a:noFill/>
        </p:spPr>
        <p:txBody>
          <a:bodyPr wrap="square" lIns="0" rIns="0" tIns="0" bIns="0" anchor="t"/>
          <a:lstStyle/>
          <a:p>
            <a:pPr algn="l"/>
            <a:r>
              <a:rPr sz="1600" b="1" i="0">
                <a:solidFill>
                  <a:srgbClr val="1A1A1A"/>
                </a:solidFill>
                <a:latin typeface="Arial"/>
              </a:rPr>
              <a:t>Trello</a:t>
            </a:r>
          </a:p>
        </p:txBody>
      </p:sp>
      <p:sp>
        <p:nvSpPr>
          <p:cNvPr id="14" name="06 Forme 5"/>
          <p:cNvSpPr/>
          <p:nvPr/>
        </p:nvSpPr>
        <p:spPr>
          <a:xfrm>
            <a:off x="4462272" y="1874519"/>
            <a:ext cx="3383280" cy="1417320"/>
          </a:xfrm>
          <a:prstGeom prst="roundRect">
            <a:avLst>
              <a:gd name="adj" fmla="val 6000"/>
            </a:avLst>
          </a:prstGeom>
          <a:solidFill>
            <a:srgbClr val="F6E8ED"/>
          </a:solidFill>
          <a:ln>
            <a:noFill/>
          </a:ln>
        </p:spPr>
        <p:txBody>
          <a:bodyPr rtlCol="0" anchor="ctr"/>
          <a:lstStyle/>
          <a:p>
            <a:pPr algn="ctr"/>
          </a:p>
        </p:txBody>
      </p:sp>
      <p:pic>
        <p:nvPicPr>
          <p:cNvPr id="15" name="06 Image 2" descr="existant-trello.jpg"/>
          <p:cNvPicPr>
            <a:picLocks noChangeAspect="1"/>
          </p:cNvPicPr>
          <p:nvPr/>
        </p:nvPicPr>
        <p:blipFill>
          <a:blip r:embed="rId3"/>
          <a:stretch>
            <a:fillRect/>
          </a:stretch>
        </p:blipFill>
        <p:spPr>
          <a:xfrm>
            <a:off x="4828032" y="1920240"/>
            <a:ext cx="2651760" cy="1325880"/>
          </a:xfrm>
          <a:prstGeom prst="rect">
            <a:avLst/>
          </a:prstGeom>
        </p:spPr>
      </p:pic>
      <p:sp>
        <p:nvSpPr>
          <p:cNvPr id="16" name="06 Cartes et colonnes. Pas de rôles métier…"/>
          <p:cNvSpPr txBox="1"/>
          <p:nvPr/>
        </p:nvSpPr>
        <p:spPr>
          <a:xfrm>
            <a:off x="4480560" y="3364992"/>
            <a:ext cx="3337560" cy="1005840"/>
          </a:xfrm>
          <a:prstGeom prst="rect">
            <a:avLst/>
          </a:prstGeom>
          <a:noFill/>
        </p:spPr>
        <p:txBody>
          <a:bodyPr wrap="square" lIns="0" rIns="0" tIns="0" bIns="0" anchor="t"/>
          <a:lstStyle/>
          <a:p>
            <a:pPr algn="l"/>
            <a:r>
              <a:rPr sz="1400" b="0" i="0">
                <a:solidFill>
                  <a:srgbClr val="1A1A1A"/>
                </a:solidFill>
                <a:latin typeface="Arial"/>
              </a:rPr>
              <a:t>Cartes et colonnes. Pas de rôles métier, ni de note de blocage obligatoire.</a:t>
            </a:r>
          </a:p>
        </p:txBody>
      </p:sp>
      <p:sp>
        <p:nvSpPr>
          <p:cNvPr id="17" name="06 Forme 6"/>
          <p:cNvSpPr/>
          <p:nvPr/>
        </p:nvSpPr>
        <p:spPr>
          <a:xfrm>
            <a:off x="8183879" y="1115568"/>
            <a:ext cx="3703320" cy="310896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8" name="06 Forge"/>
          <p:cNvSpPr txBox="1"/>
          <p:nvPr/>
        </p:nvSpPr>
        <p:spPr>
          <a:xfrm>
            <a:off x="8366759" y="1243584"/>
            <a:ext cx="3337560" cy="237744"/>
          </a:xfrm>
          <a:prstGeom prst="rect">
            <a:avLst/>
          </a:prstGeom>
          <a:noFill/>
        </p:spPr>
        <p:txBody>
          <a:bodyPr wrap="square" lIns="0" rIns="0" tIns="0" bIns="0" anchor="t"/>
          <a:lstStyle/>
          <a:p>
            <a:pPr algn="l"/>
            <a:r>
              <a:rPr sz="1200" b="1" i="0">
                <a:solidFill>
                  <a:srgbClr val="8B4D5C"/>
                </a:solidFill>
                <a:latin typeface="Arial"/>
              </a:rPr>
              <a:t>Forge</a:t>
            </a:r>
          </a:p>
        </p:txBody>
      </p:sp>
      <p:sp>
        <p:nvSpPr>
          <p:cNvPr id="19" name="06 Jira"/>
          <p:cNvSpPr txBox="1"/>
          <p:nvPr/>
        </p:nvSpPr>
        <p:spPr>
          <a:xfrm>
            <a:off x="8366759" y="1481328"/>
            <a:ext cx="3337560" cy="292608"/>
          </a:xfrm>
          <a:prstGeom prst="rect">
            <a:avLst/>
          </a:prstGeom>
          <a:noFill/>
        </p:spPr>
        <p:txBody>
          <a:bodyPr wrap="square" lIns="0" rIns="0" tIns="0" bIns="0" anchor="t"/>
          <a:lstStyle/>
          <a:p>
            <a:pPr algn="l"/>
            <a:r>
              <a:rPr sz="1600" b="1" i="0">
                <a:solidFill>
                  <a:srgbClr val="1A1A1A"/>
                </a:solidFill>
                <a:latin typeface="Arial"/>
              </a:rPr>
              <a:t>Jira</a:t>
            </a:r>
          </a:p>
        </p:txBody>
      </p:sp>
      <p:sp>
        <p:nvSpPr>
          <p:cNvPr id="20" name="06 Forme 7"/>
          <p:cNvSpPr/>
          <p:nvPr/>
        </p:nvSpPr>
        <p:spPr>
          <a:xfrm>
            <a:off x="8348471" y="1874519"/>
            <a:ext cx="3383280" cy="1417320"/>
          </a:xfrm>
          <a:prstGeom prst="roundRect">
            <a:avLst>
              <a:gd name="adj" fmla="val 6000"/>
            </a:avLst>
          </a:prstGeom>
          <a:solidFill>
            <a:srgbClr val="F6E8ED"/>
          </a:solidFill>
          <a:ln>
            <a:noFill/>
          </a:ln>
        </p:spPr>
        <p:txBody>
          <a:bodyPr rtlCol="0" anchor="ctr"/>
          <a:lstStyle/>
          <a:p>
            <a:pPr algn="ctr"/>
          </a:p>
        </p:txBody>
      </p:sp>
      <p:pic>
        <p:nvPicPr>
          <p:cNvPr id="21" name="06 Image 3" descr="existant-jira.png"/>
          <p:cNvPicPr>
            <a:picLocks noChangeAspect="1"/>
          </p:cNvPicPr>
          <p:nvPr/>
        </p:nvPicPr>
        <p:blipFill>
          <a:blip r:embed="rId4"/>
          <a:stretch>
            <a:fillRect/>
          </a:stretch>
        </p:blipFill>
        <p:spPr>
          <a:xfrm>
            <a:off x="8398155" y="1920240"/>
            <a:ext cx="3283913" cy="1325880"/>
          </a:xfrm>
          <a:prstGeom prst="rect">
            <a:avLst/>
          </a:prstGeom>
        </p:spPr>
      </p:pic>
      <p:sp>
        <p:nvSpPr>
          <p:cNvPr id="22" name="06 Tickets et workflows. Trop lourd pour l…"/>
          <p:cNvSpPr txBox="1"/>
          <p:nvPr/>
        </p:nvSpPr>
        <p:spPr>
          <a:xfrm>
            <a:off x="8366759" y="3364992"/>
            <a:ext cx="3337560" cy="1005840"/>
          </a:xfrm>
          <a:prstGeom prst="rect">
            <a:avLst/>
          </a:prstGeom>
          <a:noFill/>
        </p:spPr>
        <p:txBody>
          <a:bodyPr wrap="square" lIns="0" rIns="0" tIns="0" bIns="0" anchor="t"/>
          <a:lstStyle/>
          <a:p>
            <a:pPr algn="l"/>
            <a:r>
              <a:rPr sz="1400" b="0" i="0">
                <a:solidFill>
                  <a:srgbClr val="1A1A1A"/>
                </a:solidFill>
                <a:latin typeface="Arial"/>
              </a:rPr>
              <a:t>Tickets et workflows. Trop lourd pour le point du matin.</a:t>
            </a:r>
          </a:p>
        </p:txBody>
      </p:sp>
      <p:sp>
        <p:nvSpPr>
          <p:cNvPr id="23" name="06 Forme 8"/>
          <p:cNvSpPr/>
          <p:nvPr/>
        </p:nvSpPr>
        <p:spPr>
          <a:xfrm>
            <a:off x="411480" y="4407408"/>
            <a:ext cx="11338560" cy="1051560"/>
          </a:xfrm>
          <a:prstGeom prst="roundRect">
            <a:avLst>
              <a:gd name="adj" fmla="val 8000"/>
            </a:avLst>
          </a:prstGeom>
          <a:solidFill>
            <a:srgbClr val="F6E8ED"/>
          </a:solidFill>
          <a:ln w="15875">
            <a:solidFill>
              <a:srgbClr val="E8C5CE"/>
            </a:solidFill>
          </a:ln>
        </p:spPr>
        <p:txBody>
          <a:bodyPr rtlCol="0" anchor="ctr"/>
          <a:lstStyle/>
          <a:p>
            <a:pPr algn="ctr"/>
          </a:p>
        </p:txBody>
      </p:sp>
      <p:sp>
        <p:nvSpPr>
          <p:cNvPr id="24" name="06 Aucun ne réunit une organisation fermée…"/>
          <p:cNvSpPr txBox="1"/>
          <p:nvPr/>
        </p:nvSpPr>
        <p:spPr>
          <a:xfrm>
            <a:off x="640080" y="4617720"/>
            <a:ext cx="10927080" cy="731520"/>
          </a:xfrm>
          <a:prstGeom prst="rect">
            <a:avLst/>
          </a:prstGeom>
          <a:noFill/>
        </p:spPr>
        <p:txBody>
          <a:bodyPr wrap="square" lIns="0" rIns="0" tIns="0" bIns="0" anchor="t"/>
          <a:lstStyle/>
          <a:p>
            <a:pPr algn="l"/>
            <a:r>
              <a:rPr sz="1500" b="1" i="0">
                <a:solidFill>
                  <a:srgbClr val="1A1A1A"/>
                </a:solidFill>
                <a:latin typeface="Arial"/>
              </a:rPr>
              <a:t>Aucun ne réunit une organisation fermée, trois rôles, un avancement en trois champs, et le web plus le mobile sur les mêmes règles.</a:t>
            </a:r>
          </a:p>
        </p:txBody>
      </p:sp>
      <p:sp>
        <p:nvSpPr>
          <p:cNvPr id="25" name="06 Forme 9"/>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6" name="06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7" name="06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8" name="06 C5  ·  Analyser les besoin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9" name="06 06"/>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07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07 01   CONTEXTE"/>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01   CONTEXTE</a:t>
            </a:r>
          </a:p>
        </p:txBody>
      </p:sp>
      <p:sp>
        <p:nvSpPr>
          <p:cNvPr id="4" name="07 Briefly"/>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Briefly</a:t>
            </a:r>
          </a:p>
        </p:txBody>
      </p:sp>
      <p:sp>
        <p:nvSpPr>
          <p:cNvPr id="5" name="07 Application interne, web et mobile. Pas…"/>
          <p:cNvSpPr txBox="1"/>
          <p:nvPr/>
        </p:nvSpPr>
        <p:spPr>
          <a:xfrm>
            <a:off x="457200" y="1051560"/>
            <a:ext cx="11247120" cy="365760"/>
          </a:xfrm>
          <a:prstGeom prst="rect">
            <a:avLst/>
          </a:prstGeom>
          <a:noFill/>
        </p:spPr>
        <p:txBody>
          <a:bodyPr wrap="square" lIns="0" rIns="0" tIns="0" bIns="0" anchor="t"/>
          <a:lstStyle/>
          <a:p>
            <a:pPr algn="l"/>
            <a:r>
              <a:rPr sz="1600" b="0" i="0">
                <a:solidFill>
                  <a:srgbClr val="1A1A1A"/>
                </a:solidFill>
                <a:latin typeface="Arial"/>
              </a:rPr>
              <a:t>Application interne, web et mobile. Pas d'inscription publique. L'administrateur crée les comptes.</a:t>
            </a:r>
          </a:p>
        </p:txBody>
      </p:sp>
      <p:sp>
        <p:nvSpPr>
          <p:cNvPr id="6" name="07 Forme 2"/>
          <p:cNvSpPr/>
          <p:nvPr/>
        </p:nvSpPr>
        <p:spPr>
          <a:xfrm>
            <a:off x="457200" y="1536192"/>
            <a:ext cx="4709160" cy="89611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7" name="07 Forme 3"/>
          <p:cNvSpPr/>
          <p:nvPr/>
        </p:nvSpPr>
        <p:spPr>
          <a:xfrm>
            <a:off x="621792" y="1682495"/>
            <a:ext cx="50292" cy="603504"/>
          </a:xfrm>
          <a:prstGeom prst="rect">
            <a:avLst/>
          </a:prstGeom>
          <a:solidFill>
            <a:srgbClr val="8B4D5C"/>
          </a:solidFill>
          <a:ln>
            <a:noFill/>
          </a:ln>
        </p:spPr>
        <p:txBody>
          <a:bodyPr rtlCol="0" anchor="ctr"/>
          <a:lstStyle/>
          <a:p>
            <a:pPr algn="ctr"/>
          </a:p>
        </p:txBody>
      </p:sp>
      <p:sp>
        <p:nvSpPr>
          <p:cNvPr id="8" name="07 Organiser"/>
          <p:cNvSpPr txBox="1"/>
          <p:nvPr/>
        </p:nvSpPr>
        <p:spPr>
          <a:xfrm>
            <a:off x="822960" y="1627632"/>
            <a:ext cx="4114800" cy="292608"/>
          </a:xfrm>
          <a:prstGeom prst="rect">
            <a:avLst/>
          </a:prstGeom>
          <a:noFill/>
        </p:spPr>
        <p:txBody>
          <a:bodyPr wrap="square" lIns="0" rIns="0" tIns="0" bIns="0" anchor="t"/>
          <a:lstStyle/>
          <a:p>
            <a:pPr algn="l"/>
            <a:r>
              <a:rPr sz="1600" b="1" i="0">
                <a:solidFill>
                  <a:srgbClr val="1A1A1A"/>
                </a:solidFill>
                <a:latin typeface="Arial"/>
              </a:rPr>
              <a:t>Organiser</a:t>
            </a:r>
          </a:p>
        </p:txBody>
      </p:sp>
      <p:sp>
        <p:nvSpPr>
          <p:cNvPr id="9" name="07 Équipes, projets, tâches."/>
          <p:cNvSpPr txBox="1"/>
          <p:nvPr/>
        </p:nvSpPr>
        <p:spPr>
          <a:xfrm>
            <a:off x="822960" y="1956816"/>
            <a:ext cx="4114800" cy="365760"/>
          </a:xfrm>
          <a:prstGeom prst="rect">
            <a:avLst/>
          </a:prstGeom>
          <a:noFill/>
        </p:spPr>
        <p:txBody>
          <a:bodyPr wrap="square" lIns="0" rIns="0" tIns="0" bIns="0" anchor="t"/>
          <a:lstStyle/>
          <a:p>
            <a:pPr algn="l"/>
            <a:r>
              <a:rPr sz="1400" b="0" i="0">
                <a:solidFill>
                  <a:srgbClr val="5E4E53"/>
                </a:solidFill>
                <a:latin typeface="Arial"/>
              </a:rPr>
              <a:t>Équipes, projets, tâches.</a:t>
            </a:r>
          </a:p>
        </p:txBody>
      </p:sp>
      <p:sp>
        <p:nvSpPr>
          <p:cNvPr id="10" name="07 Forme 4"/>
          <p:cNvSpPr/>
          <p:nvPr/>
        </p:nvSpPr>
        <p:spPr>
          <a:xfrm>
            <a:off x="457200" y="2523744"/>
            <a:ext cx="4709160" cy="89611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1" name="07 Forme 5"/>
          <p:cNvSpPr/>
          <p:nvPr/>
        </p:nvSpPr>
        <p:spPr>
          <a:xfrm>
            <a:off x="621792" y="2670048"/>
            <a:ext cx="50292" cy="603504"/>
          </a:xfrm>
          <a:prstGeom prst="rect">
            <a:avLst/>
          </a:prstGeom>
          <a:solidFill>
            <a:srgbClr val="8B4D5C"/>
          </a:solidFill>
          <a:ln>
            <a:noFill/>
          </a:ln>
        </p:spPr>
        <p:txBody>
          <a:bodyPr rtlCol="0" anchor="ctr"/>
          <a:lstStyle/>
          <a:p>
            <a:pPr algn="ctr"/>
          </a:p>
        </p:txBody>
      </p:sp>
      <p:sp>
        <p:nvSpPr>
          <p:cNvPr id="12" name="07 Rendre compte"/>
          <p:cNvSpPr txBox="1"/>
          <p:nvPr/>
        </p:nvSpPr>
        <p:spPr>
          <a:xfrm>
            <a:off x="822960" y="2615184"/>
            <a:ext cx="4114800" cy="292608"/>
          </a:xfrm>
          <a:prstGeom prst="rect">
            <a:avLst/>
          </a:prstGeom>
          <a:noFill/>
        </p:spPr>
        <p:txBody>
          <a:bodyPr wrap="square" lIns="0" rIns="0" tIns="0" bIns="0" anchor="t"/>
          <a:lstStyle/>
          <a:p>
            <a:pPr algn="l"/>
            <a:r>
              <a:rPr sz="1600" b="1" i="0">
                <a:solidFill>
                  <a:srgbClr val="1A1A1A"/>
                </a:solidFill>
                <a:latin typeface="Arial"/>
              </a:rPr>
              <a:t>Rendre compte</a:t>
            </a:r>
          </a:p>
        </p:txBody>
      </p:sp>
      <p:sp>
        <p:nvSpPr>
          <p:cNvPr id="13" name="07 Réalisé, à venir, blocage."/>
          <p:cNvSpPr txBox="1"/>
          <p:nvPr/>
        </p:nvSpPr>
        <p:spPr>
          <a:xfrm>
            <a:off x="822960" y="2944368"/>
            <a:ext cx="4114800" cy="365760"/>
          </a:xfrm>
          <a:prstGeom prst="rect">
            <a:avLst/>
          </a:prstGeom>
          <a:noFill/>
        </p:spPr>
        <p:txBody>
          <a:bodyPr wrap="square" lIns="0" rIns="0" tIns="0" bIns="0" anchor="t"/>
          <a:lstStyle/>
          <a:p>
            <a:pPr algn="l"/>
            <a:r>
              <a:rPr sz="1400" b="0" i="0">
                <a:solidFill>
                  <a:srgbClr val="5E4E53"/>
                </a:solidFill>
                <a:latin typeface="Arial"/>
              </a:rPr>
              <a:t>Réalisé, à venir, blocage.</a:t>
            </a:r>
          </a:p>
        </p:txBody>
      </p:sp>
      <p:sp>
        <p:nvSpPr>
          <p:cNvPr id="14" name="07 Forme 6"/>
          <p:cNvSpPr/>
          <p:nvPr/>
        </p:nvSpPr>
        <p:spPr>
          <a:xfrm>
            <a:off x="457200" y="3511296"/>
            <a:ext cx="4709160" cy="89611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5" name="07 Forme 7"/>
          <p:cNvSpPr/>
          <p:nvPr/>
        </p:nvSpPr>
        <p:spPr>
          <a:xfrm>
            <a:off x="621792" y="3657600"/>
            <a:ext cx="50292" cy="603504"/>
          </a:xfrm>
          <a:prstGeom prst="rect">
            <a:avLst/>
          </a:prstGeom>
          <a:solidFill>
            <a:srgbClr val="8B4D5C"/>
          </a:solidFill>
          <a:ln>
            <a:noFill/>
          </a:ln>
        </p:spPr>
        <p:txBody>
          <a:bodyPr rtlCol="0" anchor="ctr"/>
          <a:lstStyle/>
          <a:p>
            <a:pPr algn="ctr"/>
          </a:p>
        </p:txBody>
      </p:sp>
      <p:sp>
        <p:nvSpPr>
          <p:cNvPr id="16" name="07 Piloter"/>
          <p:cNvSpPr txBox="1"/>
          <p:nvPr/>
        </p:nvSpPr>
        <p:spPr>
          <a:xfrm>
            <a:off x="822960" y="3602736"/>
            <a:ext cx="4114800" cy="292608"/>
          </a:xfrm>
          <a:prstGeom prst="rect">
            <a:avLst/>
          </a:prstGeom>
          <a:noFill/>
        </p:spPr>
        <p:txBody>
          <a:bodyPr wrap="square" lIns="0" rIns="0" tIns="0" bIns="0" anchor="t"/>
          <a:lstStyle/>
          <a:p>
            <a:pPr algn="l"/>
            <a:r>
              <a:rPr sz="1600" b="1" i="0">
                <a:solidFill>
                  <a:srgbClr val="1A1A1A"/>
                </a:solidFill>
                <a:latin typeface="Arial"/>
              </a:rPr>
              <a:t>Piloter</a:t>
            </a:r>
          </a:p>
        </p:txBody>
      </p:sp>
      <p:sp>
        <p:nvSpPr>
          <p:cNvPr id="17" name="07 Taux par membre, équipe et projet."/>
          <p:cNvSpPr txBox="1"/>
          <p:nvPr/>
        </p:nvSpPr>
        <p:spPr>
          <a:xfrm>
            <a:off x="822960" y="3931920"/>
            <a:ext cx="4114800" cy="365760"/>
          </a:xfrm>
          <a:prstGeom prst="rect">
            <a:avLst/>
          </a:prstGeom>
          <a:noFill/>
        </p:spPr>
        <p:txBody>
          <a:bodyPr wrap="square" lIns="0" rIns="0" tIns="0" bIns="0" anchor="t"/>
          <a:lstStyle/>
          <a:p>
            <a:pPr algn="l"/>
            <a:r>
              <a:rPr sz="1400" b="0" i="0">
                <a:solidFill>
                  <a:srgbClr val="5E4E53"/>
                </a:solidFill>
                <a:latin typeface="Arial"/>
              </a:rPr>
              <a:t>Taux par membre, équipe et projet.</a:t>
            </a:r>
          </a:p>
        </p:txBody>
      </p:sp>
      <p:sp>
        <p:nvSpPr>
          <p:cNvPr id="18" name="07 Forme 8"/>
          <p:cNvSpPr/>
          <p:nvPr/>
        </p:nvSpPr>
        <p:spPr>
          <a:xfrm>
            <a:off x="457200" y="4498848"/>
            <a:ext cx="4709160" cy="89611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9" name="07 Forme 9"/>
          <p:cNvSpPr/>
          <p:nvPr/>
        </p:nvSpPr>
        <p:spPr>
          <a:xfrm>
            <a:off x="621792" y="4645152"/>
            <a:ext cx="50292" cy="603504"/>
          </a:xfrm>
          <a:prstGeom prst="rect">
            <a:avLst/>
          </a:prstGeom>
          <a:solidFill>
            <a:srgbClr val="8B4D5C"/>
          </a:solidFill>
          <a:ln>
            <a:noFill/>
          </a:ln>
        </p:spPr>
        <p:txBody>
          <a:bodyPr rtlCol="0" anchor="ctr"/>
          <a:lstStyle/>
          <a:p>
            <a:pPr algn="ctr"/>
          </a:p>
        </p:txBody>
      </p:sp>
      <p:sp>
        <p:nvSpPr>
          <p:cNvPr id="20" name="07 Cloisonner"/>
          <p:cNvSpPr txBox="1"/>
          <p:nvPr/>
        </p:nvSpPr>
        <p:spPr>
          <a:xfrm>
            <a:off x="822960" y="4590288"/>
            <a:ext cx="4114800" cy="292608"/>
          </a:xfrm>
          <a:prstGeom prst="rect">
            <a:avLst/>
          </a:prstGeom>
          <a:noFill/>
        </p:spPr>
        <p:txBody>
          <a:bodyPr wrap="square" lIns="0" rIns="0" tIns="0" bIns="0" anchor="t"/>
          <a:lstStyle/>
          <a:p>
            <a:pPr algn="l"/>
            <a:r>
              <a:rPr sz="1600" b="1" i="0">
                <a:solidFill>
                  <a:srgbClr val="1A1A1A"/>
                </a:solidFill>
                <a:latin typeface="Arial"/>
              </a:rPr>
              <a:t>Cloisonner</a:t>
            </a:r>
          </a:p>
        </p:txBody>
      </p:sp>
      <p:sp>
        <p:nvSpPr>
          <p:cNvPr id="21" name="07 Administrateur, chef d'équipe, membre."/>
          <p:cNvSpPr txBox="1"/>
          <p:nvPr/>
        </p:nvSpPr>
        <p:spPr>
          <a:xfrm>
            <a:off x="822960" y="4919472"/>
            <a:ext cx="4114800" cy="365760"/>
          </a:xfrm>
          <a:prstGeom prst="rect">
            <a:avLst/>
          </a:prstGeom>
          <a:noFill/>
        </p:spPr>
        <p:txBody>
          <a:bodyPr wrap="square" lIns="0" rIns="0" tIns="0" bIns="0" anchor="t"/>
          <a:lstStyle/>
          <a:p>
            <a:pPr algn="l"/>
            <a:r>
              <a:rPr sz="1400" b="0" i="0">
                <a:solidFill>
                  <a:srgbClr val="5E4E53"/>
                </a:solidFill>
                <a:latin typeface="Arial"/>
              </a:rPr>
              <a:t>Administrateur, chef d'équipe, membre.</a:t>
            </a:r>
          </a:p>
        </p:txBody>
      </p:sp>
      <p:sp>
        <p:nvSpPr>
          <p:cNvPr id="22" name="07 Forme 10"/>
          <p:cNvSpPr/>
          <p:nvPr/>
        </p:nvSpPr>
        <p:spPr>
          <a:xfrm>
            <a:off x="5394960" y="1536192"/>
            <a:ext cx="6309360" cy="3118406"/>
          </a:xfrm>
          <a:prstGeom prst="roundRect">
            <a:avLst>
              <a:gd name="adj" fmla="val 10000"/>
            </a:avLst>
          </a:prstGeom>
          <a:solidFill>
            <a:srgbClr val="FFFFFF"/>
          </a:solidFill>
          <a:ln w="15875">
            <a:solidFill>
              <a:srgbClr val="E8C5CE"/>
            </a:solidFill>
          </a:ln>
        </p:spPr>
        <p:txBody>
          <a:bodyPr rtlCol="0" anchor="ctr"/>
          <a:lstStyle/>
          <a:p>
            <a:pPr algn="ctr"/>
          </a:p>
        </p:txBody>
      </p:sp>
      <p:pic>
        <p:nvPicPr>
          <p:cNvPr id="23" name="07 Image" descr="dash.png"/>
          <p:cNvPicPr>
            <a:picLocks noChangeAspect="1"/>
          </p:cNvPicPr>
          <p:nvPr/>
        </p:nvPicPr>
        <p:blipFill>
          <a:blip r:embed="rId2"/>
          <a:stretch>
            <a:fillRect/>
          </a:stretch>
        </p:blipFill>
        <p:spPr>
          <a:xfrm>
            <a:off x="5559552" y="1664208"/>
            <a:ext cx="5980176" cy="2862374"/>
          </a:xfrm>
          <a:prstGeom prst="rect">
            <a:avLst/>
          </a:prstGeom>
        </p:spPr>
      </p:pic>
      <p:sp>
        <p:nvSpPr>
          <p:cNvPr id="24" name="07 Forme 11"/>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5" name="07 Briefly 2"/>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6" name="07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7" name="07 C5  ·  Analyser les besoin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8" name="07 07"/>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08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08 02   BESOINS"/>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a:t>
            </a:r>
          </a:p>
        </p:txBody>
      </p:sp>
      <p:sp>
        <p:nvSpPr>
          <p:cNvPr id="4" name="08 Trois rôles"/>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Trois rôles</a:t>
            </a:r>
          </a:p>
        </p:txBody>
      </p:sp>
      <p:sp>
        <p:nvSpPr>
          <p:cNvPr id="5" name="08 Forme 2"/>
          <p:cNvSpPr/>
          <p:nvPr/>
        </p:nvSpPr>
        <p:spPr>
          <a:xfrm>
            <a:off x="365760" y="1115568"/>
            <a:ext cx="3749039" cy="49834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08 Forme 3"/>
          <p:cNvSpPr/>
          <p:nvPr/>
        </p:nvSpPr>
        <p:spPr>
          <a:xfrm>
            <a:off x="365760" y="1115568"/>
            <a:ext cx="3749039" cy="713232"/>
          </a:xfrm>
          <a:prstGeom prst="roundRect">
            <a:avLst>
              <a:gd name="adj" fmla="val 10000"/>
            </a:avLst>
          </a:prstGeom>
          <a:solidFill>
            <a:srgbClr val="8B4D5C"/>
          </a:solidFill>
          <a:ln>
            <a:noFill/>
          </a:ln>
        </p:spPr>
        <p:txBody>
          <a:bodyPr rtlCol="0" anchor="ctr"/>
          <a:lstStyle/>
          <a:p>
            <a:pPr algn="ctr"/>
          </a:p>
        </p:txBody>
      </p:sp>
      <p:sp>
        <p:nvSpPr>
          <p:cNvPr id="7" name="08 Forme 4"/>
          <p:cNvSpPr/>
          <p:nvPr/>
        </p:nvSpPr>
        <p:spPr>
          <a:xfrm>
            <a:off x="365760" y="1554480"/>
            <a:ext cx="3749039" cy="274320"/>
          </a:xfrm>
          <a:prstGeom prst="rect">
            <a:avLst/>
          </a:prstGeom>
          <a:solidFill>
            <a:srgbClr val="8B4D5C"/>
          </a:solidFill>
          <a:ln>
            <a:noFill/>
          </a:ln>
        </p:spPr>
        <p:txBody>
          <a:bodyPr rtlCol="0" anchor="ctr"/>
          <a:lstStyle/>
          <a:p>
            <a:pPr algn="ctr"/>
          </a:p>
        </p:txBody>
      </p:sp>
      <p:sp>
        <p:nvSpPr>
          <p:cNvPr id="8" name="08 Administrateur"/>
          <p:cNvSpPr txBox="1"/>
          <p:nvPr/>
        </p:nvSpPr>
        <p:spPr>
          <a:xfrm>
            <a:off x="566928" y="1261872"/>
            <a:ext cx="3337560" cy="384048"/>
          </a:xfrm>
          <a:prstGeom prst="rect">
            <a:avLst/>
          </a:prstGeom>
          <a:noFill/>
        </p:spPr>
        <p:txBody>
          <a:bodyPr wrap="square" lIns="0" rIns="0" tIns="0" bIns="0" anchor="t"/>
          <a:lstStyle/>
          <a:p>
            <a:pPr algn="l"/>
            <a:r>
              <a:rPr sz="1800" b="1" i="0">
                <a:solidFill>
                  <a:srgbClr val="FFFFFF"/>
                </a:solidFill>
                <a:latin typeface="Arial"/>
              </a:rPr>
              <a:t>Administrateur</a:t>
            </a:r>
          </a:p>
        </p:txBody>
      </p:sp>
      <p:sp>
        <p:nvSpPr>
          <p:cNvPr id="9" name="08 Peut"/>
          <p:cNvSpPr txBox="1"/>
          <p:nvPr/>
        </p:nvSpPr>
        <p:spPr>
          <a:xfrm>
            <a:off x="566928" y="1993392"/>
            <a:ext cx="3337560" cy="256032"/>
          </a:xfrm>
          <a:prstGeom prst="rect">
            <a:avLst/>
          </a:prstGeom>
          <a:noFill/>
        </p:spPr>
        <p:txBody>
          <a:bodyPr wrap="square" lIns="0" rIns="0" tIns="0" bIns="0" anchor="t"/>
          <a:lstStyle/>
          <a:p>
            <a:pPr algn="l"/>
            <a:r>
              <a:rPr sz="1200" b="1" i="0">
                <a:solidFill>
                  <a:srgbClr val="8B4D5C"/>
                </a:solidFill>
                <a:latin typeface="Arial"/>
              </a:rPr>
              <a:t>Peut</a:t>
            </a:r>
          </a:p>
        </p:txBody>
      </p:sp>
      <p:sp>
        <p:nvSpPr>
          <p:cNvPr id="10" name="08 Créer les comptes, les équipes et les p…"/>
          <p:cNvSpPr txBox="1"/>
          <p:nvPr/>
        </p:nvSpPr>
        <p:spPr>
          <a:xfrm>
            <a:off x="566928" y="2286000"/>
            <a:ext cx="3337560" cy="1097280"/>
          </a:xfrm>
          <a:prstGeom prst="rect">
            <a:avLst/>
          </a:prstGeom>
          <a:noFill/>
        </p:spPr>
        <p:txBody>
          <a:bodyPr wrap="square" lIns="0" rIns="0" tIns="0" bIns="0" anchor="t"/>
          <a:lstStyle/>
          <a:p>
            <a:pPr algn="l"/>
            <a:r>
              <a:rPr sz="1400" b="0" i="0">
                <a:solidFill>
                  <a:srgbClr val="1A1A1A"/>
                </a:solidFill>
                <a:latin typeface="Arial"/>
              </a:rPr>
              <a:t>Créer les comptes, les équipes et les projets. Voir le tableau de bord global.</a:t>
            </a:r>
          </a:p>
        </p:txBody>
      </p:sp>
      <p:sp>
        <p:nvSpPr>
          <p:cNvPr id="11" name="08 Forme 5"/>
          <p:cNvSpPr/>
          <p:nvPr/>
        </p:nvSpPr>
        <p:spPr>
          <a:xfrm>
            <a:off x="566928" y="3474720"/>
            <a:ext cx="3346704" cy="10972"/>
          </a:xfrm>
          <a:prstGeom prst="rect">
            <a:avLst/>
          </a:prstGeom>
          <a:solidFill>
            <a:srgbClr val="E8C5CE"/>
          </a:solidFill>
          <a:ln>
            <a:noFill/>
          </a:ln>
        </p:spPr>
        <p:txBody>
          <a:bodyPr rtlCol="0" anchor="ctr"/>
          <a:lstStyle/>
          <a:p>
            <a:pPr algn="ctr"/>
          </a:p>
        </p:txBody>
      </p:sp>
      <p:sp>
        <p:nvSpPr>
          <p:cNvPr id="12" name="08 Ne peut pas"/>
          <p:cNvSpPr txBox="1"/>
          <p:nvPr/>
        </p:nvSpPr>
        <p:spPr>
          <a:xfrm>
            <a:off x="566928" y="3639312"/>
            <a:ext cx="3337560" cy="256032"/>
          </a:xfrm>
          <a:prstGeom prst="rect">
            <a:avLst/>
          </a:prstGeom>
          <a:noFill/>
        </p:spPr>
        <p:txBody>
          <a:bodyPr wrap="square" lIns="0" rIns="0" tIns="0" bIns="0" anchor="t"/>
          <a:lstStyle/>
          <a:p>
            <a:pPr algn="l"/>
            <a:r>
              <a:rPr sz="1200" b="1" i="0">
                <a:solidFill>
                  <a:srgbClr val="6E3A48"/>
                </a:solidFill>
                <a:latin typeface="Arial"/>
              </a:rPr>
              <a:t>Ne peut pas</a:t>
            </a:r>
          </a:p>
        </p:txBody>
      </p:sp>
      <p:sp>
        <p:nvSpPr>
          <p:cNvPr id="13" name="08 S'il ouvre les tâches, il revient à l'a…"/>
          <p:cNvSpPr txBox="1"/>
          <p:nvPr/>
        </p:nvSpPr>
        <p:spPr>
          <a:xfrm>
            <a:off x="566928" y="3950208"/>
            <a:ext cx="3337560" cy="1371600"/>
          </a:xfrm>
          <a:prstGeom prst="rect">
            <a:avLst/>
          </a:prstGeom>
          <a:noFill/>
        </p:spPr>
        <p:txBody>
          <a:bodyPr wrap="square" lIns="0" rIns="0" tIns="0" bIns="0" anchor="t"/>
          <a:lstStyle/>
          <a:p>
            <a:pPr algn="l"/>
            <a:r>
              <a:rPr sz="1400" b="0" i="0">
                <a:solidFill>
                  <a:srgbClr val="1A1A1A"/>
                </a:solidFill>
                <a:latin typeface="Arial"/>
              </a:rPr>
              <a:t>S'il ouvre les tâches, il revient à l'administration.</a:t>
            </a:r>
          </a:p>
        </p:txBody>
      </p:sp>
      <p:sp>
        <p:nvSpPr>
          <p:cNvPr id="14" name="08 Forme 6"/>
          <p:cNvSpPr/>
          <p:nvPr/>
        </p:nvSpPr>
        <p:spPr>
          <a:xfrm>
            <a:off x="4279392" y="1115568"/>
            <a:ext cx="3749039" cy="49834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5" name="08 Forme 7"/>
          <p:cNvSpPr/>
          <p:nvPr/>
        </p:nvSpPr>
        <p:spPr>
          <a:xfrm>
            <a:off x="4279392" y="1115568"/>
            <a:ext cx="3749039" cy="713232"/>
          </a:xfrm>
          <a:prstGeom prst="roundRect">
            <a:avLst>
              <a:gd name="adj" fmla="val 10000"/>
            </a:avLst>
          </a:prstGeom>
          <a:solidFill>
            <a:srgbClr val="8B4D5C"/>
          </a:solidFill>
          <a:ln>
            <a:noFill/>
          </a:ln>
        </p:spPr>
        <p:txBody>
          <a:bodyPr rtlCol="0" anchor="ctr"/>
          <a:lstStyle/>
          <a:p>
            <a:pPr algn="ctr"/>
          </a:p>
        </p:txBody>
      </p:sp>
      <p:sp>
        <p:nvSpPr>
          <p:cNvPr id="16" name="08 Forme 8"/>
          <p:cNvSpPr/>
          <p:nvPr/>
        </p:nvSpPr>
        <p:spPr>
          <a:xfrm>
            <a:off x="4279392" y="1554480"/>
            <a:ext cx="3749039" cy="274320"/>
          </a:xfrm>
          <a:prstGeom prst="rect">
            <a:avLst/>
          </a:prstGeom>
          <a:solidFill>
            <a:srgbClr val="8B4D5C"/>
          </a:solidFill>
          <a:ln>
            <a:noFill/>
          </a:ln>
        </p:spPr>
        <p:txBody>
          <a:bodyPr rtlCol="0" anchor="ctr"/>
          <a:lstStyle/>
          <a:p>
            <a:pPr algn="ctr"/>
          </a:p>
        </p:txBody>
      </p:sp>
      <p:sp>
        <p:nvSpPr>
          <p:cNvPr id="17" name="08 Chef d'équipe"/>
          <p:cNvSpPr txBox="1"/>
          <p:nvPr/>
        </p:nvSpPr>
        <p:spPr>
          <a:xfrm>
            <a:off x="4480560" y="1261872"/>
            <a:ext cx="3337560" cy="384048"/>
          </a:xfrm>
          <a:prstGeom prst="rect">
            <a:avLst/>
          </a:prstGeom>
          <a:noFill/>
        </p:spPr>
        <p:txBody>
          <a:bodyPr wrap="square" lIns="0" rIns="0" tIns="0" bIns="0" anchor="t"/>
          <a:lstStyle/>
          <a:p>
            <a:pPr algn="l"/>
            <a:r>
              <a:rPr sz="1800" b="1" i="0">
                <a:solidFill>
                  <a:srgbClr val="FFFFFF"/>
                </a:solidFill>
                <a:latin typeface="Arial"/>
              </a:rPr>
              <a:t>Chef d'équipe</a:t>
            </a:r>
          </a:p>
        </p:txBody>
      </p:sp>
      <p:sp>
        <p:nvSpPr>
          <p:cNvPr id="18" name="08 Peut 2"/>
          <p:cNvSpPr txBox="1"/>
          <p:nvPr/>
        </p:nvSpPr>
        <p:spPr>
          <a:xfrm>
            <a:off x="4480560" y="1993392"/>
            <a:ext cx="3337560" cy="256032"/>
          </a:xfrm>
          <a:prstGeom prst="rect">
            <a:avLst/>
          </a:prstGeom>
          <a:noFill/>
        </p:spPr>
        <p:txBody>
          <a:bodyPr wrap="square" lIns="0" rIns="0" tIns="0" bIns="0" anchor="t"/>
          <a:lstStyle/>
          <a:p>
            <a:pPr algn="l"/>
            <a:r>
              <a:rPr sz="1200" b="1" i="0">
                <a:solidFill>
                  <a:srgbClr val="8B4D5C"/>
                </a:solidFill>
                <a:latin typeface="Arial"/>
              </a:rPr>
              <a:t>Peut</a:t>
            </a:r>
          </a:p>
        </p:txBody>
      </p:sp>
      <p:sp>
        <p:nvSpPr>
          <p:cNvPr id="19" name="08 Créer les tâches de ses équipes, filtre…"/>
          <p:cNvSpPr txBox="1"/>
          <p:nvPr/>
        </p:nvSpPr>
        <p:spPr>
          <a:xfrm>
            <a:off x="4480560" y="2286000"/>
            <a:ext cx="3337560" cy="1097280"/>
          </a:xfrm>
          <a:prstGeom prst="rect">
            <a:avLst/>
          </a:prstGeom>
          <a:noFill/>
        </p:spPr>
        <p:txBody>
          <a:bodyPr wrap="square" lIns="0" rIns="0" tIns="0" bIns="0" anchor="t"/>
          <a:lstStyle/>
          <a:p>
            <a:pPr algn="l"/>
            <a:r>
              <a:rPr sz="1400" b="0" i="0">
                <a:solidFill>
                  <a:srgbClr val="1A1A1A"/>
                </a:solidFill>
                <a:latin typeface="Arial"/>
              </a:rPr>
              <a:t>Créer les tâches de ses équipes, filtrer, ouvrir la fiche d'un membre. Diriger plusieurs équipes.</a:t>
            </a:r>
          </a:p>
        </p:txBody>
      </p:sp>
      <p:sp>
        <p:nvSpPr>
          <p:cNvPr id="20" name="08 Forme 9"/>
          <p:cNvSpPr/>
          <p:nvPr/>
        </p:nvSpPr>
        <p:spPr>
          <a:xfrm>
            <a:off x="4480560" y="3474720"/>
            <a:ext cx="3346704" cy="10972"/>
          </a:xfrm>
          <a:prstGeom prst="rect">
            <a:avLst/>
          </a:prstGeom>
          <a:solidFill>
            <a:srgbClr val="E8C5CE"/>
          </a:solidFill>
          <a:ln>
            <a:noFill/>
          </a:ln>
        </p:spPr>
        <p:txBody>
          <a:bodyPr rtlCol="0" anchor="ctr"/>
          <a:lstStyle/>
          <a:p>
            <a:pPr algn="ctr"/>
          </a:p>
        </p:txBody>
      </p:sp>
      <p:sp>
        <p:nvSpPr>
          <p:cNvPr id="21" name="08 Ne peut pas 2"/>
          <p:cNvSpPr txBox="1"/>
          <p:nvPr/>
        </p:nvSpPr>
        <p:spPr>
          <a:xfrm>
            <a:off x="4480560" y="3639312"/>
            <a:ext cx="3337560" cy="256032"/>
          </a:xfrm>
          <a:prstGeom prst="rect">
            <a:avLst/>
          </a:prstGeom>
          <a:noFill/>
        </p:spPr>
        <p:txBody>
          <a:bodyPr wrap="square" lIns="0" rIns="0" tIns="0" bIns="0" anchor="t"/>
          <a:lstStyle/>
          <a:p>
            <a:pPr algn="l"/>
            <a:r>
              <a:rPr sz="1200" b="1" i="0">
                <a:solidFill>
                  <a:srgbClr val="6E3A48"/>
                </a:solidFill>
                <a:latin typeface="Arial"/>
              </a:rPr>
              <a:t>Ne peut pas</a:t>
            </a:r>
          </a:p>
        </p:txBody>
      </p:sp>
      <p:sp>
        <p:nvSpPr>
          <p:cNvPr id="22" name="08 Créer les projets ni les comptes."/>
          <p:cNvSpPr txBox="1"/>
          <p:nvPr/>
        </p:nvSpPr>
        <p:spPr>
          <a:xfrm>
            <a:off x="4480560" y="3950208"/>
            <a:ext cx="3337560" cy="1371600"/>
          </a:xfrm>
          <a:prstGeom prst="rect">
            <a:avLst/>
          </a:prstGeom>
          <a:noFill/>
        </p:spPr>
        <p:txBody>
          <a:bodyPr wrap="square" lIns="0" rIns="0" tIns="0" bIns="0" anchor="t"/>
          <a:lstStyle/>
          <a:p>
            <a:pPr algn="l"/>
            <a:r>
              <a:rPr sz="1400" b="0" i="0">
                <a:solidFill>
                  <a:srgbClr val="1A1A1A"/>
                </a:solidFill>
                <a:latin typeface="Arial"/>
              </a:rPr>
              <a:t>Créer les projets ni les comptes.</a:t>
            </a:r>
          </a:p>
        </p:txBody>
      </p:sp>
      <p:sp>
        <p:nvSpPr>
          <p:cNvPr id="23" name="08 Forme 10"/>
          <p:cNvSpPr/>
          <p:nvPr/>
        </p:nvSpPr>
        <p:spPr>
          <a:xfrm>
            <a:off x="8193024" y="1115568"/>
            <a:ext cx="3749039" cy="49834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24" name="08 Forme 11"/>
          <p:cNvSpPr/>
          <p:nvPr/>
        </p:nvSpPr>
        <p:spPr>
          <a:xfrm>
            <a:off x="8193024" y="1115568"/>
            <a:ext cx="3749039" cy="713232"/>
          </a:xfrm>
          <a:prstGeom prst="roundRect">
            <a:avLst>
              <a:gd name="adj" fmla="val 10000"/>
            </a:avLst>
          </a:prstGeom>
          <a:solidFill>
            <a:srgbClr val="8B4D5C"/>
          </a:solidFill>
          <a:ln>
            <a:noFill/>
          </a:ln>
        </p:spPr>
        <p:txBody>
          <a:bodyPr rtlCol="0" anchor="ctr"/>
          <a:lstStyle/>
          <a:p>
            <a:pPr algn="ctr"/>
          </a:p>
        </p:txBody>
      </p:sp>
      <p:sp>
        <p:nvSpPr>
          <p:cNvPr id="25" name="08 Forme 12"/>
          <p:cNvSpPr/>
          <p:nvPr/>
        </p:nvSpPr>
        <p:spPr>
          <a:xfrm>
            <a:off x="8193024" y="1554480"/>
            <a:ext cx="3749039" cy="274320"/>
          </a:xfrm>
          <a:prstGeom prst="rect">
            <a:avLst/>
          </a:prstGeom>
          <a:solidFill>
            <a:srgbClr val="8B4D5C"/>
          </a:solidFill>
          <a:ln>
            <a:noFill/>
          </a:ln>
        </p:spPr>
        <p:txBody>
          <a:bodyPr rtlCol="0" anchor="ctr"/>
          <a:lstStyle/>
          <a:p>
            <a:pPr algn="ctr"/>
          </a:p>
        </p:txBody>
      </p:sp>
      <p:sp>
        <p:nvSpPr>
          <p:cNvPr id="26" name="08 Membre"/>
          <p:cNvSpPr txBox="1"/>
          <p:nvPr/>
        </p:nvSpPr>
        <p:spPr>
          <a:xfrm>
            <a:off x="8394192" y="1261872"/>
            <a:ext cx="3337560" cy="384048"/>
          </a:xfrm>
          <a:prstGeom prst="rect">
            <a:avLst/>
          </a:prstGeom>
          <a:noFill/>
        </p:spPr>
        <p:txBody>
          <a:bodyPr wrap="square" lIns="0" rIns="0" tIns="0" bIns="0" anchor="t"/>
          <a:lstStyle/>
          <a:p>
            <a:pPr algn="l"/>
            <a:r>
              <a:rPr sz="1800" b="1" i="0">
                <a:solidFill>
                  <a:srgbClr val="FFFFFF"/>
                </a:solidFill>
                <a:latin typeface="Arial"/>
              </a:rPr>
              <a:t>Membre</a:t>
            </a:r>
          </a:p>
        </p:txBody>
      </p:sp>
      <p:sp>
        <p:nvSpPr>
          <p:cNvPr id="27" name="08 Peut 3"/>
          <p:cNvSpPr txBox="1"/>
          <p:nvPr/>
        </p:nvSpPr>
        <p:spPr>
          <a:xfrm>
            <a:off x="8394192" y="1993392"/>
            <a:ext cx="3337560" cy="256032"/>
          </a:xfrm>
          <a:prstGeom prst="rect">
            <a:avLst/>
          </a:prstGeom>
          <a:noFill/>
        </p:spPr>
        <p:txBody>
          <a:bodyPr wrap="square" lIns="0" rIns="0" tIns="0" bIns="0" anchor="t"/>
          <a:lstStyle/>
          <a:p>
            <a:pPr algn="l"/>
            <a:r>
              <a:rPr sz="1200" b="1" i="0">
                <a:solidFill>
                  <a:srgbClr val="8B4D5C"/>
                </a:solidFill>
                <a:latin typeface="Arial"/>
              </a:rPr>
              <a:t>Peut</a:t>
            </a:r>
          </a:p>
        </p:txBody>
      </p:sp>
      <p:sp>
        <p:nvSpPr>
          <p:cNvPr id="28" name="08 Voir ses tâches, saisir l'avancement, c…"/>
          <p:cNvSpPr txBox="1"/>
          <p:nvPr/>
        </p:nvSpPr>
        <p:spPr>
          <a:xfrm>
            <a:off x="8394192" y="2286000"/>
            <a:ext cx="3337560" cy="1097280"/>
          </a:xfrm>
          <a:prstGeom prst="rect">
            <a:avLst/>
          </a:prstGeom>
          <a:noFill/>
        </p:spPr>
        <p:txBody>
          <a:bodyPr wrap="square" lIns="0" rIns="0" tIns="0" bIns="0" anchor="t"/>
          <a:lstStyle/>
          <a:p>
            <a:pPr algn="l"/>
            <a:r>
              <a:rPr sz="1400" b="0" i="0">
                <a:solidFill>
                  <a:srgbClr val="1A1A1A"/>
                </a:solidFill>
                <a:latin typeface="Arial"/>
              </a:rPr>
              <a:t>Voir ses tâches, saisir l'avancement, consulter l'historique.</a:t>
            </a:r>
          </a:p>
        </p:txBody>
      </p:sp>
      <p:sp>
        <p:nvSpPr>
          <p:cNvPr id="29" name="08 Forme 13"/>
          <p:cNvSpPr/>
          <p:nvPr/>
        </p:nvSpPr>
        <p:spPr>
          <a:xfrm>
            <a:off x="8394192" y="3474720"/>
            <a:ext cx="3346704" cy="10972"/>
          </a:xfrm>
          <a:prstGeom prst="rect">
            <a:avLst/>
          </a:prstGeom>
          <a:solidFill>
            <a:srgbClr val="E8C5CE"/>
          </a:solidFill>
          <a:ln>
            <a:noFill/>
          </a:ln>
        </p:spPr>
        <p:txBody>
          <a:bodyPr rtlCol="0" anchor="ctr"/>
          <a:lstStyle/>
          <a:p>
            <a:pPr algn="ctr"/>
          </a:p>
        </p:txBody>
      </p:sp>
      <p:sp>
        <p:nvSpPr>
          <p:cNvPr id="30" name="08 Ne peut pas 3"/>
          <p:cNvSpPr txBox="1"/>
          <p:nvPr/>
        </p:nvSpPr>
        <p:spPr>
          <a:xfrm>
            <a:off x="8394192" y="3639312"/>
            <a:ext cx="3337560" cy="256032"/>
          </a:xfrm>
          <a:prstGeom prst="rect">
            <a:avLst/>
          </a:prstGeom>
          <a:noFill/>
        </p:spPr>
        <p:txBody>
          <a:bodyPr wrap="square" lIns="0" rIns="0" tIns="0" bIns="0" anchor="t"/>
          <a:lstStyle/>
          <a:p>
            <a:pPr algn="l"/>
            <a:r>
              <a:rPr sz="1200" b="1" i="0">
                <a:solidFill>
                  <a:srgbClr val="6E3A48"/>
                </a:solidFill>
                <a:latin typeface="Arial"/>
              </a:rPr>
              <a:t>Ne peut pas</a:t>
            </a:r>
          </a:p>
        </p:txBody>
      </p:sp>
      <p:sp>
        <p:nvSpPr>
          <p:cNvPr id="31" name="08 Modifier une tâche qui ne lui est pas a…"/>
          <p:cNvSpPr txBox="1"/>
          <p:nvPr/>
        </p:nvSpPr>
        <p:spPr>
          <a:xfrm>
            <a:off x="8394192" y="3950208"/>
            <a:ext cx="3337560" cy="1371600"/>
          </a:xfrm>
          <a:prstGeom prst="rect">
            <a:avLst/>
          </a:prstGeom>
          <a:noFill/>
        </p:spPr>
        <p:txBody>
          <a:bodyPr wrap="square" lIns="0" rIns="0" tIns="0" bIns="0" anchor="t"/>
          <a:lstStyle/>
          <a:p>
            <a:pPr algn="l"/>
            <a:r>
              <a:rPr sz="1400" b="0" i="0">
                <a:solidFill>
                  <a:srgbClr val="1A1A1A"/>
                </a:solidFill>
                <a:latin typeface="Arial"/>
              </a:rPr>
              <a:t>Modifier une tâche qui ne lui est pas assignée.</a:t>
            </a:r>
          </a:p>
        </p:txBody>
      </p:sp>
      <p:sp>
        <p:nvSpPr>
          <p:cNvPr id="32" name="08 Forme 14"/>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33" name="08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34" name="08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35" name="08 C5  ·  Analyser les besoin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36" name="08 08"/>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09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09 02   BESOINS"/>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a:t>
            </a:r>
          </a:p>
        </p:txBody>
      </p:sp>
      <p:sp>
        <p:nvSpPr>
          <p:cNvPr id="4" name="09 Cas d'utilisation"/>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Cas d'utilisation</a:t>
            </a:r>
          </a:p>
        </p:txBody>
      </p:sp>
      <p:sp>
        <p:nvSpPr>
          <p:cNvPr id="5" name="09 Trois acteurs. Les grands cas seulement."/>
          <p:cNvSpPr txBox="1"/>
          <p:nvPr/>
        </p:nvSpPr>
        <p:spPr>
          <a:xfrm>
            <a:off x="457200" y="1024128"/>
            <a:ext cx="10972800" cy="292608"/>
          </a:xfrm>
          <a:prstGeom prst="rect">
            <a:avLst/>
          </a:prstGeom>
          <a:noFill/>
        </p:spPr>
        <p:txBody>
          <a:bodyPr wrap="square" lIns="0" rIns="0" tIns="0" bIns="0" anchor="t"/>
          <a:lstStyle/>
          <a:p>
            <a:pPr algn="l"/>
            <a:r>
              <a:rPr sz="1400" b="0" i="0">
                <a:solidFill>
                  <a:srgbClr val="5E4E53"/>
                </a:solidFill>
                <a:latin typeface="Arial"/>
              </a:rPr>
              <a:t>Trois acteurs. Les grands cas seulement.</a:t>
            </a:r>
          </a:p>
        </p:txBody>
      </p:sp>
      <p:sp>
        <p:nvSpPr>
          <p:cNvPr id="6" name="09 Forme 2"/>
          <p:cNvSpPr/>
          <p:nvPr/>
        </p:nvSpPr>
        <p:spPr>
          <a:xfrm>
            <a:off x="457200" y="1417320"/>
            <a:ext cx="11247120" cy="4846320"/>
          </a:xfrm>
          <a:prstGeom prst="roundRect">
            <a:avLst>
              <a:gd name="adj" fmla="val 6000"/>
            </a:avLst>
          </a:prstGeom>
          <a:solidFill>
            <a:srgbClr val="FFFFFF"/>
          </a:solidFill>
          <a:ln w="15875">
            <a:solidFill>
              <a:srgbClr val="E8C5CE"/>
            </a:solidFill>
          </a:ln>
        </p:spPr>
        <p:txBody>
          <a:bodyPr rtlCol="0" anchor="ctr"/>
          <a:lstStyle/>
          <a:p>
            <a:pPr algn="ctr"/>
          </a:p>
        </p:txBody>
      </p:sp>
      <p:pic>
        <p:nvPicPr>
          <p:cNvPr id="7" name="09 Image" descr="uc.png"/>
          <p:cNvPicPr>
            <a:picLocks noChangeAspect="1"/>
          </p:cNvPicPr>
          <p:nvPr/>
        </p:nvPicPr>
        <p:blipFill>
          <a:blip r:embed="rId2"/>
          <a:stretch>
            <a:fillRect/>
          </a:stretch>
        </p:blipFill>
        <p:spPr>
          <a:xfrm>
            <a:off x="1931224" y="1554480"/>
            <a:ext cx="8299071" cy="4572000"/>
          </a:xfrm>
          <a:prstGeom prst="rect">
            <a:avLst/>
          </a:prstGeom>
        </p:spPr>
      </p:pic>
      <p:sp>
        <p:nvSpPr>
          <p:cNvPr id="8" name="09 Forme 3"/>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9" name="09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10" name="09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11" name="09 C5  ·  Analyser les besoins et maquetter"/>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 et maquetter</a:t>
            </a:r>
          </a:p>
        </p:txBody>
      </p:sp>
      <p:sp>
        <p:nvSpPr>
          <p:cNvPr id="12" name="09 09"/>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10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10 02   BESOINS"/>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a:t>
            </a:r>
          </a:p>
        </p:txBody>
      </p:sp>
      <p:sp>
        <p:nvSpPr>
          <p:cNvPr id="4" name="10 Trois points de vue"/>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Trois points de vue</a:t>
            </a:r>
          </a:p>
        </p:txBody>
      </p:sp>
      <p:sp>
        <p:nvSpPr>
          <p:cNvPr id="5" name="10 Les trois rôles ouvrent la même applica…"/>
          <p:cNvSpPr txBox="1"/>
          <p:nvPr/>
        </p:nvSpPr>
        <p:spPr>
          <a:xfrm>
            <a:off x="457200" y="1051560"/>
            <a:ext cx="11155680" cy="320040"/>
          </a:xfrm>
          <a:prstGeom prst="rect">
            <a:avLst/>
          </a:prstGeom>
          <a:noFill/>
        </p:spPr>
        <p:txBody>
          <a:bodyPr wrap="square" lIns="0" rIns="0" tIns="0" bIns="0" anchor="t"/>
          <a:lstStyle/>
          <a:p>
            <a:pPr algn="l"/>
            <a:r>
              <a:rPr sz="1500" b="0" i="0">
                <a:solidFill>
                  <a:srgbClr val="5E4E53"/>
                </a:solidFill>
                <a:latin typeface="Arial"/>
              </a:rPr>
              <a:t>Les trois rôles ouvrent la même application. Le compte est créé par l'administrateur.</a:t>
            </a:r>
          </a:p>
        </p:txBody>
      </p:sp>
      <p:sp>
        <p:nvSpPr>
          <p:cNvPr id="6" name="10 Forme 2"/>
          <p:cNvSpPr/>
          <p:nvPr/>
        </p:nvSpPr>
        <p:spPr>
          <a:xfrm>
            <a:off x="411480" y="1554480"/>
            <a:ext cx="3703320" cy="33832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7" name="10 Forme 3"/>
          <p:cNvSpPr/>
          <p:nvPr/>
        </p:nvSpPr>
        <p:spPr>
          <a:xfrm>
            <a:off x="411480" y="1554480"/>
            <a:ext cx="3703320" cy="713232"/>
          </a:xfrm>
          <a:prstGeom prst="roundRect">
            <a:avLst>
              <a:gd name="adj" fmla="val 10000"/>
            </a:avLst>
          </a:prstGeom>
          <a:solidFill>
            <a:srgbClr val="8B4D5C"/>
          </a:solidFill>
          <a:ln>
            <a:noFill/>
          </a:ln>
        </p:spPr>
        <p:txBody>
          <a:bodyPr rtlCol="0" anchor="ctr"/>
          <a:lstStyle/>
          <a:p>
            <a:pPr algn="ctr"/>
          </a:p>
        </p:txBody>
      </p:sp>
      <p:sp>
        <p:nvSpPr>
          <p:cNvPr id="8" name="10 Forme 4"/>
          <p:cNvSpPr/>
          <p:nvPr/>
        </p:nvSpPr>
        <p:spPr>
          <a:xfrm>
            <a:off x="411480" y="1993392"/>
            <a:ext cx="3703320" cy="274320"/>
          </a:xfrm>
          <a:prstGeom prst="rect">
            <a:avLst/>
          </a:prstGeom>
          <a:solidFill>
            <a:srgbClr val="8B4D5C"/>
          </a:solidFill>
          <a:ln>
            <a:noFill/>
          </a:ln>
        </p:spPr>
        <p:txBody>
          <a:bodyPr rtlCol="0" anchor="ctr"/>
          <a:lstStyle/>
          <a:p>
            <a:pPr algn="ctr"/>
          </a:p>
        </p:txBody>
      </p:sp>
      <p:sp>
        <p:nvSpPr>
          <p:cNvPr id="9" name="10 Membre"/>
          <p:cNvSpPr txBox="1"/>
          <p:nvPr/>
        </p:nvSpPr>
        <p:spPr>
          <a:xfrm>
            <a:off x="612648" y="1719072"/>
            <a:ext cx="3291840" cy="384048"/>
          </a:xfrm>
          <a:prstGeom prst="rect">
            <a:avLst/>
          </a:prstGeom>
          <a:noFill/>
        </p:spPr>
        <p:txBody>
          <a:bodyPr wrap="square" lIns="0" rIns="0" tIns="0" bIns="0" anchor="t"/>
          <a:lstStyle/>
          <a:p>
            <a:pPr algn="l"/>
            <a:r>
              <a:rPr sz="1800" b="1" i="0">
                <a:solidFill>
                  <a:srgbClr val="FFFFFF"/>
                </a:solidFill>
                <a:latin typeface="Arial"/>
              </a:rPr>
              <a:t>Membre</a:t>
            </a:r>
          </a:p>
        </p:txBody>
      </p:sp>
      <p:sp>
        <p:nvSpPr>
          <p:cNvPr id="10" name="10 J'ouvre mes tâches. Je note ce qui est…"/>
          <p:cNvSpPr txBox="1"/>
          <p:nvPr/>
        </p:nvSpPr>
        <p:spPr>
          <a:xfrm>
            <a:off x="612648" y="2468880"/>
            <a:ext cx="3291840" cy="2194560"/>
          </a:xfrm>
          <a:prstGeom prst="rect">
            <a:avLst/>
          </a:prstGeom>
          <a:noFill/>
        </p:spPr>
        <p:txBody>
          <a:bodyPr wrap="square" lIns="18288" rIns="18288" tIns="18288" bIns="18288" anchor="t"/>
          <a:lstStyle/>
          <a:p>
            <a:pPr algn="l">
              <a:spcBef>
                <a:spcPts val="0"/>
              </a:spcBef>
              <a:spcAft>
                <a:spcPts val="1200"/>
              </a:spcAft>
            </a:pPr>
            <a:r>
              <a:rPr sz="1500" b="0" i="0">
                <a:solidFill>
                  <a:srgbClr val="1A1A1A"/>
                </a:solidFill>
                <a:latin typeface="Arial"/>
              </a:rPr>
              <a:t>J'ouvre mes tâches.</a:t>
            </a:r>
          </a:p>
          <a:p>
            <a:pPr algn="l">
              <a:spcBef>
                <a:spcPts val="0"/>
              </a:spcBef>
              <a:spcAft>
                <a:spcPts val="1200"/>
              </a:spcAft>
            </a:pPr>
            <a:r>
              <a:rPr sz="1500" b="0" i="0">
                <a:solidFill>
                  <a:srgbClr val="1A1A1A"/>
                </a:solidFill>
                <a:latin typeface="Arial"/>
              </a:rPr>
              <a:t>Je note ce qui est fait, ce qui vient, et ce qui bloque.</a:t>
            </a:r>
          </a:p>
          <a:p>
            <a:pPr algn="l">
              <a:spcBef>
                <a:spcPts val="0"/>
              </a:spcBef>
              <a:spcAft>
                <a:spcPts val="1200"/>
              </a:spcAft>
            </a:pPr>
            <a:r>
              <a:rPr sz="1500" b="0" i="0">
                <a:solidFill>
                  <a:srgbClr val="1A1A1A"/>
                </a:solidFill>
                <a:latin typeface="Arial"/>
              </a:rPr>
              <a:t>Je relis les points que j'ai déjà saisis.</a:t>
            </a:r>
          </a:p>
        </p:txBody>
      </p:sp>
      <p:sp>
        <p:nvSpPr>
          <p:cNvPr id="11" name="10 Forme 5"/>
          <p:cNvSpPr/>
          <p:nvPr/>
        </p:nvSpPr>
        <p:spPr>
          <a:xfrm>
            <a:off x="4297680" y="1554480"/>
            <a:ext cx="3703320" cy="33832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2" name="10 Forme 6"/>
          <p:cNvSpPr/>
          <p:nvPr/>
        </p:nvSpPr>
        <p:spPr>
          <a:xfrm>
            <a:off x="4297680" y="1554480"/>
            <a:ext cx="3703320" cy="713232"/>
          </a:xfrm>
          <a:prstGeom prst="roundRect">
            <a:avLst>
              <a:gd name="adj" fmla="val 10000"/>
            </a:avLst>
          </a:prstGeom>
          <a:solidFill>
            <a:srgbClr val="8B4D5C"/>
          </a:solidFill>
          <a:ln>
            <a:noFill/>
          </a:ln>
        </p:spPr>
        <p:txBody>
          <a:bodyPr rtlCol="0" anchor="ctr"/>
          <a:lstStyle/>
          <a:p>
            <a:pPr algn="ctr"/>
          </a:p>
        </p:txBody>
      </p:sp>
      <p:sp>
        <p:nvSpPr>
          <p:cNvPr id="13" name="10 Forme 7"/>
          <p:cNvSpPr/>
          <p:nvPr/>
        </p:nvSpPr>
        <p:spPr>
          <a:xfrm>
            <a:off x="4297680" y="1993392"/>
            <a:ext cx="3703320" cy="274320"/>
          </a:xfrm>
          <a:prstGeom prst="rect">
            <a:avLst/>
          </a:prstGeom>
          <a:solidFill>
            <a:srgbClr val="8B4D5C"/>
          </a:solidFill>
          <a:ln>
            <a:noFill/>
          </a:ln>
        </p:spPr>
        <p:txBody>
          <a:bodyPr rtlCol="0" anchor="ctr"/>
          <a:lstStyle/>
          <a:p>
            <a:pPr algn="ctr"/>
          </a:p>
        </p:txBody>
      </p:sp>
      <p:sp>
        <p:nvSpPr>
          <p:cNvPr id="14" name="10 Chef d'équipe"/>
          <p:cNvSpPr txBox="1"/>
          <p:nvPr/>
        </p:nvSpPr>
        <p:spPr>
          <a:xfrm>
            <a:off x="4498848" y="1719072"/>
            <a:ext cx="3291840" cy="384048"/>
          </a:xfrm>
          <a:prstGeom prst="rect">
            <a:avLst/>
          </a:prstGeom>
          <a:noFill/>
        </p:spPr>
        <p:txBody>
          <a:bodyPr wrap="square" lIns="0" rIns="0" tIns="0" bIns="0" anchor="t"/>
          <a:lstStyle/>
          <a:p>
            <a:pPr algn="l"/>
            <a:r>
              <a:rPr sz="1800" b="1" i="0">
                <a:solidFill>
                  <a:srgbClr val="FFFFFF"/>
                </a:solidFill>
                <a:latin typeface="Arial"/>
              </a:rPr>
              <a:t>Chef d'équipe</a:t>
            </a:r>
          </a:p>
        </p:txBody>
      </p:sp>
      <p:sp>
        <p:nvSpPr>
          <p:cNvPr id="15" name="10 Je regarde ce qui bloque dans les équip…"/>
          <p:cNvSpPr txBox="1"/>
          <p:nvPr/>
        </p:nvSpPr>
        <p:spPr>
          <a:xfrm>
            <a:off x="4498848" y="2468880"/>
            <a:ext cx="3291840" cy="2194560"/>
          </a:xfrm>
          <a:prstGeom prst="rect">
            <a:avLst/>
          </a:prstGeom>
          <a:noFill/>
        </p:spPr>
        <p:txBody>
          <a:bodyPr wrap="square" lIns="18288" rIns="18288" tIns="18288" bIns="18288" anchor="t"/>
          <a:lstStyle/>
          <a:p>
            <a:pPr algn="l">
              <a:spcBef>
                <a:spcPts val="0"/>
              </a:spcBef>
              <a:spcAft>
                <a:spcPts val="1200"/>
              </a:spcAft>
            </a:pPr>
            <a:r>
              <a:rPr sz="1500" b="0" i="0">
                <a:solidFill>
                  <a:srgbClr val="1A1A1A"/>
                </a:solidFill>
                <a:latin typeface="Arial"/>
              </a:rPr>
              <a:t>Je regarde ce qui bloque dans les équipes que je dirige.</a:t>
            </a:r>
          </a:p>
          <a:p>
            <a:pPr algn="l">
              <a:spcBef>
                <a:spcPts val="0"/>
              </a:spcBef>
              <a:spcAft>
                <a:spcPts val="1200"/>
              </a:spcAft>
            </a:pPr>
            <a:r>
              <a:rPr sz="1500" b="0" i="0">
                <a:solidFill>
                  <a:srgbClr val="1A1A1A"/>
                </a:solidFill>
                <a:latin typeface="Arial"/>
              </a:rPr>
              <a:t>Je crée une tâche et je la donne à quelqu'un de l'équipe.</a:t>
            </a:r>
          </a:p>
          <a:p>
            <a:pPr algn="l">
              <a:spcBef>
                <a:spcPts val="0"/>
              </a:spcBef>
              <a:spcAft>
                <a:spcPts val="1200"/>
              </a:spcAft>
            </a:pPr>
            <a:r>
              <a:rPr sz="1500" b="0" i="0">
                <a:solidFill>
                  <a:srgbClr val="1A1A1A"/>
                </a:solidFill>
                <a:latin typeface="Arial"/>
              </a:rPr>
              <a:t>J'ouvre la fiche d'un membre de ces équipes.</a:t>
            </a:r>
          </a:p>
        </p:txBody>
      </p:sp>
      <p:sp>
        <p:nvSpPr>
          <p:cNvPr id="16" name="10 Forme 8"/>
          <p:cNvSpPr/>
          <p:nvPr/>
        </p:nvSpPr>
        <p:spPr>
          <a:xfrm>
            <a:off x="8183879" y="1554480"/>
            <a:ext cx="3703320" cy="33832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7" name="10 Forme 9"/>
          <p:cNvSpPr/>
          <p:nvPr/>
        </p:nvSpPr>
        <p:spPr>
          <a:xfrm>
            <a:off x="8183879" y="1554480"/>
            <a:ext cx="3703320" cy="713232"/>
          </a:xfrm>
          <a:prstGeom prst="roundRect">
            <a:avLst>
              <a:gd name="adj" fmla="val 10000"/>
            </a:avLst>
          </a:prstGeom>
          <a:solidFill>
            <a:srgbClr val="8B4D5C"/>
          </a:solidFill>
          <a:ln>
            <a:noFill/>
          </a:ln>
        </p:spPr>
        <p:txBody>
          <a:bodyPr rtlCol="0" anchor="ctr"/>
          <a:lstStyle/>
          <a:p>
            <a:pPr algn="ctr"/>
          </a:p>
        </p:txBody>
      </p:sp>
      <p:sp>
        <p:nvSpPr>
          <p:cNvPr id="18" name="10 Forme 10"/>
          <p:cNvSpPr/>
          <p:nvPr/>
        </p:nvSpPr>
        <p:spPr>
          <a:xfrm>
            <a:off x="8183879" y="1993392"/>
            <a:ext cx="3703320" cy="274320"/>
          </a:xfrm>
          <a:prstGeom prst="rect">
            <a:avLst/>
          </a:prstGeom>
          <a:solidFill>
            <a:srgbClr val="8B4D5C"/>
          </a:solidFill>
          <a:ln>
            <a:noFill/>
          </a:ln>
        </p:spPr>
        <p:txBody>
          <a:bodyPr rtlCol="0" anchor="ctr"/>
          <a:lstStyle/>
          <a:p>
            <a:pPr algn="ctr"/>
          </a:p>
        </p:txBody>
      </p:sp>
      <p:sp>
        <p:nvSpPr>
          <p:cNvPr id="19" name="10 Administrateur"/>
          <p:cNvSpPr txBox="1"/>
          <p:nvPr/>
        </p:nvSpPr>
        <p:spPr>
          <a:xfrm>
            <a:off x="8385048" y="1719072"/>
            <a:ext cx="3291840" cy="384048"/>
          </a:xfrm>
          <a:prstGeom prst="rect">
            <a:avLst/>
          </a:prstGeom>
          <a:noFill/>
        </p:spPr>
        <p:txBody>
          <a:bodyPr wrap="square" lIns="0" rIns="0" tIns="0" bIns="0" anchor="t"/>
          <a:lstStyle/>
          <a:p>
            <a:pPr algn="l"/>
            <a:r>
              <a:rPr sz="1800" b="1" i="0">
                <a:solidFill>
                  <a:srgbClr val="FFFFFF"/>
                </a:solidFill>
                <a:latin typeface="Arial"/>
              </a:rPr>
              <a:t>Administrateur</a:t>
            </a:r>
          </a:p>
        </p:txBody>
      </p:sp>
      <p:sp>
        <p:nvSpPr>
          <p:cNvPr id="20" name="10 Je crée les personnes, les équipes et l…"/>
          <p:cNvSpPr txBox="1"/>
          <p:nvPr/>
        </p:nvSpPr>
        <p:spPr>
          <a:xfrm>
            <a:off x="8385048" y="2468880"/>
            <a:ext cx="3291840" cy="2194560"/>
          </a:xfrm>
          <a:prstGeom prst="rect">
            <a:avLst/>
          </a:prstGeom>
          <a:noFill/>
        </p:spPr>
        <p:txBody>
          <a:bodyPr wrap="square" lIns="18288" rIns="18288" tIns="18288" bIns="18288" anchor="t"/>
          <a:lstStyle/>
          <a:p>
            <a:pPr algn="l">
              <a:spcBef>
                <a:spcPts val="0"/>
              </a:spcBef>
              <a:spcAft>
                <a:spcPts val="1200"/>
              </a:spcAft>
            </a:pPr>
            <a:r>
              <a:rPr sz="1500" b="0" i="0">
                <a:solidFill>
                  <a:srgbClr val="1A1A1A"/>
                </a:solidFill>
                <a:latin typeface="Arial"/>
              </a:rPr>
              <a:t>Je crée les personnes, les équipes et les projets.</a:t>
            </a:r>
          </a:p>
          <a:p>
            <a:pPr algn="l">
              <a:spcBef>
                <a:spcPts val="0"/>
              </a:spcBef>
              <a:spcAft>
                <a:spcPts val="1200"/>
              </a:spcAft>
            </a:pPr>
            <a:r>
              <a:rPr sz="1500" b="0" i="0">
                <a:solidFill>
                  <a:srgbClr val="1A1A1A"/>
                </a:solidFill>
                <a:latin typeface="Arial"/>
              </a:rPr>
              <a:t>Je regarde le taux de l'ensemble.</a:t>
            </a:r>
          </a:p>
          <a:p>
            <a:pPr algn="l">
              <a:spcBef>
                <a:spcPts val="0"/>
              </a:spcBef>
              <a:spcAft>
                <a:spcPts val="1200"/>
              </a:spcAft>
            </a:pPr>
            <a:r>
              <a:rPr sz="1500" b="0" i="0">
                <a:solidFill>
                  <a:srgbClr val="1A1A1A"/>
                </a:solidFill>
                <a:latin typeface="Arial"/>
              </a:rPr>
              <a:t>Je rattache les équipes aux projets.</a:t>
            </a:r>
          </a:p>
        </p:txBody>
      </p:sp>
      <p:sp>
        <p:nvSpPr>
          <p:cNvPr id="21" name="10 Forme 11"/>
          <p:cNvSpPr/>
          <p:nvPr/>
        </p:nvSpPr>
        <p:spPr>
          <a:xfrm>
            <a:off x="411480" y="5120640"/>
            <a:ext cx="11338560" cy="960120"/>
          </a:xfrm>
          <a:prstGeom prst="roundRect">
            <a:avLst>
              <a:gd name="adj" fmla="val 8000"/>
            </a:avLst>
          </a:prstGeom>
          <a:solidFill>
            <a:srgbClr val="F6E8ED"/>
          </a:solidFill>
          <a:ln w="15875">
            <a:solidFill>
              <a:srgbClr val="E8C5CE"/>
            </a:solidFill>
          </a:ln>
        </p:spPr>
        <p:txBody>
          <a:bodyPr rtlCol="0" anchor="ctr"/>
          <a:lstStyle/>
          <a:p>
            <a:pPr algn="ctr"/>
          </a:p>
        </p:txBody>
      </p:sp>
      <p:sp>
        <p:nvSpPr>
          <p:cNvPr id="22" name="10 Un chef peut diriger plusieurs équipes.…"/>
          <p:cNvSpPr txBox="1"/>
          <p:nvPr/>
        </p:nvSpPr>
        <p:spPr>
          <a:xfrm>
            <a:off x="640080" y="5321808"/>
            <a:ext cx="10927080" cy="594360"/>
          </a:xfrm>
          <a:prstGeom prst="rect">
            <a:avLst/>
          </a:prstGeom>
          <a:noFill/>
        </p:spPr>
        <p:txBody>
          <a:bodyPr wrap="square" lIns="0" rIns="0" tIns="0" bIns="0" anchor="t"/>
          <a:lstStyle/>
          <a:p>
            <a:pPr algn="l"/>
            <a:r>
              <a:rPr sz="1500" b="0" i="0">
                <a:solidFill>
                  <a:srgbClr val="1A1A1A"/>
                </a:solidFill>
                <a:latin typeface="Arial"/>
              </a:rPr>
              <a:t>Un chef peut diriger plusieurs équipes. Une équipe n'a qu'un chef à la fois.</a:t>
            </a:r>
          </a:p>
        </p:txBody>
      </p:sp>
      <p:sp>
        <p:nvSpPr>
          <p:cNvPr id="23" name="10 Forme 12"/>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4" name="10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5" name="10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6" name="10 C5  ·  Analyser les besoin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7" name="10 10"/>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11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11 02   BESOINS"/>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a:t>
            </a:r>
          </a:p>
        </p:txBody>
      </p:sp>
      <p:sp>
        <p:nvSpPr>
          <p:cNvPr id="4" name="11 Tâches et avancement"/>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Tâches et avancement</a:t>
            </a:r>
          </a:p>
        </p:txBody>
      </p:sp>
      <p:sp>
        <p:nvSpPr>
          <p:cNvPr id="5" name="11 Forme 2"/>
          <p:cNvSpPr/>
          <p:nvPr/>
        </p:nvSpPr>
        <p:spPr>
          <a:xfrm>
            <a:off x="457200" y="1115568"/>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11 1"/>
          <p:cNvSpPr txBox="1"/>
          <p:nvPr/>
        </p:nvSpPr>
        <p:spPr>
          <a:xfrm>
            <a:off x="658368" y="1371600"/>
            <a:ext cx="411480" cy="411480"/>
          </a:xfrm>
          <a:prstGeom prst="rect">
            <a:avLst/>
          </a:prstGeom>
          <a:noFill/>
        </p:spPr>
        <p:txBody>
          <a:bodyPr wrap="square" lIns="0" rIns="0" tIns="0" bIns="0" anchor="t"/>
          <a:lstStyle/>
          <a:p>
            <a:pPr algn="l"/>
            <a:r>
              <a:rPr sz="2000" b="1" i="0">
                <a:solidFill>
                  <a:srgbClr val="8B4D5C"/>
                </a:solidFill>
                <a:latin typeface="Arial"/>
              </a:rPr>
              <a:t>1</a:t>
            </a:r>
          </a:p>
        </p:txBody>
      </p:sp>
      <p:sp>
        <p:nvSpPr>
          <p:cNvPr id="7" name="11 J'ouvre mon tableau de bord. Le taux es…"/>
          <p:cNvSpPr txBox="1"/>
          <p:nvPr/>
        </p:nvSpPr>
        <p:spPr>
          <a:xfrm>
            <a:off x="1234440" y="1280160"/>
            <a:ext cx="10149840" cy="658368"/>
          </a:xfrm>
          <a:prstGeom prst="rect">
            <a:avLst/>
          </a:prstGeom>
          <a:noFill/>
        </p:spPr>
        <p:txBody>
          <a:bodyPr wrap="square" lIns="0" rIns="0" tIns="0" bIns="0" anchor="t"/>
          <a:lstStyle/>
          <a:p>
            <a:pPr algn="l"/>
            <a:r>
              <a:rPr sz="1500" b="0" i="0">
                <a:solidFill>
                  <a:srgbClr val="1A1A1A"/>
                </a:solidFill>
                <a:latin typeface="Arial"/>
              </a:rPr>
              <a:t>J'ouvre mon tableau de bord. Le taux est le nombre de tâches terminées, divisé par le total.</a:t>
            </a:r>
          </a:p>
        </p:txBody>
      </p:sp>
      <p:sp>
        <p:nvSpPr>
          <p:cNvPr id="8" name="11 Forme 3"/>
          <p:cNvSpPr/>
          <p:nvPr/>
        </p:nvSpPr>
        <p:spPr>
          <a:xfrm>
            <a:off x="457200" y="2167128"/>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9" name="11 2"/>
          <p:cNvSpPr txBox="1"/>
          <p:nvPr/>
        </p:nvSpPr>
        <p:spPr>
          <a:xfrm>
            <a:off x="658368" y="2423160"/>
            <a:ext cx="411480" cy="411480"/>
          </a:xfrm>
          <a:prstGeom prst="rect">
            <a:avLst/>
          </a:prstGeom>
          <a:noFill/>
        </p:spPr>
        <p:txBody>
          <a:bodyPr wrap="square" lIns="0" rIns="0" tIns="0" bIns="0" anchor="t"/>
          <a:lstStyle/>
          <a:p>
            <a:pPr algn="l"/>
            <a:r>
              <a:rPr sz="2000" b="1" i="0">
                <a:solidFill>
                  <a:srgbClr val="8B4D5C"/>
                </a:solidFill>
                <a:latin typeface="Arial"/>
              </a:rPr>
              <a:t>2</a:t>
            </a:r>
          </a:p>
        </p:txBody>
      </p:sp>
      <p:sp>
        <p:nvSpPr>
          <p:cNvPr id="10" name="11 Je vois mes tâches, regroupées par stat…"/>
          <p:cNvSpPr txBox="1"/>
          <p:nvPr/>
        </p:nvSpPr>
        <p:spPr>
          <a:xfrm>
            <a:off x="1234440" y="2331720"/>
            <a:ext cx="10149840" cy="658368"/>
          </a:xfrm>
          <a:prstGeom prst="rect">
            <a:avLst/>
          </a:prstGeom>
          <a:noFill/>
        </p:spPr>
        <p:txBody>
          <a:bodyPr wrap="square" lIns="0" rIns="0" tIns="0" bIns="0" anchor="t"/>
          <a:lstStyle/>
          <a:p>
            <a:pPr algn="l"/>
            <a:r>
              <a:rPr sz="1500" b="0" i="0">
                <a:solidFill>
                  <a:srgbClr val="1A1A1A"/>
                </a:solidFill>
                <a:latin typeface="Arial"/>
              </a:rPr>
              <a:t>Je vois mes tâches, regroupées par statut. À faire 0, en cours 60, bloqué 30, terminé 100.</a:t>
            </a:r>
          </a:p>
        </p:txBody>
      </p:sp>
      <p:sp>
        <p:nvSpPr>
          <p:cNvPr id="11" name="11 Forme 4"/>
          <p:cNvSpPr/>
          <p:nvPr/>
        </p:nvSpPr>
        <p:spPr>
          <a:xfrm>
            <a:off x="457200" y="3218687"/>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2" name="11 3"/>
          <p:cNvSpPr txBox="1"/>
          <p:nvPr/>
        </p:nvSpPr>
        <p:spPr>
          <a:xfrm>
            <a:off x="658368" y="3474720"/>
            <a:ext cx="411480" cy="411480"/>
          </a:xfrm>
          <a:prstGeom prst="rect">
            <a:avLst/>
          </a:prstGeom>
          <a:noFill/>
        </p:spPr>
        <p:txBody>
          <a:bodyPr wrap="square" lIns="0" rIns="0" tIns="0" bIns="0" anchor="t"/>
          <a:lstStyle/>
          <a:p>
            <a:pPr algn="l"/>
            <a:r>
              <a:rPr sz="2000" b="1" i="0">
                <a:solidFill>
                  <a:srgbClr val="8B4D5C"/>
                </a:solidFill>
                <a:latin typeface="Arial"/>
              </a:rPr>
              <a:t>3</a:t>
            </a:r>
          </a:p>
        </p:txBody>
      </p:sp>
      <p:sp>
        <p:nvSpPr>
          <p:cNvPr id="13" name="11 Je remplis réalisé et à venir. Si je ch…"/>
          <p:cNvSpPr txBox="1"/>
          <p:nvPr/>
        </p:nvSpPr>
        <p:spPr>
          <a:xfrm>
            <a:off x="1234440" y="3383279"/>
            <a:ext cx="10149840" cy="658368"/>
          </a:xfrm>
          <a:prstGeom prst="rect">
            <a:avLst/>
          </a:prstGeom>
          <a:noFill/>
        </p:spPr>
        <p:txBody>
          <a:bodyPr wrap="square" lIns="0" rIns="0" tIns="0" bIns="0" anchor="t"/>
          <a:lstStyle/>
          <a:p>
            <a:pPr algn="l"/>
            <a:r>
              <a:rPr sz="1500" b="0" i="0">
                <a:solidFill>
                  <a:srgbClr val="1A1A1A"/>
                </a:solidFill>
                <a:latin typeface="Arial"/>
              </a:rPr>
              <a:t>Je remplis réalisé et à venir. Si je choisis bloqué, la note est obligatoire.</a:t>
            </a:r>
          </a:p>
        </p:txBody>
      </p:sp>
      <p:sp>
        <p:nvSpPr>
          <p:cNvPr id="14" name="11 Forme 5"/>
          <p:cNvSpPr/>
          <p:nvPr/>
        </p:nvSpPr>
        <p:spPr>
          <a:xfrm>
            <a:off x="457200" y="4270248"/>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5" name="11 4"/>
          <p:cNvSpPr txBox="1"/>
          <p:nvPr/>
        </p:nvSpPr>
        <p:spPr>
          <a:xfrm>
            <a:off x="658368" y="4526280"/>
            <a:ext cx="411480" cy="411480"/>
          </a:xfrm>
          <a:prstGeom prst="rect">
            <a:avLst/>
          </a:prstGeom>
          <a:noFill/>
        </p:spPr>
        <p:txBody>
          <a:bodyPr wrap="square" lIns="0" rIns="0" tIns="0" bIns="0" anchor="t"/>
          <a:lstStyle/>
          <a:p>
            <a:pPr algn="l"/>
            <a:r>
              <a:rPr sz="2000" b="1" i="0">
                <a:solidFill>
                  <a:srgbClr val="8B4D5C"/>
                </a:solidFill>
                <a:latin typeface="Arial"/>
              </a:rPr>
              <a:t>4</a:t>
            </a:r>
          </a:p>
        </p:txBody>
      </p:sp>
      <p:sp>
        <p:nvSpPr>
          <p:cNvPr id="16" name="11 Je relis l'historique de mes points."/>
          <p:cNvSpPr txBox="1"/>
          <p:nvPr/>
        </p:nvSpPr>
        <p:spPr>
          <a:xfrm>
            <a:off x="1234440" y="4434840"/>
            <a:ext cx="10149840" cy="658368"/>
          </a:xfrm>
          <a:prstGeom prst="rect">
            <a:avLst/>
          </a:prstGeom>
          <a:noFill/>
        </p:spPr>
        <p:txBody>
          <a:bodyPr wrap="square" lIns="0" rIns="0" tIns="0" bIns="0" anchor="t"/>
          <a:lstStyle/>
          <a:p>
            <a:pPr algn="l"/>
            <a:r>
              <a:rPr sz="1500" b="0" i="0">
                <a:solidFill>
                  <a:srgbClr val="1A1A1A"/>
                </a:solidFill>
                <a:latin typeface="Arial"/>
              </a:rPr>
              <a:t>Je relis l'historique de mes points.</a:t>
            </a:r>
          </a:p>
        </p:txBody>
      </p:sp>
      <p:sp>
        <p:nvSpPr>
          <p:cNvPr id="17" name="11 Forme 6"/>
          <p:cNvSpPr/>
          <p:nvPr/>
        </p:nvSpPr>
        <p:spPr>
          <a:xfrm>
            <a:off x="457200" y="5394960"/>
            <a:ext cx="11247120" cy="777240"/>
          </a:xfrm>
          <a:prstGeom prst="roundRect">
            <a:avLst>
              <a:gd name="adj" fmla="val 8000"/>
            </a:avLst>
          </a:prstGeom>
          <a:solidFill>
            <a:srgbClr val="F6E8ED"/>
          </a:solidFill>
          <a:ln w="15875">
            <a:solidFill>
              <a:srgbClr val="E8C5CE"/>
            </a:solidFill>
          </a:ln>
        </p:spPr>
        <p:txBody>
          <a:bodyPr rtlCol="0" anchor="ctr"/>
          <a:lstStyle/>
          <a:p>
            <a:pPr algn="ctr"/>
          </a:p>
        </p:txBody>
      </p:sp>
      <p:sp>
        <p:nvSpPr>
          <p:cNvPr id="18" name="11 Je ne modifie pas le titre, la descript…"/>
          <p:cNvSpPr txBox="1"/>
          <p:nvPr/>
        </p:nvSpPr>
        <p:spPr>
          <a:xfrm>
            <a:off x="658368" y="5559552"/>
            <a:ext cx="10835640" cy="457200"/>
          </a:xfrm>
          <a:prstGeom prst="rect">
            <a:avLst/>
          </a:prstGeom>
          <a:noFill/>
        </p:spPr>
        <p:txBody>
          <a:bodyPr wrap="square" lIns="0" rIns="0" tIns="0" bIns="0" anchor="t"/>
          <a:lstStyle/>
          <a:p>
            <a:pPr algn="l"/>
            <a:r>
              <a:rPr sz="1500" b="0" i="0">
                <a:solidFill>
                  <a:srgbClr val="1A1A1A"/>
                </a:solidFill>
                <a:latin typeface="Arial"/>
              </a:rPr>
              <a:t>Je ne modifie pas le titre, la description, ni l'assigné. Cela revient au chef d'équipe.</a:t>
            </a:r>
          </a:p>
        </p:txBody>
      </p:sp>
      <p:sp>
        <p:nvSpPr>
          <p:cNvPr id="19" name="11 Forme 7"/>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0" name="11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1" name="11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2" name="11 C5  ·  Analyser les besoin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3" name="11 11"/>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12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12 02   BESOINS"/>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a:t>
            </a:r>
          </a:p>
        </p:txBody>
      </p:sp>
      <p:sp>
        <p:nvSpPr>
          <p:cNvPr id="4" name="12 Équipes et tâches"/>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Équipes et tâches</a:t>
            </a:r>
          </a:p>
        </p:txBody>
      </p:sp>
      <p:sp>
        <p:nvSpPr>
          <p:cNvPr id="5" name="12 Forme 2"/>
          <p:cNvSpPr/>
          <p:nvPr/>
        </p:nvSpPr>
        <p:spPr>
          <a:xfrm>
            <a:off x="457200" y="1115568"/>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12 1"/>
          <p:cNvSpPr txBox="1"/>
          <p:nvPr/>
        </p:nvSpPr>
        <p:spPr>
          <a:xfrm>
            <a:off x="658368" y="1371600"/>
            <a:ext cx="411480" cy="411480"/>
          </a:xfrm>
          <a:prstGeom prst="rect">
            <a:avLst/>
          </a:prstGeom>
          <a:noFill/>
        </p:spPr>
        <p:txBody>
          <a:bodyPr wrap="square" lIns="0" rIns="0" tIns="0" bIns="0" anchor="t"/>
          <a:lstStyle/>
          <a:p>
            <a:pPr algn="l"/>
            <a:r>
              <a:rPr sz="2000" b="1" i="0">
                <a:solidFill>
                  <a:srgbClr val="8B4D5C"/>
                </a:solidFill>
                <a:latin typeface="Arial"/>
              </a:rPr>
              <a:t>1</a:t>
            </a:r>
          </a:p>
        </p:txBody>
      </p:sp>
      <p:sp>
        <p:nvSpPr>
          <p:cNvPr id="7" name="12 Pour chaque équipe que je dirige : tota…"/>
          <p:cNvSpPr txBox="1"/>
          <p:nvPr/>
        </p:nvSpPr>
        <p:spPr>
          <a:xfrm>
            <a:off x="1234440" y="1261872"/>
            <a:ext cx="10149840" cy="685800"/>
          </a:xfrm>
          <a:prstGeom prst="rect">
            <a:avLst/>
          </a:prstGeom>
          <a:noFill/>
        </p:spPr>
        <p:txBody>
          <a:bodyPr wrap="square" lIns="0" rIns="0" tIns="0" bIns="0" anchor="t"/>
          <a:lstStyle/>
          <a:p>
            <a:pPr algn="l"/>
            <a:r>
              <a:rPr sz="1500" b="0" i="0">
                <a:solidFill>
                  <a:srgbClr val="1A1A1A"/>
                </a:solidFill>
                <a:latin typeface="Arial"/>
              </a:rPr>
              <a:t>Pour chaque équipe que je dirige : total, en cours, bloquées, terminées cette semaine, taux, dernières tâches bloquées.</a:t>
            </a:r>
          </a:p>
        </p:txBody>
      </p:sp>
      <p:sp>
        <p:nvSpPr>
          <p:cNvPr id="8" name="12 Forme 3"/>
          <p:cNvSpPr/>
          <p:nvPr/>
        </p:nvSpPr>
        <p:spPr>
          <a:xfrm>
            <a:off x="457200" y="2167128"/>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9" name="12 2"/>
          <p:cNvSpPr txBox="1"/>
          <p:nvPr/>
        </p:nvSpPr>
        <p:spPr>
          <a:xfrm>
            <a:off x="658368" y="2423160"/>
            <a:ext cx="411480" cy="411480"/>
          </a:xfrm>
          <a:prstGeom prst="rect">
            <a:avLst/>
          </a:prstGeom>
          <a:noFill/>
        </p:spPr>
        <p:txBody>
          <a:bodyPr wrap="square" lIns="0" rIns="0" tIns="0" bIns="0" anchor="t"/>
          <a:lstStyle/>
          <a:p>
            <a:pPr algn="l"/>
            <a:r>
              <a:rPr sz="2000" b="1" i="0">
                <a:solidFill>
                  <a:srgbClr val="8B4D5C"/>
                </a:solidFill>
                <a:latin typeface="Arial"/>
              </a:rPr>
              <a:t>2</a:t>
            </a:r>
          </a:p>
        </p:txBody>
      </p:sp>
      <p:sp>
        <p:nvSpPr>
          <p:cNvPr id="10" name="12 Je crée une tâche sur un projet de mes…"/>
          <p:cNvSpPr txBox="1"/>
          <p:nvPr/>
        </p:nvSpPr>
        <p:spPr>
          <a:xfrm>
            <a:off x="1234440" y="2313432"/>
            <a:ext cx="10149840" cy="685800"/>
          </a:xfrm>
          <a:prstGeom prst="rect">
            <a:avLst/>
          </a:prstGeom>
          <a:noFill/>
        </p:spPr>
        <p:txBody>
          <a:bodyPr wrap="square" lIns="0" rIns="0" tIns="0" bIns="0" anchor="t"/>
          <a:lstStyle/>
          <a:p>
            <a:pPr algn="l"/>
            <a:r>
              <a:rPr sz="1500" b="0" i="0">
                <a:solidFill>
                  <a:srgbClr val="1A1A1A"/>
                </a:solidFill>
                <a:latin typeface="Arial"/>
              </a:rPr>
              <a:t>Je crée une tâche sur un projet de mes équipes. La personne assignée doit en faire partie.</a:t>
            </a:r>
          </a:p>
        </p:txBody>
      </p:sp>
      <p:sp>
        <p:nvSpPr>
          <p:cNvPr id="11" name="12 Forme 4"/>
          <p:cNvSpPr/>
          <p:nvPr/>
        </p:nvSpPr>
        <p:spPr>
          <a:xfrm>
            <a:off x="457200" y="3218687"/>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2" name="12 3"/>
          <p:cNvSpPr txBox="1"/>
          <p:nvPr/>
        </p:nvSpPr>
        <p:spPr>
          <a:xfrm>
            <a:off x="658368" y="3474720"/>
            <a:ext cx="411480" cy="411480"/>
          </a:xfrm>
          <a:prstGeom prst="rect">
            <a:avLst/>
          </a:prstGeom>
          <a:noFill/>
        </p:spPr>
        <p:txBody>
          <a:bodyPr wrap="square" lIns="0" rIns="0" tIns="0" bIns="0" anchor="t"/>
          <a:lstStyle/>
          <a:p>
            <a:pPr algn="l"/>
            <a:r>
              <a:rPr sz="2000" b="1" i="0">
                <a:solidFill>
                  <a:srgbClr val="8B4D5C"/>
                </a:solidFill>
                <a:latin typeface="Arial"/>
              </a:rPr>
              <a:t>3</a:t>
            </a:r>
          </a:p>
        </p:txBody>
      </p:sp>
      <p:sp>
        <p:nvSpPr>
          <p:cNvPr id="13" name="12 Je filtre les tâches de l'équipe par st…"/>
          <p:cNvSpPr txBox="1"/>
          <p:nvPr/>
        </p:nvSpPr>
        <p:spPr>
          <a:xfrm>
            <a:off x="1234440" y="3364991"/>
            <a:ext cx="10149840" cy="685800"/>
          </a:xfrm>
          <a:prstGeom prst="rect">
            <a:avLst/>
          </a:prstGeom>
          <a:noFill/>
        </p:spPr>
        <p:txBody>
          <a:bodyPr wrap="square" lIns="0" rIns="0" tIns="0" bIns="0" anchor="t"/>
          <a:lstStyle/>
          <a:p>
            <a:pPr algn="l"/>
            <a:r>
              <a:rPr sz="1500" b="0" i="0">
                <a:solidFill>
                  <a:srgbClr val="1A1A1A"/>
                </a:solidFill>
                <a:latin typeface="Arial"/>
              </a:rPr>
              <a:t>Je filtre les tâches de l'équipe par statut. J'ouvre la fiche d'un membre si nous partageons une équipe que je dirige.</a:t>
            </a:r>
          </a:p>
        </p:txBody>
      </p:sp>
      <p:sp>
        <p:nvSpPr>
          <p:cNvPr id="14" name="12 Forme 5"/>
          <p:cNvSpPr/>
          <p:nvPr/>
        </p:nvSpPr>
        <p:spPr>
          <a:xfrm>
            <a:off x="457200" y="4270248"/>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5" name="12 4"/>
          <p:cNvSpPr txBox="1"/>
          <p:nvPr/>
        </p:nvSpPr>
        <p:spPr>
          <a:xfrm>
            <a:off x="658368" y="4526280"/>
            <a:ext cx="411480" cy="411480"/>
          </a:xfrm>
          <a:prstGeom prst="rect">
            <a:avLst/>
          </a:prstGeom>
          <a:noFill/>
        </p:spPr>
        <p:txBody>
          <a:bodyPr wrap="square" lIns="0" rIns="0" tIns="0" bIns="0" anchor="t"/>
          <a:lstStyle/>
          <a:p>
            <a:pPr algn="l"/>
            <a:r>
              <a:rPr sz="2000" b="1" i="0">
                <a:solidFill>
                  <a:srgbClr val="8B4D5C"/>
                </a:solidFill>
                <a:latin typeface="Arial"/>
              </a:rPr>
              <a:t>4</a:t>
            </a:r>
          </a:p>
        </p:txBody>
      </p:sp>
      <p:sp>
        <p:nvSpPr>
          <p:cNvPr id="16" name="12 Sur les tâches qui me sont assignées, j…"/>
          <p:cNvSpPr txBox="1"/>
          <p:nvPr/>
        </p:nvSpPr>
        <p:spPr>
          <a:xfrm>
            <a:off x="1234440" y="4416552"/>
            <a:ext cx="10149840" cy="685800"/>
          </a:xfrm>
          <a:prstGeom prst="rect">
            <a:avLst/>
          </a:prstGeom>
          <a:noFill/>
        </p:spPr>
        <p:txBody>
          <a:bodyPr wrap="square" lIns="0" rIns="0" tIns="0" bIns="0" anchor="t"/>
          <a:lstStyle/>
          <a:p>
            <a:pPr algn="l"/>
            <a:r>
              <a:rPr sz="1500" b="0" i="0">
                <a:solidFill>
                  <a:srgbClr val="1A1A1A"/>
                </a:solidFill>
                <a:latin typeface="Arial"/>
              </a:rPr>
              <a:t>Sur les tâches qui me sont assignées, je rends compte comme un membre.</a:t>
            </a:r>
          </a:p>
        </p:txBody>
      </p:sp>
      <p:sp>
        <p:nvSpPr>
          <p:cNvPr id="17" name="12 Forme 6"/>
          <p:cNvSpPr/>
          <p:nvPr/>
        </p:nvSpPr>
        <p:spPr>
          <a:xfrm>
            <a:off x="457200" y="5394960"/>
            <a:ext cx="11247120" cy="777240"/>
          </a:xfrm>
          <a:prstGeom prst="roundRect">
            <a:avLst>
              <a:gd name="adj" fmla="val 8000"/>
            </a:avLst>
          </a:prstGeom>
          <a:solidFill>
            <a:srgbClr val="F6E8ED"/>
          </a:solidFill>
          <a:ln w="15875">
            <a:solidFill>
              <a:srgbClr val="E8C5CE"/>
            </a:solidFill>
          </a:ln>
        </p:spPr>
        <p:txBody>
          <a:bodyPr rtlCol="0" anchor="ctr"/>
          <a:lstStyle/>
          <a:p>
            <a:pPr algn="ctr"/>
          </a:p>
        </p:txBody>
      </p:sp>
      <p:sp>
        <p:nvSpPr>
          <p:cNvPr id="18" name="12 Je ne crée ni les comptes ni les projets."/>
          <p:cNvSpPr txBox="1"/>
          <p:nvPr/>
        </p:nvSpPr>
        <p:spPr>
          <a:xfrm>
            <a:off x="658368" y="5559552"/>
            <a:ext cx="10835640" cy="457200"/>
          </a:xfrm>
          <a:prstGeom prst="rect">
            <a:avLst/>
          </a:prstGeom>
          <a:noFill/>
        </p:spPr>
        <p:txBody>
          <a:bodyPr wrap="square" lIns="0" rIns="0" tIns="0" bIns="0" anchor="t"/>
          <a:lstStyle/>
          <a:p>
            <a:pPr algn="l"/>
            <a:r>
              <a:rPr sz="1500" b="0" i="0">
                <a:solidFill>
                  <a:srgbClr val="1A1A1A"/>
                </a:solidFill>
                <a:latin typeface="Arial"/>
              </a:rPr>
              <a:t>Je ne crée ni les comptes ni les projets.</a:t>
            </a:r>
          </a:p>
        </p:txBody>
      </p:sp>
      <p:sp>
        <p:nvSpPr>
          <p:cNvPr id="19" name="12 Forme 7"/>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0" name="12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1" name="12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2" name="12 C5  ·  Analyser les besoin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3" name="12 12"/>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13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13 02   BESOINS"/>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a:t>
            </a:r>
          </a:p>
        </p:txBody>
      </p:sp>
      <p:sp>
        <p:nvSpPr>
          <p:cNvPr id="4" name="13 Comptes, équipes et projets"/>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Comptes, équipes et projets</a:t>
            </a:r>
          </a:p>
        </p:txBody>
      </p:sp>
      <p:sp>
        <p:nvSpPr>
          <p:cNvPr id="5" name="13 Forme 2"/>
          <p:cNvSpPr/>
          <p:nvPr/>
        </p:nvSpPr>
        <p:spPr>
          <a:xfrm>
            <a:off x="457200" y="1115568"/>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13 1"/>
          <p:cNvSpPr txBox="1"/>
          <p:nvPr/>
        </p:nvSpPr>
        <p:spPr>
          <a:xfrm>
            <a:off x="658368" y="1371600"/>
            <a:ext cx="411480" cy="411480"/>
          </a:xfrm>
          <a:prstGeom prst="rect">
            <a:avLst/>
          </a:prstGeom>
          <a:noFill/>
        </p:spPr>
        <p:txBody>
          <a:bodyPr wrap="square" lIns="0" rIns="0" tIns="0" bIns="0" anchor="t"/>
          <a:lstStyle/>
          <a:p>
            <a:pPr algn="l"/>
            <a:r>
              <a:rPr sz="2000" b="1" i="0">
                <a:solidFill>
                  <a:srgbClr val="8B4D5C"/>
                </a:solidFill>
                <a:latin typeface="Arial"/>
              </a:rPr>
              <a:t>1</a:t>
            </a:r>
          </a:p>
        </p:txBody>
      </p:sp>
      <p:sp>
        <p:nvSpPr>
          <p:cNvPr id="7" name="13 Je vois les effectifs, le taux global,…"/>
          <p:cNvSpPr txBox="1"/>
          <p:nvPr/>
        </p:nvSpPr>
        <p:spPr>
          <a:xfrm>
            <a:off x="1234440" y="1280160"/>
            <a:ext cx="10149840" cy="658368"/>
          </a:xfrm>
          <a:prstGeom prst="rect">
            <a:avLst/>
          </a:prstGeom>
          <a:noFill/>
        </p:spPr>
        <p:txBody>
          <a:bodyPr wrap="square" lIns="0" rIns="0" tIns="0" bIns="0" anchor="t"/>
          <a:lstStyle/>
          <a:p>
            <a:pPr algn="l"/>
            <a:r>
              <a:rPr sz="1500" b="0" i="0">
                <a:solidFill>
                  <a:srgbClr val="1A1A1A"/>
                </a:solidFill>
                <a:latin typeface="Arial"/>
              </a:rPr>
              <a:t>Je vois les effectifs, le taux global, la répartition des statuts, et le taux par équipe et par projet.</a:t>
            </a:r>
          </a:p>
        </p:txBody>
      </p:sp>
      <p:sp>
        <p:nvSpPr>
          <p:cNvPr id="8" name="13 Forme 3"/>
          <p:cNvSpPr/>
          <p:nvPr/>
        </p:nvSpPr>
        <p:spPr>
          <a:xfrm>
            <a:off x="457200" y="2167128"/>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9" name="13 2"/>
          <p:cNvSpPr txBox="1"/>
          <p:nvPr/>
        </p:nvSpPr>
        <p:spPr>
          <a:xfrm>
            <a:off x="658368" y="2423160"/>
            <a:ext cx="411480" cy="411480"/>
          </a:xfrm>
          <a:prstGeom prst="rect">
            <a:avLst/>
          </a:prstGeom>
          <a:noFill/>
        </p:spPr>
        <p:txBody>
          <a:bodyPr wrap="square" lIns="0" rIns="0" tIns="0" bIns="0" anchor="t"/>
          <a:lstStyle/>
          <a:p>
            <a:pPr algn="l"/>
            <a:r>
              <a:rPr sz="2000" b="1" i="0">
                <a:solidFill>
                  <a:srgbClr val="8B4D5C"/>
                </a:solidFill>
                <a:latin typeface="Arial"/>
              </a:rPr>
              <a:t>2</a:t>
            </a:r>
          </a:p>
        </p:txBody>
      </p:sp>
      <p:sp>
        <p:nvSpPr>
          <p:cNvPr id="10" name="13 Je crée un compte, rattaché à au moins…"/>
          <p:cNvSpPr txBox="1"/>
          <p:nvPr/>
        </p:nvSpPr>
        <p:spPr>
          <a:xfrm>
            <a:off x="1234440" y="2331720"/>
            <a:ext cx="10149840" cy="658368"/>
          </a:xfrm>
          <a:prstGeom prst="rect">
            <a:avLst/>
          </a:prstGeom>
          <a:noFill/>
        </p:spPr>
        <p:txBody>
          <a:bodyPr wrap="square" lIns="0" rIns="0" tIns="0" bIns="0" anchor="t"/>
          <a:lstStyle/>
          <a:p>
            <a:pPr algn="l"/>
            <a:r>
              <a:rPr sz="1500" b="0" i="0">
                <a:solidFill>
                  <a:srgbClr val="1A1A1A"/>
                </a:solidFill>
                <a:latin typeface="Arial"/>
              </a:rPr>
              <a:t>Je crée un compte, rattaché à au moins une équipe. S'il dirige une équipe, il devient chef.</a:t>
            </a:r>
          </a:p>
        </p:txBody>
      </p:sp>
      <p:sp>
        <p:nvSpPr>
          <p:cNvPr id="11" name="13 Forme 4"/>
          <p:cNvSpPr/>
          <p:nvPr/>
        </p:nvSpPr>
        <p:spPr>
          <a:xfrm>
            <a:off x="457200" y="3218687"/>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2" name="13 3"/>
          <p:cNvSpPr txBox="1"/>
          <p:nvPr/>
        </p:nvSpPr>
        <p:spPr>
          <a:xfrm>
            <a:off x="658368" y="3474720"/>
            <a:ext cx="411480" cy="411480"/>
          </a:xfrm>
          <a:prstGeom prst="rect">
            <a:avLst/>
          </a:prstGeom>
          <a:noFill/>
        </p:spPr>
        <p:txBody>
          <a:bodyPr wrap="square" lIns="0" rIns="0" tIns="0" bIns="0" anchor="t"/>
          <a:lstStyle/>
          <a:p>
            <a:pPr algn="l"/>
            <a:r>
              <a:rPr sz="2000" b="1" i="0">
                <a:solidFill>
                  <a:srgbClr val="8B4D5C"/>
                </a:solidFill>
                <a:latin typeface="Arial"/>
              </a:rPr>
              <a:t>3</a:t>
            </a:r>
          </a:p>
        </p:txBody>
      </p:sp>
      <p:sp>
        <p:nvSpPr>
          <p:cNvPr id="13" name="13 Je compose une équipe : son nom, son ch…"/>
          <p:cNvSpPr txBox="1"/>
          <p:nvPr/>
        </p:nvSpPr>
        <p:spPr>
          <a:xfrm>
            <a:off x="1234440" y="3383279"/>
            <a:ext cx="10149840" cy="658368"/>
          </a:xfrm>
          <a:prstGeom prst="rect">
            <a:avLst/>
          </a:prstGeom>
          <a:noFill/>
        </p:spPr>
        <p:txBody>
          <a:bodyPr wrap="square" lIns="0" rIns="0" tIns="0" bIns="0" anchor="t"/>
          <a:lstStyle/>
          <a:p>
            <a:pPr algn="l"/>
            <a:r>
              <a:rPr sz="1500" b="0" i="0">
                <a:solidFill>
                  <a:srgbClr val="1A1A1A"/>
                </a:solidFill>
                <a:latin typeface="Arial"/>
              </a:rPr>
              <a:t>Je compose une équipe : son nom, son chef, ses membres, ses projets.</a:t>
            </a:r>
          </a:p>
        </p:txBody>
      </p:sp>
      <p:sp>
        <p:nvSpPr>
          <p:cNvPr id="14" name="13 Forme 5"/>
          <p:cNvSpPr/>
          <p:nvPr/>
        </p:nvSpPr>
        <p:spPr>
          <a:xfrm>
            <a:off x="457200" y="4270248"/>
            <a:ext cx="11247120" cy="9601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5" name="13 4"/>
          <p:cNvSpPr txBox="1"/>
          <p:nvPr/>
        </p:nvSpPr>
        <p:spPr>
          <a:xfrm>
            <a:off x="658368" y="4526280"/>
            <a:ext cx="411480" cy="411480"/>
          </a:xfrm>
          <a:prstGeom prst="rect">
            <a:avLst/>
          </a:prstGeom>
          <a:noFill/>
        </p:spPr>
        <p:txBody>
          <a:bodyPr wrap="square" lIns="0" rIns="0" tIns="0" bIns="0" anchor="t"/>
          <a:lstStyle/>
          <a:p>
            <a:pPr algn="l"/>
            <a:r>
              <a:rPr sz="2000" b="1" i="0">
                <a:solidFill>
                  <a:srgbClr val="8B4D5C"/>
                </a:solidFill>
                <a:latin typeface="Arial"/>
              </a:rPr>
              <a:t>4</a:t>
            </a:r>
          </a:p>
        </p:txBody>
      </p:sp>
      <p:sp>
        <p:nvSpPr>
          <p:cNvPr id="16" name="13 Je crée un projet et j'y rattache des é…"/>
          <p:cNvSpPr txBox="1"/>
          <p:nvPr/>
        </p:nvSpPr>
        <p:spPr>
          <a:xfrm>
            <a:off x="1234440" y="4434840"/>
            <a:ext cx="10149840" cy="658368"/>
          </a:xfrm>
          <a:prstGeom prst="rect">
            <a:avLst/>
          </a:prstGeom>
          <a:noFill/>
        </p:spPr>
        <p:txBody>
          <a:bodyPr wrap="square" lIns="0" rIns="0" tIns="0" bIns="0" anchor="t"/>
          <a:lstStyle/>
          <a:p>
            <a:pPr algn="l"/>
            <a:r>
              <a:rPr sz="1500" b="0" i="0">
                <a:solidFill>
                  <a:srgbClr val="1A1A1A"/>
                </a:solidFill>
                <a:latin typeface="Arial"/>
              </a:rPr>
              <a:t>Je crée un projet et j'y rattache des équipes.</a:t>
            </a:r>
          </a:p>
        </p:txBody>
      </p:sp>
      <p:sp>
        <p:nvSpPr>
          <p:cNvPr id="17" name="13 Forme 6"/>
          <p:cNvSpPr/>
          <p:nvPr/>
        </p:nvSpPr>
        <p:spPr>
          <a:xfrm>
            <a:off x="457200" y="5394960"/>
            <a:ext cx="11247120" cy="777240"/>
          </a:xfrm>
          <a:prstGeom prst="roundRect">
            <a:avLst>
              <a:gd name="adj" fmla="val 8000"/>
            </a:avLst>
          </a:prstGeom>
          <a:solidFill>
            <a:srgbClr val="F6E8ED"/>
          </a:solidFill>
          <a:ln w="15875">
            <a:solidFill>
              <a:srgbClr val="E8C5CE"/>
            </a:solidFill>
          </a:ln>
        </p:spPr>
        <p:txBody>
          <a:bodyPr rtlCol="0" anchor="ctr"/>
          <a:lstStyle/>
          <a:p>
            <a:pPr algn="ctr"/>
          </a:p>
        </p:txBody>
      </p:sp>
      <p:sp>
        <p:nvSpPr>
          <p:cNvPr id="18" name="13 Si j'ouvre les tâches, l'application me…"/>
          <p:cNvSpPr txBox="1"/>
          <p:nvPr/>
        </p:nvSpPr>
        <p:spPr>
          <a:xfrm>
            <a:off x="658368" y="5559552"/>
            <a:ext cx="10835640" cy="457200"/>
          </a:xfrm>
          <a:prstGeom prst="rect">
            <a:avLst/>
          </a:prstGeom>
          <a:noFill/>
        </p:spPr>
        <p:txBody>
          <a:bodyPr wrap="square" lIns="0" rIns="0" tIns="0" bIns="0" anchor="t"/>
          <a:lstStyle/>
          <a:p>
            <a:pPr algn="l"/>
            <a:r>
              <a:rPr sz="1500" b="0" i="0">
                <a:solidFill>
                  <a:srgbClr val="1A1A1A"/>
                </a:solidFill>
                <a:latin typeface="Arial"/>
              </a:rPr>
              <a:t>Si j'ouvre les tâches, l'application me ramène vers l'administration.</a:t>
            </a:r>
          </a:p>
        </p:txBody>
      </p:sp>
      <p:sp>
        <p:nvSpPr>
          <p:cNvPr id="19" name="13 Forme 7"/>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0" name="13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1" name="13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2" name="13 C5  ·  Analyser les besoin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3" name="13 13"/>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14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14 02   BESOINS"/>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a:t>
            </a:r>
          </a:p>
        </p:txBody>
      </p:sp>
      <p:sp>
        <p:nvSpPr>
          <p:cNvPr id="4" name="14 Fonctions"/>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Fonctions</a:t>
            </a:r>
          </a:p>
        </p:txBody>
      </p:sp>
      <p:sp>
        <p:nvSpPr>
          <p:cNvPr id="5" name="14 Forme 2"/>
          <p:cNvSpPr/>
          <p:nvPr/>
        </p:nvSpPr>
        <p:spPr>
          <a:xfrm>
            <a:off x="411480" y="1280160"/>
            <a:ext cx="5623560" cy="173736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14 Forme 3"/>
          <p:cNvSpPr/>
          <p:nvPr/>
        </p:nvSpPr>
        <p:spPr>
          <a:xfrm>
            <a:off x="557784" y="1444751"/>
            <a:ext cx="50292" cy="1408176"/>
          </a:xfrm>
          <a:prstGeom prst="rect">
            <a:avLst/>
          </a:prstGeom>
          <a:solidFill>
            <a:srgbClr val="8B4D5C"/>
          </a:solidFill>
          <a:ln>
            <a:noFill/>
          </a:ln>
        </p:spPr>
        <p:txBody>
          <a:bodyPr rtlCol="0" anchor="ctr"/>
          <a:lstStyle/>
          <a:p>
            <a:pPr algn="ctr"/>
          </a:p>
        </p:txBody>
      </p:sp>
      <p:sp>
        <p:nvSpPr>
          <p:cNvPr id="7" name="14 Entrer et son compte"/>
          <p:cNvSpPr txBox="1"/>
          <p:nvPr/>
        </p:nvSpPr>
        <p:spPr>
          <a:xfrm>
            <a:off x="758952" y="1426463"/>
            <a:ext cx="5029200" cy="347472"/>
          </a:xfrm>
          <a:prstGeom prst="rect">
            <a:avLst/>
          </a:prstGeom>
          <a:noFill/>
        </p:spPr>
        <p:txBody>
          <a:bodyPr wrap="square" lIns="0" rIns="0" tIns="0" bIns="0" anchor="t"/>
          <a:lstStyle/>
          <a:p>
            <a:pPr algn="l"/>
            <a:r>
              <a:rPr sz="1800" b="1" i="0">
                <a:solidFill>
                  <a:srgbClr val="1A1A1A"/>
                </a:solidFill>
                <a:latin typeface="Arial"/>
              </a:rPr>
              <a:t>Entrer et son compte</a:t>
            </a:r>
          </a:p>
        </p:txBody>
      </p:sp>
      <p:sp>
        <p:nvSpPr>
          <p:cNvPr id="8" name="14 Courriel et mot de passe. Se souvenir d…"/>
          <p:cNvSpPr txBox="1"/>
          <p:nvPr/>
        </p:nvSpPr>
        <p:spPr>
          <a:xfrm>
            <a:off x="758952" y="1828800"/>
            <a:ext cx="5029200" cy="1051560"/>
          </a:xfrm>
          <a:prstGeom prst="rect">
            <a:avLst/>
          </a:prstGeom>
          <a:noFill/>
        </p:spPr>
        <p:txBody>
          <a:bodyPr wrap="square" lIns="0" rIns="0" tIns="0" bIns="0" anchor="t"/>
          <a:lstStyle/>
          <a:p>
            <a:pPr algn="l"/>
            <a:r>
              <a:rPr sz="1500" b="0" i="0">
                <a:solidFill>
                  <a:srgbClr val="5E4E53"/>
                </a:solidFill>
                <a:latin typeface="Arial"/>
              </a:rPr>
              <a:t>Courriel et mot de passe. Se souvenir de moi, sur le web. Mot de passe oublié. Nom, courriel, mot de passe. Français ou anglais. Thème clair ou sombre.</a:t>
            </a:r>
          </a:p>
        </p:txBody>
      </p:sp>
      <p:sp>
        <p:nvSpPr>
          <p:cNvPr id="9" name="14 Forme 4"/>
          <p:cNvSpPr/>
          <p:nvPr/>
        </p:nvSpPr>
        <p:spPr>
          <a:xfrm>
            <a:off x="6263640" y="1280160"/>
            <a:ext cx="5623560" cy="173736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0" name="14 Forme 5"/>
          <p:cNvSpPr/>
          <p:nvPr/>
        </p:nvSpPr>
        <p:spPr>
          <a:xfrm>
            <a:off x="6409944" y="1444751"/>
            <a:ext cx="50292" cy="1408176"/>
          </a:xfrm>
          <a:prstGeom prst="rect">
            <a:avLst/>
          </a:prstGeom>
          <a:solidFill>
            <a:srgbClr val="8B4D5C"/>
          </a:solidFill>
          <a:ln>
            <a:noFill/>
          </a:ln>
        </p:spPr>
        <p:txBody>
          <a:bodyPr rtlCol="0" anchor="ctr"/>
          <a:lstStyle/>
          <a:p>
            <a:pPr algn="ctr"/>
          </a:p>
        </p:txBody>
      </p:sp>
      <p:sp>
        <p:nvSpPr>
          <p:cNvPr id="11" name="14 Rendre compte"/>
          <p:cNvSpPr txBox="1"/>
          <p:nvPr/>
        </p:nvSpPr>
        <p:spPr>
          <a:xfrm>
            <a:off x="6611112" y="1426463"/>
            <a:ext cx="5029200" cy="347472"/>
          </a:xfrm>
          <a:prstGeom prst="rect">
            <a:avLst/>
          </a:prstGeom>
          <a:noFill/>
        </p:spPr>
        <p:txBody>
          <a:bodyPr wrap="square" lIns="0" rIns="0" tIns="0" bIns="0" anchor="t"/>
          <a:lstStyle/>
          <a:p>
            <a:pPr algn="l"/>
            <a:r>
              <a:rPr sz="1800" b="1" i="0">
                <a:solidFill>
                  <a:srgbClr val="1A1A1A"/>
                </a:solidFill>
                <a:latin typeface="Arial"/>
              </a:rPr>
              <a:t>Rendre compte</a:t>
            </a:r>
          </a:p>
        </p:txBody>
      </p:sp>
      <p:sp>
        <p:nvSpPr>
          <p:cNvPr id="12" name="14 Statut, réalisé, à venir. Note de bloca…"/>
          <p:cNvSpPr txBox="1"/>
          <p:nvPr/>
        </p:nvSpPr>
        <p:spPr>
          <a:xfrm>
            <a:off x="6611112" y="1828800"/>
            <a:ext cx="5029200" cy="1051560"/>
          </a:xfrm>
          <a:prstGeom prst="rect">
            <a:avLst/>
          </a:prstGeom>
          <a:noFill/>
        </p:spPr>
        <p:txBody>
          <a:bodyPr wrap="square" lIns="0" rIns="0" tIns="0" bIns="0" anchor="t"/>
          <a:lstStyle/>
          <a:p>
            <a:pPr algn="l"/>
            <a:r>
              <a:rPr sz="1500" b="0" i="0">
                <a:solidFill>
                  <a:srgbClr val="5E4E53"/>
                </a:solidFill>
                <a:latin typeface="Arial"/>
              </a:rPr>
              <a:t>Statut, réalisé, à venir. Note de blocage obligatoire si le statut est bloqué. Historique des points.</a:t>
            </a:r>
          </a:p>
        </p:txBody>
      </p:sp>
      <p:sp>
        <p:nvSpPr>
          <p:cNvPr id="13" name="14 Forme 6"/>
          <p:cNvSpPr/>
          <p:nvPr/>
        </p:nvSpPr>
        <p:spPr>
          <a:xfrm>
            <a:off x="411480" y="3200400"/>
            <a:ext cx="5623560" cy="173736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4" name="14 Forme 7"/>
          <p:cNvSpPr/>
          <p:nvPr/>
        </p:nvSpPr>
        <p:spPr>
          <a:xfrm>
            <a:off x="557784" y="3364992"/>
            <a:ext cx="50292" cy="1408176"/>
          </a:xfrm>
          <a:prstGeom prst="rect">
            <a:avLst/>
          </a:prstGeom>
          <a:solidFill>
            <a:srgbClr val="8B4D5C"/>
          </a:solidFill>
          <a:ln>
            <a:noFill/>
          </a:ln>
        </p:spPr>
        <p:txBody>
          <a:bodyPr rtlCol="0" anchor="ctr"/>
          <a:lstStyle/>
          <a:p>
            <a:pPr algn="ctr"/>
          </a:p>
        </p:txBody>
      </p:sp>
      <p:sp>
        <p:nvSpPr>
          <p:cNvPr id="15" name="14 Piloter une équipe"/>
          <p:cNvSpPr txBox="1"/>
          <p:nvPr/>
        </p:nvSpPr>
        <p:spPr>
          <a:xfrm>
            <a:off x="758952" y="3346704"/>
            <a:ext cx="5029200" cy="347472"/>
          </a:xfrm>
          <a:prstGeom prst="rect">
            <a:avLst/>
          </a:prstGeom>
          <a:noFill/>
        </p:spPr>
        <p:txBody>
          <a:bodyPr wrap="square" lIns="0" rIns="0" tIns="0" bIns="0" anchor="t"/>
          <a:lstStyle/>
          <a:p>
            <a:pPr algn="l"/>
            <a:r>
              <a:rPr sz="1800" b="1" i="0">
                <a:solidFill>
                  <a:srgbClr val="1A1A1A"/>
                </a:solidFill>
                <a:latin typeface="Arial"/>
              </a:rPr>
              <a:t>Piloter une équipe</a:t>
            </a:r>
          </a:p>
        </p:txBody>
      </p:sp>
      <p:sp>
        <p:nvSpPr>
          <p:cNvPr id="16" name="14 Compteurs de l'équipe, filtre par statu…"/>
          <p:cNvSpPr txBox="1"/>
          <p:nvPr/>
        </p:nvSpPr>
        <p:spPr>
          <a:xfrm>
            <a:off x="758952" y="3749039"/>
            <a:ext cx="5029200" cy="1051560"/>
          </a:xfrm>
          <a:prstGeom prst="rect">
            <a:avLst/>
          </a:prstGeom>
          <a:noFill/>
        </p:spPr>
        <p:txBody>
          <a:bodyPr wrap="square" lIns="0" rIns="0" tIns="0" bIns="0" anchor="t"/>
          <a:lstStyle/>
          <a:p>
            <a:pPr algn="l"/>
            <a:r>
              <a:rPr sz="1500" b="0" i="0">
                <a:solidFill>
                  <a:srgbClr val="5E4E53"/>
                </a:solidFill>
                <a:latin typeface="Arial"/>
              </a:rPr>
              <a:t>Compteurs de l'équipe, filtre par statut, fiche d'un membre, création et modification d'une tâche.</a:t>
            </a:r>
          </a:p>
        </p:txBody>
      </p:sp>
      <p:sp>
        <p:nvSpPr>
          <p:cNvPr id="17" name="14 Forme 8"/>
          <p:cNvSpPr/>
          <p:nvPr/>
        </p:nvSpPr>
        <p:spPr>
          <a:xfrm>
            <a:off x="6263640" y="3200400"/>
            <a:ext cx="5623560" cy="173736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8" name="14 Forme 9"/>
          <p:cNvSpPr/>
          <p:nvPr/>
        </p:nvSpPr>
        <p:spPr>
          <a:xfrm>
            <a:off x="6409944" y="3364992"/>
            <a:ext cx="50292" cy="1408176"/>
          </a:xfrm>
          <a:prstGeom prst="rect">
            <a:avLst/>
          </a:prstGeom>
          <a:solidFill>
            <a:srgbClr val="8B4D5C"/>
          </a:solidFill>
          <a:ln>
            <a:noFill/>
          </a:ln>
        </p:spPr>
        <p:txBody>
          <a:bodyPr rtlCol="0" anchor="ctr"/>
          <a:lstStyle/>
          <a:p>
            <a:pPr algn="ctr"/>
          </a:p>
        </p:txBody>
      </p:sp>
      <p:sp>
        <p:nvSpPr>
          <p:cNvPr id="19" name="14 Tenir l'organisation"/>
          <p:cNvSpPr txBox="1"/>
          <p:nvPr/>
        </p:nvSpPr>
        <p:spPr>
          <a:xfrm>
            <a:off x="6611112" y="3346704"/>
            <a:ext cx="5029200" cy="347472"/>
          </a:xfrm>
          <a:prstGeom prst="rect">
            <a:avLst/>
          </a:prstGeom>
          <a:noFill/>
        </p:spPr>
        <p:txBody>
          <a:bodyPr wrap="square" lIns="0" rIns="0" tIns="0" bIns="0" anchor="t"/>
          <a:lstStyle/>
          <a:p>
            <a:pPr algn="l"/>
            <a:r>
              <a:rPr sz="1800" b="1" i="0">
                <a:solidFill>
                  <a:srgbClr val="1A1A1A"/>
                </a:solidFill>
                <a:latin typeface="Arial"/>
              </a:rPr>
              <a:t>Tenir l'organisation</a:t>
            </a:r>
          </a:p>
        </p:txBody>
      </p:sp>
      <p:sp>
        <p:nvSpPr>
          <p:cNvPr id="20" name="14 Utilisateurs, équipes, projets, tableau…"/>
          <p:cNvSpPr txBox="1"/>
          <p:nvPr/>
        </p:nvSpPr>
        <p:spPr>
          <a:xfrm>
            <a:off x="6611112" y="3749039"/>
            <a:ext cx="5029200" cy="1051560"/>
          </a:xfrm>
          <a:prstGeom prst="rect">
            <a:avLst/>
          </a:prstGeom>
          <a:noFill/>
        </p:spPr>
        <p:txBody>
          <a:bodyPr wrap="square" lIns="0" rIns="0" tIns="0" bIns="0" anchor="t"/>
          <a:lstStyle/>
          <a:p>
            <a:pPr algn="l"/>
            <a:r>
              <a:rPr sz="1500" b="0" i="0">
                <a:solidFill>
                  <a:srgbClr val="5E4E53"/>
                </a:solidFill>
                <a:latin typeface="Arial"/>
              </a:rPr>
              <a:t>Utilisateurs, équipes, projets, tableau de bord global. Pas de formulaire d'inscription.</a:t>
            </a:r>
          </a:p>
        </p:txBody>
      </p:sp>
      <p:sp>
        <p:nvSpPr>
          <p:cNvPr id="21" name="14 Forme 10"/>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2" name="14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3" name="14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4" name="14 C5  ·  Analyser les besoin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5" name="14 14"/>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15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15 02   BESOINS"/>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a:t>
            </a:r>
          </a:p>
        </p:txBody>
      </p:sp>
      <p:sp>
        <p:nvSpPr>
          <p:cNvPr id="4" name="15 Cas par acteur"/>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Cas par acteur</a:t>
            </a:r>
          </a:p>
        </p:txBody>
      </p:sp>
      <p:sp>
        <p:nvSpPr>
          <p:cNvPr id="5" name="15 Forme 2"/>
          <p:cNvSpPr/>
          <p:nvPr/>
        </p:nvSpPr>
        <p:spPr>
          <a:xfrm>
            <a:off x="411480" y="1170432"/>
            <a:ext cx="3703320" cy="23317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15 Administrateur"/>
          <p:cNvSpPr txBox="1"/>
          <p:nvPr/>
        </p:nvSpPr>
        <p:spPr>
          <a:xfrm>
            <a:off x="612648" y="1298448"/>
            <a:ext cx="3291840" cy="347472"/>
          </a:xfrm>
          <a:prstGeom prst="rect">
            <a:avLst/>
          </a:prstGeom>
          <a:noFill/>
        </p:spPr>
        <p:txBody>
          <a:bodyPr wrap="square" lIns="0" rIns="0" tIns="0" bIns="0" anchor="t"/>
          <a:lstStyle/>
          <a:p>
            <a:pPr algn="l"/>
            <a:r>
              <a:rPr sz="1600" b="1" i="0">
                <a:solidFill>
                  <a:srgbClr val="8B4D5C"/>
                </a:solidFill>
                <a:latin typeface="Arial"/>
              </a:rPr>
              <a:t>Administrateur</a:t>
            </a:r>
          </a:p>
        </p:txBody>
      </p:sp>
      <p:sp>
        <p:nvSpPr>
          <p:cNvPr id="7" name="15 Consulter les statistiques. Créer un pr…"/>
          <p:cNvSpPr txBox="1"/>
          <p:nvPr/>
        </p:nvSpPr>
        <p:spPr>
          <a:xfrm>
            <a:off x="612648" y="1737360"/>
            <a:ext cx="3291840" cy="1600200"/>
          </a:xfrm>
          <a:prstGeom prst="rect">
            <a:avLst/>
          </a:prstGeom>
          <a:noFill/>
        </p:spPr>
        <p:txBody>
          <a:bodyPr wrap="square" lIns="18288" rIns="18288" tIns="18288" bIns="18288" anchor="t"/>
          <a:lstStyle/>
          <a:p>
            <a:pPr algn="l">
              <a:spcBef>
                <a:spcPts val="0"/>
              </a:spcBef>
              <a:spcAft>
                <a:spcPts val="800"/>
              </a:spcAft>
            </a:pPr>
            <a:r>
              <a:rPr sz="1500" b="0" i="0">
                <a:solidFill>
                  <a:srgbClr val="1A1A1A"/>
                </a:solidFill>
                <a:latin typeface="Arial"/>
              </a:rPr>
              <a:t>Consulter les statistiques.</a:t>
            </a:r>
          </a:p>
          <a:p>
            <a:pPr algn="l">
              <a:spcBef>
                <a:spcPts val="0"/>
              </a:spcBef>
              <a:spcAft>
                <a:spcPts val="800"/>
              </a:spcAft>
            </a:pPr>
            <a:r>
              <a:rPr sz="1500" b="0" i="0">
                <a:solidFill>
                  <a:srgbClr val="1A1A1A"/>
                </a:solidFill>
                <a:latin typeface="Arial"/>
              </a:rPr>
              <a:t>Créer un projet. Le cas inclut d'y affecter une équipe.</a:t>
            </a:r>
          </a:p>
          <a:p>
            <a:pPr algn="l">
              <a:spcBef>
                <a:spcPts val="0"/>
              </a:spcBef>
              <a:spcAft>
                <a:spcPts val="800"/>
              </a:spcAft>
            </a:pPr>
            <a:r>
              <a:rPr sz="1500" b="0" i="0">
                <a:solidFill>
                  <a:srgbClr val="1A1A1A"/>
                </a:solidFill>
                <a:latin typeface="Arial"/>
              </a:rPr>
              <a:t>Affecter un chef d'équipe.</a:t>
            </a:r>
          </a:p>
        </p:txBody>
      </p:sp>
      <p:sp>
        <p:nvSpPr>
          <p:cNvPr id="8" name="15 Forme 3"/>
          <p:cNvSpPr/>
          <p:nvPr/>
        </p:nvSpPr>
        <p:spPr>
          <a:xfrm>
            <a:off x="4297680" y="1170432"/>
            <a:ext cx="3703320" cy="23317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9" name="15 Chef d'équipe"/>
          <p:cNvSpPr txBox="1"/>
          <p:nvPr/>
        </p:nvSpPr>
        <p:spPr>
          <a:xfrm>
            <a:off x="4498848" y="1298448"/>
            <a:ext cx="3291840" cy="347472"/>
          </a:xfrm>
          <a:prstGeom prst="rect">
            <a:avLst/>
          </a:prstGeom>
          <a:noFill/>
        </p:spPr>
        <p:txBody>
          <a:bodyPr wrap="square" lIns="0" rIns="0" tIns="0" bIns="0" anchor="t"/>
          <a:lstStyle/>
          <a:p>
            <a:pPr algn="l"/>
            <a:r>
              <a:rPr sz="1600" b="1" i="0">
                <a:solidFill>
                  <a:srgbClr val="8B4D5C"/>
                </a:solidFill>
                <a:latin typeface="Arial"/>
              </a:rPr>
              <a:t>Chef d'équipe</a:t>
            </a:r>
          </a:p>
        </p:txBody>
      </p:sp>
      <p:sp>
        <p:nvSpPr>
          <p:cNvPr id="10" name="15 Suivre l'évolution d'un projet. Définir…"/>
          <p:cNvSpPr txBox="1"/>
          <p:nvPr/>
        </p:nvSpPr>
        <p:spPr>
          <a:xfrm>
            <a:off x="4498848" y="1737360"/>
            <a:ext cx="3291840" cy="1600200"/>
          </a:xfrm>
          <a:prstGeom prst="rect">
            <a:avLst/>
          </a:prstGeom>
          <a:noFill/>
        </p:spPr>
        <p:txBody>
          <a:bodyPr wrap="square" lIns="18288" rIns="18288" tIns="18288" bIns="18288" anchor="t"/>
          <a:lstStyle/>
          <a:p>
            <a:pPr algn="l">
              <a:spcBef>
                <a:spcPts val="0"/>
              </a:spcBef>
              <a:spcAft>
                <a:spcPts val="800"/>
              </a:spcAft>
            </a:pPr>
            <a:r>
              <a:rPr sz="1500" b="0" i="0">
                <a:solidFill>
                  <a:srgbClr val="1A1A1A"/>
                </a:solidFill>
                <a:latin typeface="Arial"/>
              </a:rPr>
              <a:t>Suivre l'évolution d'un projet.</a:t>
            </a:r>
          </a:p>
          <a:p>
            <a:pPr algn="l">
              <a:spcBef>
                <a:spcPts val="0"/>
              </a:spcBef>
              <a:spcAft>
                <a:spcPts val="800"/>
              </a:spcAft>
            </a:pPr>
            <a:r>
              <a:rPr sz="1500" b="0" i="0">
                <a:solidFill>
                  <a:srgbClr val="1A1A1A"/>
                </a:solidFill>
                <a:latin typeface="Arial"/>
              </a:rPr>
              <a:t>Définir les tâches du projet.</a:t>
            </a:r>
          </a:p>
          <a:p>
            <a:pPr algn="l">
              <a:spcBef>
                <a:spcPts val="0"/>
              </a:spcBef>
              <a:spcAft>
                <a:spcPts val="800"/>
              </a:spcAft>
            </a:pPr>
            <a:r>
              <a:rPr sz="1500" b="0" i="0">
                <a:solidFill>
                  <a:srgbClr val="1A1A1A"/>
                </a:solidFill>
                <a:latin typeface="Arial"/>
              </a:rPr>
              <a:t>Ce cas inclut de les affecter aux membres de l'équipe.</a:t>
            </a:r>
          </a:p>
        </p:txBody>
      </p:sp>
      <p:sp>
        <p:nvSpPr>
          <p:cNvPr id="11" name="15 Forme 4"/>
          <p:cNvSpPr/>
          <p:nvPr/>
        </p:nvSpPr>
        <p:spPr>
          <a:xfrm>
            <a:off x="8183879" y="1170432"/>
            <a:ext cx="3703320" cy="233172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2" name="15 Membre"/>
          <p:cNvSpPr txBox="1"/>
          <p:nvPr/>
        </p:nvSpPr>
        <p:spPr>
          <a:xfrm>
            <a:off x="8385048" y="1298448"/>
            <a:ext cx="3291840" cy="347472"/>
          </a:xfrm>
          <a:prstGeom prst="rect">
            <a:avLst/>
          </a:prstGeom>
          <a:noFill/>
        </p:spPr>
        <p:txBody>
          <a:bodyPr wrap="square" lIns="0" rIns="0" tIns="0" bIns="0" anchor="t"/>
          <a:lstStyle/>
          <a:p>
            <a:pPr algn="l"/>
            <a:r>
              <a:rPr sz="1600" b="1" i="0">
                <a:solidFill>
                  <a:srgbClr val="8B4D5C"/>
                </a:solidFill>
                <a:latin typeface="Arial"/>
              </a:rPr>
              <a:t>Membre</a:t>
            </a:r>
          </a:p>
        </p:txBody>
      </p:sp>
      <p:sp>
        <p:nvSpPr>
          <p:cNvPr id="13" name="15 Gérer les tâches du projet. Le geste co…"/>
          <p:cNvSpPr txBox="1"/>
          <p:nvPr/>
        </p:nvSpPr>
        <p:spPr>
          <a:xfrm>
            <a:off x="8385048" y="1737360"/>
            <a:ext cx="3291840" cy="1600200"/>
          </a:xfrm>
          <a:prstGeom prst="rect">
            <a:avLst/>
          </a:prstGeom>
          <a:noFill/>
        </p:spPr>
        <p:txBody>
          <a:bodyPr wrap="square" lIns="18288" rIns="18288" tIns="18288" bIns="18288" anchor="t"/>
          <a:lstStyle/>
          <a:p>
            <a:pPr algn="l">
              <a:spcBef>
                <a:spcPts val="0"/>
              </a:spcBef>
              <a:spcAft>
                <a:spcPts val="800"/>
              </a:spcAft>
            </a:pPr>
            <a:r>
              <a:rPr sz="1500" b="0" i="0">
                <a:solidFill>
                  <a:srgbClr val="1A1A1A"/>
                </a:solidFill>
                <a:latin typeface="Arial"/>
              </a:rPr>
              <a:t>Gérer les tâches du projet.</a:t>
            </a:r>
          </a:p>
          <a:p>
            <a:pPr algn="l">
              <a:spcBef>
                <a:spcPts val="0"/>
              </a:spcBef>
              <a:spcAft>
                <a:spcPts val="800"/>
              </a:spcAft>
            </a:pPr>
            <a:r>
              <a:rPr sz="1500" b="0" i="0">
                <a:solidFill>
                  <a:srgbClr val="1A1A1A"/>
                </a:solidFill>
                <a:latin typeface="Arial"/>
              </a:rPr>
              <a:t>Le geste couvre le statut, ce qui est réalisé, ce qui vient, et l'historique.</a:t>
            </a:r>
          </a:p>
          <a:p>
            <a:pPr algn="l">
              <a:spcBef>
                <a:spcPts val="0"/>
              </a:spcBef>
              <a:spcAft>
                <a:spcPts val="800"/>
              </a:spcAft>
            </a:pPr>
            <a:r>
              <a:rPr sz="1500" b="0" i="0">
                <a:solidFill>
                  <a:srgbClr val="1A1A1A"/>
                </a:solidFill>
                <a:latin typeface="Arial"/>
              </a:rPr>
              <a:t>La note de blocage n'est demandée que si le statut est bloqué.</a:t>
            </a:r>
          </a:p>
        </p:txBody>
      </p:sp>
      <p:sp>
        <p:nvSpPr>
          <p:cNvPr id="14" name="15 Forme 5"/>
          <p:cNvSpPr/>
          <p:nvPr/>
        </p:nvSpPr>
        <p:spPr>
          <a:xfrm>
            <a:off x="411480" y="3749039"/>
            <a:ext cx="11338560" cy="1051560"/>
          </a:xfrm>
          <a:prstGeom prst="roundRect">
            <a:avLst>
              <a:gd name="adj" fmla="val 8000"/>
            </a:avLst>
          </a:prstGeom>
          <a:solidFill>
            <a:srgbClr val="F6E8ED"/>
          </a:solidFill>
          <a:ln w="15875">
            <a:solidFill>
              <a:srgbClr val="E8C5CE"/>
            </a:solidFill>
          </a:ln>
        </p:spPr>
        <p:txBody>
          <a:bodyPr rtlCol="0" anchor="ctr"/>
          <a:lstStyle/>
          <a:p>
            <a:pPr algn="ctr"/>
          </a:p>
        </p:txBody>
      </p:sp>
      <p:sp>
        <p:nvSpPr>
          <p:cNvPr id="15" name="15 Le schéma ne montre pas d'inscription,…"/>
          <p:cNvSpPr txBox="1"/>
          <p:nvPr/>
        </p:nvSpPr>
        <p:spPr>
          <a:xfrm>
            <a:off x="640080" y="4005072"/>
            <a:ext cx="10927080" cy="548640"/>
          </a:xfrm>
          <a:prstGeom prst="rect">
            <a:avLst/>
          </a:prstGeom>
          <a:noFill/>
        </p:spPr>
        <p:txBody>
          <a:bodyPr wrap="square" lIns="0" rIns="0" tIns="0" bIns="0" anchor="t"/>
          <a:lstStyle/>
          <a:p>
            <a:pPr algn="l"/>
            <a:r>
              <a:rPr sz="1500" b="0" i="0">
                <a:solidFill>
                  <a:srgbClr val="1A1A1A"/>
                </a:solidFill>
                <a:latin typeface="Arial"/>
              </a:rPr>
              <a:t>Le schéma ne montre pas d'inscription, ni un chef qui crée un projet, ni un administrateur qui tient ses tâches.</a:t>
            </a:r>
          </a:p>
        </p:txBody>
      </p:sp>
      <p:sp>
        <p:nvSpPr>
          <p:cNvPr id="16" name="15 Forme 6"/>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17" name="15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18" name="15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19" name="15 C5  ·  Analyser les besoins et maquetter"/>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 et maquetter</a:t>
            </a:r>
          </a:p>
        </p:txBody>
      </p:sp>
      <p:sp>
        <p:nvSpPr>
          <p:cNvPr id="20" name="15 15"/>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16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16 02   BESOINS ET MÉTHODE"/>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 ET MÉTHODE</a:t>
            </a:r>
          </a:p>
        </p:txBody>
      </p:sp>
      <p:sp>
        <p:nvSpPr>
          <p:cNvPr id="4" name="16 Scrum, six sprints"/>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Scrum, six sprints</a:t>
            </a:r>
          </a:p>
        </p:txBody>
      </p:sp>
      <p:sp>
        <p:nvSpPr>
          <p:cNvPr id="5" name="16 Sprints de deux à quatre semaines, sauf…"/>
          <p:cNvSpPr txBox="1"/>
          <p:nvPr/>
        </p:nvSpPr>
        <p:spPr>
          <a:xfrm>
            <a:off x="457200" y="1024128"/>
            <a:ext cx="11155680" cy="320040"/>
          </a:xfrm>
          <a:prstGeom prst="rect">
            <a:avLst/>
          </a:prstGeom>
          <a:noFill/>
        </p:spPr>
        <p:txBody>
          <a:bodyPr wrap="square" lIns="0" rIns="0" tIns="0" bIns="0" anchor="t"/>
          <a:lstStyle/>
          <a:p>
            <a:pPr algn="l"/>
            <a:r>
              <a:rPr sz="1400" b="0" i="0">
                <a:solidFill>
                  <a:srgbClr val="5E4E53"/>
                </a:solidFill>
                <a:latin typeface="Arial"/>
              </a:rPr>
              <a:t>Sprints de deux à quatre semaines, sauf le sprint 5, plus long. L'été ne contient pas de sprint.</a:t>
            </a:r>
          </a:p>
        </p:txBody>
      </p:sp>
      <p:sp>
        <p:nvSpPr>
          <p:cNvPr id="6" name="16 Forme 2"/>
          <p:cNvSpPr/>
          <p:nvPr/>
        </p:nvSpPr>
        <p:spPr>
          <a:xfrm>
            <a:off x="411480" y="1463040"/>
            <a:ext cx="3730752" cy="217627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7" name="16 Forme 3"/>
          <p:cNvSpPr/>
          <p:nvPr/>
        </p:nvSpPr>
        <p:spPr>
          <a:xfrm>
            <a:off x="576072" y="1609344"/>
            <a:ext cx="566928" cy="329184"/>
          </a:xfrm>
          <a:prstGeom prst="roundRect">
            <a:avLst>
              <a:gd name="adj" fmla="val 30000"/>
            </a:avLst>
          </a:prstGeom>
          <a:solidFill>
            <a:srgbClr val="F6E8ED"/>
          </a:solidFill>
          <a:ln>
            <a:noFill/>
          </a:ln>
        </p:spPr>
        <p:txBody>
          <a:bodyPr rtlCol="0" anchor="ctr"/>
          <a:lstStyle/>
          <a:p>
            <a:pPr algn="ctr"/>
          </a:p>
        </p:txBody>
      </p:sp>
      <p:sp>
        <p:nvSpPr>
          <p:cNvPr id="8" name="16 S1"/>
          <p:cNvSpPr txBox="1"/>
          <p:nvPr/>
        </p:nvSpPr>
        <p:spPr>
          <a:xfrm>
            <a:off x="576072" y="1627632"/>
            <a:ext cx="566928" cy="292608"/>
          </a:xfrm>
          <a:prstGeom prst="rect">
            <a:avLst/>
          </a:prstGeom>
          <a:noFill/>
        </p:spPr>
        <p:txBody>
          <a:bodyPr wrap="square" lIns="0" rIns="0" tIns="0" bIns="0" anchor="t"/>
          <a:lstStyle/>
          <a:p>
            <a:pPr algn="ctr"/>
            <a:r>
              <a:rPr sz="1200" b="1" i="0">
                <a:solidFill>
                  <a:srgbClr val="8B4D5C"/>
                </a:solidFill>
                <a:latin typeface="Arial"/>
              </a:rPr>
              <a:t>S1</a:t>
            </a:r>
          </a:p>
        </p:txBody>
      </p:sp>
      <p:sp>
        <p:nvSpPr>
          <p:cNvPr id="9" name="16 Accès"/>
          <p:cNvSpPr txBox="1"/>
          <p:nvPr/>
        </p:nvSpPr>
        <p:spPr>
          <a:xfrm>
            <a:off x="1252728" y="1609344"/>
            <a:ext cx="2697480" cy="329184"/>
          </a:xfrm>
          <a:prstGeom prst="rect">
            <a:avLst/>
          </a:prstGeom>
          <a:noFill/>
        </p:spPr>
        <p:txBody>
          <a:bodyPr wrap="square" lIns="0" rIns="0" tIns="0" bIns="0" anchor="t"/>
          <a:lstStyle/>
          <a:p>
            <a:pPr algn="l"/>
            <a:r>
              <a:rPr sz="1600" b="1" i="0">
                <a:solidFill>
                  <a:srgbClr val="1A1A1A"/>
                </a:solidFill>
                <a:latin typeface="Arial"/>
              </a:rPr>
              <a:t>Accès</a:t>
            </a:r>
          </a:p>
        </p:txBody>
      </p:sp>
      <p:sp>
        <p:nvSpPr>
          <p:cNvPr id="10" name="16 2 au 22 février"/>
          <p:cNvSpPr txBox="1"/>
          <p:nvPr/>
        </p:nvSpPr>
        <p:spPr>
          <a:xfrm>
            <a:off x="576072" y="1993392"/>
            <a:ext cx="3383280" cy="274320"/>
          </a:xfrm>
          <a:prstGeom prst="rect">
            <a:avLst/>
          </a:prstGeom>
          <a:noFill/>
        </p:spPr>
        <p:txBody>
          <a:bodyPr wrap="square" lIns="0" rIns="0" tIns="0" bIns="0" anchor="t"/>
          <a:lstStyle/>
          <a:p>
            <a:pPr algn="l"/>
            <a:r>
              <a:rPr sz="1200" b="0" i="0">
                <a:solidFill>
                  <a:srgbClr val="5E4E53"/>
                </a:solidFill>
                <a:latin typeface="Arial"/>
              </a:rPr>
              <a:t>2 au 22 février</a:t>
            </a:r>
          </a:p>
        </p:txBody>
      </p:sp>
      <p:sp>
        <p:nvSpPr>
          <p:cNvPr id="11" name="16 Connexion, profil, langue, thème. Pas d…"/>
          <p:cNvSpPr txBox="1"/>
          <p:nvPr/>
        </p:nvSpPr>
        <p:spPr>
          <a:xfrm>
            <a:off x="576072" y="2377440"/>
            <a:ext cx="3383280" cy="1051560"/>
          </a:xfrm>
          <a:prstGeom prst="rect">
            <a:avLst/>
          </a:prstGeom>
          <a:noFill/>
        </p:spPr>
        <p:txBody>
          <a:bodyPr wrap="square" lIns="0" rIns="0" tIns="0" bIns="0" anchor="t"/>
          <a:lstStyle/>
          <a:p>
            <a:pPr algn="l"/>
            <a:r>
              <a:rPr sz="1300" b="0" i="0">
                <a:solidFill>
                  <a:srgbClr val="1A1A1A"/>
                </a:solidFill>
                <a:latin typeface="Arial"/>
              </a:rPr>
              <a:t>Connexion, profil, langue, thème. Pas d'inscription publique.</a:t>
            </a:r>
          </a:p>
        </p:txBody>
      </p:sp>
      <p:sp>
        <p:nvSpPr>
          <p:cNvPr id="12" name="16 Forme 4"/>
          <p:cNvSpPr/>
          <p:nvPr/>
        </p:nvSpPr>
        <p:spPr>
          <a:xfrm>
            <a:off x="4297680" y="1463040"/>
            <a:ext cx="3730752" cy="217627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3" name="16 Forme 5"/>
          <p:cNvSpPr/>
          <p:nvPr/>
        </p:nvSpPr>
        <p:spPr>
          <a:xfrm>
            <a:off x="4462272" y="1609344"/>
            <a:ext cx="566928" cy="329184"/>
          </a:xfrm>
          <a:prstGeom prst="roundRect">
            <a:avLst>
              <a:gd name="adj" fmla="val 30000"/>
            </a:avLst>
          </a:prstGeom>
          <a:solidFill>
            <a:srgbClr val="F6E8ED"/>
          </a:solidFill>
          <a:ln>
            <a:noFill/>
          </a:ln>
        </p:spPr>
        <p:txBody>
          <a:bodyPr rtlCol="0" anchor="ctr"/>
          <a:lstStyle/>
          <a:p>
            <a:pPr algn="ctr"/>
          </a:p>
        </p:txBody>
      </p:sp>
      <p:sp>
        <p:nvSpPr>
          <p:cNvPr id="14" name="16 S2"/>
          <p:cNvSpPr txBox="1"/>
          <p:nvPr/>
        </p:nvSpPr>
        <p:spPr>
          <a:xfrm>
            <a:off x="4462272" y="1627632"/>
            <a:ext cx="566928" cy="292608"/>
          </a:xfrm>
          <a:prstGeom prst="rect">
            <a:avLst/>
          </a:prstGeom>
          <a:noFill/>
        </p:spPr>
        <p:txBody>
          <a:bodyPr wrap="square" lIns="0" rIns="0" tIns="0" bIns="0" anchor="t"/>
          <a:lstStyle/>
          <a:p>
            <a:pPr algn="ctr"/>
            <a:r>
              <a:rPr sz="1200" b="1" i="0">
                <a:solidFill>
                  <a:srgbClr val="8B4D5C"/>
                </a:solidFill>
                <a:latin typeface="Arial"/>
              </a:rPr>
              <a:t>S2</a:t>
            </a:r>
          </a:p>
        </p:txBody>
      </p:sp>
      <p:sp>
        <p:nvSpPr>
          <p:cNvPr id="15" name="16 Membre"/>
          <p:cNvSpPr txBox="1"/>
          <p:nvPr/>
        </p:nvSpPr>
        <p:spPr>
          <a:xfrm>
            <a:off x="5138928" y="1609344"/>
            <a:ext cx="2697480" cy="329184"/>
          </a:xfrm>
          <a:prstGeom prst="rect">
            <a:avLst/>
          </a:prstGeom>
          <a:noFill/>
        </p:spPr>
        <p:txBody>
          <a:bodyPr wrap="square" lIns="0" rIns="0" tIns="0" bIns="0" anchor="t"/>
          <a:lstStyle/>
          <a:p>
            <a:pPr algn="l"/>
            <a:r>
              <a:rPr sz="1600" b="1" i="0">
                <a:solidFill>
                  <a:srgbClr val="1A1A1A"/>
                </a:solidFill>
                <a:latin typeface="Arial"/>
              </a:rPr>
              <a:t>Membre</a:t>
            </a:r>
          </a:p>
        </p:txBody>
      </p:sp>
      <p:sp>
        <p:nvSpPr>
          <p:cNvPr id="16" name="16 23 février au 15 mars"/>
          <p:cNvSpPr txBox="1"/>
          <p:nvPr/>
        </p:nvSpPr>
        <p:spPr>
          <a:xfrm>
            <a:off x="4462272" y="1993392"/>
            <a:ext cx="3383280" cy="274320"/>
          </a:xfrm>
          <a:prstGeom prst="rect">
            <a:avLst/>
          </a:prstGeom>
          <a:noFill/>
        </p:spPr>
        <p:txBody>
          <a:bodyPr wrap="square" lIns="0" rIns="0" tIns="0" bIns="0" anchor="t"/>
          <a:lstStyle/>
          <a:p>
            <a:pPr algn="l"/>
            <a:r>
              <a:rPr sz="1200" b="0" i="0">
                <a:solidFill>
                  <a:srgbClr val="5E4E53"/>
                </a:solidFill>
                <a:latin typeface="Arial"/>
              </a:rPr>
              <a:t>23 février au 15 mars</a:t>
            </a:r>
          </a:p>
        </p:txBody>
      </p:sp>
      <p:sp>
        <p:nvSpPr>
          <p:cNvPr id="17" name="16 Tâches, avancement, historique. Seul l'…"/>
          <p:cNvSpPr txBox="1"/>
          <p:nvPr/>
        </p:nvSpPr>
        <p:spPr>
          <a:xfrm>
            <a:off x="4462272" y="2377440"/>
            <a:ext cx="3383280" cy="1051560"/>
          </a:xfrm>
          <a:prstGeom prst="rect">
            <a:avLst/>
          </a:prstGeom>
          <a:noFill/>
        </p:spPr>
        <p:txBody>
          <a:bodyPr wrap="square" lIns="0" rIns="0" tIns="0" bIns="0" anchor="t"/>
          <a:lstStyle/>
          <a:p>
            <a:pPr algn="l"/>
            <a:r>
              <a:rPr sz="1300" b="0" i="0">
                <a:solidFill>
                  <a:srgbClr val="1A1A1A"/>
                </a:solidFill>
                <a:latin typeface="Arial"/>
              </a:rPr>
              <a:t>Tâches, avancement, historique. Seul l'assigné met à jour.</a:t>
            </a:r>
          </a:p>
        </p:txBody>
      </p:sp>
      <p:sp>
        <p:nvSpPr>
          <p:cNvPr id="18" name="16 Forme 6"/>
          <p:cNvSpPr/>
          <p:nvPr/>
        </p:nvSpPr>
        <p:spPr>
          <a:xfrm>
            <a:off x="8183879" y="1463040"/>
            <a:ext cx="3730752" cy="217627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9" name="16 Forme 7"/>
          <p:cNvSpPr/>
          <p:nvPr/>
        </p:nvSpPr>
        <p:spPr>
          <a:xfrm>
            <a:off x="8348471" y="1609344"/>
            <a:ext cx="566928" cy="329184"/>
          </a:xfrm>
          <a:prstGeom prst="roundRect">
            <a:avLst>
              <a:gd name="adj" fmla="val 30000"/>
            </a:avLst>
          </a:prstGeom>
          <a:solidFill>
            <a:srgbClr val="F6E8ED"/>
          </a:solidFill>
          <a:ln>
            <a:noFill/>
          </a:ln>
        </p:spPr>
        <p:txBody>
          <a:bodyPr rtlCol="0" anchor="ctr"/>
          <a:lstStyle/>
          <a:p>
            <a:pPr algn="ctr"/>
          </a:p>
        </p:txBody>
      </p:sp>
      <p:sp>
        <p:nvSpPr>
          <p:cNvPr id="20" name="16 S3"/>
          <p:cNvSpPr txBox="1"/>
          <p:nvPr/>
        </p:nvSpPr>
        <p:spPr>
          <a:xfrm>
            <a:off x="8348471" y="1627632"/>
            <a:ext cx="566928" cy="292608"/>
          </a:xfrm>
          <a:prstGeom prst="rect">
            <a:avLst/>
          </a:prstGeom>
          <a:noFill/>
        </p:spPr>
        <p:txBody>
          <a:bodyPr wrap="square" lIns="0" rIns="0" tIns="0" bIns="0" anchor="t"/>
          <a:lstStyle/>
          <a:p>
            <a:pPr algn="ctr"/>
            <a:r>
              <a:rPr sz="1200" b="1" i="0">
                <a:solidFill>
                  <a:srgbClr val="8B4D5C"/>
                </a:solidFill>
                <a:latin typeface="Arial"/>
              </a:rPr>
              <a:t>S3</a:t>
            </a:r>
          </a:p>
        </p:txBody>
      </p:sp>
      <p:sp>
        <p:nvSpPr>
          <p:cNvPr id="21" name="16 Chef d'équipe"/>
          <p:cNvSpPr txBox="1"/>
          <p:nvPr/>
        </p:nvSpPr>
        <p:spPr>
          <a:xfrm>
            <a:off x="9025128" y="1609344"/>
            <a:ext cx="2697480" cy="329184"/>
          </a:xfrm>
          <a:prstGeom prst="rect">
            <a:avLst/>
          </a:prstGeom>
          <a:noFill/>
        </p:spPr>
        <p:txBody>
          <a:bodyPr wrap="square" lIns="0" rIns="0" tIns="0" bIns="0" anchor="t"/>
          <a:lstStyle/>
          <a:p>
            <a:pPr algn="l"/>
            <a:r>
              <a:rPr sz="1600" b="1" i="0">
                <a:solidFill>
                  <a:srgbClr val="1A1A1A"/>
                </a:solidFill>
                <a:latin typeface="Arial"/>
              </a:rPr>
              <a:t>Chef d'équipe</a:t>
            </a:r>
          </a:p>
        </p:txBody>
      </p:sp>
      <p:sp>
        <p:nvSpPr>
          <p:cNvPr id="22" name="16 16 mars au 5 avril"/>
          <p:cNvSpPr txBox="1"/>
          <p:nvPr/>
        </p:nvSpPr>
        <p:spPr>
          <a:xfrm>
            <a:off x="8348471" y="1993392"/>
            <a:ext cx="3383280" cy="274320"/>
          </a:xfrm>
          <a:prstGeom prst="rect">
            <a:avLst/>
          </a:prstGeom>
          <a:noFill/>
        </p:spPr>
        <p:txBody>
          <a:bodyPr wrap="square" lIns="0" rIns="0" tIns="0" bIns="0" anchor="t"/>
          <a:lstStyle/>
          <a:p>
            <a:pPr algn="l"/>
            <a:r>
              <a:rPr sz="1200" b="0" i="0">
                <a:solidFill>
                  <a:srgbClr val="5E4E53"/>
                </a:solidFill>
                <a:latin typeface="Arial"/>
              </a:rPr>
              <a:t>16 mars au 5 avril</a:t>
            </a:r>
          </a:p>
        </p:txBody>
      </p:sp>
      <p:sp>
        <p:nvSpPr>
          <p:cNvPr id="23" name="16 Tâches d'équipe, filtre, fiche membre.…"/>
          <p:cNvSpPr txBox="1"/>
          <p:nvPr/>
        </p:nvSpPr>
        <p:spPr>
          <a:xfrm>
            <a:off x="8348471" y="2377440"/>
            <a:ext cx="3383280" cy="1051560"/>
          </a:xfrm>
          <a:prstGeom prst="rect">
            <a:avLst/>
          </a:prstGeom>
          <a:noFill/>
        </p:spPr>
        <p:txBody>
          <a:bodyPr wrap="square" lIns="0" rIns="0" tIns="0" bIns="0" anchor="t"/>
          <a:lstStyle/>
          <a:p>
            <a:pPr algn="l"/>
            <a:r>
              <a:rPr sz="1300" b="0" i="0">
                <a:solidFill>
                  <a:srgbClr val="1A1A1A"/>
                </a:solidFill>
                <a:latin typeface="Arial"/>
              </a:rPr>
              <a:t>Tâches d'équipe, filtre, fiche membre. Pas de création de projet.</a:t>
            </a:r>
          </a:p>
        </p:txBody>
      </p:sp>
      <p:sp>
        <p:nvSpPr>
          <p:cNvPr id="24" name="16 Forme 8"/>
          <p:cNvSpPr/>
          <p:nvPr/>
        </p:nvSpPr>
        <p:spPr>
          <a:xfrm>
            <a:off x="411480" y="3794760"/>
            <a:ext cx="3730752" cy="217627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25" name="16 Forme 9"/>
          <p:cNvSpPr/>
          <p:nvPr/>
        </p:nvSpPr>
        <p:spPr>
          <a:xfrm>
            <a:off x="576072" y="3941064"/>
            <a:ext cx="566928" cy="329184"/>
          </a:xfrm>
          <a:prstGeom prst="roundRect">
            <a:avLst>
              <a:gd name="adj" fmla="val 30000"/>
            </a:avLst>
          </a:prstGeom>
          <a:solidFill>
            <a:srgbClr val="F6E8ED"/>
          </a:solidFill>
          <a:ln>
            <a:noFill/>
          </a:ln>
        </p:spPr>
        <p:txBody>
          <a:bodyPr rtlCol="0" anchor="ctr"/>
          <a:lstStyle/>
          <a:p>
            <a:pPr algn="ctr"/>
          </a:p>
        </p:txBody>
      </p:sp>
      <p:sp>
        <p:nvSpPr>
          <p:cNvPr id="26" name="16 S4"/>
          <p:cNvSpPr txBox="1"/>
          <p:nvPr/>
        </p:nvSpPr>
        <p:spPr>
          <a:xfrm>
            <a:off x="576072" y="3959352"/>
            <a:ext cx="566928" cy="292608"/>
          </a:xfrm>
          <a:prstGeom prst="rect">
            <a:avLst/>
          </a:prstGeom>
          <a:noFill/>
        </p:spPr>
        <p:txBody>
          <a:bodyPr wrap="square" lIns="0" rIns="0" tIns="0" bIns="0" anchor="t"/>
          <a:lstStyle/>
          <a:p>
            <a:pPr algn="ctr"/>
            <a:r>
              <a:rPr sz="1200" b="1" i="0">
                <a:solidFill>
                  <a:srgbClr val="8B4D5C"/>
                </a:solidFill>
                <a:latin typeface="Arial"/>
              </a:rPr>
              <a:t>S4</a:t>
            </a:r>
          </a:p>
        </p:txBody>
      </p:sp>
      <p:sp>
        <p:nvSpPr>
          <p:cNvPr id="27" name="16 Administration"/>
          <p:cNvSpPr txBox="1"/>
          <p:nvPr/>
        </p:nvSpPr>
        <p:spPr>
          <a:xfrm>
            <a:off x="1252728" y="3941064"/>
            <a:ext cx="2697480" cy="329184"/>
          </a:xfrm>
          <a:prstGeom prst="rect">
            <a:avLst/>
          </a:prstGeom>
          <a:noFill/>
        </p:spPr>
        <p:txBody>
          <a:bodyPr wrap="square" lIns="0" rIns="0" tIns="0" bIns="0" anchor="t"/>
          <a:lstStyle/>
          <a:p>
            <a:pPr algn="l"/>
            <a:r>
              <a:rPr sz="1600" b="1" i="0">
                <a:solidFill>
                  <a:srgbClr val="1A1A1A"/>
                </a:solidFill>
                <a:latin typeface="Arial"/>
              </a:rPr>
              <a:t>Administration</a:t>
            </a:r>
          </a:p>
        </p:txBody>
      </p:sp>
      <p:sp>
        <p:nvSpPr>
          <p:cNvPr id="28" name="16 6 au 26 avril"/>
          <p:cNvSpPr txBox="1"/>
          <p:nvPr/>
        </p:nvSpPr>
        <p:spPr>
          <a:xfrm>
            <a:off x="576072" y="4325112"/>
            <a:ext cx="3383280" cy="274320"/>
          </a:xfrm>
          <a:prstGeom prst="rect">
            <a:avLst/>
          </a:prstGeom>
          <a:noFill/>
        </p:spPr>
        <p:txBody>
          <a:bodyPr wrap="square" lIns="0" rIns="0" tIns="0" bIns="0" anchor="t"/>
          <a:lstStyle/>
          <a:p>
            <a:pPr algn="l"/>
            <a:r>
              <a:rPr sz="1200" b="0" i="0">
                <a:solidFill>
                  <a:srgbClr val="5E4E53"/>
                </a:solidFill>
                <a:latin typeface="Arial"/>
              </a:rPr>
              <a:t>6 au 26 avril</a:t>
            </a:r>
          </a:p>
        </p:txBody>
      </p:sp>
      <p:sp>
        <p:nvSpPr>
          <p:cNvPr id="29" name="16 Comptes, équipes, projets, tableau global."/>
          <p:cNvSpPr txBox="1"/>
          <p:nvPr/>
        </p:nvSpPr>
        <p:spPr>
          <a:xfrm>
            <a:off x="576072" y="4709160"/>
            <a:ext cx="3383280" cy="1051560"/>
          </a:xfrm>
          <a:prstGeom prst="rect">
            <a:avLst/>
          </a:prstGeom>
          <a:noFill/>
        </p:spPr>
        <p:txBody>
          <a:bodyPr wrap="square" lIns="0" rIns="0" tIns="0" bIns="0" anchor="t"/>
          <a:lstStyle/>
          <a:p>
            <a:pPr algn="l"/>
            <a:r>
              <a:rPr sz="1300" b="0" i="0">
                <a:solidFill>
                  <a:srgbClr val="1A1A1A"/>
                </a:solidFill>
                <a:latin typeface="Arial"/>
              </a:rPr>
              <a:t>Comptes, équipes, projets, tableau global.</a:t>
            </a:r>
          </a:p>
        </p:txBody>
      </p:sp>
      <p:sp>
        <p:nvSpPr>
          <p:cNvPr id="30" name="16 Forme 10"/>
          <p:cNvSpPr/>
          <p:nvPr/>
        </p:nvSpPr>
        <p:spPr>
          <a:xfrm>
            <a:off x="4297680" y="3794760"/>
            <a:ext cx="3730752" cy="217627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31" name="16 Forme 11"/>
          <p:cNvSpPr/>
          <p:nvPr/>
        </p:nvSpPr>
        <p:spPr>
          <a:xfrm>
            <a:off x="4462272" y="3941064"/>
            <a:ext cx="566928" cy="329184"/>
          </a:xfrm>
          <a:prstGeom prst="roundRect">
            <a:avLst>
              <a:gd name="adj" fmla="val 30000"/>
            </a:avLst>
          </a:prstGeom>
          <a:solidFill>
            <a:srgbClr val="F6E8ED"/>
          </a:solidFill>
          <a:ln>
            <a:noFill/>
          </a:ln>
        </p:spPr>
        <p:txBody>
          <a:bodyPr rtlCol="0" anchor="ctr"/>
          <a:lstStyle/>
          <a:p>
            <a:pPr algn="ctr"/>
          </a:p>
        </p:txBody>
      </p:sp>
      <p:sp>
        <p:nvSpPr>
          <p:cNvPr id="32" name="16 S5"/>
          <p:cNvSpPr txBox="1"/>
          <p:nvPr/>
        </p:nvSpPr>
        <p:spPr>
          <a:xfrm>
            <a:off x="4462272" y="3959352"/>
            <a:ext cx="566928" cy="292608"/>
          </a:xfrm>
          <a:prstGeom prst="rect">
            <a:avLst/>
          </a:prstGeom>
          <a:noFill/>
        </p:spPr>
        <p:txBody>
          <a:bodyPr wrap="square" lIns="0" rIns="0" tIns="0" bIns="0" anchor="t"/>
          <a:lstStyle/>
          <a:p>
            <a:pPr algn="ctr"/>
            <a:r>
              <a:rPr sz="1200" b="1" i="0">
                <a:solidFill>
                  <a:srgbClr val="8B4D5C"/>
                </a:solidFill>
                <a:latin typeface="Arial"/>
              </a:rPr>
              <a:t>S5</a:t>
            </a:r>
          </a:p>
        </p:txBody>
      </p:sp>
      <p:sp>
        <p:nvSpPr>
          <p:cNvPr id="33" name="16 Tests et sécurité"/>
          <p:cNvSpPr txBox="1"/>
          <p:nvPr/>
        </p:nvSpPr>
        <p:spPr>
          <a:xfrm>
            <a:off x="5138928" y="3941064"/>
            <a:ext cx="2697480" cy="329184"/>
          </a:xfrm>
          <a:prstGeom prst="rect">
            <a:avLst/>
          </a:prstGeom>
          <a:noFill/>
        </p:spPr>
        <p:txBody>
          <a:bodyPr wrap="square" lIns="0" rIns="0" tIns="0" bIns="0" anchor="t"/>
          <a:lstStyle/>
          <a:p>
            <a:pPr algn="l"/>
            <a:r>
              <a:rPr sz="1600" b="1" i="0">
                <a:solidFill>
                  <a:srgbClr val="1A1A1A"/>
                </a:solidFill>
                <a:latin typeface="Arial"/>
              </a:rPr>
              <a:t>Tests et sécurité</a:t>
            </a:r>
          </a:p>
        </p:txBody>
      </p:sp>
      <p:sp>
        <p:nvSpPr>
          <p:cNvPr id="34" name="16 27 avril au 25 juillet"/>
          <p:cNvSpPr txBox="1"/>
          <p:nvPr/>
        </p:nvSpPr>
        <p:spPr>
          <a:xfrm>
            <a:off x="4462272" y="4325112"/>
            <a:ext cx="3383280" cy="274320"/>
          </a:xfrm>
          <a:prstGeom prst="rect">
            <a:avLst/>
          </a:prstGeom>
          <a:noFill/>
        </p:spPr>
        <p:txBody>
          <a:bodyPr wrap="square" lIns="0" rIns="0" tIns="0" bIns="0" anchor="t"/>
          <a:lstStyle/>
          <a:p>
            <a:pPr algn="l"/>
            <a:r>
              <a:rPr sz="1200" b="0" i="0">
                <a:solidFill>
                  <a:srgbClr val="5E4E53"/>
                </a:solidFill>
                <a:latin typeface="Arial"/>
              </a:rPr>
              <a:t>27 avril au 25 juillet</a:t>
            </a:r>
          </a:p>
        </p:txBody>
      </p:sp>
      <p:sp>
        <p:nvSpPr>
          <p:cNvPr id="35" name="16 Tests automatisés, mesures de sécurité,…"/>
          <p:cNvSpPr txBox="1"/>
          <p:nvPr/>
        </p:nvSpPr>
        <p:spPr>
          <a:xfrm>
            <a:off x="4462272" y="4709160"/>
            <a:ext cx="3383280" cy="1051560"/>
          </a:xfrm>
          <a:prstGeom prst="rect">
            <a:avLst/>
          </a:prstGeom>
          <a:noFill/>
        </p:spPr>
        <p:txBody>
          <a:bodyPr wrap="square" lIns="0" rIns="0" tIns="0" bIns="0" anchor="t"/>
          <a:lstStyle/>
          <a:p>
            <a:pPr algn="l"/>
            <a:r>
              <a:rPr sz="1300" b="0" i="0">
                <a:solidFill>
                  <a:srgbClr val="1A1A1A"/>
                </a:solidFill>
                <a:latin typeface="Arial"/>
              </a:rPr>
              <a:t>Tests automatisés, mesures de sécurité, intégration continue.</a:t>
            </a:r>
          </a:p>
        </p:txBody>
      </p:sp>
      <p:sp>
        <p:nvSpPr>
          <p:cNvPr id="36" name="16 Forme 12"/>
          <p:cNvSpPr/>
          <p:nvPr/>
        </p:nvSpPr>
        <p:spPr>
          <a:xfrm>
            <a:off x="8183879" y="3794760"/>
            <a:ext cx="3730752" cy="2176272"/>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37" name="16 Forme 13"/>
          <p:cNvSpPr/>
          <p:nvPr/>
        </p:nvSpPr>
        <p:spPr>
          <a:xfrm>
            <a:off x="8348471" y="3941064"/>
            <a:ext cx="566928" cy="329184"/>
          </a:xfrm>
          <a:prstGeom prst="roundRect">
            <a:avLst>
              <a:gd name="adj" fmla="val 30000"/>
            </a:avLst>
          </a:prstGeom>
          <a:solidFill>
            <a:srgbClr val="F6E8ED"/>
          </a:solidFill>
          <a:ln>
            <a:noFill/>
          </a:ln>
        </p:spPr>
        <p:txBody>
          <a:bodyPr rtlCol="0" anchor="ctr"/>
          <a:lstStyle/>
          <a:p>
            <a:pPr algn="ctr"/>
          </a:p>
        </p:txBody>
      </p:sp>
      <p:sp>
        <p:nvSpPr>
          <p:cNvPr id="38" name="16 S6"/>
          <p:cNvSpPr txBox="1"/>
          <p:nvPr/>
        </p:nvSpPr>
        <p:spPr>
          <a:xfrm>
            <a:off x="8348471" y="3959352"/>
            <a:ext cx="566928" cy="292608"/>
          </a:xfrm>
          <a:prstGeom prst="rect">
            <a:avLst/>
          </a:prstGeom>
          <a:noFill/>
        </p:spPr>
        <p:txBody>
          <a:bodyPr wrap="square" lIns="0" rIns="0" tIns="0" bIns="0" anchor="t"/>
          <a:lstStyle/>
          <a:p>
            <a:pPr algn="ctr"/>
            <a:r>
              <a:rPr sz="1200" b="1" i="0">
                <a:solidFill>
                  <a:srgbClr val="8B4D5C"/>
                </a:solidFill>
                <a:latin typeface="Arial"/>
              </a:rPr>
              <a:t>S6</a:t>
            </a:r>
          </a:p>
        </p:txBody>
      </p:sp>
      <p:sp>
        <p:nvSpPr>
          <p:cNvPr id="39" name="16 Mobile et mise en ligne"/>
          <p:cNvSpPr txBox="1"/>
          <p:nvPr/>
        </p:nvSpPr>
        <p:spPr>
          <a:xfrm>
            <a:off x="9025128" y="3941064"/>
            <a:ext cx="2697480" cy="329184"/>
          </a:xfrm>
          <a:prstGeom prst="rect">
            <a:avLst/>
          </a:prstGeom>
          <a:noFill/>
        </p:spPr>
        <p:txBody>
          <a:bodyPr wrap="square" lIns="0" rIns="0" tIns="0" bIns="0" anchor="t"/>
          <a:lstStyle/>
          <a:p>
            <a:pPr algn="l"/>
            <a:r>
              <a:rPr sz="1600" b="1" i="0">
                <a:solidFill>
                  <a:srgbClr val="1A1A1A"/>
                </a:solidFill>
                <a:latin typeface="Arial"/>
              </a:rPr>
              <a:t>Mobile et mise en ligne</a:t>
            </a:r>
          </a:p>
        </p:txBody>
      </p:sp>
      <p:sp>
        <p:nvSpPr>
          <p:cNvPr id="40" name="16 1er sept. au 10 octobre"/>
          <p:cNvSpPr txBox="1"/>
          <p:nvPr/>
        </p:nvSpPr>
        <p:spPr>
          <a:xfrm>
            <a:off x="8348471" y="4325112"/>
            <a:ext cx="3383280" cy="274320"/>
          </a:xfrm>
          <a:prstGeom prst="rect">
            <a:avLst/>
          </a:prstGeom>
          <a:noFill/>
        </p:spPr>
        <p:txBody>
          <a:bodyPr wrap="square" lIns="0" rIns="0" tIns="0" bIns="0" anchor="t"/>
          <a:lstStyle/>
          <a:p>
            <a:pPr algn="l"/>
            <a:r>
              <a:rPr sz="1200" b="0" i="0">
                <a:solidFill>
                  <a:srgbClr val="5E4E53"/>
                </a:solidFill>
                <a:latin typeface="Arial"/>
              </a:rPr>
              <a:t>1er sept. au 10 octobre</a:t>
            </a:r>
          </a:p>
        </p:txBody>
      </p:sp>
      <p:sp>
        <p:nvSpPr>
          <p:cNvPr id="41" name="16 Flutter, mêmes parcours, iPhone sur le…"/>
          <p:cNvSpPr txBox="1"/>
          <p:nvPr/>
        </p:nvSpPr>
        <p:spPr>
          <a:xfrm>
            <a:off x="8348471" y="4709160"/>
            <a:ext cx="3383280" cy="1051560"/>
          </a:xfrm>
          <a:prstGeom prst="rect">
            <a:avLst/>
          </a:prstGeom>
          <a:noFill/>
        </p:spPr>
        <p:txBody>
          <a:bodyPr wrap="square" lIns="0" rIns="0" tIns="0" bIns="0" anchor="t"/>
          <a:lstStyle/>
          <a:p>
            <a:pPr algn="l"/>
            <a:r>
              <a:rPr sz="1300" b="0" i="0">
                <a:solidFill>
                  <a:srgbClr val="1A1A1A"/>
                </a:solidFill>
                <a:latin typeface="Arial"/>
              </a:rPr>
              <a:t>Flutter, mêmes parcours, iPhone sur le serveur HTTPS.</a:t>
            </a:r>
          </a:p>
        </p:txBody>
      </p:sp>
      <p:sp>
        <p:nvSpPr>
          <p:cNvPr id="42" name="16 Forme 14"/>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43" name="16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44" name="16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45" name="16 C4  ·  Contribuer à la gestion d'un projet"/>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C4  ·  Contribuer à la gestion d'un projet</a:t>
            </a:r>
          </a:p>
        </p:txBody>
      </p:sp>
      <p:sp>
        <p:nvSpPr>
          <p:cNvPr id="46" name="16 16"/>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17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17 03   CONCEPTION"/>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03   CONCEPTION</a:t>
            </a:r>
          </a:p>
        </p:txBody>
      </p:sp>
      <p:sp>
        <p:nvSpPr>
          <p:cNvPr id="4" name="17 Enregistrer l'avancement"/>
          <p:cNvSpPr txBox="1"/>
          <p:nvPr/>
        </p:nvSpPr>
        <p:spPr>
          <a:xfrm>
            <a:off x="457200" y="475488"/>
            <a:ext cx="11247120" cy="457200"/>
          </a:xfrm>
          <a:prstGeom prst="rect">
            <a:avLst/>
          </a:prstGeom>
          <a:noFill/>
        </p:spPr>
        <p:txBody>
          <a:bodyPr wrap="square" lIns="0" rIns="0" tIns="0" bIns="0" anchor="t"/>
          <a:lstStyle/>
          <a:p>
            <a:pPr algn="l"/>
            <a:r>
              <a:rPr sz="2600" b="1" i="0">
                <a:solidFill>
                  <a:srgbClr val="1A1A1A"/>
                </a:solidFill>
                <a:latin typeface="Arial"/>
              </a:rPr>
              <a:t>Enregistrer l'avancement</a:t>
            </a:r>
          </a:p>
        </p:txBody>
      </p:sp>
      <p:sp>
        <p:nvSpPr>
          <p:cNvPr id="5" name="17 Forme 2"/>
          <p:cNvSpPr/>
          <p:nvPr/>
        </p:nvSpPr>
        <p:spPr>
          <a:xfrm>
            <a:off x="365760" y="1097280"/>
            <a:ext cx="5623560" cy="8686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17 Forme 3"/>
          <p:cNvSpPr/>
          <p:nvPr/>
        </p:nvSpPr>
        <p:spPr>
          <a:xfrm>
            <a:off x="530352" y="1316736"/>
            <a:ext cx="420624" cy="420624"/>
          </a:xfrm>
          <a:prstGeom prst="ellipse">
            <a:avLst/>
          </a:prstGeom>
          <a:solidFill>
            <a:srgbClr val="8B4D5C"/>
          </a:solidFill>
          <a:ln>
            <a:noFill/>
          </a:ln>
        </p:spPr>
        <p:txBody>
          <a:bodyPr rtlCol="0" anchor="ctr"/>
          <a:lstStyle/>
          <a:p>
            <a:pPr algn="ctr"/>
          </a:p>
        </p:txBody>
      </p:sp>
      <p:sp>
        <p:nvSpPr>
          <p:cNvPr id="7" name="17 1"/>
          <p:cNvSpPr txBox="1"/>
          <p:nvPr/>
        </p:nvSpPr>
        <p:spPr>
          <a:xfrm>
            <a:off x="530352" y="1380744"/>
            <a:ext cx="420624" cy="310896"/>
          </a:xfrm>
          <a:prstGeom prst="rect">
            <a:avLst/>
          </a:prstGeom>
          <a:noFill/>
        </p:spPr>
        <p:txBody>
          <a:bodyPr wrap="square" lIns="0" rIns="0" tIns="0" bIns="0" anchor="t"/>
          <a:lstStyle/>
          <a:p>
            <a:pPr algn="ctr"/>
            <a:r>
              <a:rPr sz="1400" b="1" i="0">
                <a:solidFill>
                  <a:srgbClr val="FFFFFF"/>
                </a:solidFill>
                <a:latin typeface="Arial"/>
              </a:rPr>
              <a:t>1</a:t>
            </a:r>
          </a:p>
        </p:txBody>
      </p:sp>
      <p:sp>
        <p:nvSpPr>
          <p:cNvPr id="8" name="17 Le membre envoie le statut, le réalisé,…"/>
          <p:cNvSpPr txBox="1"/>
          <p:nvPr/>
        </p:nvSpPr>
        <p:spPr>
          <a:xfrm>
            <a:off x="1097280" y="1243584"/>
            <a:ext cx="4709160" cy="603504"/>
          </a:xfrm>
          <a:prstGeom prst="rect">
            <a:avLst/>
          </a:prstGeom>
          <a:noFill/>
        </p:spPr>
        <p:txBody>
          <a:bodyPr wrap="square" lIns="0" rIns="0" tIns="0" bIns="0" anchor="t"/>
          <a:lstStyle/>
          <a:p>
            <a:pPr algn="l"/>
            <a:r>
              <a:rPr sz="1300" b="0" i="0">
                <a:solidFill>
                  <a:srgbClr val="1A1A1A"/>
                </a:solidFill>
                <a:latin typeface="Arial"/>
              </a:rPr>
              <a:t>Le membre envoie le statut, le réalisé, l'à venir et, si besoin, la note.</a:t>
            </a:r>
          </a:p>
        </p:txBody>
      </p:sp>
      <p:sp>
        <p:nvSpPr>
          <p:cNvPr id="9" name="17 Forme 4"/>
          <p:cNvSpPr/>
          <p:nvPr/>
        </p:nvSpPr>
        <p:spPr>
          <a:xfrm>
            <a:off x="365760" y="2057400"/>
            <a:ext cx="5623560" cy="8686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0" name="17 Forme 5"/>
          <p:cNvSpPr/>
          <p:nvPr/>
        </p:nvSpPr>
        <p:spPr>
          <a:xfrm>
            <a:off x="530352" y="2276856"/>
            <a:ext cx="420624" cy="420624"/>
          </a:xfrm>
          <a:prstGeom prst="ellipse">
            <a:avLst/>
          </a:prstGeom>
          <a:solidFill>
            <a:srgbClr val="8B4D5C"/>
          </a:solidFill>
          <a:ln>
            <a:noFill/>
          </a:ln>
        </p:spPr>
        <p:txBody>
          <a:bodyPr rtlCol="0" anchor="ctr"/>
          <a:lstStyle/>
          <a:p>
            <a:pPr algn="ctr"/>
          </a:p>
        </p:txBody>
      </p:sp>
      <p:sp>
        <p:nvSpPr>
          <p:cNvPr id="11" name="17 2"/>
          <p:cNvSpPr txBox="1"/>
          <p:nvPr/>
        </p:nvSpPr>
        <p:spPr>
          <a:xfrm>
            <a:off x="530352" y="2340864"/>
            <a:ext cx="420624" cy="310896"/>
          </a:xfrm>
          <a:prstGeom prst="rect">
            <a:avLst/>
          </a:prstGeom>
          <a:noFill/>
        </p:spPr>
        <p:txBody>
          <a:bodyPr wrap="square" lIns="0" rIns="0" tIns="0" bIns="0" anchor="t"/>
          <a:lstStyle/>
          <a:p>
            <a:pPr algn="ctr"/>
            <a:r>
              <a:rPr sz="1400" b="1" i="0">
                <a:solidFill>
                  <a:srgbClr val="FFFFFF"/>
                </a:solidFill>
                <a:latin typeface="Arial"/>
              </a:rPr>
              <a:t>2</a:t>
            </a:r>
          </a:p>
        </p:txBody>
      </p:sp>
      <p:sp>
        <p:nvSpPr>
          <p:cNvPr id="12" name="17 Le serveur vérifie que la tâche lui est…"/>
          <p:cNvSpPr txBox="1"/>
          <p:nvPr/>
        </p:nvSpPr>
        <p:spPr>
          <a:xfrm>
            <a:off x="1097280" y="2203704"/>
            <a:ext cx="4709160" cy="603504"/>
          </a:xfrm>
          <a:prstGeom prst="rect">
            <a:avLst/>
          </a:prstGeom>
          <a:noFill/>
        </p:spPr>
        <p:txBody>
          <a:bodyPr wrap="square" lIns="0" rIns="0" tIns="0" bIns="0" anchor="t"/>
          <a:lstStyle/>
          <a:p>
            <a:pPr algn="l"/>
            <a:r>
              <a:rPr sz="1300" b="0" i="0">
                <a:solidFill>
                  <a:srgbClr val="1A1A1A"/>
                </a:solidFill>
                <a:latin typeface="Arial"/>
              </a:rPr>
              <a:t>Le serveur vérifie que la tâche lui est assignée, et que la saisie est valide.</a:t>
            </a:r>
          </a:p>
        </p:txBody>
      </p:sp>
      <p:sp>
        <p:nvSpPr>
          <p:cNvPr id="13" name="17 Forme 6"/>
          <p:cNvSpPr/>
          <p:nvPr/>
        </p:nvSpPr>
        <p:spPr>
          <a:xfrm>
            <a:off x="365760" y="3017520"/>
            <a:ext cx="5623560" cy="8686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4" name="17 Forme 7"/>
          <p:cNvSpPr/>
          <p:nvPr/>
        </p:nvSpPr>
        <p:spPr>
          <a:xfrm>
            <a:off x="530352" y="3236976"/>
            <a:ext cx="420624" cy="420624"/>
          </a:xfrm>
          <a:prstGeom prst="ellipse">
            <a:avLst/>
          </a:prstGeom>
          <a:solidFill>
            <a:srgbClr val="8B4D5C"/>
          </a:solidFill>
          <a:ln>
            <a:noFill/>
          </a:ln>
        </p:spPr>
        <p:txBody>
          <a:bodyPr rtlCol="0" anchor="ctr"/>
          <a:lstStyle/>
          <a:p>
            <a:pPr algn="ctr"/>
          </a:p>
        </p:txBody>
      </p:sp>
      <p:sp>
        <p:nvSpPr>
          <p:cNvPr id="15" name="17 3"/>
          <p:cNvSpPr txBox="1"/>
          <p:nvPr/>
        </p:nvSpPr>
        <p:spPr>
          <a:xfrm>
            <a:off x="530352" y="3300984"/>
            <a:ext cx="420624" cy="310896"/>
          </a:xfrm>
          <a:prstGeom prst="rect">
            <a:avLst/>
          </a:prstGeom>
          <a:noFill/>
        </p:spPr>
        <p:txBody>
          <a:bodyPr wrap="square" lIns="0" rIns="0" tIns="0" bIns="0" anchor="t"/>
          <a:lstStyle/>
          <a:p>
            <a:pPr algn="ctr"/>
            <a:r>
              <a:rPr sz="1400" b="1" i="0">
                <a:solidFill>
                  <a:srgbClr val="FFFFFF"/>
                </a:solidFill>
                <a:latin typeface="Arial"/>
              </a:rPr>
              <a:t>3</a:t>
            </a:r>
          </a:p>
        </p:txBody>
      </p:sp>
      <p:sp>
        <p:nvSpPr>
          <p:cNvPr id="16" name="17 Statut bloqué sans note : le serveur re…"/>
          <p:cNvSpPr txBox="1"/>
          <p:nvPr/>
        </p:nvSpPr>
        <p:spPr>
          <a:xfrm>
            <a:off x="1097280" y="3163824"/>
            <a:ext cx="4709160" cy="603504"/>
          </a:xfrm>
          <a:prstGeom prst="rect">
            <a:avLst/>
          </a:prstGeom>
          <a:noFill/>
        </p:spPr>
        <p:txBody>
          <a:bodyPr wrap="square" lIns="0" rIns="0" tIns="0" bIns="0" anchor="t"/>
          <a:lstStyle/>
          <a:p>
            <a:pPr algn="l"/>
            <a:r>
              <a:rPr sz="1300" b="0" i="0">
                <a:solidFill>
                  <a:srgbClr val="1A1A1A"/>
                </a:solidFill>
                <a:latin typeface="Arial"/>
              </a:rPr>
              <a:t>Statut bloqué sans note : le serveur refuse.</a:t>
            </a:r>
          </a:p>
        </p:txBody>
      </p:sp>
      <p:sp>
        <p:nvSpPr>
          <p:cNvPr id="17" name="17 Forme 8"/>
          <p:cNvSpPr/>
          <p:nvPr/>
        </p:nvSpPr>
        <p:spPr>
          <a:xfrm>
            <a:off x="365760" y="3977640"/>
            <a:ext cx="5623560" cy="8686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8" name="17 Forme 9"/>
          <p:cNvSpPr/>
          <p:nvPr/>
        </p:nvSpPr>
        <p:spPr>
          <a:xfrm>
            <a:off x="530352" y="4197096"/>
            <a:ext cx="420624" cy="420624"/>
          </a:xfrm>
          <a:prstGeom prst="ellipse">
            <a:avLst/>
          </a:prstGeom>
          <a:solidFill>
            <a:srgbClr val="8B4D5C"/>
          </a:solidFill>
          <a:ln>
            <a:noFill/>
          </a:ln>
        </p:spPr>
        <p:txBody>
          <a:bodyPr rtlCol="0" anchor="ctr"/>
          <a:lstStyle/>
          <a:p>
            <a:pPr algn="ctr"/>
          </a:p>
        </p:txBody>
      </p:sp>
      <p:sp>
        <p:nvSpPr>
          <p:cNvPr id="19" name="17 4"/>
          <p:cNvSpPr txBox="1"/>
          <p:nvPr/>
        </p:nvSpPr>
        <p:spPr>
          <a:xfrm>
            <a:off x="530352" y="4261104"/>
            <a:ext cx="420624" cy="310896"/>
          </a:xfrm>
          <a:prstGeom prst="rect">
            <a:avLst/>
          </a:prstGeom>
          <a:noFill/>
        </p:spPr>
        <p:txBody>
          <a:bodyPr wrap="square" lIns="0" rIns="0" tIns="0" bIns="0" anchor="t"/>
          <a:lstStyle/>
          <a:p>
            <a:pPr algn="ctr"/>
            <a:r>
              <a:rPr sz="1400" b="1" i="0">
                <a:solidFill>
                  <a:srgbClr val="FFFFFF"/>
                </a:solidFill>
                <a:latin typeface="Arial"/>
              </a:rPr>
              <a:t>4</a:t>
            </a:r>
          </a:p>
        </p:txBody>
      </p:sp>
      <p:sp>
        <p:nvSpPr>
          <p:cNvPr id="20" name="17 Sinon, la tâche est mise à jour et une…"/>
          <p:cNvSpPr txBox="1"/>
          <p:nvPr/>
        </p:nvSpPr>
        <p:spPr>
          <a:xfrm>
            <a:off x="1097280" y="4123944"/>
            <a:ext cx="4709160" cy="603504"/>
          </a:xfrm>
          <a:prstGeom prst="rect">
            <a:avLst/>
          </a:prstGeom>
          <a:noFill/>
        </p:spPr>
        <p:txBody>
          <a:bodyPr wrap="square" lIns="0" rIns="0" tIns="0" bIns="0" anchor="t"/>
          <a:lstStyle/>
          <a:p>
            <a:pPr algn="l"/>
            <a:r>
              <a:rPr sz="1300" b="0" i="0">
                <a:solidFill>
                  <a:srgbClr val="1A1A1A"/>
                </a:solidFill>
                <a:latin typeface="Arial"/>
              </a:rPr>
              <a:t>Sinon, la tâche est mise à jour et une ligne d'historique est ajoutée.</a:t>
            </a:r>
          </a:p>
        </p:txBody>
      </p:sp>
      <p:sp>
        <p:nvSpPr>
          <p:cNvPr id="21" name="17 Forme 10"/>
          <p:cNvSpPr/>
          <p:nvPr/>
        </p:nvSpPr>
        <p:spPr>
          <a:xfrm>
            <a:off x="365760" y="4937760"/>
            <a:ext cx="5623560" cy="8686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22" name="17 Forme 11"/>
          <p:cNvSpPr/>
          <p:nvPr/>
        </p:nvSpPr>
        <p:spPr>
          <a:xfrm>
            <a:off x="530352" y="5157216"/>
            <a:ext cx="420624" cy="420624"/>
          </a:xfrm>
          <a:prstGeom prst="ellipse">
            <a:avLst/>
          </a:prstGeom>
          <a:solidFill>
            <a:srgbClr val="8B4D5C"/>
          </a:solidFill>
          <a:ln>
            <a:noFill/>
          </a:ln>
        </p:spPr>
        <p:txBody>
          <a:bodyPr rtlCol="0" anchor="ctr"/>
          <a:lstStyle/>
          <a:p>
            <a:pPr algn="ctr"/>
          </a:p>
        </p:txBody>
      </p:sp>
      <p:sp>
        <p:nvSpPr>
          <p:cNvPr id="23" name="17 5"/>
          <p:cNvSpPr txBox="1"/>
          <p:nvPr/>
        </p:nvSpPr>
        <p:spPr>
          <a:xfrm>
            <a:off x="530352" y="5221224"/>
            <a:ext cx="420624" cy="310896"/>
          </a:xfrm>
          <a:prstGeom prst="rect">
            <a:avLst/>
          </a:prstGeom>
          <a:noFill/>
        </p:spPr>
        <p:txBody>
          <a:bodyPr wrap="square" lIns="0" rIns="0" tIns="0" bIns="0" anchor="t"/>
          <a:lstStyle/>
          <a:p>
            <a:pPr algn="ctr"/>
            <a:r>
              <a:rPr sz="1400" b="1" i="0">
                <a:solidFill>
                  <a:srgbClr val="FFFFFF"/>
                </a:solidFill>
                <a:latin typeface="Arial"/>
              </a:rPr>
              <a:t>5</a:t>
            </a:r>
          </a:p>
        </p:txBody>
      </p:sp>
      <p:sp>
        <p:nvSpPr>
          <p:cNvPr id="24" name="17 Statut terminé : la date de clôture est…"/>
          <p:cNvSpPr txBox="1"/>
          <p:nvPr/>
        </p:nvSpPr>
        <p:spPr>
          <a:xfrm>
            <a:off x="1097280" y="5084064"/>
            <a:ext cx="4709160" cy="603504"/>
          </a:xfrm>
          <a:prstGeom prst="rect">
            <a:avLst/>
          </a:prstGeom>
          <a:noFill/>
        </p:spPr>
        <p:txBody>
          <a:bodyPr wrap="square" lIns="0" rIns="0" tIns="0" bIns="0" anchor="t"/>
          <a:lstStyle/>
          <a:p>
            <a:pPr algn="l"/>
            <a:r>
              <a:rPr sz="1300" b="0" i="0">
                <a:solidFill>
                  <a:srgbClr val="1A1A1A"/>
                </a:solidFill>
                <a:latin typeface="Arial"/>
              </a:rPr>
              <a:t>Statut terminé : la date de clôture est posée.</a:t>
            </a:r>
          </a:p>
        </p:txBody>
      </p:sp>
      <p:sp>
        <p:nvSpPr>
          <p:cNvPr id="25" name="17 Forme 12"/>
          <p:cNvSpPr/>
          <p:nvPr/>
        </p:nvSpPr>
        <p:spPr>
          <a:xfrm>
            <a:off x="6172200" y="1097280"/>
            <a:ext cx="5577840" cy="5029200"/>
          </a:xfrm>
          <a:prstGeom prst="roundRect">
            <a:avLst>
              <a:gd name="adj" fmla="val 10000"/>
            </a:avLst>
          </a:prstGeom>
          <a:solidFill>
            <a:srgbClr val="FFFFFF"/>
          </a:solidFill>
          <a:ln w="15875">
            <a:solidFill>
              <a:srgbClr val="E8C5CE"/>
            </a:solidFill>
          </a:ln>
        </p:spPr>
        <p:txBody>
          <a:bodyPr rtlCol="0" anchor="ctr"/>
          <a:lstStyle/>
          <a:p>
            <a:pPr algn="ctr"/>
          </a:p>
        </p:txBody>
      </p:sp>
      <p:pic>
        <p:nvPicPr>
          <p:cNvPr id="26" name="17 Image" descr="seq.png"/>
          <p:cNvPicPr>
            <a:picLocks noChangeAspect="1"/>
          </p:cNvPicPr>
          <p:nvPr/>
        </p:nvPicPr>
        <p:blipFill>
          <a:blip r:embed="rId2"/>
          <a:stretch>
            <a:fillRect/>
          </a:stretch>
        </p:blipFill>
        <p:spPr>
          <a:xfrm>
            <a:off x="6263640" y="1337201"/>
            <a:ext cx="5394960" cy="4540213"/>
          </a:xfrm>
          <a:prstGeom prst="rect">
            <a:avLst/>
          </a:prstGeom>
        </p:spPr>
      </p:pic>
      <p:sp>
        <p:nvSpPr>
          <p:cNvPr id="27" name="17 Forme 13"/>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8" name="17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9" name="17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30" name="17 C6  ·  Définir l'architecture"/>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C6  ·  Définir l'architecture</a:t>
            </a:r>
          </a:p>
        </p:txBody>
      </p:sp>
      <p:sp>
        <p:nvSpPr>
          <p:cNvPr id="31" name="17 17"/>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18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18 03   CONCEPTION"/>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03   CONCEPTION</a:t>
            </a:r>
          </a:p>
        </p:txBody>
      </p:sp>
      <p:sp>
        <p:nvSpPr>
          <p:cNvPr id="4" name="18 Les données"/>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Les données</a:t>
            </a:r>
          </a:p>
        </p:txBody>
      </p:sp>
      <p:sp>
        <p:nvSpPr>
          <p:cNvPr id="5" name="18 Une tâche appartient à un projet et à u…"/>
          <p:cNvSpPr txBox="1"/>
          <p:nvPr/>
        </p:nvSpPr>
        <p:spPr>
          <a:xfrm>
            <a:off x="457200" y="1024128"/>
            <a:ext cx="11155680" cy="320040"/>
          </a:xfrm>
          <a:prstGeom prst="rect">
            <a:avLst/>
          </a:prstGeom>
          <a:noFill/>
        </p:spPr>
        <p:txBody>
          <a:bodyPr wrap="square" lIns="0" rIns="0" tIns="0" bIns="0" anchor="t"/>
          <a:lstStyle/>
          <a:p>
            <a:pPr algn="l"/>
            <a:r>
              <a:rPr sz="1500" b="0" i="0">
                <a:solidFill>
                  <a:srgbClr val="5E4E53"/>
                </a:solidFill>
                <a:latin typeface="Arial"/>
              </a:rPr>
              <a:t>Une tâche appartient à un projet et à un assigné. Un point d'avancement est une ligne d'historique.</a:t>
            </a:r>
          </a:p>
        </p:txBody>
      </p:sp>
      <p:sp>
        <p:nvSpPr>
          <p:cNvPr id="6" name="18 Forme 2"/>
          <p:cNvSpPr/>
          <p:nvPr/>
        </p:nvSpPr>
        <p:spPr>
          <a:xfrm>
            <a:off x="411480" y="1508760"/>
            <a:ext cx="3566160" cy="15544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7" name="18 Utilisateur"/>
          <p:cNvSpPr txBox="1"/>
          <p:nvPr/>
        </p:nvSpPr>
        <p:spPr>
          <a:xfrm>
            <a:off x="594360" y="1636776"/>
            <a:ext cx="3200400" cy="329184"/>
          </a:xfrm>
          <a:prstGeom prst="rect">
            <a:avLst/>
          </a:prstGeom>
          <a:noFill/>
        </p:spPr>
        <p:txBody>
          <a:bodyPr wrap="square" lIns="0" rIns="0" tIns="0" bIns="0" anchor="t"/>
          <a:lstStyle/>
          <a:p>
            <a:pPr algn="l"/>
            <a:r>
              <a:rPr sz="1600" b="1" i="0">
                <a:solidFill>
                  <a:srgbClr val="8B4D5C"/>
                </a:solidFill>
                <a:latin typeface="Arial"/>
              </a:rPr>
              <a:t>Utilisateur</a:t>
            </a:r>
          </a:p>
        </p:txBody>
      </p:sp>
      <p:sp>
        <p:nvSpPr>
          <p:cNvPr id="8" name="18 Rôle : administrateur, chef d'équipe ou…"/>
          <p:cNvSpPr txBox="1"/>
          <p:nvPr/>
        </p:nvSpPr>
        <p:spPr>
          <a:xfrm>
            <a:off x="594360" y="2011680"/>
            <a:ext cx="3200400" cy="914400"/>
          </a:xfrm>
          <a:prstGeom prst="rect">
            <a:avLst/>
          </a:prstGeom>
          <a:noFill/>
        </p:spPr>
        <p:txBody>
          <a:bodyPr wrap="square" lIns="0" rIns="0" tIns="0" bIns="0" anchor="t"/>
          <a:lstStyle/>
          <a:p>
            <a:pPr algn="l"/>
            <a:r>
              <a:rPr sz="1300" b="0" i="0">
                <a:solidFill>
                  <a:srgbClr val="5E4E53"/>
                </a:solidFill>
                <a:latin typeface="Arial"/>
              </a:rPr>
              <a:t>Rôle : administrateur, chef d'équipe ou membre. Mot de passe haché.</a:t>
            </a:r>
          </a:p>
        </p:txBody>
      </p:sp>
      <p:sp>
        <p:nvSpPr>
          <p:cNvPr id="9" name="18 Forme 3"/>
          <p:cNvSpPr/>
          <p:nvPr/>
        </p:nvSpPr>
        <p:spPr>
          <a:xfrm>
            <a:off x="4297680" y="1508760"/>
            <a:ext cx="3566160" cy="15544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0" name="18 Équipe"/>
          <p:cNvSpPr txBox="1"/>
          <p:nvPr/>
        </p:nvSpPr>
        <p:spPr>
          <a:xfrm>
            <a:off x="4480560" y="1636776"/>
            <a:ext cx="3200400" cy="329184"/>
          </a:xfrm>
          <a:prstGeom prst="rect">
            <a:avLst/>
          </a:prstGeom>
          <a:noFill/>
        </p:spPr>
        <p:txBody>
          <a:bodyPr wrap="square" lIns="0" rIns="0" tIns="0" bIns="0" anchor="t"/>
          <a:lstStyle/>
          <a:p>
            <a:pPr algn="l"/>
            <a:r>
              <a:rPr sz="1600" b="1" i="0">
                <a:solidFill>
                  <a:srgbClr val="8B4D5C"/>
                </a:solidFill>
                <a:latin typeface="Arial"/>
              </a:rPr>
              <a:t>Équipe</a:t>
            </a:r>
          </a:p>
        </p:txBody>
      </p:sp>
      <p:sp>
        <p:nvSpPr>
          <p:cNvPr id="11" name="18 Plusieurs membres, un seul chef. Nommer…"/>
          <p:cNvSpPr txBox="1"/>
          <p:nvPr/>
        </p:nvSpPr>
        <p:spPr>
          <a:xfrm>
            <a:off x="4480560" y="2011680"/>
            <a:ext cx="3200400" cy="914400"/>
          </a:xfrm>
          <a:prstGeom prst="rect">
            <a:avLst/>
          </a:prstGeom>
          <a:noFill/>
        </p:spPr>
        <p:txBody>
          <a:bodyPr wrap="square" lIns="0" rIns="0" tIns="0" bIns="0" anchor="t"/>
          <a:lstStyle/>
          <a:p>
            <a:pPr algn="l"/>
            <a:r>
              <a:rPr sz="1300" b="0" i="0">
                <a:solidFill>
                  <a:srgbClr val="5E4E53"/>
                </a:solidFill>
                <a:latin typeface="Arial"/>
              </a:rPr>
              <a:t>Plusieurs membres, un seul chef. Nommer un chef retire le précédent.</a:t>
            </a:r>
          </a:p>
        </p:txBody>
      </p:sp>
      <p:sp>
        <p:nvSpPr>
          <p:cNvPr id="12" name="18 Forme 4"/>
          <p:cNvSpPr/>
          <p:nvPr/>
        </p:nvSpPr>
        <p:spPr>
          <a:xfrm>
            <a:off x="8183879" y="1508760"/>
            <a:ext cx="3566160" cy="15544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3" name="18 Projet"/>
          <p:cNvSpPr txBox="1"/>
          <p:nvPr/>
        </p:nvSpPr>
        <p:spPr>
          <a:xfrm>
            <a:off x="8366759" y="1636776"/>
            <a:ext cx="3200400" cy="329184"/>
          </a:xfrm>
          <a:prstGeom prst="rect">
            <a:avLst/>
          </a:prstGeom>
          <a:noFill/>
        </p:spPr>
        <p:txBody>
          <a:bodyPr wrap="square" lIns="0" rIns="0" tIns="0" bIns="0" anchor="t"/>
          <a:lstStyle/>
          <a:p>
            <a:pPr algn="l"/>
            <a:r>
              <a:rPr sz="1600" b="1" i="0">
                <a:solidFill>
                  <a:srgbClr val="8B4D5C"/>
                </a:solidFill>
                <a:latin typeface="Arial"/>
              </a:rPr>
              <a:t>Projet</a:t>
            </a:r>
          </a:p>
        </p:txBody>
      </p:sp>
      <p:sp>
        <p:nvSpPr>
          <p:cNvPr id="14" name="18 Lié à une ou plusieurs équipes."/>
          <p:cNvSpPr txBox="1"/>
          <p:nvPr/>
        </p:nvSpPr>
        <p:spPr>
          <a:xfrm>
            <a:off x="8366759" y="2011680"/>
            <a:ext cx="3200400" cy="914400"/>
          </a:xfrm>
          <a:prstGeom prst="rect">
            <a:avLst/>
          </a:prstGeom>
          <a:noFill/>
        </p:spPr>
        <p:txBody>
          <a:bodyPr wrap="square" lIns="0" rIns="0" tIns="0" bIns="0" anchor="t"/>
          <a:lstStyle/>
          <a:p>
            <a:pPr algn="l"/>
            <a:r>
              <a:rPr sz="1300" b="0" i="0">
                <a:solidFill>
                  <a:srgbClr val="5E4E53"/>
                </a:solidFill>
                <a:latin typeface="Arial"/>
              </a:rPr>
              <a:t>Lié à une ou plusieurs équipes.</a:t>
            </a:r>
          </a:p>
        </p:txBody>
      </p:sp>
      <p:sp>
        <p:nvSpPr>
          <p:cNvPr id="15" name="18 Forme 5"/>
          <p:cNvSpPr/>
          <p:nvPr/>
        </p:nvSpPr>
        <p:spPr>
          <a:xfrm>
            <a:off x="411480" y="3291840"/>
            <a:ext cx="5532120" cy="16916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6" name="18 Tâche"/>
          <p:cNvSpPr txBox="1"/>
          <p:nvPr/>
        </p:nvSpPr>
        <p:spPr>
          <a:xfrm>
            <a:off x="594360" y="3419856"/>
            <a:ext cx="5166359" cy="329184"/>
          </a:xfrm>
          <a:prstGeom prst="rect">
            <a:avLst/>
          </a:prstGeom>
          <a:noFill/>
        </p:spPr>
        <p:txBody>
          <a:bodyPr wrap="square" lIns="0" rIns="0" tIns="0" bIns="0" anchor="t"/>
          <a:lstStyle/>
          <a:p>
            <a:pPr algn="l"/>
            <a:r>
              <a:rPr sz="1600" b="1" i="0">
                <a:solidFill>
                  <a:srgbClr val="8B4D5C"/>
                </a:solidFill>
                <a:latin typeface="Arial"/>
              </a:rPr>
              <a:t>Tâche</a:t>
            </a:r>
          </a:p>
        </p:txBody>
      </p:sp>
      <p:sp>
        <p:nvSpPr>
          <p:cNvPr id="17" name="18 Un projet, un assigné, un statut. Le st…"/>
          <p:cNvSpPr txBox="1"/>
          <p:nvPr/>
        </p:nvSpPr>
        <p:spPr>
          <a:xfrm>
            <a:off x="594360" y="3794760"/>
            <a:ext cx="5166359" cy="1051560"/>
          </a:xfrm>
          <a:prstGeom prst="rect">
            <a:avLst/>
          </a:prstGeom>
          <a:noFill/>
        </p:spPr>
        <p:txBody>
          <a:bodyPr wrap="square" lIns="0" rIns="0" tIns="0" bIns="0" anchor="t"/>
          <a:lstStyle/>
          <a:p>
            <a:pPr algn="l"/>
            <a:r>
              <a:rPr sz="1300" b="0" i="0">
                <a:solidFill>
                  <a:srgbClr val="5E4E53"/>
                </a:solidFill>
                <a:latin typeface="Arial"/>
              </a:rPr>
              <a:t>Un projet, un assigné, un statut. Le statut donne un pourcentage : à faire 0, en cours 60, bloqué 30, terminé 100.</a:t>
            </a:r>
          </a:p>
        </p:txBody>
      </p:sp>
      <p:sp>
        <p:nvSpPr>
          <p:cNvPr id="18" name="18 Forme 6"/>
          <p:cNvSpPr/>
          <p:nvPr/>
        </p:nvSpPr>
        <p:spPr>
          <a:xfrm>
            <a:off x="6172200" y="3291840"/>
            <a:ext cx="5577840" cy="169164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9" name="18 Point d'avancement"/>
          <p:cNvSpPr txBox="1"/>
          <p:nvPr/>
        </p:nvSpPr>
        <p:spPr>
          <a:xfrm>
            <a:off x="6355080" y="3419856"/>
            <a:ext cx="5212079" cy="329184"/>
          </a:xfrm>
          <a:prstGeom prst="rect">
            <a:avLst/>
          </a:prstGeom>
          <a:noFill/>
        </p:spPr>
        <p:txBody>
          <a:bodyPr wrap="square" lIns="0" rIns="0" tIns="0" bIns="0" anchor="t"/>
          <a:lstStyle/>
          <a:p>
            <a:pPr algn="l"/>
            <a:r>
              <a:rPr sz="1600" b="1" i="0">
                <a:solidFill>
                  <a:srgbClr val="8B4D5C"/>
                </a:solidFill>
                <a:latin typeface="Arial"/>
              </a:rPr>
              <a:t>Point d'avancement</a:t>
            </a:r>
          </a:p>
        </p:txBody>
      </p:sp>
      <p:sp>
        <p:nvSpPr>
          <p:cNvPr id="20" name="18 Réalisé, à venir, note de blocage, date…"/>
          <p:cNvSpPr txBox="1"/>
          <p:nvPr/>
        </p:nvSpPr>
        <p:spPr>
          <a:xfrm>
            <a:off x="6355080" y="3794760"/>
            <a:ext cx="5212079" cy="1051560"/>
          </a:xfrm>
          <a:prstGeom prst="rect">
            <a:avLst/>
          </a:prstGeom>
          <a:noFill/>
        </p:spPr>
        <p:txBody>
          <a:bodyPr wrap="square" lIns="0" rIns="0" tIns="0" bIns="0" anchor="t"/>
          <a:lstStyle/>
          <a:p>
            <a:pPr algn="l"/>
            <a:r>
              <a:rPr sz="1300" b="0" i="0">
                <a:solidFill>
                  <a:srgbClr val="5E4E53"/>
                </a:solidFill>
                <a:latin typeface="Arial"/>
              </a:rPr>
              <a:t>Réalisé, à venir, note de blocage, date. Plusieurs lignes par tâche.</a:t>
            </a:r>
          </a:p>
        </p:txBody>
      </p:sp>
      <p:sp>
        <p:nvSpPr>
          <p:cNvPr id="21" name="18 Forme 7"/>
          <p:cNvSpPr/>
          <p:nvPr/>
        </p:nvSpPr>
        <p:spPr>
          <a:xfrm>
            <a:off x="411480" y="5166360"/>
            <a:ext cx="11338560" cy="1051560"/>
          </a:xfrm>
          <a:prstGeom prst="roundRect">
            <a:avLst>
              <a:gd name="adj" fmla="val 8000"/>
            </a:avLst>
          </a:prstGeom>
          <a:solidFill>
            <a:srgbClr val="F6E8ED"/>
          </a:solidFill>
          <a:ln w="15875">
            <a:solidFill>
              <a:srgbClr val="E8C5CE"/>
            </a:solidFill>
          </a:ln>
        </p:spPr>
        <p:txBody>
          <a:bodyPr rtlCol="0" anchor="ctr"/>
          <a:lstStyle/>
          <a:p>
            <a:pPr algn="ctr"/>
          </a:p>
        </p:txBody>
      </p:sp>
      <p:sp>
        <p:nvSpPr>
          <p:cNvPr id="22" name="18 Le taux des tableaux de bord est le nom…"/>
          <p:cNvSpPr txBox="1"/>
          <p:nvPr/>
        </p:nvSpPr>
        <p:spPr>
          <a:xfrm>
            <a:off x="640080" y="5349240"/>
            <a:ext cx="10927080" cy="777240"/>
          </a:xfrm>
          <a:prstGeom prst="rect">
            <a:avLst/>
          </a:prstGeom>
          <a:noFill/>
        </p:spPr>
        <p:txBody>
          <a:bodyPr wrap="square" lIns="0" rIns="0" tIns="0" bIns="0" anchor="t"/>
          <a:lstStyle/>
          <a:p>
            <a:pPr algn="l"/>
            <a:r>
              <a:rPr sz="1500" b="0" i="0">
                <a:solidFill>
                  <a:srgbClr val="1A1A1A"/>
                </a:solidFill>
                <a:latin typeface="Arial"/>
              </a:rPr>
              <a:t>Le taux des tableaux de bord est le nombre de tâches terminées divisé par le total. Le pourcentage affiché sur une tâche vient du statut, pas de ce taux.</a:t>
            </a:r>
          </a:p>
        </p:txBody>
      </p:sp>
      <p:sp>
        <p:nvSpPr>
          <p:cNvPr id="23" name="18 Forme 8"/>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4" name="18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5" name="18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6" name="18 C7  ·  Base de données relationnelle"/>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C7  ·  Base de données relationnelle</a:t>
            </a:r>
          </a:p>
        </p:txBody>
      </p:sp>
      <p:sp>
        <p:nvSpPr>
          <p:cNvPr id="27" name="18 18"/>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19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19 03   CONCEPTION"/>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03   CONCEPTION</a:t>
            </a:r>
          </a:p>
        </p:txBody>
      </p:sp>
      <p:sp>
        <p:nvSpPr>
          <p:cNvPr id="4" name="19 Schéma relationnel"/>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Schéma relationnel</a:t>
            </a:r>
          </a:p>
        </p:txBody>
      </p:sp>
      <p:sp>
        <p:nvSpPr>
          <p:cNvPr id="5" name="19 Forme 2"/>
          <p:cNvSpPr/>
          <p:nvPr/>
        </p:nvSpPr>
        <p:spPr>
          <a:xfrm>
            <a:off x="347472" y="1024128"/>
            <a:ext cx="3730752" cy="804672"/>
          </a:xfrm>
          <a:prstGeom prst="roundRect">
            <a:avLst>
              <a:gd name="adj" fmla="val 8000"/>
            </a:avLst>
          </a:prstGeom>
          <a:solidFill>
            <a:srgbClr val="FFFFFF"/>
          </a:solidFill>
          <a:ln w="15875">
            <a:solidFill>
              <a:srgbClr val="E8C5CE"/>
            </a:solidFill>
          </a:ln>
        </p:spPr>
        <p:txBody>
          <a:bodyPr rtlCol="0" anchor="ctr"/>
          <a:lstStyle/>
          <a:p>
            <a:pPr algn="ctr"/>
          </a:p>
        </p:txBody>
      </p:sp>
      <p:sp>
        <p:nvSpPr>
          <p:cNvPr id="6" name="19 Forme 3"/>
          <p:cNvSpPr/>
          <p:nvPr/>
        </p:nvSpPr>
        <p:spPr>
          <a:xfrm>
            <a:off x="347472" y="1024128"/>
            <a:ext cx="3730752" cy="310896"/>
          </a:xfrm>
          <a:prstGeom prst="roundRect">
            <a:avLst>
              <a:gd name="adj" fmla="val 8000"/>
            </a:avLst>
          </a:prstGeom>
          <a:solidFill>
            <a:srgbClr val="8B4D5C"/>
          </a:solidFill>
          <a:ln>
            <a:noFill/>
          </a:ln>
        </p:spPr>
        <p:txBody>
          <a:bodyPr rtlCol="0" anchor="ctr"/>
          <a:lstStyle/>
          <a:p>
            <a:pPr algn="ctr"/>
          </a:p>
        </p:txBody>
      </p:sp>
      <p:sp>
        <p:nvSpPr>
          <p:cNvPr id="7" name="19 Forme 4"/>
          <p:cNvSpPr/>
          <p:nvPr/>
        </p:nvSpPr>
        <p:spPr>
          <a:xfrm>
            <a:off x="347472" y="1225296"/>
            <a:ext cx="3730752" cy="109728"/>
          </a:xfrm>
          <a:prstGeom prst="rect">
            <a:avLst/>
          </a:prstGeom>
          <a:solidFill>
            <a:srgbClr val="8B4D5C"/>
          </a:solidFill>
          <a:ln>
            <a:noFill/>
          </a:ln>
        </p:spPr>
        <p:txBody>
          <a:bodyPr rtlCol="0" anchor="ctr"/>
          <a:lstStyle/>
          <a:p>
            <a:pPr algn="ctr"/>
          </a:p>
        </p:txBody>
      </p:sp>
      <p:sp>
        <p:nvSpPr>
          <p:cNvPr id="8" name="19 teams"/>
          <p:cNvSpPr txBox="1"/>
          <p:nvPr/>
        </p:nvSpPr>
        <p:spPr>
          <a:xfrm>
            <a:off x="438912" y="1051560"/>
            <a:ext cx="3547872" cy="256032"/>
          </a:xfrm>
          <a:prstGeom prst="rect">
            <a:avLst/>
          </a:prstGeom>
          <a:noFill/>
        </p:spPr>
        <p:txBody>
          <a:bodyPr wrap="square" lIns="0" rIns="0" tIns="0" bIns="0" anchor="t"/>
          <a:lstStyle/>
          <a:p>
            <a:pPr algn="l"/>
            <a:r>
              <a:rPr sz="1300" b="1" i="0">
                <a:solidFill>
                  <a:srgbClr val="FFFFFF"/>
                </a:solidFill>
                <a:latin typeface="Arial"/>
              </a:rPr>
              <a:t>teams</a:t>
            </a:r>
          </a:p>
        </p:txBody>
      </p:sp>
      <p:sp>
        <p:nvSpPr>
          <p:cNvPr id="9" name="19 id"/>
          <p:cNvSpPr txBox="1"/>
          <p:nvPr/>
        </p:nvSpPr>
        <p:spPr>
          <a:xfrm>
            <a:off x="438912" y="1380744"/>
            <a:ext cx="3566160" cy="182880"/>
          </a:xfrm>
          <a:prstGeom prst="rect">
            <a:avLst/>
          </a:prstGeom>
          <a:noFill/>
        </p:spPr>
        <p:txBody>
          <a:bodyPr wrap="square" lIns="0" rIns="0" tIns="0" bIns="0" anchor="t"/>
          <a:lstStyle/>
          <a:p>
            <a:pPr algn="l"/>
            <a:r>
              <a:rPr sz="1100" b="1" i="0">
                <a:solidFill>
                  <a:srgbClr val="1A1A1A"/>
                </a:solidFill>
                <a:latin typeface="Arial"/>
              </a:rPr>
              <a:t>id</a:t>
            </a:r>
          </a:p>
        </p:txBody>
      </p:sp>
      <p:sp>
        <p:nvSpPr>
          <p:cNvPr id="10" name="19 name"/>
          <p:cNvSpPr txBox="1"/>
          <p:nvPr/>
        </p:nvSpPr>
        <p:spPr>
          <a:xfrm>
            <a:off x="438912" y="1563624"/>
            <a:ext cx="3566160" cy="182880"/>
          </a:xfrm>
          <a:prstGeom prst="rect">
            <a:avLst/>
          </a:prstGeom>
          <a:noFill/>
        </p:spPr>
        <p:txBody>
          <a:bodyPr wrap="square" lIns="0" rIns="0" tIns="0" bIns="0" anchor="t"/>
          <a:lstStyle/>
          <a:p>
            <a:pPr algn="l"/>
            <a:r>
              <a:rPr sz="1100" b="0" i="0">
                <a:solidFill>
                  <a:srgbClr val="1A1A1A"/>
                </a:solidFill>
                <a:latin typeface="Arial"/>
              </a:rPr>
              <a:t>name</a:t>
            </a:r>
          </a:p>
        </p:txBody>
      </p:sp>
      <p:sp>
        <p:nvSpPr>
          <p:cNvPr id="11" name="19 Forme 5"/>
          <p:cNvSpPr/>
          <p:nvPr/>
        </p:nvSpPr>
        <p:spPr>
          <a:xfrm>
            <a:off x="4224528" y="1024128"/>
            <a:ext cx="3730752" cy="987552"/>
          </a:xfrm>
          <a:prstGeom prst="roundRect">
            <a:avLst>
              <a:gd name="adj" fmla="val 8000"/>
            </a:avLst>
          </a:prstGeom>
          <a:solidFill>
            <a:srgbClr val="FFFFFF"/>
          </a:solidFill>
          <a:ln w="15875">
            <a:solidFill>
              <a:srgbClr val="E8C5CE"/>
            </a:solidFill>
          </a:ln>
        </p:spPr>
        <p:txBody>
          <a:bodyPr rtlCol="0" anchor="ctr"/>
          <a:lstStyle/>
          <a:p>
            <a:pPr algn="ctr"/>
          </a:p>
        </p:txBody>
      </p:sp>
      <p:sp>
        <p:nvSpPr>
          <p:cNvPr id="12" name="19 Forme 6"/>
          <p:cNvSpPr/>
          <p:nvPr/>
        </p:nvSpPr>
        <p:spPr>
          <a:xfrm>
            <a:off x="4224528" y="1024128"/>
            <a:ext cx="3730752" cy="310896"/>
          </a:xfrm>
          <a:prstGeom prst="roundRect">
            <a:avLst>
              <a:gd name="adj" fmla="val 8000"/>
            </a:avLst>
          </a:prstGeom>
          <a:solidFill>
            <a:srgbClr val="8B4D5C"/>
          </a:solidFill>
          <a:ln>
            <a:noFill/>
          </a:ln>
        </p:spPr>
        <p:txBody>
          <a:bodyPr rtlCol="0" anchor="ctr"/>
          <a:lstStyle/>
          <a:p>
            <a:pPr algn="ctr"/>
          </a:p>
        </p:txBody>
      </p:sp>
      <p:sp>
        <p:nvSpPr>
          <p:cNvPr id="13" name="19 Forme 7"/>
          <p:cNvSpPr/>
          <p:nvPr/>
        </p:nvSpPr>
        <p:spPr>
          <a:xfrm>
            <a:off x="4224528" y="1225296"/>
            <a:ext cx="3730752" cy="109728"/>
          </a:xfrm>
          <a:prstGeom prst="rect">
            <a:avLst/>
          </a:prstGeom>
          <a:solidFill>
            <a:srgbClr val="8B4D5C"/>
          </a:solidFill>
          <a:ln>
            <a:noFill/>
          </a:ln>
        </p:spPr>
        <p:txBody>
          <a:bodyPr rtlCol="0" anchor="ctr"/>
          <a:lstStyle/>
          <a:p>
            <a:pPr algn="ctr"/>
          </a:p>
        </p:txBody>
      </p:sp>
      <p:sp>
        <p:nvSpPr>
          <p:cNvPr id="14" name="19 team_user"/>
          <p:cNvSpPr txBox="1"/>
          <p:nvPr/>
        </p:nvSpPr>
        <p:spPr>
          <a:xfrm>
            <a:off x="4315968" y="1051560"/>
            <a:ext cx="3547872" cy="256032"/>
          </a:xfrm>
          <a:prstGeom prst="rect">
            <a:avLst/>
          </a:prstGeom>
          <a:noFill/>
        </p:spPr>
        <p:txBody>
          <a:bodyPr wrap="square" lIns="0" rIns="0" tIns="0" bIns="0" anchor="t"/>
          <a:lstStyle/>
          <a:p>
            <a:pPr algn="l"/>
            <a:r>
              <a:rPr sz="1300" b="1" i="0">
                <a:solidFill>
                  <a:srgbClr val="FFFFFF"/>
                </a:solidFill>
                <a:latin typeface="Arial"/>
              </a:rPr>
              <a:t>team_user</a:t>
            </a:r>
          </a:p>
        </p:txBody>
      </p:sp>
      <p:sp>
        <p:nvSpPr>
          <p:cNvPr id="15" name="19 team_id → teams"/>
          <p:cNvSpPr txBox="1"/>
          <p:nvPr/>
        </p:nvSpPr>
        <p:spPr>
          <a:xfrm>
            <a:off x="4315968" y="1380744"/>
            <a:ext cx="3566160" cy="182880"/>
          </a:xfrm>
          <a:prstGeom prst="rect">
            <a:avLst/>
          </a:prstGeom>
          <a:noFill/>
        </p:spPr>
        <p:txBody>
          <a:bodyPr wrap="square" lIns="0" rIns="0" tIns="0" bIns="0" anchor="t"/>
          <a:lstStyle/>
          <a:p>
            <a:pPr algn="l"/>
            <a:r>
              <a:rPr sz="1100" b="1" i="0">
                <a:solidFill>
                  <a:srgbClr val="6E3A48"/>
                </a:solidFill>
                <a:latin typeface="Arial"/>
              </a:rPr>
              <a:t>team_id → teams</a:t>
            </a:r>
          </a:p>
        </p:txBody>
      </p:sp>
      <p:sp>
        <p:nvSpPr>
          <p:cNvPr id="16" name="19 user_id → users"/>
          <p:cNvSpPr txBox="1"/>
          <p:nvPr/>
        </p:nvSpPr>
        <p:spPr>
          <a:xfrm>
            <a:off x="4315968" y="1563624"/>
            <a:ext cx="3566160" cy="182880"/>
          </a:xfrm>
          <a:prstGeom prst="rect">
            <a:avLst/>
          </a:prstGeom>
          <a:noFill/>
        </p:spPr>
        <p:txBody>
          <a:bodyPr wrap="square" lIns="0" rIns="0" tIns="0" bIns="0" anchor="t"/>
          <a:lstStyle/>
          <a:p>
            <a:pPr algn="l"/>
            <a:r>
              <a:rPr sz="1100" b="1" i="0">
                <a:solidFill>
                  <a:srgbClr val="6E3A48"/>
                </a:solidFill>
                <a:latin typeface="Arial"/>
              </a:rPr>
              <a:t>user_id → users</a:t>
            </a:r>
          </a:p>
        </p:txBody>
      </p:sp>
      <p:sp>
        <p:nvSpPr>
          <p:cNvPr id="17" name="19 is_team_lead"/>
          <p:cNvSpPr txBox="1"/>
          <p:nvPr/>
        </p:nvSpPr>
        <p:spPr>
          <a:xfrm>
            <a:off x="4315968" y="1746504"/>
            <a:ext cx="3566160" cy="182880"/>
          </a:xfrm>
          <a:prstGeom prst="rect">
            <a:avLst/>
          </a:prstGeom>
          <a:noFill/>
        </p:spPr>
        <p:txBody>
          <a:bodyPr wrap="square" lIns="0" rIns="0" tIns="0" bIns="0" anchor="t"/>
          <a:lstStyle/>
          <a:p>
            <a:pPr algn="l"/>
            <a:r>
              <a:rPr sz="1100" b="0" i="0">
                <a:solidFill>
                  <a:srgbClr val="1A1A1A"/>
                </a:solidFill>
                <a:latin typeface="Arial"/>
              </a:rPr>
              <a:t>is_team_lead</a:t>
            </a:r>
          </a:p>
        </p:txBody>
      </p:sp>
      <p:sp>
        <p:nvSpPr>
          <p:cNvPr id="18" name="19 Forme 8"/>
          <p:cNvSpPr/>
          <p:nvPr/>
        </p:nvSpPr>
        <p:spPr>
          <a:xfrm>
            <a:off x="8101583" y="1024128"/>
            <a:ext cx="3730752" cy="1536192"/>
          </a:xfrm>
          <a:prstGeom prst="roundRect">
            <a:avLst>
              <a:gd name="adj" fmla="val 8000"/>
            </a:avLst>
          </a:prstGeom>
          <a:solidFill>
            <a:srgbClr val="FFFFFF"/>
          </a:solidFill>
          <a:ln w="15875">
            <a:solidFill>
              <a:srgbClr val="E8C5CE"/>
            </a:solidFill>
          </a:ln>
        </p:spPr>
        <p:txBody>
          <a:bodyPr rtlCol="0" anchor="ctr"/>
          <a:lstStyle/>
          <a:p>
            <a:pPr algn="ctr"/>
          </a:p>
        </p:txBody>
      </p:sp>
      <p:sp>
        <p:nvSpPr>
          <p:cNvPr id="19" name="19 Forme 9"/>
          <p:cNvSpPr/>
          <p:nvPr/>
        </p:nvSpPr>
        <p:spPr>
          <a:xfrm>
            <a:off x="8101583" y="1024128"/>
            <a:ext cx="3730752" cy="310896"/>
          </a:xfrm>
          <a:prstGeom prst="roundRect">
            <a:avLst>
              <a:gd name="adj" fmla="val 8000"/>
            </a:avLst>
          </a:prstGeom>
          <a:solidFill>
            <a:srgbClr val="8B4D5C"/>
          </a:solidFill>
          <a:ln>
            <a:noFill/>
          </a:ln>
        </p:spPr>
        <p:txBody>
          <a:bodyPr rtlCol="0" anchor="ctr"/>
          <a:lstStyle/>
          <a:p>
            <a:pPr algn="ctr"/>
          </a:p>
        </p:txBody>
      </p:sp>
      <p:sp>
        <p:nvSpPr>
          <p:cNvPr id="20" name="19 Forme 10"/>
          <p:cNvSpPr/>
          <p:nvPr/>
        </p:nvSpPr>
        <p:spPr>
          <a:xfrm>
            <a:off x="8101583" y="1225296"/>
            <a:ext cx="3730752" cy="109728"/>
          </a:xfrm>
          <a:prstGeom prst="rect">
            <a:avLst/>
          </a:prstGeom>
          <a:solidFill>
            <a:srgbClr val="8B4D5C"/>
          </a:solidFill>
          <a:ln>
            <a:noFill/>
          </a:ln>
        </p:spPr>
        <p:txBody>
          <a:bodyPr rtlCol="0" anchor="ctr"/>
          <a:lstStyle/>
          <a:p>
            <a:pPr algn="ctr"/>
          </a:p>
        </p:txBody>
      </p:sp>
      <p:sp>
        <p:nvSpPr>
          <p:cNvPr id="21" name="19 users"/>
          <p:cNvSpPr txBox="1"/>
          <p:nvPr/>
        </p:nvSpPr>
        <p:spPr>
          <a:xfrm>
            <a:off x="8193023" y="1051560"/>
            <a:ext cx="3547872" cy="256032"/>
          </a:xfrm>
          <a:prstGeom prst="rect">
            <a:avLst/>
          </a:prstGeom>
          <a:noFill/>
        </p:spPr>
        <p:txBody>
          <a:bodyPr wrap="square" lIns="0" rIns="0" tIns="0" bIns="0" anchor="t"/>
          <a:lstStyle/>
          <a:p>
            <a:pPr algn="l"/>
            <a:r>
              <a:rPr sz="1300" b="1" i="0">
                <a:solidFill>
                  <a:srgbClr val="FFFFFF"/>
                </a:solidFill>
                <a:latin typeface="Arial"/>
              </a:rPr>
              <a:t>users</a:t>
            </a:r>
          </a:p>
        </p:txBody>
      </p:sp>
      <p:sp>
        <p:nvSpPr>
          <p:cNvPr id="22" name="19 id 2"/>
          <p:cNvSpPr txBox="1"/>
          <p:nvPr/>
        </p:nvSpPr>
        <p:spPr>
          <a:xfrm>
            <a:off x="8193023" y="1380744"/>
            <a:ext cx="3566160" cy="182880"/>
          </a:xfrm>
          <a:prstGeom prst="rect">
            <a:avLst/>
          </a:prstGeom>
          <a:noFill/>
        </p:spPr>
        <p:txBody>
          <a:bodyPr wrap="square" lIns="0" rIns="0" tIns="0" bIns="0" anchor="t"/>
          <a:lstStyle/>
          <a:p>
            <a:pPr algn="l"/>
            <a:r>
              <a:rPr sz="1100" b="1" i="0">
                <a:solidFill>
                  <a:srgbClr val="1A1A1A"/>
                </a:solidFill>
                <a:latin typeface="Arial"/>
              </a:rPr>
              <a:t>id</a:t>
            </a:r>
          </a:p>
        </p:txBody>
      </p:sp>
      <p:sp>
        <p:nvSpPr>
          <p:cNvPr id="23" name="19 name 2"/>
          <p:cNvSpPr txBox="1"/>
          <p:nvPr/>
        </p:nvSpPr>
        <p:spPr>
          <a:xfrm>
            <a:off x="8193023" y="1563624"/>
            <a:ext cx="3566160" cy="182880"/>
          </a:xfrm>
          <a:prstGeom prst="rect">
            <a:avLst/>
          </a:prstGeom>
          <a:noFill/>
        </p:spPr>
        <p:txBody>
          <a:bodyPr wrap="square" lIns="0" rIns="0" tIns="0" bIns="0" anchor="t"/>
          <a:lstStyle/>
          <a:p>
            <a:pPr algn="l"/>
            <a:r>
              <a:rPr sz="1100" b="0" i="0">
                <a:solidFill>
                  <a:srgbClr val="1A1A1A"/>
                </a:solidFill>
                <a:latin typeface="Arial"/>
              </a:rPr>
              <a:t>name</a:t>
            </a:r>
          </a:p>
        </p:txBody>
      </p:sp>
      <p:sp>
        <p:nvSpPr>
          <p:cNvPr id="24" name="19 job_title"/>
          <p:cNvSpPr txBox="1"/>
          <p:nvPr/>
        </p:nvSpPr>
        <p:spPr>
          <a:xfrm>
            <a:off x="8193023" y="1746504"/>
            <a:ext cx="3566160" cy="182880"/>
          </a:xfrm>
          <a:prstGeom prst="rect">
            <a:avLst/>
          </a:prstGeom>
          <a:noFill/>
        </p:spPr>
        <p:txBody>
          <a:bodyPr wrap="square" lIns="0" rIns="0" tIns="0" bIns="0" anchor="t"/>
          <a:lstStyle/>
          <a:p>
            <a:pPr algn="l"/>
            <a:r>
              <a:rPr sz="1100" b="0" i="0">
                <a:solidFill>
                  <a:srgbClr val="1A1A1A"/>
                </a:solidFill>
                <a:latin typeface="Arial"/>
              </a:rPr>
              <a:t>job_title</a:t>
            </a:r>
          </a:p>
        </p:txBody>
      </p:sp>
      <p:sp>
        <p:nvSpPr>
          <p:cNvPr id="25" name="19 email, unique"/>
          <p:cNvSpPr txBox="1"/>
          <p:nvPr/>
        </p:nvSpPr>
        <p:spPr>
          <a:xfrm>
            <a:off x="8193023" y="1929384"/>
            <a:ext cx="3566160" cy="182880"/>
          </a:xfrm>
          <a:prstGeom prst="rect">
            <a:avLst/>
          </a:prstGeom>
          <a:noFill/>
        </p:spPr>
        <p:txBody>
          <a:bodyPr wrap="square" lIns="0" rIns="0" tIns="0" bIns="0" anchor="t"/>
          <a:lstStyle/>
          <a:p>
            <a:pPr algn="l"/>
            <a:r>
              <a:rPr sz="1100" b="0" i="0">
                <a:solidFill>
                  <a:srgbClr val="1A1A1A"/>
                </a:solidFill>
                <a:latin typeface="Arial"/>
              </a:rPr>
              <a:t>email, unique</a:t>
            </a:r>
          </a:p>
        </p:txBody>
      </p:sp>
      <p:sp>
        <p:nvSpPr>
          <p:cNvPr id="26" name="19 password, haché"/>
          <p:cNvSpPr txBox="1"/>
          <p:nvPr/>
        </p:nvSpPr>
        <p:spPr>
          <a:xfrm>
            <a:off x="8193023" y="2112264"/>
            <a:ext cx="3566160" cy="182880"/>
          </a:xfrm>
          <a:prstGeom prst="rect">
            <a:avLst/>
          </a:prstGeom>
          <a:noFill/>
        </p:spPr>
        <p:txBody>
          <a:bodyPr wrap="square" lIns="0" rIns="0" tIns="0" bIns="0" anchor="t"/>
          <a:lstStyle/>
          <a:p>
            <a:pPr algn="l"/>
            <a:r>
              <a:rPr sz="1100" b="0" i="0">
                <a:solidFill>
                  <a:srgbClr val="1A1A1A"/>
                </a:solidFill>
                <a:latin typeface="Arial"/>
              </a:rPr>
              <a:t>password, haché</a:t>
            </a:r>
          </a:p>
        </p:txBody>
      </p:sp>
      <p:sp>
        <p:nvSpPr>
          <p:cNvPr id="27" name="19 role"/>
          <p:cNvSpPr txBox="1"/>
          <p:nvPr/>
        </p:nvSpPr>
        <p:spPr>
          <a:xfrm>
            <a:off x="8193023" y="2295144"/>
            <a:ext cx="3566160" cy="182880"/>
          </a:xfrm>
          <a:prstGeom prst="rect">
            <a:avLst/>
          </a:prstGeom>
          <a:noFill/>
        </p:spPr>
        <p:txBody>
          <a:bodyPr wrap="square" lIns="0" rIns="0" tIns="0" bIns="0" anchor="t"/>
          <a:lstStyle/>
          <a:p>
            <a:pPr algn="l"/>
            <a:r>
              <a:rPr sz="1100" b="0" i="0">
                <a:solidFill>
                  <a:srgbClr val="1A1A1A"/>
                </a:solidFill>
                <a:latin typeface="Arial"/>
              </a:rPr>
              <a:t>role</a:t>
            </a:r>
          </a:p>
        </p:txBody>
      </p:sp>
      <p:sp>
        <p:nvSpPr>
          <p:cNvPr id="28" name="19 Plusieurs comptes par équipe. Un seul i…"/>
          <p:cNvSpPr txBox="1"/>
          <p:nvPr/>
        </p:nvSpPr>
        <p:spPr>
          <a:xfrm>
            <a:off x="4224528" y="2084832"/>
            <a:ext cx="3730752" cy="658368"/>
          </a:xfrm>
          <a:prstGeom prst="rect">
            <a:avLst/>
          </a:prstGeom>
          <a:noFill/>
        </p:spPr>
        <p:txBody>
          <a:bodyPr wrap="square" lIns="0" rIns="0" tIns="0" bIns="0" anchor="t"/>
          <a:lstStyle/>
          <a:p>
            <a:pPr algn="l"/>
            <a:r>
              <a:rPr sz="1200" b="0" i="0">
                <a:solidFill>
                  <a:srgbClr val="5E4E53"/>
                </a:solidFill>
                <a:latin typeface="Arial"/>
              </a:rPr>
              <a:t>Plusieurs comptes par équipe. Un seul is_team_lead reste vrai. Nommer un chef remet les autres à faux.</a:t>
            </a:r>
          </a:p>
        </p:txBody>
      </p:sp>
      <p:sp>
        <p:nvSpPr>
          <p:cNvPr id="29" name="19 Forme 11"/>
          <p:cNvSpPr/>
          <p:nvPr/>
        </p:nvSpPr>
        <p:spPr>
          <a:xfrm>
            <a:off x="347472" y="2999232"/>
            <a:ext cx="2761488" cy="987552"/>
          </a:xfrm>
          <a:prstGeom prst="roundRect">
            <a:avLst>
              <a:gd name="adj" fmla="val 8000"/>
            </a:avLst>
          </a:prstGeom>
          <a:solidFill>
            <a:srgbClr val="FFFFFF"/>
          </a:solidFill>
          <a:ln w="15875">
            <a:solidFill>
              <a:srgbClr val="E8C5CE"/>
            </a:solidFill>
          </a:ln>
        </p:spPr>
        <p:txBody>
          <a:bodyPr rtlCol="0" anchor="ctr"/>
          <a:lstStyle/>
          <a:p>
            <a:pPr algn="ctr"/>
          </a:p>
        </p:txBody>
      </p:sp>
      <p:sp>
        <p:nvSpPr>
          <p:cNvPr id="30" name="19 Forme 12"/>
          <p:cNvSpPr/>
          <p:nvPr/>
        </p:nvSpPr>
        <p:spPr>
          <a:xfrm>
            <a:off x="347472" y="2999232"/>
            <a:ext cx="2761488" cy="310896"/>
          </a:xfrm>
          <a:prstGeom prst="roundRect">
            <a:avLst>
              <a:gd name="adj" fmla="val 8000"/>
            </a:avLst>
          </a:prstGeom>
          <a:solidFill>
            <a:srgbClr val="8B4D5C"/>
          </a:solidFill>
          <a:ln>
            <a:noFill/>
          </a:ln>
        </p:spPr>
        <p:txBody>
          <a:bodyPr rtlCol="0" anchor="ctr"/>
          <a:lstStyle/>
          <a:p>
            <a:pPr algn="ctr"/>
          </a:p>
        </p:txBody>
      </p:sp>
      <p:sp>
        <p:nvSpPr>
          <p:cNvPr id="31" name="19 Forme 13"/>
          <p:cNvSpPr/>
          <p:nvPr/>
        </p:nvSpPr>
        <p:spPr>
          <a:xfrm>
            <a:off x="347472" y="3200399"/>
            <a:ext cx="2761488" cy="109728"/>
          </a:xfrm>
          <a:prstGeom prst="rect">
            <a:avLst/>
          </a:prstGeom>
          <a:solidFill>
            <a:srgbClr val="8B4D5C"/>
          </a:solidFill>
          <a:ln>
            <a:noFill/>
          </a:ln>
        </p:spPr>
        <p:txBody>
          <a:bodyPr rtlCol="0" anchor="ctr"/>
          <a:lstStyle/>
          <a:p>
            <a:pPr algn="ctr"/>
          </a:p>
        </p:txBody>
      </p:sp>
      <p:sp>
        <p:nvSpPr>
          <p:cNvPr id="32" name="19 projects"/>
          <p:cNvSpPr txBox="1"/>
          <p:nvPr/>
        </p:nvSpPr>
        <p:spPr>
          <a:xfrm>
            <a:off x="438912" y="3026663"/>
            <a:ext cx="2578608" cy="256032"/>
          </a:xfrm>
          <a:prstGeom prst="rect">
            <a:avLst/>
          </a:prstGeom>
          <a:noFill/>
        </p:spPr>
        <p:txBody>
          <a:bodyPr wrap="square" lIns="0" rIns="0" tIns="0" bIns="0" anchor="t"/>
          <a:lstStyle/>
          <a:p>
            <a:pPr algn="l"/>
            <a:r>
              <a:rPr sz="1300" b="1" i="0">
                <a:solidFill>
                  <a:srgbClr val="FFFFFF"/>
                </a:solidFill>
                <a:latin typeface="Arial"/>
              </a:rPr>
              <a:t>projects</a:t>
            </a:r>
          </a:p>
        </p:txBody>
      </p:sp>
      <p:sp>
        <p:nvSpPr>
          <p:cNvPr id="33" name="19 id 3"/>
          <p:cNvSpPr txBox="1"/>
          <p:nvPr/>
        </p:nvSpPr>
        <p:spPr>
          <a:xfrm>
            <a:off x="438912" y="3355847"/>
            <a:ext cx="2596896" cy="182880"/>
          </a:xfrm>
          <a:prstGeom prst="rect">
            <a:avLst/>
          </a:prstGeom>
          <a:noFill/>
        </p:spPr>
        <p:txBody>
          <a:bodyPr wrap="square" lIns="0" rIns="0" tIns="0" bIns="0" anchor="t"/>
          <a:lstStyle/>
          <a:p>
            <a:pPr algn="l"/>
            <a:r>
              <a:rPr sz="1100" b="1" i="0">
                <a:solidFill>
                  <a:srgbClr val="1A1A1A"/>
                </a:solidFill>
                <a:latin typeface="Arial"/>
              </a:rPr>
              <a:t>id</a:t>
            </a:r>
          </a:p>
        </p:txBody>
      </p:sp>
      <p:sp>
        <p:nvSpPr>
          <p:cNvPr id="34" name="19 name 3"/>
          <p:cNvSpPr txBox="1"/>
          <p:nvPr/>
        </p:nvSpPr>
        <p:spPr>
          <a:xfrm>
            <a:off x="438912" y="3538727"/>
            <a:ext cx="2596896" cy="182880"/>
          </a:xfrm>
          <a:prstGeom prst="rect">
            <a:avLst/>
          </a:prstGeom>
          <a:noFill/>
        </p:spPr>
        <p:txBody>
          <a:bodyPr wrap="square" lIns="0" rIns="0" tIns="0" bIns="0" anchor="t"/>
          <a:lstStyle/>
          <a:p>
            <a:pPr algn="l"/>
            <a:r>
              <a:rPr sz="1100" b="0" i="0">
                <a:solidFill>
                  <a:srgbClr val="1A1A1A"/>
                </a:solidFill>
                <a:latin typeface="Arial"/>
              </a:rPr>
              <a:t>name</a:t>
            </a:r>
          </a:p>
        </p:txBody>
      </p:sp>
      <p:sp>
        <p:nvSpPr>
          <p:cNvPr id="35" name="19 description"/>
          <p:cNvSpPr txBox="1"/>
          <p:nvPr/>
        </p:nvSpPr>
        <p:spPr>
          <a:xfrm>
            <a:off x="438912" y="3721607"/>
            <a:ext cx="2596896" cy="182880"/>
          </a:xfrm>
          <a:prstGeom prst="rect">
            <a:avLst/>
          </a:prstGeom>
          <a:noFill/>
        </p:spPr>
        <p:txBody>
          <a:bodyPr wrap="square" lIns="0" rIns="0" tIns="0" bIns="0" anchor="t"/>
          <a:lstStyle/>
          <a:p>
            <a:pPr algn="l"/>
            <a:r>
              <a:rPr sz="1100" b="0" i="0">
                <a:solidFill>
                  <a:srgbClr val="1A1A1A"/>
                </a:solidFill>
                <a:latin typeface="Arial"/>
              </a:rPr>
              <a:t>description</a:t>
            </a:r>
          </a:p>
        </p:txBody>
      </p:sp>
      <p:sp>
        <p:nvSpPr>
          <p:cNvPr id="36" name="19 Forme 14"/>
          <p:cNvSpPr/>
          <p:nvPr/>
        </p:nvSpPr>
        <p:spPr>
          <a:xfrm>
            <a:off x="3246120" y="2999232"/>
            <a:ext cx="2761488" cy="804672"/>
          </a:xfrm>
          <a:prstGeom prst="roundRect">
            <a:avLst>
              <a:gd name="adj" fmla="val 8000"/>
            </a:avLst>
          </a:prstGeom>
          <a:solidFill>
            <a:srgbClr val="FFFFFF"/>
          </a:solidFill>
          <a:ln w="15875">
            <a:solidFill>
              <a:srgbClr val="E8C5CE"/>
            </a:solidFill>
          </a:ln>
        </p:spPr>
        <p:txBody>
          <a:bodyPr rtlCol="0" anchor="ctr"/>
          <a:lstStyle/>
          <a:p>
            <a:pPr algn="ctr"/>
          </a:p>
        </p:txBody>
      </p:sp>
      <p:sp>
        <p:nvSpPr>
          <p:cNvPr id="37" name="19 Forme 15"/>
          <p:cNvSpPr/>
          <p:nvPr/>
        </p:nvSpPr>
        <p:spPr>
          <a:xfrm>
            <a:off x="3246120" y="2999232"/>
            <a:ext cx="2761488" cy="310896"/>
          </a:xfrm>
          <a:prstGeom prst="roundRect">
            <a:avLst>
              <a:gd name="adj" fmla="val 8000"/>
            </a:avLst>
          </a:prstGeom>
          <a:solidFill>
            <a:srgbClr val="8B4D5C"/>
          </a:solidFill>
          <a:ln>
            <a:noFill/>
          </a:ln>
        </p:spPr>
        <p:txBody>
          <a:bodyPr rtlCol="0" anchor="ctr"/>
          <a:lstStyle/>
          <a:p>
            <a:pPr algn="ctr"/>
          </a:p>
        </p:txBody>
      </p:sp>
      <p:sp>
        <p:nvSpPr>
          <p:cNvPr id="38" name="19 Forme 16"/>
          <p:cNvSpPr/>
          <p:nvPr/>
        </p:nvSpPr>
        <p:spPr>
          <a:xfrm>
            <a:off x="3246120" y="3200399"/>
            <a:ext cx="2761488" cy="109728"/>
          </a:xfrm>
          <a:prstGeom prst="rect">
            <a:avLst/>
          </a:prstGeom>
          <a:solidFill>
            <a:srgbClr val="8B4D5C"/>
          </a:solidFill>
          <a:ln>
            <a:noFill/>
          </a:ln>
        </p:spPr>
        <p:txBody>
          <a:bodyPr rtlCol="0" anchor="ctr"/>
          <a:lstStyle/>
          <a:p>
            <a:pPr algn="ctr"/>
          </a:p>
        </p:txBody>
      </p:sp>
      <p:sp>
        <p:nvSpPr>
          <p:cNvPr id="39" name="19 project_team"/>
          <p:cNvSpPr txBox="1"/>
          <p:nvPr/>
        </p:nvSpPr>
        <p:spPr>
          <a:xfrm>
            <a:off x="3337560" y="3026663"/>
            <a:ext cx="2578608" cy="256032"/>
          </a:xfrm>
          <a:prstGeom prst="rect">
            <a:avLst/>
          </a:prstGeom>
          <a:noFill/>
        </p:spPr>
        <p:txBody>
          <a:bodyPr wrap="square" lIns="0" rIns="0" tIns="0" bIns="0" anchor="t"/>
          <a:lstStyle/>
          <a:p>
            <a:pPr algn="l"/>
            <a:r>
              <a:rPr sz="1300" b="1" i="0">
                <a:solidFill>
                  <a:srgbClr val="FFFFFF"/>
                </a:solidFill>
                <a:latin typeface="Arial"/>
              </a:rPr>
              <a:t>project_team</a:t>
            </a:r>
          </a:p>
        </p:txBody>
      </p:sp>
      <p:sp>
        <p:nvSpPr>
          <p:cNvPr id="40" name="19 project_id → projects"/>
          <p:cNvSpPr txBox="1"/>
          <p:nvPr/>
        </p:nvSpPr>
        <p:spPr>
          <a:xfrm>
            <a:off x="3337560" y="3355847"/>
            <a:ext cx="2596896" cy="182880"/>
          </a:xfrm>
          <a:prstGeom prst="rect">
            <a:avLst/>
          </a:prstGeom>
          <a:noFill/>
        </p:spPr>
        <p:txBody>
          <a:bodyPr wrap="square" lIns="0" rIns="0" tIns="0" bIns="0" anchor="t"/>
          <a:lstStyle/>
          <a:p>
            <a:pPr algn="l"/>
            <a:r>
              <a:rPr sz="1100" b="1" i="0">
                <a:solidFill>
                  <a:srgbClr val="6E3A48"/>
                </a:solidFill>
                <a:latin typeface="Arial"/>
              </a:rPr>
              <a:t>project_id → projects</a:t>
            </a:r>
          </a:p>
        </p:txBody>
      </p:sp>
      <p:sp>
        <p:nvSpPr>
          <p:cNvPr id="41" name="19 team_id → teams 2"/>
          <p:cNvSpPr txBox="1"/>
          <p:nvPr/>
        </p:nvSpPr>
        <p:spPr>
          <a:xfrm>
            <a:off x="3337560" y="3538727"/>
            <a:ext cx="2596896" cy="182880"/>
          </a:xfrm>
          <a:prstGeom prst="rect">
            <a:avLst/>
          </a:prstGeom>
          <a:noFill/>
        </p:spPr>
        <p:txBody>
          <a:bodyPr wrap="square" lIns="0" rIns="0" tIns="0" bIns="0" anchor="t"/>
          <a:lstStyle/>
          <a:p>
            <a:pPr algn="l"/>
            <a:r>
              <a:rPr sz="1100" b="1" i="0">
                <a:solidFill>
                  <a:srgbClr val="6E3A48"/>
                </a:solidFill>
                <a:latin typeface="Arial"/>
              </a:rPr>
              <a:t>team_id → teams</a:t>
            </a:r>
          </a:p>
        </p:txBody>
      </p:sp>
      <p:sp>
        <p:nvSpPr>
          <p:cNvPr id="42" name="19 Forme 17"/>
          <p:cNvSpPr/>
          <p:nvPr/>
        </p:nvSpPr>
        <p:spPr>
          <a:xfrm>
            <a:off x="6144768" y="2999232"/>
            <a:ext cx="2761488" cy="2267712"/>
          </a:xfrm>
          <a:prstGeom prst="roundRect">
            <a:avLst>
              <a:gd name="adj" fmla="val 8000"/>
            </a:avLst>
          </a:prstGeom>
          <a:solidFill>
            <a:srgbClr val="FFFFFF"/>
          </a:solidFill>
          <a:ln w="15875">
            <a:solidFill>
              <a:srgbClr val="E8C5CE"/>
            </a:solidFill>
          </a:ln>
        </p:spPr>
        <p:txBody>
          <a:bodyPr rtlCol="0" anchor="ctr"/>
          <a:lstStyle/>
          <a:p>
            <a:pPr algn="ctr"/>
          </a:p>
        </p:txBody>
      </p:sp>
      <p:sp>
        <p:nvSpPr>
          <p:cNvPr id="43" name="19 Forme 18"/>
          <p:cNvSpPr/>
          <p:nvPr/>
        </p:nvSpPr>
        <p:spPr>
          <a:xfrm>
            <a:off x="6144768" y="2999232"/>
            <a:ext cx="2761488" cy="310896"/>
          </a:xfrm>
          <a:prstGeom prst="roundRect">
            <a:avLst>
              <a:gd name="adj" fmla="val 8000"/>
            </a:avLst>
          </a:prstGeom>
          <a:solidFill>
            <a:srgbClr val="8B4D5C"/>
          </a:solidFill>
          <a:ln>
            <a:noFill/>
          </a:ln>
        </p:spPr>
        <p:txBody>
          <a:bodyPr rtlCol="0" anchor="ctr"/>
          <a:lstStyle/>
          <a:p>
            <a:pPr algn="ctr"/>
          </a:p>
        </p:txBody>
      </p:sp>
      <p:sp>
        <p:nvSpPr>
          <p:cNvPr id="44" name="19 Forme 19"/>
          <p:cNvSpPr/>
          <p:nvPr/>
        </p:nvSpPr>
        <p:spPr>
          <a:xfrm>
            <a:off x="6144768" y="3200399"/>
            <a:ext cx="2761488" cy="109728"/>
          </a:xfrm>
          <a:prstGeom prst="rect">
            <a:avLst/>
          </a:prstGeom>
          <a:solidFill>
            <a:srgbClr val="8B4D5C"/>
          </a:solidFill>
          <a:ln>
            <a:noFill/>
          </a:ln>
        </p:spPr>
        <p:txBody>
          <a:bodyPr rtlCol="0" anchor="ctr"/>
          <a:lstStyle/>
          <a:p>
            <a:pPr algn="ctr"/>
          </a:p>
        </p:txBody>
      </p:sp>
      <p:sp>
        <p:nvSpPr>
          <p:cNvPr id="45" name="19 tasks"/>
          <p:cNvSpPr txBox="1"/>
          <p:nvPr/>
        </p:nvSpPr>
        <p:spPr>
          <a:xfrm>
            <a:off x="6236207" y="3026663"/>
            <a:ext cx="2578608" cy="256032"/>
          </a:xfrm>
          <a:prstGeom prst="rect">
            <a:avLst/>
          </a:prstGeom>
          <a:noFill/>
        </p:spPr>
        <p:txBody>
          <a:bodyPr wrap="square" lIns="0" rIns="0" tIns="0" bIns="0" anchor="t"/>
          <a:lstStyle/>
          <a:p>
            <a:pPr algn="l"/>
            <a:r>
              <a:rPr sz="1300" b="1" i="0">
                <a:solidFill>
                  <a:srgbClr val="FFFFFF"/>
                </a:solidFill>
                <a:latin typeface="Arial"/>
              </a:rPr>
              <a:t>tasks</a:t>
            </a:r>
          </a:p>
        </p:txBody>
      </p:sp>
      <p:sp>
        <p:nvSpPr>
          <p:cNvPr id="46" name="19 id 4"/>
          <p:cNvSpPr txBox="1"/>
          <p:nvPr/>
        </p:nvSpPr>
        <p:spPr>
          <a:xfrm>
            <a:off x="6236207" y="3355847"/>
            <a:ext cx="2596896" cy="182880"/>
          </a:xfrm>
          <a:prstGeom prst="rect">
            <a:avLst/>
          </a:prstGeom>
          <a:noFill/>
        </p:spPr>
        <p:txBody>
          <a:bodyPr wrap="square" lIns="0" rIns="0" tIns="0" bIns="0" anchor="t"/>
          <a:lstStyle/>
          <a:p>
            <a:pPr algn="l"/>
            <a:r>
              <a:rPr sz="1100" b="1" i="0">
                <a:solidFill>
                  <a:srgbClr val="1A1A1A"/>
                </a:solidFill>
                <a:latin typeface="Arial"/>
              </a:rPr>
              <a:t>id</a:t>
            </a:r>
          </a:p>
        </p:txBody>
      </p:sp>
      <p:sp>
        <p:nvSpPr>
          <p:cNvPr id="47" name="19 project_id → projects 2"/>
          <p:cNvSpPr txBox="1"/>
          <p:nvPr/>
        </p:nvSpPr>
        <p:spPr>
          <a:xfrm>
            <a:off x="6236207" y="3538727"/>
            <a:ext cx="2596896" cy="182880"/>
          </a:xfrm>
          <a:prstGeom prst="rect">
            <a:avLst/>
          </a:prstGeom>
          <a:noFill/>
        </p:spPr>
        <p:txBody>
          <a:bodyPr wrap="square" lIns="0" rIns="0" tIns="0" bIns="0" anchor="t"/>
          <a:lstStyle/>
          <a:p>
            <a:pPr algn="l"/>
            <a:r>
              <a:rPr sz="1100" b="0" i="0">
                <a:solidFill>
                  <a:srgbClr val="6E3A48"/>
                </a:solidFill>
                <a:latin typeface="Arial"/>
              </a:rPr>
              <a:t>project_id → projects</a:t>
            </a:r>
          </a:p>
        </p:txBody>
      </p:sp>
      <p:sp>
        <p:nvSpPr>
          <p:cNvPr id="48" name="19 assigned_to → users"/>
          <p:cNvSpPr txBox="1"/>
          <p:nvPr/>
        </p:nvSpPr>
        <p:spPr>
          <a:xfrm>
            <a:off x="6236207" y="3721607"/>
            <a:ext cx="2596896" cy="182880"/>
          </a:xfrm>
          <a:prstGeom prst="rect">
            <a:avLst/>
          </a:prstGeom>
          <a:noFill/>
        </p:spPr>
        <p:txBody>
          <a:bodyPr wrap="square" lIns="0" rIns="0" tIns="0" bIns="0" anchor="t"/>
          <a:lstStyle/>
          <a:p>
            <a:pPr algn="l"/>
            <a:r>
              <a:rPr sz="1100" b="0" i="0">
                <a:solidFill>
                  <a:srgbClr val="6E3A48"/>
                </a:solidFill>
                <a:latin typeface="Arial"/>
              </a:rPr>
              <a:t>assigned_to → users</a:t>
            </a:r>
          </a:p>
        </p:txBody>
      </p:sp>
      <p:sp>
        <p:nvSpPr>
          <p:cNvPr id="49" name="19 title"/>
          <p:cNvSpPr txBox="1"/>
          <p:nvPr/>
        </p:nvSpPr>
        <p:spPr>
          <a:xfrm>
            <a:off x="6236207" y="3904487"/>
            <a:ext cx="2596896" cy="182880"/>
          </a:xfrm>
          <a:prstGeom prst="rect">
            <a:avLst/>
          </a:prstGeom>
          <a:noFill/>
        </p:spPr>
        <p:txBody>
          <a:bodyPr wrap="square" lIns="0" rIns="0" tIns="0" bIns="0" anchor="t"/>
          <a:lstStyle/>
          <a:p>
            <a:pPr algn="l"/>
            <a:r>
              <a:rPr sz="1100" b="0" i="0">
                <a:solidFill>
                  <a:srgbClr val="1A1A1A"/>
                </a:solidFill>
                <a:latin typeface="Arial"/>
              </a:rPr>
              <a:t>title</a:t>
            </a:r>
          </a:p>
        </p:txBody>
      </p:sp>
      <p:sp>
        <p:nvSpPr>
          <p:cNvPr id="50" name="19 description 2"/>
          <p:cNvSpPr txBox="1"/>
          <p:nvPr/>
        </p:nvSpPr>
        <p:spPr>
          <a:xfrm>
            <a:off x="6236207" y="4087368"/>
            <a:ext cx="2596896" cy="182880"/>
          </a:xfrm>
          <a:prstGeom prst="rect">
            <a:avLst/>
          </a:prstGeom>
          <a:noFill/>
        </p:spPr>
        <p:txBody>
          <a:bodyPr wrap="square" lIns="0" rIns="0" tIns="0" bIns="0" anchor="t"/>
          <a:lstStyle/>
          <a:p>
            <a:pPr algn="l"/>
            <a:r>
              <a:rPr sz="1100" b="0" i="0">
                <a:solidFill>
                  <a:srgbClr val="1A1A1A"/>
                </a:solidFill>
                <a:latin typeface="Arial"/>
              </a:rPr>
              <a:t>description</a:t>
            </a:r>
          </a:p>
        </p:txBody>
      </p:sp>
      <p:sp>
        <p:nvSpPr>
          <p:cNvPr id="51" name="19 status"/>
          <p:cNvSpPr txBox="1"/>
          <p:nvPr/>
        </p:nvSpPr>
        <p:spPr>
          <a:xfrm>
            <a:off x="6236207" y="4270248"/>
            <a:ext cx="2596896" cy="182880"/>
          </a:xfrm>
          <a:prstGeom prst="rect">
            <a:avLst/>
          </a:prstGeom>
          <a:noFill/>
        </p:spPr>
        <p:txBody>
          <a:bodyPr wrap="square" lIns="0" rIns="0" tIns="0" bIns="0" anchor="t"/>
          <a:lstStyle/>
          <a:p>
            <a:pPr algn="l"/>
            <a:r>
              <a:rPr sz="1100" b="0" i="0">
                <a:solidFill>
                  <a:srgbClr val="1A1A1A"/>
                </a:solidFill>
                <a:latin typeface="Arial"/>
              </a:rPr>
              <a:t>status</a:t>
            </a:r>
          </a:p>
        </p:txBody>
      </p:sp>
      <p:sp>
        <p:nvSpPr>
          <p:cNvPr id="52" name="19 progress_done"/>
          <p:cNvSpPr txBox="1"/>
          <p:nvPr/>
        </p:nvSpPr>
        <p:spPr>
          <a:xfrm>
            <a:off x="6236207" y="4453127"/>
            <a:ext cx="2596896" cy="182880"/>
          </a:xfrm>
          <a:prstGeom prst="rect">
            <a:avLst/>
          </a:prstGeom>
          <a:noFill/>
        </p:spPr>
        <p:txBody>
          <a:bodyPr wrap="square" lIns="0" rIns="0" tIns="0" bIns="0" anchor="t"/>
          <a:lstStyle/>
          <a:p>
            <a:pPr algn="l"/>
            <a:r>
              <a:rPr sz="1100" b="0" i="0">
                <a:solidFill>
                  <a:srgbClr val="1A1A1A"/>
                </a:solidFill>
                <a:latin typeface="Arial"/>
              </a:rPr>
              <a:t>progress_done</a:t>
            </a:r>
          </a:p>
        </p:txBody>
      </p:sp>
      <p:sp>
        <p:nvSpPr>
          <p:cNvPr id="53" name="19 progress_next"/>
          <p:cNvSpPr txBox="1"/>
          <p:nvPr/>
        </p:nvSpPr>
        <p:spPr>
          <a:xfrm>
            <a:off x="6236207" y="4636007"/>
            <a:ext cx="2596896" cy="182880"/>
          </a:xfrm>
          <a:prstGeom prst="rect">
            <a:avLst/>
          </a:prstGeom>
          <a:noFill/>
        </p:spPr>
        <p:txBody>
          <a:bodyPr wrap="square" lIns="0" rIns="0" tIns="0" bIns="0" anchor="t"/>
          <a:lstStyle/>
          <a:p>
            <a:pPr algn="l"/>
            <a:r>
              <a:rPr sz="1100" b="0" i="0">
                <a:solidFill>
                  <a:srgbClr val="1A1A1A"/>
                </a:solidFill>
                <a:latin typeface="Arial"/>
              </a:rPr>
              <a:t>progress_next</a:t>
            </a:r>
          </a:p>
        </p:txBody>
      </p:sp>
      <p:sp>
        <p:nvSpPr>
          <p:cNvPr id="54" name="19 blocker_note"/>
          <p:cNvSpPr txBox="1"/>
          <p:nvPr/>
        </p:nvSpPr>
        <p:spPr>
          <a:xfrm>
            <a:off x="6236207" y="4818888"/>
            <a:ext cx="2596896" cy="182880"/>
          </a:xfrm>
          <a:prstGeom prst="rect">
            <a:avLst/>
          </a:prstGeom>
          <a:noFill/>
        </p:spPr>
        <p:txBody>
          <a:bodyPr wrap="square" lIns="0" rIns="0" tIns="0" bIns="0" anchor="t"/>
          <a:lstStyle/>
          <a:p>
            <a:pPr algn="l"/>
            <a:r>
              <a:rPr sz="1100" b="0" i="0">
                <a:solidFill>
                  <a:srgbClr val="1A1A1A"/>
                </a:solidFill>
                <a:latin typeface="Arial"/>
              </a:rPr>
              <a:t>blocker_note</a:t>
            </a:r>
          </a:p>
        </p:txBody>
      </p:sp>
      <p:sp>
        <p:nvSpPr>
          <p:cNvPr id="55" name="19 completed_at"/>
          <p:cNvSpPr txBox="1"/>
          <p:nvPr/>
        </p:nvSpPr>
        <p:spPr>
          <a:xfrm>
            <a:off x="6236207" y="5001768"/>
            <a:ext cx="2596896" cy="182880"/>
          </a:xfrm>
          <a:prstGeom prst="rect">
            <a:avLst/>
          </a:prstGeom>
          <a:noFill/>
        </p:spPr>
        <p:txBody>
          <a:bodyPr wrap="square" lIns="0" rIns="0" tIns="0" bIns="0" anchor="t"/>
          <a:lstStyle/>
          <a:p>
            <a:pPr algn="l"/>
            <a:r>
              <a:rPr sz="1100" b="0" i="0">
                <a:solidFill>
                  <a:srgbClr val="1A1A1A"/>
                </a:solidFill>
                <a:latin typeface="Arial"/>
              </a:rPr>
              <a:t>completed_at</a:t>
            </a:r>
          </a:p>
        </p:txBody>
      </p:sp>
      <p:sp>
        <p:nvSpPr>
          <p:cNvPr id="56" name="19 Forme 20"/>
          <p:cNvSpPr/>
          <p:nvPr/>
        </p:nvSpPr>
        <p:spPr>
          <a:xfrm>
            <a:off x="9043416" y="2999232"/>
            <a:ext cx="2761488" cy="1719072"/>
          </a:xfrm>
          <a:prstGeom prst="roundRect">
            <a:avLst>
              <a:gd name="adj" fmla="val 8000"/>
            </a:avLst>
          </a:prstGeom>
          <a:solidFill>
            <a:srgbClr val="FFFFFF"/>
          </a:solidFill>
          <a:ln w="15875">
            <a:solidFill>
              <a:srgbClr val="E8C5CE"/>
            </a:solidFill>
          </a:ln>
        </p:spPr>
        <p:txBody>
          <a:bodyPr rtlCol="0" anchor="ctr"/>
          <a:lstStyle/>
          <a:p>
            <a:pPr algn="ctr"/>
          </a:p>
        </p:txBody>
      </p:sp>
      <p:sp>
        <p:nvSpPr>
          <p:cNvPr id="57" name="19 Forme 21"/>
          <p:cNvSpPr/>
          <p:nvPr/>
        </p:nvSpPr>
        <p:spPr>
          <a:xfrm>
            <a:off x="9043416" y="2999232"/>
            <a:ext cx="2761488" cy="310896"/>
          </a:xfrm>
          <a:prstGeom prst="roundRect">
            <a:avLst>
              <a:gd name="adj" fmla="val 8000"/>
            </a:avLst>
          </a:prstGeom>
          <a:solidFill>
            <a:srgbClr val="8B4D5C"/>
          </a:solidFill>
          <a:ln>
            <a:noFill/>
          </a:ln>
        </p:spPr>
        <p:txBody>
          <a:bodyPr rtlCol="0" anchor="ctr"/>
          <a:lstStyle/>
          <a:p>
            <a:pPr algn="ctr"/>
          </a:p>
        </p:txBody>
      </p:sp>
      <p:sp>
        <p:nvSpPr>
          <p:cNvPr id="58" name="19 Forme 22"/>
          <p:cNvSpPr/>
          <p:nvPr/>
        </p:nvSpPr>
        <p:spPr>
          <a:xfrm>
            <a:off x="9043416" y="3200399"/>
            <a:ext cx="2761488" cy="109728"/>
          </a:xfrm>
          <a:prstGeom prst="rect">
            <a:avLst/>
          </a:prstGeom>
          <a:solidFill>
            <a:srgbClr val="8B4D5C"/>
          </a:solidFill>
          <a:ln>
            <a:noFill/>
          </a:ln>
        </p:spPr>
        <p:txBody>
          <a:bodyPr rtlCol="0" anchor="ctr"/>
          <a:lstStyle/>
          <a:p>
            <a:pPr algn="ctr"/>
          </a:p>
        </p:txBody>
      </p:sp>
      <p:sp>
        <p:nvSpPr>
          <p:cNvPr id="59" name="19 task_updates"/>
          <p:cNvSpPr txBox="1"/>
          <p:nvPr/>
        </p:nvSpPr>
        <p:spPr>
          <a:xfrm>
            <a:off x="9134856" y="3026663"/>
            <a:ext cx="2578608" cy="256032"/>
          </a:xfrm>
          <a:prstGeom prst="rect">
            <a:avLst/>
          </a:prstGeom>
          <a:noFill/>
        </p:spPr>
        <p:txBody>
          <a:bodyPr wrap="square" lIns="0" rIns="0" tIns="0" bIns="0" anchor="t"/>
          <a:lstStyle/>
          <a:p>
            <a:pPr algn="l"/>
            <a:r>
              <a:rPr sz="1300" b="1" i="0">
                <a:solidFill>
                  <a:srgbClr val="FFFFFF"/>
                </a:solidFill>
                <a:latin typeface="Arial"/>
              </a:rPr>
              <a:t>task_updates</a:t>
            </a:r>
          </a:p>
        </p:txBody>
      </p:sp>
      <p:sp>
        <p:nvSpPr>
          <p:cNvPr id="60" name="19 id 5"/>
          <p:cNvSpPr txBox="1"/>
          <p:nvPr/>
        </p:nvSpPr>
        <p:spPr>
          <a:xfrm>
            <a:off x="9134856" y="3355847"/>
            <a:ext cx="2596896" cy="182880"/>
          </a:xfrm>
          <a:prstGeom prst="rect">
            <a:avLst/>
          </a:prstGeom>
          <a:noFill/>
        </p:spPr>
        <p:txBody>
          <a:bodyPr wrap="square" lIns="0" rIns="0" tIns="0" bIns="0" anchor="t"/>
          <a:lstStyle/>
          <a:p>
            <a:pPr algn="l"/>
            <a:r>
              <a:rPr sz="1100" b="1" i="0">
                <a:solidFill>
                  <a:srgbClr val="1A1A1A"/>
                </a:solidFill>
                <a:latin typeface="Arial"/>
              </a:rPr>
              <a:t>id</a:t>
            </a:r>
          </a:p>
        </p:txBody>
      </p:sp>
      <p:sp>
        <p:nvSpPr>
          <p:cNvPr id="61" name="19 task_id → tasks"/>
          <p:cNvSpPr txBox="1"/>
          <p:nvPr/>
        </p:nvSpPr>
        <p:spPr>
          <a:xfrm>
            <a:off x="9134856" y="3538727"/>
            <a:ext cx="2596896" cy="182880"/>
          </a:xfrm>
          <a:prstGeom prst="rect">
            <a:avLst/>
          </a:prstGeom>
          <a:noFill/>
        </p:spPr>
        <p:txBody>
          <a:bodyPr wrap="square" lIns="0" rIns="0" tIns="0" bIns="0" anchor="t"/>
          <a:lstStyle/>
          <a:p>
            <a:pPr algn="l"/>
            <a:r>
              <a:rPr sz="1100" b="0" i="0">
                <a:solidFill>
                  <a:srgbClr val="6E3A48"/>
                </a:solidFill>
                <a:latin typeface="Arial"/>
              </a:rPr>
              <a:t>task_id → tasks</a:t>
            </a:r>
          </a:p>
        </p:txBody>
      </p:sp>
      <p:sp>
        <p:nvSpPr>
          <p:cNvPr id="62" name="19 user_id → users 2"/>
          <p:cNvSpPr txBox="1"/>
          <p:nvPr/>
        </p:nvSpPr>
        <p:spPr>
          <a:xfrm>
            <a:off x="9134856" y="3721607"/>
            <a:ext cx="2596896" cy="182880"/>
          </a:xfrm>
          <a:prstGeom prst="rect">
            <a:avLst/>
          </a:prstGeom>
          <a:noFill/>
        </p:spPr>
        <p:txBody>
          <a:bodyPr wrap="square" lIns="0" rIns="0" tIns="0" bIns="0" anchor="t"/>
          <a:lstStyle/>
          <a:p>
            <a:pPr algn="l"/>
            <a:r>
              <a:rPr sz="1100" b="0" i="0">
                <a:solidFill>
                  <a:srgbClr val="6E3A48"/>
                </a:solidFill>
                <a:latin typeface="Arial"/>
              </a:rPr>
              <a:t>user_id → users</a:t>
            </a:r>
          </a:p>
        </p:txBody>
      </p:sp>
      <p:sp>
        <p:nvSpPr>
          <p:cNvPr id="63" name="19 status 2"/>
          <p:cNvSpPr txBox="1"/>
          <p:nvPr/>
        </p:nvSpPr>
        <p:spPr>
          <a:xfrm>
            <a:off x="9134856" y="3904487"/>
            <a:ext cx="2596896" cy="182880"/>
          </a:xfrm>
          <a:prstGeom prst="rect">
            <a:avLst/>
          </a:prstGeom>
          <a:noFill/>
        </p:spPr>
        <p:txBody>
          <a:bodyPr wrap="square" lIns="0" rIns="0" tIns="0" bIns="0" anchor="t"/>
          <a:lstStyle/>
          <a:p>
            <a:pPr algn="l"/>
            <a:r>
              <a:rPr sz="1100" b="0" i="0">
                <a:solidFill>
                  <a:srgbClr val="1A1A1A"/>
                </a:solidFill>
                <a:latin typeface="Arial"/>
              </a:rPr>
              <a:t>status</a:t>
            </a:r>
          </a:p>
        </p:txBody>
      </p:sp>
      <p:sp>
        <p:nvSpPr>
          <p:cNvPr id="64" name="19 progress_done 2"/>
          <p:cNvSpPr txBox="1"/>
          <p:nvPr/>
        </p:nvSpPr>
        <p:spPr>
          <a:xfrm>
            <a:off x="9134856" y="4087368"/>
            <a:ext cx="2596896" cy="182880"/>
          </a:xfrm>
          <a:prstGeom prst="rect">
            <a:avLst/>
          </a:prstGeom>
          <a:noFill/>
        </p:spPr>
        <p:txBody>
          <a:bodyPr wrap="square" lIns="0" rIns="0" tIns="0" bIns="0" anchor="t"/>
          <a:lstStyle/>
          <a:p>
            <a:pPr algn="l"/>
            <a:r>
              <a:rPr sz="1100" b="0" i="0">
                <a:solidFill>
                  <a:srgbClr val="1A1A1A"/>
                </a:solidFill>
                <a:latin typeface="Arial"/>
              </a:rPr>
              <a:t>progress_done</a:t>
            </a:r>
          </a:p>
        </p:txBody>
      </p:sp>
      <p:sp>
        <p:nvSpPr>
          <p:cNvPr id="65" name="19 progress_next 2"/>
          <p:cNvSpPr txBox="1"/>
          <p:nvPr/>
        </p:nvSpPr>
        <p:spPr>
          <a:xfrm>
            <a:off x="9134856" y="4270248"/>
            <a:ext cx="2596896" cy="182880"/>
          </a:xfrm>
          <a:prstGeom prst="rect">
            <a:avLst/>
          </a:prstGeom>
          <a:noFill/>
        </p:spPr>
        <p:txBody>
          <a:bodyPr wrap="square" lIns="0" rIns="0" tIns="0" bIns="0" anchor="t"/>
          <a:lstStyle/>
          <a:p>
            <a:pPr algn="l"/>
            <a:r>
              <a:rPr sz="1100" b="0" i="0">
                <a:solidFill>
                  <a:srgbClr val="1A1A1A"/>
                </a:solidFill>
                <a:latin typeface="Arial"/>
              </a:rPr>
              <a:t>progress_next</a:t>
            </a:r>
          </a:p>
        </p:txBody>
      </p:sp>
      <p:sp>
        <p:nvSpPr>
          <p:cNvPr id="66" name="19 blocker_note 2"/>
          <p:cNvSpPr txBox="1"/>
          <p:nvPr/>
        </p:nvSpPr>
        <p:spPr>
          <a:xfrm>
            <a:off x="9134856" y="4453127"/>
            <a:ext cx="2596896" cy="182880"/>
          </a:xfrm>
          <a:prstGeom prst="rect">
            <a:avLst/>
          </a:prstGeom>
          <a:noFill/>
        </p:spPr>
        <p:txBody>
          <a:bodyPr wrap="square" lIns="0" rIns="0" tIns="0" bIns="0" anchor="t"/>
          <a:lstStyle/>
          <a:p>
            <a:pPr algn="l"/>
            <a:r>
              <a:rPr sz="1100" b="0" i="0">
                <a:solidFill>
                  <a:srgbClr val="1A1A1A"/>
                </a:solidFill>
                <a:latin typeface="Arial"/>
              </a:rPr>
              <a:t>blocker_note</a:t>
            </a:r>
          </a:p>
        </p:txBody>
      </p:sp>
      <p:sp>
        <p:nvSpPr>
          <p:cNvPr id="67" name="19 Forme 23"/>
          <p:cNvSpPr/>
          <p:nvPr/>
        </p:nvSpPr>
        <p:spPr>
          <a:xfrm>
            <a:off x="347472" y="5596128"/>
            <a:ext cx="11484864" cy="658368"/>
          </a:xfrm>
          <a:prstGeom prst="roundRect">
            <a:avLst>
              <a:gd name="adj" fmla="val 8000"/>
            </a:avLst>
          </a:prstGeom>
          <a:solidFill>
            <a:srgbClr val="F6E8ED"/>
          </a:solidFill>
          <a:ln w="15875">
            <a:solidFill>
              <a:srgbClr val="E8C5CE"/>
            </a:solidFill>
          </a:ln>
        </p:spPr>
        <p:txBody>
          <a:bodyPr rtlCol="0" anchor="ctr"/>
          <a:lstStyle/>
          <a:p>
            <a:pPr algn="ctr"/>
          </a:p>
        </p:txBody>
      </p:sp>
      <p:sp>
        <p:nvSpPr>
          <p:cNvPr id="68" name="19 La clé primaire est en gras, la clé étr…"/>
          <p:cNvSpPr txBox="1"/>
          <p:nvPr/>
        </p:nvSpPr>
        <p:spPr>
          <a:xfrm>
            <a:off x="502920" y="5724144"/>
            <a:ext cx="11155680" cy="420624"/>
          </a:xfrm>
          <a:prstGeom prst="rect">
            <a:avLst/>
          </a:prstGeom>
          <a:noFill/>
        </p:spPr>
        <p:txBody>
          <a:bodyPr wrap="square" lIns="0" rIns="0" tIns="0" bIns="0" anchor="t"/>
          <a:lstStyle/>
          <a:p>
            <a:pPr algn="l"/>
            <a:r>
              <a:rPr sz="1400" b="0" i="0">
                <a:solidFill>
                  <a:srgbClr val="1A1A1A"/>
                </a:solidFill>
                <a:latin typeface="Arial"/>
              </a:rPr>
              <a:t>La clé primaire est en gras, la clé étrangère en rose. created_at et updated_at sont sur chaque table, sauf project_team.</a:t>
            </a:r>
          </a:p>
        </p:txBody>
      </p:sp>
      <p:sp>
        <p:nvSpPr>
          <p:cNvPr id="69" name="19 Forme 24"/>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70" name="19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71" name="19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72" name="19 C7  ·  Base de données relationnelle"/>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C7  ·  Base de données relationnelle</a:t>
            </a:r>
          </a:p>
        </p:txBody>
      </p:sp>
      <p:sp>
        <p:nvSpPr>
          <p:cNvPr id="73" name="19 19"/>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20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20 03   CONCEPTION"/>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03   CONCEPTION</a:t>
            </a:r>
          </a:p>
        </p:txBody>
      </p:sp>
      <p:sp>
        <p:nvSpPr>
          <p:cNvPr id="4" name="20 Un serveur, deux clients"/>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Un serveur, deux clients</a:t>
            </a:r>
          </a:p>
        </p:txBody>
      </p:sp>
      <p:sp>
        <p:nvSpPr>
          <p:cNvPr id="5" name="20 Forme 2"/>
          <p:cNvSpPr/>
          <p:nvPr/>
        </p:nvSpPr>
        <p:spPr>
          <a:xfrm>
            <a:off x="411480" y="1097280"/>
            <a:ext cx="11338560" cy="2880360"/>
          </a:xfrm>
          <a:prstGeom prst="roundRect">
            <a:avLst>
              <a:gd name="adj" fmla="val 6000"/>
            </a:avLst>
          </a:prstGeom>
          <a:solidFill>
            <a:srgbClr val="FFFFFF"/>
          </a:solidFill>
          <a:ln w="15875">
            <a:solidFill>
              <a:srgbClr val="E8C5CE"/>
            </a:solidFill>
          </a:ln>
        </p:spPr>
        <p:txBody>
          <a:bodyPr rtlCol="0" anchor="ctr"/>
          <a:lstStyle/>
          <a:p>
            <a:pPr algn="ctr"/>
          </a:p>
        </p:txBody>
      </p:sp>
      <p:pic>
        <p:nvPicPr>
          <p:cNvPr id="6" name="20 Image" descr="arch.png"/>
          <p:cNvPicPr>
            <a:picLocks noChangeAspect="1"/>
          </p:cNvPicPr>
          <p:nvPr/>
        </p:nvPicPr>
        <p:blipFill>
          <a:blip r:embed="rId2"/>
          <a:stretch>
            <a:fillRect/>
          </a:stretch>
        </p:blipFill>
        <p:spPr>
          <a:xfrm>
            <a:off x="2151838" y="1234440"/>
            <a:ext cx="7903563" cy="2606040"/>
          </a:xfrm>
          <a:prstGeom prst="rect">
            <a:avLst/>
          </a:prstGeom>
        </p:spPr>
      </p:pic>
      <p:sp>
        <p:nvSpPr>
          <p:cNvPr id="7" name="20 Forme 3"/>
          <p:cNvSpPr/>
          <p:nvPr/>
        </p:nvSpPr>
        <p:spPr>
          <a:xfrm>
            <a:off x="411480" y="4160520"/>
            <a:ext cx="2788920" cy="114300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8" name="20 Navigateur"/>
          <p:cNvSpPr txBox="1"/>
          <p:nvPr/>
        </p:nvSpPr>
        <p:spPr>
          <a:xfrm>
            <a:off x="548640" y="4279392"/>
            <a:ext cx="2514600" cy="292608"/>
          </a:xfrm>
          <a:prstGeom prst="rect">
            <a:avLst/>
          </a:prstGeom>
          <a:noFill/>
        </p:spPr>
        <p:txBody>
          <a:bodyPr wrap="square" lIns="0" rIns="0" tIns="0" bIns="0" anchor="t"/>
          <a:lstStyle/>
          <a:p>
            <a:pPr algn="l"/>
            <a:r>
              <a:rPr sz="1400" b="1" i="0">
                <a:solidFill>
                  <a:srgbClr val="1A1A1A"/>
                </a:solidFill>
                <a:latin typeface="Arial"/>
              </a:rPr>
              <a:t>Navigateur</a:t>
            </a:r>
          </a:p>
        </p:txBody>
      </p:sp>
      <p:sp>
        <p:nvSpPr>
          <p:cNvPr id="9" name="20 Session, pages HTML."/>
          <p:cNvSpPr txBox="1"/>
          <p:nvPr/>
        </p:nvSpPr>
        <p:spPr>
          <a:xfrm>
            <a:off x="548640" y="4617720"/>
            <a:ext cx="2514600" cy="530352"/>
          </a:xfrm>
          <a:prstGeom prst="rect">
            <a:avLst/>
          </a:prstGeom>
          <a:noFill/>
        </p:spPr>
        <p:txBody>
          <a:bodyPr wrap="square" lIns="0" rIns="0" tIns="0" bIns="0" anchor="t"/>
          <a:lstStyle/>
          <a:p>
            <a:pPr algn="l"/>
            <a:r>
              <a:rPr sz="1300" b="0" i="0">
                <a:solidFill>
                  <a:srgbClr val="5E4E53"/>
                </a:solidFill>
                <a:latin typeface="Arial"/>
              </a:rPr>
              <a:t>Session, pages HTML.</a:t>
            </a:r>
          </a:p>
        </p:txBody>
      </p:sp>
      <p:sp>
        <p:nvSpPr>
          <p:cNvPr id="10" name="20 Forme 4"/>
          <p:cNvSpPr/>
          <p:nvPr/>
        </p:nvSpPr>
        <p:spPr>
          <a:xfrm>
            <a:off x="3337560" y="4160520"/>
            <a:ext cx="2788920" cy="114300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1" name="20 iPhone"/>
          <p:cNvSpPr txBox="1"/>
          <p:nvPr/>
        </p:nvSpPr>
        <p:spPr>
          <a:xfrm>
            <a:off x="3474720" y="4279392"/>
            <a:ext cx="2514600" cy="292608"/>
          </a:xfrm>
          <a:prstGeom prst="rect">
            <a:avLst/>
          </a:prstGeom>
          <a:noFill/>
        </p:spPr>
        <p:txBody>
          <a:bodyPr wrap="square" lIns="0" rIns="0" tIns="0" bIns="0" anchor="t"/>
          <a:lstStyle/>
          <a:p>
            <a:pPr algn="l"/>
            <a:r>
              <a:rPr sz="1400" b="1" i="0">
                <a:solidFill>
                  <a:srgbClr val="1A1A1A"/>
                </a:solidFill>
                <a:latin typeface="Arial"/>
              </a:rPr>
              <a:t>iPhone</a:t>
            </a:r>
          </a:p>
        </p:txBody>
      </p:sp>
      <p:sp>
        <p:nvSpPr>
          <p:cNvPr id="12" name="20 Réponses JSON."/>
          <p:cNvSpPr txBox="1"/>
          <p:nvPr/>
        </p:nvSpPr>
        <p:spPr>
          <a:xfrm>
            <a:off x="3474720" y="4617720"/>
            <a:ext cx="2514600" cy="530352"/>
          </a:xfrm>
          <a:prstGeom prst="rect">
            <a:avLst/>
          </a:prstGeom>
          <a:noFill/>
        </p:spPr>
        <p:txBody>
          <a:bodyPr wrap="square" lIns="0" rIns="0" tIns="0" bIns="0" anchor="t"/>
          <a:lstStyle/>
          <a:p>
            <a:pPr algn="l"/>
            <a:r>
              <a:rPr sz="1300" b="0" i="0">
                <a:solidFill>
                  <a:srgbClr val="5E4E53"/>
                </a:solidFill>
                <a:latin typeface="Arial"/>
              </a:rPr>
              <a:t>Réponses JSON.</a:t>
            </a:r>
          </a:p>
        </p:txBody>
      </p:sp>
      <p:sp>
        <p:nvSpPr>
          <p:cNvPr id="13" name="20 Forme 5"/>
          <p:cNvSpPr/>
          <p:nvPr/>
        </p:nvSpPr>
        <p:spPr>
          <a:xfrm>
            <a:off x="6263640" y="4160520"/>
            <a:ext cx="2788920" cy="114300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4" name="20 Même catalogue"/>
          <p:cNvSpPr txBox="1"/>
          <p:nvPr/>
        </p:nvSpPr>
        <p:spPr>
          <a:xfrm>
            <a:off x="6400800" y="4279392"/>
            <a:ext cx="2514600" cy="292608"/>
          </a:xfrm>
          <a:prstGeom prst="rect">
            <a:avLst/>
          </a:prstGeom>
          <a:noFill/>
        </p:spPr>
        <p:txBody>
          <a:bodyPr wrap="square" lIns="0" rIns="0" tIns="0" bIns="0" anchor="t"/>
          <a:lstStyle/>
          <a:p>
            <a:pPr algn="l"/>
            <a:r>
              <a:rPr sz="1400" b="1" i="0">
                <a:solidFill>
                  <a:srgbClr val="1A1A1A"/>
                </a:solidFill>
                <a:latin typeface="Arial"/>
              </a:rPr>
              <a:t>Même catalogue</a:t>
            </a:r>
          </a:p>
        </p:txBody>
      </p:sp>
      <p:sp>
        <p:nvSpPr>
          <p:cNvPr id="15" name="20 Les mêmes adresses pour les deux."/>
          <p:cNvSpPr txBox="1"/>
          <p:nvPr/>
        </p:nvSpPr>
        <p:spPr>
          <a:xfrm>
            <a:off x="6400800" y="4617720"/>
            <a:ext cx="2514600" cy="530352"/>
          </a:xfrm>
          <a:prstGeom prst="rect">
            <a:avLst/>
          </a:prstGeom>
          <a:noFill/>
        </p:spPr>
        <p:txBody>
          <a:bodyPr wrap="square" lIns="0" rIns="0" tIns="0" bIns="0" anchor="t"/>
          <a:lstStyle/>
          <a:p>
            <a:pPr algn="l"/>
            <a:r>
              <a:rPr sz="1300" b="0" i="0">
                <a:solidFill>
                  <a:srgbClr val="5E4E53"/>
                </a:solidFill>
                <a:latin typeface="Arial"/>
              </a:rPr>
              <a:t>Les mêmes adresses pour les deux.</a:t>
            </a:r>
          </a:p>
        </p:txBody>
      </p:sp>
      <p:sp>
        <p:nvSpPr>
          <p:cNvPr id="16" name="20 Forme 6"/>
          <p:cNvSpPr/>
          <p:nvPr/>
        </p:nvSpPr>
        <p:spPr>
          <a:xfrm>
            <a:off x="9189720" y="4160520"/>
            <a:ext cx="2788920" cy="114300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7" name="20 Réponse"/>
          <p:cNvSpPr txBox="1"/>
          <p:nvPr/>
        </p:nvSpPr>
        <p:spPr>
          <a:xfrm>
            <a:off x="9326880" y="4279392"/>
            <a:ext cx="2514600" cy="292608"/>
          </a:xfrm>
          <a:prstGeom prst="rect">
            <a:avLst/>
          </a:prstGeom>
          <a:noFill/>
        </p:spPr>
        <p:txBody>
          <a:bodyPr wrap="square" lIns="0" rIns="0" tIns="0" bIns="0" anchor="t"/>
          <a:lstStyle/>
          <a:p>
            <a:pPr algn="l"/>
            <a:r>
              <a:rPr sz="1400" b="1" i="0">
                <a:solidFill>
                  <a:srgbClr val="1A1A1A"/>
                </a:solidFill>
                <a:latin typeface="Arial"/>
              </a:rPr>
              <a:t>Réponse</a:t>
            </a:r>
          </a:p>
        </p:txBody>
      </p:sp>
      <p:sp>
        <p:nvSpPr>
          <p:cNvPr id="18" name="20 Une page, ou des données."/>
          <p:cNvSpPr txBox="1"/>
          <p:nvPr/>
        </p:nvSpPr>
        <p:spPr>
          <a:xfrm>
            <a:off x="9326880" y="4617720"/>
            <a:ext cx="2514600" cy="530352"/>
          </a:xfrm>
          <a:prstGeom prst="rect">
            <a:avLst/>
          </a:prstGeom>
          <a:noFill/>
        </p:spPr>
        <p:txBody>
          <a:bodyPr wrap="square" lIns="0" rIns="0" tIns="0" bIns="0" anchor="t"/>
          <a:lstStyle/>
          <a:p>
            <a:pPr algn="l"/>
            <a:r>
              <a:rPr sz="1300" b="0" i="0">
                <a:solidFill>
                  <a:srgbClr val="5E4E53"/>
                </a:solidFill>
                <a:latin typeface="Arial"/>
              </a:rPr>
              <a:t>Une page, ou des données.</a:t>
            </a:r>
          </a:p>
        </p:txBody>
      </p:sp>
      <p:sp>
        <p:nvSpPr>
          <p:cNvPr id="19" name="20 Laravel, PHP, MySQL en local, MariaDB e…"/>
          <p:cNvSpPr txBox="1"/>
          <p:nvPr/>
        </p:nvSpPr>
        <p:spPr>
          <a:xfrm>
            <a:off x="457200" y="5486400"/>
            <a:ext cx="11247120" cy="365760"/>
          </a:xfrm>
          <a:prstGeom prst="rect">
            <a:avLst/>
          </a:prstGeom>
          <a:noFill/>
        </p:spPr>
        <p:txBody>
          <a:bodyPr wrap="square" lIns="0" rIns="0" tIns="0" bIns="0" anchor="t"/>
          <a:lstStyle/>
          <a:p>
            <a:pPr algn="l"/>
            <a:r>
              <a:rPr sz="1400" b="0" i="0">
                <a:solidFill>
                  <a:srgbClr val="5E4E53"/>
                </a:solidFill>
                <a:latin typeface="Arial"/>
              </a:rPr>
              <a:t>Laravel, PHP, MySQL en local, MariaDB en ligne, Flutter.</a:t>
            </a:r>
          </a:p>
        </p:txBody>
      </p:sp>
      <p:sp>
        <p:nvSpPr>
          <p:cNvPr id="20" name="20 Forme 7"/>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1" name="20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2" name="20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3" name="20 C6  ·  Définir l'architecture logicielle"/>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C6  ·  Définir l'architecture logicielle</a:t>
            </a:r>
          </a:p>
        </p:txBody>
      </p:sp>
      <p:sp>
        <p:nvSpPr>
          <p:cNvPr id="24" name="20 20"/>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21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21 04   RÉALISATION"/>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04   RÉALISATION</a:t>
            </a:r>
          </a:p>
        </p:txBody>
      </p:sp>
      <p:sp>
        <p:nvSpPr>
          <p:cNvPr id="4" name="21 L'application web"/>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L'application web</a:t>
            </a:r>
          </a:p>
        </p:txBody>
      </p:sp>
      <p:sp>
        <p:nvSpPr>
          <p:cNvPr id="5" name="21 Forme 2"/>
          <p:cNvSpPr/>
          <p:nvPr/>
        </p:nvSpPr>
        <p:spPr>
          <a:xfrm>
            <a:off x="365760" y="1115568"/>
            <a:ext cx="3767328" cy="2797009"/>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21 Chef d'équipe"/>
          <p:cNvSpPr txBox="1"/>
          <p:nvPr/>
        </p:nvSpPr>
        <p:spPr>
          <a:xfrm>
            <a:off x="530352" y="1207008"/>
            <a:ext cx="3438144" cy="256032"/>
          </a:xfrm>
          <a:prstGeom prst="rect">
            <a:avLst/>
          </a:prstGeom>
          <a:noFill/>
        </p:spPr>
        <p:txBody>
          <a:bodyPr wrap="square" lIns="0" rIns="0" tIns="0" bIns="0" anchor="t"/>
          <a:lstStyle/>
          <a:p>
            <a:pPr algn="l"/>
            <a:r>
              <a:rPr sz="1400" b="1" i="0">
                <a:solidFill>
                  <a:srgbClr val="8B4D5C"/>
                </a:solidFill>
                <a:latin typeface="Arial"/>
              </a:rPr>
              <a:t>Chef d'équipe</a:t>
            </a:r>
          </a:p>
        </p:txBody>
      </p:sp>
      <p:sp>
        <p:nvSpPr>
          <p:cNvPr id="7" name="21 Taux, tâches, compteurs de l'équipe, do…"/>
          <p:cNvSpPr txBox="1"/>
          <p:nvPr/>
        </p:nvSpPr>
        <p:spPr>
          <a:xfrm>
            <a:off x="530352" y="1463040"/>
            <a:ext cx="3438144" cy="502920"/>
          </a:xfrm>
          <a:prstGeom prst="rect">
            <a:avLst/>
          </a:prstGeom>
          <a:noFill/>
        </p:spPr>
        <p:txBody>
          <a:bodyPr wrap="square" lIns="0" rIns="0" tIns="0" bIns="0" anchor="t"/>
          <a:lstStyle/>
          <a:p>
            <a:pPr algn="l"/>
            <a:r>
              <a:rPr sz="1300" b="0" i="0">
                <a:solidFill>
                  <a:srgbClr val="1A1A1A"/>
                </a:solidFill>
                <a:latin typeface="Arial"/>
              </a:rPr>
              <a:t>Taux, tâches, compteurs de l'équipe, dont les bloquées.</a:t>
            </a:r>
          </a:p>
        </p:txBody>
      </p:sp>
      <p:pic>
        <p:nvPicPr>
          <p:cNvPr id="8" name="21 Image" descr="web-dashboard-lead-crop.png"/>
          <p:cNvPicPr>
            <a:picLocks noChangeAspect="1"/>
          </p:cNvPicPr>
          <p:nvPr/>
        </p:nvPicPr>
        <p:blipFill>
          <a:blip r:embed="rId2"/>
          <a:stretch>
            <a:fillRect/>
          </a:stretch>
        </p:blipFill>
        <p:spPr>
          <a:xfrm>
            <a:off x="512064" y="2029968"/>
            <a:ext cx="3474720" cy="1663153"/>
          </a:xfrm>
          <a:prstGeom prst="rect">
            <a:avLst/>
          </a:prstGeom>
        </p:spPr>
      </p:pic>
      <p:sp>
        <p:nvSpPr>
          <p:cNvPr id="9" name="21 Forme 3"/>
          <p:cNvSpPr/>
          <p:nvPr/>
        </p:nvSpPr>
        <p:spPr>
          <a:xfrm>
            <a:off x="4279392" y="1115568"/>
            <a:ext cx="3767328" cy="2797009"/>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0" name="21 Membre"/>
          <p:cNvSpPr txBox="1"/>
          <p:nvPr/>
        </p:nvSpPr>
        <p:spPr>
          <a:xfrm>
            <a:off x="4443984" y="1207008"/>
            <a:ext cx="3438144" cy="256032"/>
          </a:xfrm>
          <a:prstGeom prst="rect">
            <a:avLst/>
          </a:prstGeom>
          <a:noFill/>
        </p:spPr>
        <p:txBody>
          <a:bodyPr wrap="square" lIns="0" rIns="0" tIns="0" bIns="0" anchor="t"/>
          <a:lstStyle/>
          <a:p>
            <a:pPr algn="l"/>
            <a:r>
              <a:rPr sz="1400" b="1" i="0">
                <a:solidFill>
                  <a:srgbClr val="8B4D5C"/>
                </a:solidFill>
                <a:latin typeface="Arial"/>
              </a:rPr>
              <a:t>Membre</a:t>
            </a:r>
          </a:p>
        </p:txBody>
      </p:sp>
      <p:sp>
        <p:nvSpPr>
          <p:cNvPr id="11" name="21 Statut, réalisé, à venir. L'historique…"/>
          <p:cNvSpPr txBox="1"/>
          <p:nvPr/>
        </p:nvSpPr>
        <p:spPr>
          <a:xfrm>
            <a:off x="4443984" y="1463040"/>
            <a:ext cx="3438144" cy="502920"/>
          </a:xfrm>
          <a:prstGeom prst="rect">
            <a:avLst/>
          </a:prstGeom>
          <a:noFill/>
        </p:spPr>
        <p:txBody>
          <a:bodyPr wrap="square" lIns="0" rIns="0" tIns="0" bIns="0" anchor="t"/>
          <a:lstStyle/>
          <a:p>
            <a:pPr algn="l"/>
            <a:r>
              <a:rPr sz="1300" b="0" i="0">
                <a:solidFill>
                  <a:srgbClr val="1A1A1A"/>
                </a:solidFill>
                <a:latin typeface="Arial"/>
              </a:rPr>
              <a:t>Statut, réalisé, à venir. L'historique sous la fiche.</a:t>
            </a:r>
          </a:p>
        </p:txBody>
      </p:sp>
      <p:pic>
        <p:nvPicPr>
          <p:cNvPr id="12" name="21 Image 2" descr="web-task-detail-crop.png"/>
          <p:cNvPicPr>
            <a:picLocks noChangeAspect="1"/>
          </p:cNvPicPr>
          <p:nvPr/>
        </p:nvPicPr>
        <p:blipFill>
          <a:blip r:embed="rId3"/>
          <a:stretch>
            <a:fillRect/>
          </a:stretch>
        </p:blipFill>
        <p:spPr>
          <a:xfrm>
            <a:off x="4425696" y="2029968"/>
            <a:ext cx="3474720" cy="1626050"/>
          </a:xfrm>
          <a:prstGeom prst="rect">
            <a:avLst/>
          </a:prstGeom>
        </p:spPr>
      </p:pic>
      <p:sp>
        <p:nvSpPr>
          <p:cNvPr id="13" name="21 Forme 4"/>
          <p:cNvSpPr/>
          <p:nvPr/>
        </p:nvSpPr>
        <p:spPr>
          <a:xfrm>
            <a:off x="8193024" y="1115568"/>
            <a:ext cx="3767328" cy="2797009"/>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4" name="21 Administrateur"/>
          <p:cNvSpPr txBox="1"/>
          <p:nvPr/>
        </p:nvSpPr>
        <p:spPr>
          <a:xfrm>
            <a:off x="8357616" y="1207008"/>
            <a:ext cx="3438144" cy="256032"/>
          </a:xfrm>
          <a:prstGeom prst="rect">
            <a:avLst/>
          </a:prstGeom>
          <a:noFill/>
        </p:spPr>
        <p:txBody>
          <a:bodyPr wrap="square" lIns="0" rIns="0" tIns="0" bIns="0" anchor="t"/>
          <a:lstStyle/>
          <a:p>
            <a:pPr algn="l"/>
            <a:r>
              <a:rPr sz="1400" b="1" i="0">
                <a:solidFill>
                  <a:srgbClr val="8B4D5C"/>
                </a:solidFill>
                <a:latin typeface="Arial"/>
              </a:rPr>
              <a:t>Administrateur</a:t>
            </a:r>
          </a:p>
        </p:txBody>
      </p:sp>
      <p:sp>
        <p:nvSpPr>
          <p:cNvPr id="15" name="21 Effectifs, taux global, répartition des…"/>
          <p:cNvSpPr txBox="1"/>
          <p:nvPr/>
        </p:nvSpPr>
        <p:spPr>
          <a:xfrm>
            <a:off x="8357616" y="1463040"/>
            <a:ext cx="3438144" cy="502920"/>
          </a:xfrm>
          <a:prstGeom prst="rect">
            <a:avLst/>
          </a:prstGeom>
          <a:noFill/>
        </p:spPr>
        <p:txBody>
          <a:bodyPr wrap="square" lIns="0" rIns="0" tIns="0" bIns="0" anchor="t"/>
          <a:lstStyle/>
          <a:p>
            <a:pPr algn="l"/>
            <a:r>
              <a:rPr sz="1300" b="0" i="0">
                <a:solidFill>
                  <a:srgbClr val="1A1A1A"/>
                </a:solidFill>
                <a:latin typeface="Arial"/>
              </a:rPr>
              <a:t>Effectifs, taux global, répartition des statuts.</a:t>
            </a:r>
          </a:p>
        </p:txBody>
      </p:sp>
      <p:pic>
        <p:nvPicPr>
          <p:cNvPr id="16" name="21 Image 3" descr="web-admin-dashboard-crop.png"/>
          <p:cNvPicPr>
            <a:picLocks noChangeAspect="1"/>
          </p:cNvPicPr>
          <p:nvPr/>
        </p:nvPicPr>
        <p:blipFill>
          <a:blip r:embed="rId4"/>
          <a:stretch>
            <a:fillRect/>
          </a:stretch>
        </p:blipFill>
        <p:spPr>
          <a:xfrm>
            <a:off x="8339328" y="2029968"/>
            <a:ext cx="3474720" cy="1650167"/>
          </a:xfrm>
          <a:prstGeom prst="rect">
            <a:avLst/>
          </a:prstGeom>
        </p:spPr>
      </p:pic>
      <p:sp>
        <p:nvSpPr>
          <p:cNvPr id="17" name="21 Français et anglais. Thème clair et thè…"/>
          <p:cNvSpPr txBox="1"/>
          <p:nvPr/>
        </p:nvSpPr>
        <p:spPr>
          <a:xfrm>
            <a:off x="457200" y="4058881"/>
            <a:ext cx="11155680" cy="365760"/>
          </a:xfrm>
          <a:prstGeom prst="rect">
            <a:avLst/>
          </a:prstGeom>
          <a:noFill/>
        </p:spPr>
        <p:txBody>
          <a:bodyPr wrap="square" lIns="0" rIns="0" tIns="0" bIns="0" anchor="t"/>
          <a:lstStyle/>
          <a:p>
            <a:pPr algn="ctr"/>
            <a:r>
              <a:rPr sz="1400" b="0" i="0">
                <a:solidFill>
                  <a:srgbClr val="5E4E53"/>
                </a:solidFill>
                <a:latin typeface="Arial"/>
              </a:rPr>
              <a:t>Français et anglais. Thème clair et thème sombre.</a:t>
            </a:r>
          </a:p>
        </p:txBody>
      </p:sp>
      <p:sp>
        <p:nvSpPr>
          <p:cNvPr id="18" name="21 Forme 5"/>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19" name="21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0" name="21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1" name="21 C2  ·  Développer des interface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C2  ·  Développer des interfaces</a:t>
            </a:r>
          </a:p>
        </p:txBody>
      </p:sp>
      <p:sp>
        <p:nvSpPr>
          <p:cNvPr id="22" name="21 21"/>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22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22 04   RÉALISATION"/>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04   RÉALISATION</a:t>
            </a:r>
          </a:p>
        </p:txBody>
      </p:sp>
      <p:sp>
        <p:nvSpPr>
          <p:cNvPr id="4" name="22 L'application sur iPhone"/>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L'application sur iPhone</a:t>
            </a:r>
          </a:p>
        </p:txBody>
      </p:sp>
      <p:sp>
        <p:nvSpPr>
          <p:cNvPr id="5" name="22 Les mêmes parcours, sur le serveur en l…"/>
          <p:cNvSpPr txBox="1"/>
          <p:nvPr/>
        </p:nvSpPr>
        <p:spPr>
          <a:xfrm>
            <a:off x="457200" y="1024128"/>
            <a:ext cx="11155680" cy="365760"/>
          </a:xfrm>
          <a:prstGeom prst="rect">
            <a:avLst/>
          </a:prstGeom>
          <a:noFill/>
        </p:spPr>
        <p:txBody>
          <a:bodyPr wrap="square" lIns="0" rIns="0" tIns="0" bIns="0" anchor="t"/>
          <a:lstStyle/>
          <a:p>
            <a:pPr algn="l"/>
            <a:r>
              <a:rPr sz="1500" b="0" i="0">
                <a:solidFill>
                  <a:srgbClr val="5E4E53"/>
                </a:solidFill>
                <a:latin typeface="Arial"/>
              </a:rPr>
              <a:t>Les mêmes parcours, sur le serveur en ligne.</a:t>
            </a:r>
          </a:p>
        </p:txBody>
      </p:sp>
      <p:sp>
        <p:nvSpPr>
          <p:cNvPr id="6" name="22 Forme 2"/>
          <p:cNvSpPr/>
          <p:nvPr/>
        </p:nvSpPr>
        <p:spPr>
          <a:xfrm>
            <a:off x="1051560" y="1508760"/>
            <a:ext cx="2880360" cy="4434840"/>
          </a:xfrm>
          <a:prstGeom prst="roundRect">
            <a:avLst>
              <a:gd name="adj" fmla="val 12000"/>
            </a:avLst>
          </a:prstGeom>
          <a:solidFill>
            <a:srgbClr val="FFFFFF"/>
          </a:solidFill>
          <a:ln w="15875">
            <a:solidFill>
              <a:srgbClr val="E8C5CE"/>
            </a:solidFill>
          </a:ln>
        </p:spPr>
        <p:txBody>
          <a:bodyPr rtlCol="0" anchor="ctr"/>
          <a:lstStyle/>
          <a:p>
            <a:pPr algn="ctr"/>
          </a:p>
        </p:txBody>
      </p:sp>
      <p:pic>
        <p:nvPicPr>
          <p:cNvPr id="7" name="22 Image" descr="mobile-dashboard.png"/>
          <p:cNvPicPr>
            <a:picLocks noChangeAspect="1"/>
          </p:cNvPicPr>
          <p:nvPr/>
        </p:nvPicPr>
        <p:blipFill>
          <a:blip r:embed="rId2"/>
          <a:stretch>
            <a:fillRect/>
          </a:stretch>
        </p:blipFill>
        <p:spPr>
          <a:xfrm>
            <a:off x="1616540" y="1627632"/>
            <a:ext cx="1750399" cy="3794760"/>
          </a:xfrm>
          <a:prstGeom prst="rect">
            <a:avLst/>
          </a:prstGeom>
        </p:spPr>
      </p:pic>
      <p:sp>
        <p:nvSpPr>
          <p:cNvPr id="8" name="22 Tableau de bord"/>
          <p:cNvSpPr txBox="1"/>
          <p:nvPr/>
        </p:nvSpPr>
        <p:spPr>
          <a:xfrm>
            <a:off x="1051560" y="5961888"/>
            <a:ext cx="2880360" cy="292608"/>
          </a:xfrm>
          <a:prstGeom prst="rect">
            <a:avLst/>
          </a:prstGeom>
          <a:noFill/>
        </p:spPr>
        <p:txBody>
          <a:bodyPr wrap="square" lIns="0" rIns="0" tIns="0" bIns="0" anchor="t"/>
          <a:lstStyle/>
          <a:p>
            <a:pPr algn="ctr"/>
            <a:r>
              <a:rPr sz="1300" b="1" i="0">
                <a:solidFill>
                  <a:srgbClr val="1A1A1A"/>
                </a:solidFill>
                <a:latin typeface="Arial"/>
              </a:rPr>
              <a:t>Tableau de bord</a:t>
            </a:r>
          </a:p>
        </p:txBody>
      </p:sp>
      <p:sp>
        <p:nvSpPr>
          <p:cNvPr id="9" name="22 Forme 3"/>
          <p:cNvSpPr/>
          <p:nvPr/>
        </p:nvSpPr>
        <p:spPr>
          <a:xfrm>
            <a:off x="4709160" y="1508760"/>
            <a:ext cx="2880360" cy="4434840"/>
          </a:xfrm>
          <a:prstGeom prst="roundRect">
            <a:avLst>
              <a:gd name="adj" fmla="val 12000"/>
            </a:avLst>
          </a:prstGeom>
          <a:solidFill>
            <a:srgbClr val="FFFFFF"/>
          </a:solidFill>
          <a:ln w="15875">
            <a:solidFill>
              <a:srgbClr val="E8C5CE"/>
            </a:solidFill>
          </a:ln>
        </p:spPr>
        <p:txBody>
          <a:bodyPr rtlCol="0" anchor="ctr"/>
          <a:lstStyle/>
          <a:p>
            <a:pPr algn="ctr"/>
          </a:p>
        </p:txBody>
      </p:sp>
      <p:pic>
        <p:nvPicPr>
          <p:cNvPr id="10" name="22 Image 2" descr="mobile-task-detail.png"/>
          <p:cNvPicPr>
            <a:picLocks noChangeAspect="1"/>
          </p:cNvPicPr>
          <p:nvPr/>
        </p:nvPicPr>
        <p:blipFill>
          <a:blip r:embed="rId3"/>
          <a:stretch>
            <a:fillRect/>
          </a:stretch>
        </p:blipFill>
        <p:spPr>
          <a:xfrm>
            <a:off x="5274140" y="1627632"/>
            <a:ext cx="1750399" cy="3794760"/>
          </a:xfrm>
          <a:prstGeom prst="rect">
            <a:avLst/>
          </a:prstGeom>
        </p:spPr>
      </p:pic>
      <p:sp>
        <p:nvSpPr>
          <p:cNvPr id="11" name="22 Détail de tâche"/>
          <p:cNvSpPr txBox="1"/>
          <p:nvPr/>
        </p:nvSpPr>
        <p:spPr>
          <a:xfrm>
            <a:off x="4709160" y="5961888"/>
            <a:ext cx="2880360" cy="292608"/>
          </a:xfrm>
          <a:prstGeom prst="rect">
            <a:avLst/>
          </a:prstGeom>
          <a:noFill/>
        </p:spPr>
        <p:txBody>
          <a:bodyPr wrap="square" lIns="0" rIns="0" tIns="0" bIns="0" anchor="t"/>
          <a:lstStyle/>
          <a:p>
            <a:pPr algn="ctr"/>
            <a:r>
              <a:rPr sz="1300" b="1" i="0">
                <a:solidFill>
                  <a:srgbClr val="1A1A1A"/>
                </a:solidFill>
                <a:latin typeface="Arial"/>
              </a:rPr>
              <a:t>Détail de tâche</a:t>
            </a:r>
          </a:p>
        </p:txBody>
      </p:sp>
      <p:sp>
        <p:nvSpPr>
          <p:cNvPr id="12" name="22 Forme 4"/>
          <p:cNvSpPr/>
          <p:nvPr/>
        </p:nvSpPr>
        <p:spPr>
          <a:xfrm>
            <a:off x="8366760" y="1508760"/>
            <a:ext cx="2880360" cy="4434840"/>
          </a:xfrm>
          <a:prstGeom prst="roundRect">
            <a:avLst>
              <a:gd name="adj" fmla="val 12000"/>
            </a:avLst>
          </a:prstGeom>
          <a:solidFill>
            <a:srgbClr val="FFFFFF"/>
          </a:solidFill>
          <a:ln w="15875">
            <a:solidFill>
              <a:srgbClr val="E8C5CE"/>
            </a:solidFill>
          </a:ln>
        </p:spPr>
        <p:txBody>
          <a:bodyPr rtlCol="0" anchor="ctr"/>
          <a:lstStyle/>
          <a:p>
            <a:pPr algn="ctr"/>
          </a:p>
        </p:txBody>
      </p:sp>
      <p:pic>
        <p:nvPicPr>
          <p:cNvPr id="13" name="22 Image 3" descr="mobile-admin-dashboard.png"/>
          <p:cNvPicPr>
            <a:picLocks noChangeAspect="1"/>
          </p:cNvPicPr>
          <p:nvPr/>
        </p:nvPicPr>
        <p:blipFill>
          <a:blip r:embed="rId4"/>
          <a:stretch>
            <a:fillRect/>
          </a:stretch>
        </p:blipFill>
        <p:spPr>
          <a:xfrm>
            <a:off x="8931740" y="1627632"/>
            <a:ext cx="1750399" cy="3794760"/>
          </a:xfrm>
          <a:prstGeom prst="rect">
            <a:avLst/>
          </a:prstGeom>
        </p:spPr>
      </p:pic>
      <p:sp>
        <p:nvSpPr>
          <p:cNvPr id="14" name="22 Administration"/>
          <p:cNvSpPr txBox="1"/>
          <p:nvPr/>
        </p:nvSpPr>
        <p:spPr>
          <a:xfrm>
            <a:off x="8366760" y="5961888"/>
            <a:ext cx="2880360" cy="292608"/>
          </a:xfrm>
          <a:prstGeom prst="rect">
            <a:avLst/>
          </a:prstGeom>
          <a:noFill/>
        </p:spPr>
        <p:txBody>
          <a:bodyPr wrap="square" lIns="0" rIns="0" tIns="0" bIns="0" anchor="t"/>
          <a:lstStyle/>
          <a:p>
            <a:pPr algn="ctr"/>
            <a:r>
              <a:rPr sz="1300" b="1" i="0">
                <a:solidFill>
                  <a:srgbClr val="1A1A1A"/>
                </a:solidFill>
                <a:latin typeface="Arial"/>
              </a:rPr>
              <a:t>Administration</a:t>
            </a:r>
          </a:p>
        </p:txBody>
      </p:sp>
      <p:sp>
        <p:nvSpPr>
          <p:cNvPr id="15" name="22 Forme 5"/>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16" name="22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17" name="22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18" name="22 C2  ·  Développer des interface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C2  ·  Développer des interfaces</a:t>
            </a:r>
          </a:p>
        </p:txBody>
      </p:sp>
      <p:sp>
        <p:nvSpPr>
          <p:cNvPr id="19" name="22 22"/>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23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23 05   SÉCURITÉ"/>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05   SÉCURITÉ</a:t>
            </a:r>
          </a:p>
        </p:txBody>
      </p:sp>
      <p:sp>
        <p:nvSpPr>
          <p:cNvPr id="4" name="23 Droits et protections"/>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Droits et protections</a:t>
            </a:r>
          </a:p>
        </p:txBody>
      </p:sp>
      <p:sp>
        <p:nvSpPr>
          <p:cNvPr id="5" name="23 Forme 2"/>
          <p:cNvSpPr/>
          <p:nvPr/>
        </p:nvSpPr>
        <p:spPr>
          <a:xfrm>
            <a:off x="411480" y="1143000"/>
            <a:ext cx="3730752" cy="1828800"/>
          </a:xfrm>
          <a:prstGeom prst="roundRect">
            <a:avLst>
              <a:gd name="adj" fmla="val 8000"/>
            </a:avLst>
          </a:prstGeom>
          <a:solidFill>
            <a:srgbClr val="FFFFFF"/>
          </a:solidFill>
          <a:ln w="15875">
            <a:solidFill>
              <a:srgbClr val="E8C5CE"/>
            </a:solidFill>
          </a:ln>
        </p:spPr>
        <p:txBody>
          <a:bodyPr rtlCol="0" anchor="ctr"/>
          <a:lstStyle/>
          <a:p>
            <a:pPr algn="ctr"/>
          </a:p>
        </p:txBody>
      </p:sp>
      <p:sp>
        <p:nvSpPr>
          <p:cNvPr id="6" name="23 Mots de passe"/>
          <p:cNvSpPr txBox="1"/>
          <p:nvPr/>
        </p:nvSpPr>
        <p:spPr>
          <a:xfrm>
            <a:off x="594360" y="1307592"/>
            <a:ext cx="3383280" cy="347472"/>
          </a:xfrm>
          <a:prstGeom prst="rect">
            <a:avLst/>
          </a:prstGeom>
          <a:noFill/>
        </p:spPr>
        <p:txBody>
          <a:bodyPr wrap="square" lIns="0" rIns="0" tIns="0" bIns="0" anchor="t"/>
          <a:lstStyle/>
          <a:p>
            <a:pPr algn="l"/>
            <a:r>
              <a:rPr sz="1600" b="1" i="0">
                <a:solidFill>
                  <a:srgbClr val="1A1A1A"/>
                </a:solidFill>
                <a:latin typeface="Arial"/>
              </a:rPr>
              <a:t>Mots de passe</a:t>
            </a:r>
          </a:p>
        </p:txBody>
      </p:sp>
      <p:sp>
        <p:nvSpPr>
          <p:cNvPr id="7" name="23 Ils sont hachés dès l'enregistrement. I…"/>
          <p:cNvSpPr txBox="1"/>
          <p:nvPr/>
        </p:nvSpPr>
        <p:spPr>
          <a:xfrm>
            <a:off x="594360" y="1737360"/>
            <a:ext cx="3383280" cy="1051560"/>
          </a:xfrm>
          <a:prstGeom prst="rect">
            <a:avLst/>
          </a:prstGeom>
          <a:noFill/>
        </p:spPr>
        <p:txBody>
          <a:bodyPr wrap="square" lIns="0" rIns="0" tIns="0" bIns="0" anchor="t"/>
          <a:lstStyle/>
          <a:p>
            <a:pPr algn="l"/>
            <a:r>
              <a:rPr sz="1300" b="0" i="0">
                <a:solidFill>
                  <a:srgbClr val="5E4E53"/>
                </a:solidFill>
                <a:latin typeface="Arial"/>
              </a:rPr>
              <a:t>Ils sont hachés dès l'enregistrement. Ils n'apparaissent pas dans les réponses.</a:t>
            </a:r>
          </a:p>
        </p:txBody>
      </p:sp>
      <p:sp>
        <p:nvSpPr>
          <p:cNvPr id="8" name="23 Forme 3"/>
          <p:cNvSpPr/>
          <p:nvPr/>
        </p:nvSpPr>
        <p:spPr>
          <a:xfrm>
            <a:off x="4297680" y="1143000"/>
            <a:ext cx="3730752" cy="1828800"/>
          </a:xfrm>
          <a:prstGeom prst="roundRect">
            <a:avLst>
              <a:gd name="adj" fmla="val 8000"/>
            </a:avLst>
          </a:prstGeom>
          <a:solidFill>
            <a:srgbClr val="FFFFFF"/>
          </a:solidFill>
          <a:ln w="15875">
            <a:solidFill>
              <a:srgbClr val="E8C5CE"/>
            </a:solidFill>
          </a:ln>
        </p:spPr>
        <p:txBody>
          <a:bodyPr rtlCol="0" anchor="ctr"/>
          <a:lstStyle/>
          <a:p>
            <a:pPr algn="ctr"/>
          </a:p>
        </p:txBody>
      </p:sp>
      <p:sp>
        <p:nvSpPr>
          <p:cNvPr id="9" name="23 Session et jeton"/>
          <p:cNvSpPr txBox="1"/>
          <p:nvPr/>
        </p:nvSpPr>
        <p:spPr>
          <a:xfrm>
            <a:off x="4480560" y="1307592"/>
            <a:ext cx="3383280" cy="347472"/>
          </a:xfrm>
          <a:prstGeom prst="rect">
            <a:avLst/>
          </a:prstGeom>
          <a:noFill/>
        </p:spPr>
        <p:txBody>
          <a:bodyPr wrap="square" lIns="0" rIns="0" tIns="0" bIns="0" anchor="t"/>
          <a:lstStyle/>
          <a:p>
            <a:pPr algn="l"/>
            <a:r>
              <a:rPr sz="1600" b="1" i="0">
                <a:solidFill>
                  <a:srgbClr val="1A1A1A"/>
                </a:solidFill>
                <a:latin typeface="Arial"/>
              </a:rPr>
              <a:t>Session et jeton</a:t>
            </a:r>
          </a:p>
        </p:txBody>
      </p:sp>
      <p:sp>
        <p:nvSpPr>
          <p:cNvPr id="10" name="23 Le navigateur garde une session, régéné…"/>
          <p:cNvSpPr txBox="1"/>
          <p:nvPr/>
        </p:nvSpPr>
        <p:spPr>
          <a:xfrm>
            <a:off x="4480560" y="1737360"/>
            <a:ext cx="3383280" cy="1051560"/>
          </a:xfrm>
          <a:prstGeom prst="rect">
            <a:avLst/>
          </a:prstGeom>
          <a:noFill/>
        </p:spPr>
        <p:txBody>
          <a:bodyPr wrap="square" lIns="0" rIns="0" tIns="0" bIns="0" anchor="t"/>
          <a:lstStyle/>
          <a:p>
            <a:pPr algn="l"/>
            <a:r>
              <a:rPr sz="1300" b="0" i="0">
                <a:solidFill>
                  <a:srgbClr val="5E4E53"/>
                </a:solidFill>
                <a:latin typeface="Arial"/>
              </a:rPr>
              <a:t>Le navigateur garde une session, régénérée à la connexion. Le téléphone reçoit un jeton.</a:t>
            </a:r>
          </a:p>
        </p:txBody>
      </p:sp>
      <p:sp>
        <p:nvSpPr>
          <p:cNvPr id="11" name="23 Forme 4"/>
          <p:cNvSpPr/>
          <p:nvPr/>
        </p:nvSpPr>
        <p:spPr>
          <a:xfrm>
            <a:off x="8183879" y="1143000"/>
            <a:ext cx="3730752" cy="1828800"/>
          </a:xfrm>
          <a:prstGeom prst="roundRect">
            <a:avLst>
              <a:gd name="adj" fmla="val 8000"/>
            </a:avLst>
          </a:prstGeom>
          <a:solidFill>
            <a:srgbClr val="FFFFFF"/>
          </a:solidFill>
          <a:ln w="15875">
            <a:solidFill>
              <a:srgbClr val="E8C5CE"/>
            </a:solidFill>
          </a:ln>
        </p:spPr>
        <p:txBody>
          <a:bodyPr rtlCol="0" anchor="ctr"/>
          <a:lstStyle/>
          <a:p>
            <a:pPr algn="ctr"/>
          </a:p>
        </p:txBody>
      </p:sp>
      <p:sp>
        <p:nvSpPr>
          <p:cNvPr id="12" name="23 Formulaires"/>
          <p:cNvSpPr txBox="1"/>
          <p:nvPr/>
        </p:nvSpPr>
        <p:spPr>
          <a:xfrm>
            <a:off x="8366759" y="1307592"/>
            <a:ext cx="3383280" cy="347472"/>
          </a:xfrm>
          <a:prstGeom prst="rect">
            <a:avLst/>
          </a:prstGeom>
          <a:noFill/>
        </p:spPr>
        <p:txBody>
          <a:bodyPr wrap="square" lIns="0" rIns="0" tIns="0" bIns="0" anchor="t"/>
          <a:lstStyle/>
          <a:p>
            <a:pPr algn="l"/>
            <a:r>
              <a:rPr sz="1600" b="1" i="0">
                <a:solidFill>
                  <a:srgbClr val="1A1A1A"/>
                </a:solidFill>
                <a:latin typeface="Arial"/>
              </a:rPr>
              <a:t>Formulaires</a:t>
            </a:r>
          </a:p>
        </p:txBody>
      </p:sp>
      <p:sp>
        <p:nvSpPr>
          <p:cNvPr id="13" name="23 Le site vérifie que le formulaire vient…"/>
          <p:cNvSpPr txBox="1"/>
          <p:nvPr/>
        </p:nvSpPr>
        <p:spPr>
          <a:xfrm>
            <a:off x="8366759" y="1737360"/>
            <a:ext cx="3383280" cy="1051560"/>
          </a:xfrm>
          <a:prstGeom prst="rect">
            <a:avLst/>
          </a:prstGeom>
          <a:noFill/>
        </p:spPr>
        <p:txBody>
          <a:bodyPr wrap="square" lIns="0" rIns="0" tIns="0" bIns="0" anchor="t"/>
          <a:lstStyle/>
          <a:p>
            <a:pPr algn="l"/>
            <a:r>
              <a:rPr sz="1300" b="0" i="0">
                <a:solidFill>
                  <a:srgbClr val="5E4E53"/>
                </a:solidFill>
                <a:latin typeface="Arial"/>
              </a:rPr>
              <a:t>Le site vérifie que le formulaire vient de ses pages. Le téléphone s'authentifie par son jeton.</a:t>
            </a:r>
          </a:p>
        </p:txBody>
      </p:sp>
      <p:sp>
        <p:nvSpPr>
          <p:cNvPr id="14" name="23 Forme 5"/>
          <p:cNvSpPr/>
          <p:nvPr/>
        </p:nvSpPr>
        <p:spPr>
          <a:xfrm>
            <a:off x="411480" y="3108960"/>
            <a:ext cx="3730752" cy="1828800"/>
          </a:xfrm>
          <a:prstGeom prst="roundRect">
            <a:avLst>
              <a:gd name="adj" fmla="val 8000"/>
            </a:avLst>
          </a:prstGeom>
          <a:solidFill>
            <a:srgbClr val="FFFFFF"/>
          </a:solidFill>
          <a:ln w="15875">
            <a:solidFill>
              <a:srgbClr val="E8C5CE"/>
            </a:solidFill>
          </a:ln>
        </p:spPr>
        <p:txBody>
          <a:bodyPr rtlCol="0" anchor="ctr"/>
          <a:lstStyle/>
          <a:p>
            <a:pPr algn="ctr"/>
          </a:p>
        </p:txBody>
      </p:sp>
      <p:sp>
        <p:nvSpPr>
          <p:cNvPr id="15" name="23 Accès"/>
          <p:cNvSpPr txBox="1"/>
          <p:nvPr/>
        </p:nvSpPr>
        <p:spPr>
          <a:xfrm>
            <a:off x="594360" y="3273552"/>
            <a:ext cx="3383280" cy="347472"/>
          </a:xfrm>
          <a:prstGeom prst="rect">
            <a:avLst/>
          </a:prstGeom>
          <a:noFill/>
        </p:spPr>
        <p:txBody>
          <a:bodyPr wrap="square" lIns="0" rIns="0" tIns="0" bIns="0" anchor="t"/>
          <a:lstStyle/>
          <a:p>
            <a:pPr algn="l"/>
            <a:r>
              <a:rPr sz="1600" b="1" i="0">
                <a:solidFill>
                  <a:srgbClr val="1A1A1A"/>
                </a:solidFill>
                <a:latin typeface="Arial"/>
              </a:rPr>
              <a:t>Accès</a:t>
            </a:r>
          </a:p>
        </p:txBody>
      </p:sp>
      <p:sp>
        <p:nvSpPr>
          <p:cNvPr id="16" name="23 Sans session, refus. Ensuite le rôle. E…"/>
          <p:cNvSpPr txBox="1"/>
          <p:nvPr/>
        </p:nvSpPr>
        <p:spPr>
          <a:xfrm>
            <a:off x="594360" y="3703320"/>
            <a:ext cx="3383280" cy="1051560"/>
          </a:xfrm>
          <a:prstGeom prst="rect">
            <a:avLst/>
          </a:prstGeom>
          <a:noFill/>
        </p:spPr>
        <p:txBody>
          <a:bodyPr wrap="square" lIns="0" rIns="0" tIns="0" bIns="0" anchor="t"/>
          <a:lstStyle/>
          <a:p>
            <a:pPr algn="l"/>
            <a:r>
              <a:rPr sz="1300" b="0" i="0">
                <a:solidFill>
                  <a:srgbClr val="5E4E53"/>
                </a:solidFill>
                <a:latin typeface="Arial"/>
              </a:rPr>
              <a:t>Sans session, refus. Ensuite le rôle. Ensuite la politique sur la ressource.</a:t>
            </a:r>
          </a:p>
        </p:txBody>
      </p:sp>
      <p:sp>
        <p:nvSpPr>
          <p:cNvPr id="17" name="23 Forme 6"/>
          <p:cNvSpPr/>
          <p:nvPr/>
        </p:nvSpPr>
        <p:spPr>
          <a:xfrm>
            <a:off x="4297680" y="3108960"/>
            <a:ext cx="3730752" cy="1828800"/>
          </a:xfrm>
          <a:prstGeom prst="roundRect">
            <a:avLst>
              <a:gd name="adj" fmla="val 8000"/>
            </a:avLst>
          </a:prstGeom>
          <a:solidFill>
            <a:srgbClr val="FFFFFF"/>
          </a:solidFill>
          <a:ln w="15875">
            <a:solidFill>
              <a:srgbClr val="E8C5CE"/>
            </a:solidFill>
          </a:ln>
        </p:spPr>
        <p:txBody>
          <a:bodyPr rtlCol="0" anchor="ctr"/>
          <a:lstStyle/>
          <a:p>
            <a:pPr algn="ctr"/>
          </a:p>
        </p:txBody>
      </p:sp>
      <p:sp>
        <p:nvSpPr>
          <p:cNvPr id="18" name="23 Données"/>
          <p:cNvSpPr txBox="1"/>
          <p:nvPr/>
        </p:nvSpPr>
        <p:spPr>
          <a:xfrm>
            <a:off x="4480560" y="3273552"/>
            <a:ext cx="3383280" cy="347472"/>
          </a:xfrm>
          <a:prstGeom prst="rect">
            <a:avLst/>
          </a:prstGeom>
          <a:noFill/>
        </p:spPr>
        <p:txBody>
          <a:bodyPr wrap="square" lIns="0" rIns="0" tIns="0" bIns="0" anchor="t"/>
          <a:lstStyle/>
          <a:p>
            <a:pPr algn="l"/>
            <a:r>
              <a:rPr sz="1600" b="1" i="0">
                <a:solidFill>
                  <a:srgbClr val="1A1A1A"/>
                </a:solidFill>
                <a:latin typeface="Arial"/>
              </a:rPr>
              <a:t>Données</a:t>
            </a:r>
          </a:p>
        </p:txBody>
      </p:sp>
      <p:sp>
        <p:nvSpPr>
          <p:cNvPr id="19" name="23 Validation avant écriture. Requêtes pré…"/>
          <p:cNvSpPr txBox="1"/>
          <p:nvPr/>
        </p:nvSpPr>
        <p:spPr>
          <a:xfrm>
            <a:off x="4480560" y="3703320"/>
            <a:ext cx="3383280" cy="1051560"/>
          </a:xfrm>
          <a:prstGeom prst="rect">
            <a:avLst/>
          </a:prstGeom>
          <a:noFill/>
        </p:spPr>
        <p:txBody>
          <a:bodyPr wrap="square" lIns="0" rIns="0" tIns="0" bIns="0" anchor="t"/>
          <a:lstStyle/>
          <a:p>
            <a:pPr algn="l"/>
            <a:r>
              <a:rPr sz="1300" b="0" i="0">
                <a:solidFill>
                  <a:srgbClr val="5E4E53"/>
                </a:solidFill>
                <a:latin typeface="Arial"/>
              </a:rPr>
              <a:t>Validation avant écriture. Requêtes préparées. Le texte des pages est échappé.</a:t>
            </a:r>
          </a:p>
        </p:txBody>
      </p:sp>
      <p:sp>
        <p:nvSpPr>
          <p:cNvPr id="20" name="23 Forme 7"/>
          <p:cNvSpPr/>
          <p:nvPr/>
        </p:nvSpPr>
        <p:spPr>
          <a:xfrm>
            <a:off x="8183879" y="3108960"/>
            <a:ext cx="3730752" cy="1828800"/>
          </a:xfrm>
          <a:prstGeom prst="roundRect">
            <a:avLst>
              <a:gd name="adj" fmla="val 8000"/>
            </a:avLst>
          </a:prstGeom>
          <a:solidFill>
            <a:srgbClr val="FFFFFF"/>
          </a:solidFill>
          <a:ln w="15875">
            <a:solidFill>
              <a:srgbClr val="E8C5CE"/>
            </a:solidFill>
          </a:ln>
        </p:spPr>
        <p:txBody>
          <a:bodyPr rtlCol="0" anchor="ctr"/>
          <a:lstStyle/>
          <a:p>
            <a:pPr algn="ctr"/>
          </a:p>
        </p:txBody>
      </p:sp>
      <p:sp>
        <p:nvSpPr>
          <p:cNvPr id="21" name="23 Assignation"/>
          <p:cNvSpPr txBox="1"/>
          <p:nvPr/>
        </p:nvSpPr>
        <p:spPr>
          <a:xfrm>
            <a:off x="8366759" y="3273552"/>
            <a:ext cx="3383280" cy="347472"/>
          </a:xfrm>
          <a:prstGeom prst="rect">
            <a:avLst/>
          </a:prstGeom>
          <a:noFill/>
        </p:spPr>
        <p:txBody>
          <a:bodyPr wrap="square" lIns="0" rIns="0" tIns="0" bIns="0" anchor="t"/>
          <a:lstStyle/>
          <a:p>
            <a:pPr algn="l"/>
            <a:r>
              <a:rPr sz="1600" b="1" i="0">
                <a:solidFill>
                  <a:srgbClr val="1A1A1A"/>
                </a:solidFill>
                <a:latin typeface="Arial"/>
              </a:rPr>
              <a:t>Assignation</a:t>
            </a:r>
          </a:p>
        </p:txBody>
      </p:sp>
      <p:sp>
        <p:nvSpPr>
          <p:cNvPr id="22" name="23 Une tâche ne peut être donnée qu'à un m…"/>
          <p:cNvSpPr txBox="1"/>
          <p:nvPr/>
        </p:nvSpPr>
        <p:spPr>
          <a:xfrm>
            <a:off x="8366759" y="3703320"/>
            <a:ext cx="3383280" cy="1051560"/>
          </a:xfrm>
          <a:prstGeom prst="rect">
            <a:avLst/>
          </a:prstGeom>
          <a:noFill/>
        </p:spPr>
        <p:txBody>
          <a:bodyPr wrap="square" lIns="0" rIns="0" tIns="0" bIns="0" anchor="t"/>
          <a:lstStyle/>
          <a:p>
            <a:pPr algn="l"/>
            <a:r>
              <a:rPr sz="1300" b="0" i="0">
                <a:solidFill>
                  <a:srgbClr val="5E4E53"/>
                </a:solidFill>
                <a:latin typeface="Arial"/>
              </a:rPr>
              <a:t>Une tâche ne peut être donnée qu'à un membre de l'équipe de contexte.</a:t>
            </a:r>
          </a:p>
        </p:txBody>
      </p:sp>
      <p:sp>
        <p:nvSpPr>
          <p:cNvPr id="23" name="23 Forme 8"/>
          <p:cNvSpPr/>
          <p:nvPr/>
        </p:nvSpPr>
        <p:spPr>
          <a:xfrm>
            <a:off x="411480" y="5120640"/>
            <a:ext cx="11338560" cy="1051560"/>
          </a:xfrm>
          <a:prstGeom prst="roundRect">
            <a:avLst>
              <a:gd name="adj" fmla="val 8000"/>
            </a:avLst>
          </a:prstGeom>
          <a:solidFill>
            <a:srgbClr val="F6E8ED"/>
          </a:solidFill>
          <a:ln w="15875">
            <a:solidFill>
              <a:srgbClr val="E8C5CE"/>
            </a:solidFill>
          </a:ln>
        </p:spPr>
        <p:txBody>
          <a:bodyPr rtlCol="0" anchor="ctr"/>
          <a:lstStyle/>
          <a:p>
            <a:pPr algn="ctr"/>
          </a:p>
        </p:txBody>
      </p:sp>
      <p:sp>
        <p:nvSpPr>
          <p:cNvPr id="24" name="23 Limites connues"/>
          <p:cNvSpPr txBox="1"/>
          <p:nvPr/>
        </p:nvSpPr>
        <p:spPr>
          <a:xfrm>
            <a:off x="640080" y="5248656"/>
            <a:ext cx="2743200" cy="256032"/>
          </a:xfrm>
          <a:prstGeom prst="rect">
            <a:avLst/>
          </a:prstGeom>
          <a:noFill/>
        </p:spPr>
        <p:txBody>
          <a:bodyPr wrap="square" lIns="0" rIns="0" tIns="0" bIns="0" anchor="t"/>
          <a:lstStyle/>
          <a:p>
            <a:pPr algn="l"/>
            <a:r>
              <a:rPr sz="1200" b="1" i="0">
                <a:solidFill>
                  <a:srgbClr val="8B4D5C"/>
                </a:solidFill>
                <a:latin typeface="Arial"/>
              </a:rPr>
              <a:t>Limites connues</a:t>
            </a:r>
          </a:p>
        </p:txBody>
      </p:sp>
      <p:sp>
        <p:nvSpPr>
          <p:cNvPr id="25" name="23 Pas de plafond sur les tentatives de co…"/>
          <p:cNvSpPr txBox="1"/>
          <p:nvPr/>
        </p:nvSpPr>
        <p:spPr>
          <a:xfrm>
            <a:off x="640080" y="5541264"/>
            <a:ext cx="10881360" cy="457200"/>
          </a:xfrm>
          <a:prstGeom prst="rect">
            <a:avLst/>
          </a:prstGeom>
          <a:noFill/>
        </p:spPr>
        <p:txBody>
          <a:bodyPr wrap="square" lIns="0" rIns="0" tIns="0" bIns="0" anchor="t"/>
          <a:lstStyle/>
          <a:p>
            <a:pPr algn="l"/>
            <a:r>
              <a:rPr sz="1500" b="0" i="0">
                <a:solidFill>
                  <a:srgbClr val="1A1A1A"/>
                </a:solidFill>
                <a:latin typeface="Arial"/>
              </a:rPr>
              <a:t>Pas de plafond sur les tentatives de connexion. Les jetons du téléphone n'expirent pas.</a:t>
            </a:r>
          </a:p>
        </p:txBody>
      </p:sp>
      <p:sp>
        <p:nvSpPr>
          <p:cNvPr id="26" name="23 Forme 9"/>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7" name="23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8" name="23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9" name="23 C3  ·  Développer des composants métier"/>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C3  ·  Développer des composants métier</a:t>
            </a:r>
          </a:p>
        </p:txBody>
      </p:sp>
      <p:sp>
        <p:nvSpPr>
          <p:cNvPr id="30" name="23 23"/>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24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24 05   TESTS"/>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05   TESTS</a:t>
            </a:r>
          </a:p>
        </p:txBody>
      </p:sp>
      <p:sp>
        <p:nvSpPr>
          <p:cNvPr id="4" name="24 Quatre cas de test"/>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Quatre cas de test</a:t>
            </a:r>
          </a:p>
        </p:txBody>
      </p:sp>
      <p:graphicFrame>
        <p:nvGraphicFramePr>
          <p:cNvPr id="5" name="24 Forme 2"/>
          <p:cNvGraphicFramePr>
            <a:graphicFrameLocks noGrp="1"/>
          </p:cNvGraphicFramePr>
          <p:nvPr/>
        </p:nvGraphicFramePr>
        <p:xfrm>
          <a:off x="411480" y="1188720"/>
          <a:ext cx="11338560" cy="4160520"/>
        </p:xfrm>
        <a:graphic>
          <a:graphicData uri="http://schemas.openxmlformats.org/drawingml/2006/table">
            <a:tbl>
              <a:tblPr firstRow="1" bandRow="1">
                <a:tableStyleId>{5C22544A-7EE6-4342-B048-85BDC9FD1C3A}</a:tableStyleId>
              </a:tblPr>
              <a:tblGrid>
                <a:gridCol w="2286000"/>
                <a:gridCol w="5212080"/>
                <a:gridCol w="3840480"/>
              </a:tblGrid>
              <a:tr h="832104">
                <a:tc>
                  <a:txBody>
                    <a:bodyPr lIns="109728"/>
                    <a:lstStyle/>
                    <a:p>
                      <a:r>
                        <a:rPr sz="1400" b="1" i="0">
                          <a:solidFill>
                            <a:srgbClr val="FFFFFF"/>
                          </a:solidFill>
                          <a:latin typeface="Arial"/>
                        </a:rPr>
                        <a:t>Cas</a:t>
                      </a:r>
                    </a:p>
                  </a:txBody>
                  <a:tcPr anchor="ctr">
                    <a:solidFill>
                      <a:srgbClr val="8B4D5C"/>
                    </a:solidFill>
                  </a:tcPr>
                </a:tc>
                <a:tc>
                  <a:txBody>
                    <a:bodyPr lIns="109728"/>
                    <a:lstStyle/>
                    <a:p>
                      <a:r>
                        <a:rPr sz="1400" b="1" i="0">
                          <a:solidFill>
                            <a:srgbClr val="FFFFFF"/>
                          </a:solidFill>
                          <a:latin typeface="Arial"/>
                        </a:rPr>
                        <a:t>Démarche</a:t>
                      </a:r>
                    </a:p>
                  </a:txBody>
                  <a:tcPr anchor="ctr">
                    <a:solidFill>
                      <a:srgbClr val="8B4D5C"/>
                    </a:solidFill>
                  </a:tcPr>
                </a:tc>
                <a:tc>
                  <a:txBody>
                    <a:bodyPr lIns="109728"/>
                    <a:lstStyle/>
                    <a:p>
                      <a:r>
                        <a:rPr sz="1400" b="1" i="0">
                          <a:solidFill>
                            <a:srgbClr val="FFFFFF"/>
                          </a:solidFill>
                          <a:latin typeface="Arial"/>
                        </a:rPr>
                        <a:t>Résultat</a:t>
                      </a:r>
                    </a:p>
                  </a:txBody>
                  <a:tcPr anchor="ctr">
                    <a:solidFill>
                      <a:srgbClr val="8B4D5C"/>
                    </a:solidFill>
                  </a:tcPr>
                </a:tc>
              </a:tr>
              <a:tr h="832104">
                <a:tc>
                  <a:txBody>
                    <a:bodyPr lIns="109728" wrap="square"/>
                    <a:lstStyle/>
                    <a:p>
                      <a:r>
                        <a:rPr sz="1400" b="1" i="0">
                          <a:solidFill>
                            <a:srgbClr val="1A1A1A"/>
                          </a:solidFill>
                          <a:latin typeface="Arial"/>
                        </a:rPr>
                        <a:t>Visiteur</a:t>
                      </a:r>
                    </a:p>
                  </a:txBody>
                  <a:tcPr anchor="ctr">
                    <a:solidFill>
                      <a:srgbClr val="FFFFFF"/>
                    </a:solidFill>
                  </a:tcPr>
                </a:tc>
                <a:tc>
                  <a:txBody>
                    <a:bodyPr lIns="109728" wrap="square"/>
                    <a:lstStyle/>
                    <a:p>
                      <a:r>
                        <a:rPr sz="1400" b="0" i="0">
                          <a:solidFill>
                            <a:srgbClr val="1A1A1A"/>
                          </a:solidFill>
                          <a:latin typeface="Arial"/>
                        </a:rPr>
                        <a:t>Ouvrir le tableau de bord sans être connecté.</a:t>
                      </a:r>
                    </a:p>
                  </a:txBody>
                  <a:tcPr anchor="ctr">
                    <a:solidFill>
                      <a:srgbClr val="FFFFFF"/>
                    </a:solidFill>
                  </a:tcPr>
                </a:tc>
                <a:tc>
                  <a:txBody>
                    <a:bodyPr lIns="109728" wrap="square"/>
                    <a:lstStyle/>
                    <a:p>
                      <a:r>
                        <a:rPr sz="1400" b="0" i="0">
                          <a:solidFill>
                            <a:srgbClr val="1A1A1A"/>
                          </a:solidFill>
                          <a:latin typeface="Arial"/>
                        </a:rPr>
                        <a:t>Renvoi vers la page de connexion.</a:t>
                      </a:r>
                    </a:p>
                  </a:txBody>
                  <a:tcPr anchor="ctr">
                    <a:solidFill>
                      <a:srgbClr val="FFFFFF"/>
                    </a:solidFill>
                  </a:tcPr>
                </a:tc>
              </a:tr>
              <a:tr h="832104">
                <a:tc>
                  <a:txBody>
                    <a:bodyPr lIns="109728" wrap="square"/>
                    <a:lstStyle/>
                    <a:p>
                      <a:r>
                        <a:rPr sz="1400" b="1" i="0">
                          <a:solidFill>
                            <a:srgbClr val="1A1A1A"/>
                          </a:solidFill>
                          <a:latin typeface="Arial"/>
                        </a:rPr>
                        <a:t>Blocage sans note</a:t>
                      </a:r>
                    </a:p>
                  </a:txBody>
                  <a:tcPr anchor="ctr">
                    <a:solidFill>
                      <a:srgbClr val="F6E8ED"/>
                    </a:solidFill>
                  </a:tcPr>
                </a:tc>
                <a:tc>
                  <a:txBody>
                    <a:bodyPr lIns="109728" wrap="square"/>
                    <a:lstStyle/>
                    <a:p>
                      <a:r>
                        <a:rPr sz="1400" b="0" i="0">
                          <a:solidFill>
                            <a:srgbClr val="1A1A1A"/>
                          </a:solidFill>
                          <a:latin typeface="Arial"/>
                        </a:rPr>
                        <a:t>Passer une tâche au statut bloqué sans note.</a:t>
                      </a:r>
                    </a:p>
                  </a:txBody>
                  <a:tcPr anchor="ctr">
                    <a:solidFill>
                      <a:srgbClr val="F6E8ED"/>
                    </a:solidFill>
                  </a:tcPr>
                </a:tc>
                <a:tc>
                  <a:txBody>
                    <a:bodyPr lIns="109728" wrap="square"/>
                    <a:lstStyle/>
                    <a:p>
                      <a:r>
                        <a:rPr sz="1400" b="0" i="0">
                          <a:solidFill>
                            <a:srgbClr val="1A1A1A"/>
                          </a:solidFill>
                          <a:latin typeface="Arial"/>
                        </a:rPr>
                        <a:t>Le serveur refuse l'enregistrement.</a:t>
                      </a:r>
                    </a:p>
                  </a:txBody>
                  <a:tcPr anchor="ctr">
                    <a:solidFill>
                      <a:srgbClr val="F6E8ED"/>
                    </a:solidFill>
                  </a:tcPr>
                </a:tc>
              </a:tr>
              <a:tr h="832104">
                <a:tc>
                  <a:txBody>
                    <a:bodyPr lIns="109728" wrap="square"/>
                    <a:lstStyle/>
                    <a:p>
                      <a:r>
                        <a:rPr sz="1400" b="1" i="0">
                          <a:solidFill>
                            <a:srgbClr val="1A1A1A"/>
                          </a:solidFill>
                          <a:latin typeface="Arial"/>
                        </a:rPr>
                        <a:t>Tâche d'un autre</a:t>
                      </a:r>
                    </a:p>
                  </a:txBody>
                  <a:tcPr anchor="ctr">
                    <a:solidFill>
                      <a:srgbClr val="FFFFFF"/>
                    </a:solidFill>
                  </a:tcPr>
                </a:tc>
                <a:tc>
                  <a:txBody>
                    <a:bodyPr lIns="109728" wrap="square"/>
                    <a:lstStyle/>
                    <a:p>
                      <a:r>
                        <a:rPr sz="1400" b="0" i="0">
                          <a:solidFill>
                            <a:srgbClr val="1A1A1A"/>
                          </a:solidFill>
                          <a:latin typeface="Arial"/>
                        </a:rPr>
                        <a:t>Un membre met à jour la tâche d'un collègue.</a:t>
                      </a:r>
                    </a:p>
                  </a:txBody>
                  <a:tcPr anchor="ctr">
                    <a:solidFill>
                      <a:srgbClr val="FFFFFF"/>
                    </a:solidFill>
                  </a:tcPr>
                </a:tc>
                <a:tc>
                  <a:txBody>
                    <a:bodyPr lIns="109728" wrap="square"/>
                    <a:lstStyle/>
                    <a:p>
                      <a:r>
                        <a:rPr sz="1400" b="0" i="0">
                          <a:solidFill>
                            <a:srgbClr val="1A1A1A"/>
                          </a:solidFill>
                          <a:latin typeface="Arial"/>
                        </a:rPr>
                        <a:t>Accès refusé.</a:t>
                      </a:r>
                    </a:p>
                  </a:txBody>
                  <a:tcPr anchor="ctr">
                    <a:solidFill>
                      <a:srgbClr val="FFFFFF"/>
                    </a:solidFill>
                  </a:tcPr>
                </a:tc>
              </a:tr>
              <a:tr h="832104">
                <a:tc>
                  <a:txBody>
                    <a:bodyPr lIns="109728" wrap="square"/>
                    <a:lstStyle/>
                    <a:p>
                      <a:r>
                        <a:rPr sz="1400" b="1" i="0">
                          <a:solidFill>
                            <a:srgbClr val="1A1A1A"/>
                          </a:solidFill>
                          <a:latin typeface="Arial"/>
                        </a:rPr>
                        <a:t>Projet par le chef</a:t>
                      </a:r>
                    </a:p>
                  </a:txBody>
                  <a:tcPr anchor="ctr">
                    <a:solidFill>
                      <a:srgbClr val="F6E8ED"/>
                    </a:solidFill>
                  </a:tcPr>
                </a:tc>
                <a:tc>
                  <a:txBody>
                    <a:bodyPr lIns="109728" wrap="square"/>
                    <a:lstStyle/>
                    <a:p>
                      <a:r>
                        <a:rPr sz="1400" b="0" i="0">
                          <a:solidFill>
                            <a:srgbClr val="1A1A1A"/>
                          </a:solidFill>
                          <a:latin typeface="Arial"/>
                        </a:rPr>
                        <a:t>Un chef d'équipe tente de créer un projet.</a:t>
                      </a:r>
                    </a:p>
                  </a:txBody>
                  <a:tcPr anchor="ctr">
                    <a:solidFill>
                      <a:srgbClr val="F6E8ED"/>
                    </a:solidFill>
                  </a:tcPr>
                </a:tc>
                <a:tc>
                  <a:txBody>
                    <a:bodyPr lIns="109728" wrap="square"/>
                    <a:lstStyle/>
                    <a:p>
                      <a:r>
                        <a:rPr sz="1400" b="0" i="0">
                          <a:solidFill>
                            <a:srgbClr val="1A1A1A"/>
                          </a:solidFill>
                          <a:latin typeface="Arial"/>
                        </a:rPr>
                        <a:t>Accès refusé. Aucune ligne créée.</a:t>
                      </a:r>
                    </a:p>
                  </a:txBody>
                  <a:tcPr anchor="ctr">
                    <a:solidFill>
                      <a:srgbClr val="F6E8ED"/>
                    </a:solidFill>
                  </a:tcPr>
                </a:tc>
              </a:tr>
            </a:tbl>
          </a:graphicData>
        </a:graphic>
      </p:graphicFrame>
      <p:sp>
        <p:nvSpPr>
          <p:cNvPr id="6" name="24 La suite tourne en local, et à chaque e…"/>
          <p:cNvSpPr txBox="1"/>
          <p:nvPr/>
        </p:nvSpPr>
        <p:spPr>
          <a:xfrm>
            <a:off x="457200" y="5532120"/>
            <a:ext cx="11155680" cy="640080"/>
          </a:xfrm>
          <a:prstGeom prst="rect">
            <a:avLst/>
          </a:prstGeom>
          <a:noFill/>
        </p:spPr>
        <p:txBody>
          <a:bodyPr wrap="square" lIns="0" rIns="0" tIns="0" bIns="0" anchor="t"/>
          <a:lstStyle/>
          <a:p>
            <a:pPr algn="l"/>
            <a:r>
              <a:rPr sz="1400" b="0" i="0">
                <a:solidFill>
                  <a:srgbClr val="5E4E53"/>
                </a:solidFill>
                <a:latin typeface="Arial"/>
              </a:rPr>
              <a:t>La suite tourne en local, et à chaque envoi du code.</a:t>
            </a:r>
          </a:p>
        </p:txBody>
      </p:sp>
      <p:sp>
        <p:nvSpPr>
          <p:cNvPr id="7" name="24 Forme 3"/>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8" name="24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9" name="24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10" name="24 C9  ·  Préparer et exécuter les plans d…"/>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C9  ·  Préparer et exécuter les plans de tests</a:t>
            </a:r>
          </a:p>
        </p:txBody>
      </p:sp>
      <p:sp>
        <p:nvSpPr>
          <p:cNvPr id="11" name="24 24"/>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25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25 05   MISE EN LIGNE"/>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05   MISE EN LIGNE</a:t>
            </a:r>
          </a:p>
        </p:txBody>
      </p:sp>
      <p:sp>
        <p:nvSpPr>
          <p:cNvPr id="4" name="25 Démonstration"/>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Démonstration</a:t>
            </a:r>
          </a:p>
        </p:txBody>
      </p:sp>
      <p:sp>
        <p:nvSpPr>
          <p:cNvPr id="5" name="25 Forme 2"/>
          <p:cNvSpPr/>
          <p:nvPr/>
        </p:nvSpPr>
        <p:spPr>
          <a:xfrm>
            <a:off x="457200" y="1115568"/>
            <a:ext cx="11247120" cy="1554480"/>
          </a:xfrm>
          <a:prstGeom prst="roundRect">
            <a:avLst>
              <a:gd name="adj" fmla="val 10000"/>
            </a:avLst>
          </a:prstGeom>
          <a:solidFill>
            <a:srgbClr val="F6E8ED"/>
          </a:solidFill>
          <a:ln w="15875">
            <a:solidFill>
              <a:srgbClr val="E8C5CE"/>
            </a:solidFill>
          </a:ln>
        </p:spPr>
        <p:txBody>
          <a:bodyPr rtlCol="0" anchor="ctr"/>
          <a:lstStyle/>
          <a:p>
            <a:pPr algn="ctr"/>
          </a:p>
        </p:txBody>
      </p:sp>
      <p:sp>
        <p:nvSpPr>
          <p:cNvPr id="6" name="25 Application en ligne"/>
          <p:cNvSpPr txBox="1"/>
          <p:nvPr/>
        </p:nvSpPr>
        <p:spPr>
          <a:xfrm>
            <a:off x="713232" y="1261872"/>
            <a:ext cx="5486400" cy="256032"/>
          </a:xfrm>
          <a:prstGeom prst="rect">
            <a:avLst/>
          </a:prstGeom>
          <a:noFill/>
        </p:spPr>
        <p:txBody>
          <a:bodyPr wrap="square" lIns="0" rIns="0" tIns="0" bIns="0" anchor="t"/>
          <a:lstStyle/>
          <a:p>
            <a:pPr algn="l"/>
            <a:r>
              <a:rPr sz="1200" b="1" i="0">
                <a:solidFill>
                  <a:srgbClr val="8B4D5C"/>
                </a:solidFill>
                <a:latin typeface="Arial"/>
              </a:rPr>
              <a:t>Application en ligne</a:t>
            </a:r>
          </a:p>
        </p:txBody>
      </p:sp>
      <p:sp>
        <p:nvSpPr>
          <p:cNvPr id="7" name="25 https://lamraoui.alwaysdata.net"/>
          <p:cNvSpPr txBox="1"/>
          <p:nvPr/>
        </p:nvSpPr>
        <p:spPr>
          <a:xfrm>
            <a:off x="713232" y="1572768"/>
            <a:ext cx="10607040" cy="777240"/>
          </a:xfrm>
          <a:prstGeom prst="rect">
            <a:avLst/>
          </a:prstGeom>
          <a:noFill/>
        </p:spPr>
        <p:txBody>
          <a:bodyPr wrap="square" lIns="0" rIns="0" tIns="0" bIns="0" anchor="t"/>
          <a:lstStyle/>
          <a:p>
            <a:pPr algn="l"/>
            <a:r>
              <a:rPr sz="2800" b="1" i="0">
                <a:solidFill>
                  <a:srgbClr val="6E3A48"/>
                </a:solidFill>
                <a:latin typeface="Arial"/>
              </a:rPr>
              <a:t>https://lamraoui.alwaysdata.net</a:t>
            </a:r>
          </a:p>
        </p:txBody>
      </p:sp>
      <p:sp>
        <p:nvSpPr>
          <p:cNvPr id="8" name="25 Forme 3"/>
          <p:cNvSpPr/>
          <p:nvPr/>
        </p:nvSpPr>
        <p:spPr>
          <a:xfrm>
            <a:off x="457200" y="2926080"/>
            <a:ext cx="5623560" cy="1417320"/>
          </a:xfrm>
          <a:prstGeom prst="roundRect">
            <a:avLst>
              <a:gd name="adj" fmla="val 8000"/>
            </a:avLst>
          </a:prstGeom>
          <a:solidFill>
            <a:srgbClr val="FFFFFF"/>
          </a:solidFill>
          <a:ln w="15875">
            <a:solidFill>
              <a:srgbClr val="E8C5CE"/>
            </a:solidFill>
          </a:ln>
        </p:spPr>
        <p:txBody>
          <a:bodyPr rtlCol="0" anchor="ctr"/>
          <a:lstStyle/>
          <a:p>
            <a:pPr algn="ctr"/>
          </a:p>
        </p:txBody>
      </p:sp>
      <p:sp>
        <p:nvSpPr>
          <p:cNvPr id="9" name="25 Hébergement"/>
          <p:cNvSpPr txBox="1"/>
          <p:nvPr/>
        </p:nvSpPr>
        <p:spPr>
          <a:xfrm>
            <a:off x="658368" y="3090672"/>
            <a:ext cx="5212080" cy="310896"/>
          </a:xfrm>
          <a:prstGeom prst="rect">
            <a:avLst/>
          </a:prstGeom>
          <a:noFill/>
        </p:spPr>
        <p:txBody>
          <a:bodyPr wrap="square" lIns="0" rIns="0" tIns="0" bIns="0" anchor="t"/>
          <a:lstStyle/>
          <a:p>
            <a:pPr algn="l"/>
            <a:r>
              <a:rPr sz="1500" b="1" i="0">
                <a:solidFill>
                  <a:srgbClr val="1A1A1A"/>
                </a:solidFill>
                <a:latin typeface="Arial"/>
              </a:rPr>
              <a:t>Hébergement</a:t>
            </a:r>
          </a:p>
        </p:txBody>
      </p:sp>
      <p:sp>
        <p:nvSpPr>
          <p:cNvPr id="10" name="25 alwaysdata, PHP, MariaDB, HTTPS."/>
          <p:cNvSpPr txBox="1"/>
          <p:nvPr/>
        </p:nvSpPr>
        <p:spPr>
          <a:xfrm>
            <a:off x="658368" y="3474720"/>
            <a:ext cx="5212080" cy="685800"/>
          </a:xfrm>
          <a:prstGeom prst="rect">
            <a:avLst/>
          </a:prstGeom>
          <a:noFill/>
        </p:spPr>
        <p:txBody>
          <a:bodyPr wrap="square" lIns="0" rIns="0" tIns="0" bIns="0" anchor="t"/>
          <a:lstStyle/>
          <a:p>
            <a:pPr algn="l"/>
            <a:r>
              <a:rPr sz="1400" b="0" i="0">
                <a:solidFill>
                  <a:srgbClr val="5E4E53"/>
                </a:solidFill>
                <a:latin typeface="Arial"/>
              </a:rPr>
              <a:t>alwaysdata, PHP, MariaDB, HTTPS.</a:t>
            </a:r>
          </a:p>
        </p:txBody>
      </p:sp>
      <p:sp>
        <p:nvSpPr>
          <p:cNvPr id="11" name="25 Forme 4"/>
          <p:cNvSpPr/>
          <p:nvPr/>
        </p:nvSpPr>
        <p:spPr>
          <a:xfrm>
            <a:off x="6309360" y="2926080"/>
            <a:ext cx="5623560" cy="1417320"/>
          </a:xfrm>
          <a:prstGeom prst="roundRect">
            <a:avLst>
              <a:gd name="adj" fmla="val 8000"/>
            </a:avLst>
          </a:prstGeom>
          <a:solidFill>
            <a:srgbClr val="FFFFFF"/>
          </a:solidFill>
          <a:ln w="15875">
            <a:solidFill>
              <a:srgbClr val="E8C5CE"/>
            </a:solidFill>
          </a:ln>
        </p:spPr>
        <p:txBody>
          <a:bodyPr rtlCol="0" anchor="ctr"/>
          <a:lstStyle/>
          <a:p>
            <a:pPr algn="ctr"/>
          </a:p>
        </p:txBody>
      </p:sp>
      <p:sp>
        <p:nvSpPr>
          <p:cNvPr id="12" name="25 Production"/>
          <p:cNvSpPr txBox="1"/>
          <p:nvPr/>
        </p:nvSpPr>
        <p:spPr>
          <a:xfrm>
            <a:off x="6510528" y="3090672"/>
            <a:ext cx="5212080" cy="310896"/>
          </a:xfrm>
          <a:prstGeom prst="rect">
            <a:avLst/>
          </a:prstGeom>
          <a:noFill/>
        </p:spPr>
        <p:txBody>
          <a:bodyPr wrap="square" lIns="0" rIns="0" tIns="0" bIns="0" anchor="t"/>
          <a:lstStyle/>
          <a:p>
            <a:pPr algn="l"/>
            <a:r>
              <a:rPr sz="1500" b="1" i="0">
                <a:solidFill>
                  <a:srgbClr val="1A1A1A"/>
                </a:solidFill>
                <a:latin typeface="Arial"/>
              </a:rPr>
              <a:t>Production</a:t>
            </a:r>
          </a:p>
        </p:txBody>
      </p:sp>
      <p:sp>
        <p:nvSpPr>
          <p:cNvPr id="13" name="25 Les erreurs détaillées sont coupées. Le…"/>
          <p:cNvSpPr txBox="1"/>
          <p:nvPr/>
        </p:nvSpPr>
        <p:spPr>
          <a:xfrm>
            <a:off x="6510528" y="3474720"/>
            <a:ext cx="5212080" cy="685800"/>
          </a:xfrm>
          <a:prstGeom prst="rect">
            <a:avLst/>
          </a:prstGeom>
          <a:noFill/>
        </p:spPr>
        <p:txBody>
          <a:bodyPr wrap="square" lIns="0" rIns="0" tIns="0" bIns="0" anchor="t"/>
          <a:lstStyle/>
          <a:p>
            <a:pPr algn="l"/>
            <a:r>
              <a:rPr sz="1400" b="0" i="0">
                <a:solidFill>
                  <a:srgbClr val="5E4E53"/>
                </a:solidFill>
                <a:latin typeface="Arial"/>
              </a:rPr>
              <a:t>Les erreurs détaillées sont coupées. Les comptes de démonstration ne sont pas recréés.</a:t>
            </a:r>
          </a:p>
        </p:txBody>
      </p:sp>
      <p:sp>
        <p:nvSpPr>
          <p:cNvPr id="14" name="25 Forme 5"/>
          <p:cNvSpPr/>
          <p:nvPr/>
        </p:nvSpPr>
        <p:spPr>
          <a:xfrm>
            <a:off x="457200" y="4480560"/>
            <a:ext cx="5623560" cy="1417320"/>
          </a:xfrm>
          <a:prstGeom prst="roundRect">
            <a:avLst>
              <a:gd name="adj" fmla="val 8000"/>
            </a:avLst>
          </a:prstGeom>
          <a:solidFill>
            <a:srgbClr val="FFFFFF"/>
          </a:solidFill>
          <a:ln w="15875">
            <a:solidFill>
              <a:srgbClr val="E8C5CE"/>
            </a:solidFill>
          </a:ln>
        </p:spPr>
        <p:txBody>
          <a:bodyPr rtlCol="0" anchor="ctr"/>
          <a:lstStyle/>
          <a:p>
            <a:pPr algn="ctr"/>
          </a:p>
        </p:txBody>
      </p:sp>
      <p:sp>
        <p:nvSpPr>
          <p:cNvPr id="15" name="25 iPhone"/>
          <p:cNvSpPr txBox="1"/>
          <p:nvPr/>
        </p:nvSpPr>
        <p:spPr>
          <a:xfrm>
            <a:off x="658368" y="4645152"/>
            <a:ext cx="5212080" cy="310896"/>
          </a:xfrm>
          <a:prstGeom prst="rect">
            <a:avLst/>
          </a:prstGeom>
          <a:noFill/>
        </p:spPr>
        <p:txBody>
          <a:bodyPr wrap="square" lIns="0" rIns="0" tIns="0" bIns="0" anchor="t"/>
          <a:lstStyle/>
          <a:p>
            <a:pPr algn="l"/>
            <a:r>
              <a:rPr sz="1500" b="1" i="0">
                <a:solidFill>
                  <a:srgbClr val="1A1A1A"/>
                </a:solidFill>
                <a:latin typeface="Arial"/>
              </a:rPr>
              <a:t>iPhone</a:t>
            </a:r>
          </a:p>
        </p:txBody>
      </p:sp>
      <p:sp>
        <p:nvSpPr>
          <p:cNvPr id="16" name="25 Installée sur iPhone, même adresse."/>
          <p:cNvSpPr txBox="1"/>
          <p:nvPr/>
        </p:nvSpPr>
        <p:spPr>
          <a:xfrm>
            <a:off x="658368" y="5029200"/>
            <a:ext cx="5212080" cy="685800"/>
          </a:xfrm>
          <a:prstGeom prst="rect">
            <a:avLst/>
          </a:prstGeom>
          <a:noFill/>
        </p:spPr>
        <p:txBody>
          <a:bodyPr wrap="square" lIns="0" rIns="0" tIns="0" bIns="0" anchor="t"/>
          <a:lstStyle/>
          <a:p>
            <a:pPr algn="l"/>
            <a:r>
              <a:rPr sz="1400" b="0" i="0">
                <a:solidFill>
                  <a:srgbClr val="5E4E53"/>
                </a:solidFill>
                <a:latin typeface="Arial"/>
              </a:rPr>
              <a:t>Installée sur iPhone, même adresse.</a:t>
            </a:r>
          </a:p>
        </p:txBody>
      </p:sp>
      <p:sp>
        <p:nvSpPr>
          <p:cNvPr id="17" name="25 Forme 6"/>
          <p:cNvSpPr/>
          <p:nvPr/>
        </p:nvSpPr>
        <p:spPr>
          <a:xfrm>
            <a:off x="6309360" y="4480560"/>
            <a:ext cx="5623560" cy="1417320"/>
          </a:xfrm>
          <a:prstGeom prst="roundRect">
            <a:avLst>
              <a:gd name="adj" fmla="val 8000"/>
            </a:avLst>
          </a:prstGeom>
          <a:solidFill>
            <a:srgbClr val="FFFFFF"/>
          </a:solidFill>
          <a:ln w="15875">
            <a:solidFill>
              <a:srgbClr val="E8C5CE"/>
            </a:solidFill>
          </a:ln>
        </p:spPr>
        <p:txBody>
          <a:bodyPr rtlCol="0" anchor="ctr"/>
          <a:lstStyle/>
          <a:p>
            <a:pPr algn="ctr"/>
          </a:p>
        </p:txBody>
      </p:sp>
      <p:sp>
        <p:nvSpPr>
          <p:cNvPr id="18" name="25 Intégration continue"/>
          <p:cNvSpPr txBox="1"/>
          <p:nvPr/>
        </p:nvSpPr>
        <p:spPr>
          <a:xfrm>
            <a:off x="6510528" y="4645152"/>
            <a:ext cx="5212080" cy="310896"/>
          </a:xfrm>
          <a:prstGeom prst="rect">
            <a:avLst/>
          </a:prstGeom>
          <a:noFill/>
        </p:spPr>
        <p:txBody>
          <a:bodyPr wrap="square" lIns="0" rIns="0" tIns="0" bIns="0" anchor="t"/>
          <a:lstStyle/>
          <a:p>
            <a:pPr algn="l"/>
            <a:r>
              <a:rPr sz="1500" b="1" i="0">
                <a:solidFill>
                  <a:srgbClr val="1A1A1A"/>
                </a:solidFill>
                <a:latin typeface="Arial"/>
              </a:rPr>
              <a:t>Intégration continue</a:t>
            </a:r>
          </a:p>
        </p:txBody>
      </p:sp>
      <p:sp>
        <p:nvSpPr>
          <p:cNvPr id="19" name="25 À chaque envoi, les tests du serveur et…"/>
          <p:cNvSpPr txBox="1"/>
          <p:nvPr/>
        </p:nvSpPr>
        <p:spPr>
          <a:xfrm>
            <a:off x="6510528" y="5029200"/>
            <a:ext cx="5212080" cy="685800"/>
          </a:xfrm>
          <a:prstGeom prst="rect">
            <a:avLst/>
          </a:prstGeom>
          <a:noFill/>
        </p:spPr>
        <p:txBody>
          <a:bodyPr wrap="square" lIns="0" rIns="0" tIns="0" bIns="0" anchor="t"/>
          <a:lstStyle/>
          <a:p>
            <a:pPr algn="l"/>
            <a:r>
              <a:rPr sz="1400" b="0" i="0">
                <a:solidFill>
                  <a:srgbClr val="5E4E53"/>
                </a:solidFill>
                <a:latin typeface="Arial"/>
              </a:rPr>
              <a:t>À chaque envoi, les tests du serveur et du mobile sont lancés.</a:t>
            </a:r>
          </a:p>
        </p:txBody>
      </p:sp>
      <p:sp>
        <p:nvSpPr>
          <p:cNvPr id="20" name="25 Forme 7"/>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1" name="25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2" name="25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3" name="25 C10  ·  Déploiement    C11  ·  DevOps"/>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C10  ·  Déploiement    C11  ·  DevOps</a:t>
            </a:r>
          </a:p>
        </p:txBody>
      </p:sp>
      <p:sp>
        <p:nvSpPr>
          <p:cNvPr id="24" name="25 25"/>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26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26 06   BILAN"/>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06   BILAN</a:t>
            </a:r>
          </a:p>
        </p:txBody>
      </p:sp>
      <p:sp>
        <p:nvSpPr>
          <p:cNvPr id="4" name="26 Réponse à la question"/>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Réponse à la question</a:t>
            </a:r>
          </a:p>
        </p:txBody>
      </p:sp>
      <p:sp>
        <p:nvSpPr>
          <p:cNvPr id="5" name="26 Forme 2"/>
          <p:cNvSpPr/>
          <p:nvPr/>
        </p:nvSpPr>
        <p:spPr>
          <a:xfrm>
            <a:off x="411480" y="1097280"/>
            <a:ext cx="6903720" cy="8686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6" name="26 Organisation fermée"/>
          <p:cNvSpPr txBox="1"/>
          <p:nvPr/>
        </p:nvSpPr>
        <p:spPr>
          <a:xfrm>
            <a:off x="640080" y="1188720"/>
            <a:ext cx="6446520" cy="292608"/>
          </a:xfrm>
          <a:prstGeom prst="rect">
            <a:avLst/>
          </a:prstGeom>
          <a:noFill/>
        </p:spPr>
        <p:txBody>
          <a:bodyPr wrap="square" lIns="0" rIns="0" tIns="0" bIns="0" anchor="t"/>
          <a:lstStyle/>
          <a:p>
            <a:pPr algn="l"/>
            <a:r>
              <a:rPr sz="1500" b="1" i="0">
                <a:solidFill>
                  <a:srgbClr val="1A1A1A"/>
                </a:solidFill>
                <a:latin typeface="Arial"/>
              </a:rPr>
              <a:t>Organisation fermée</a:t>
            </a:r>
          </a:p>
        </p:txBody>
      </p:sp>
      <p:sp>
        <p:nvSpPr>
          <p:cNvPr id="7" name="26 Pas d'inscription publique. L'administr…"/>
          <p:cNvSpPr txBox="1"/>
          <p:nvPr/>
        </p:nvSpPr>
        <p:spPr>
          <a:xfrm>
            <a:off x="640080" y="1517904"/>
            <a:ext cx="6446520" cy="347472"/>
          </a:xfrm>
          <a:prstGeom prst="rect">
            <a:avLst/>
          </a:prstGeom>
          <a:noFill/>
        </p:spPr>
        <p:txBody>
          <a:bodyPr wrap="square" lIns="0" rIns="0" tIns="0" bIns="0" anchor="t"/>
          <a:lstStyle/>
          <a:p>
            <a:pPr algn="l"/>
            <a:r>
              <a:rPr sz="1300" b="0" i="0">
                <a:solidFill>
                  <a:srgbClr val="5E4E53"/>
                </a:solidFill>
                <a:latin typeface="Arial"/>
              </a:rPr>
              <a:t>Pas d'inscription publique. L'administrateur crée les comptes.</a:t>
            </a:r>
          </a:p>
        </p:txBody>
      </p:sp>
      <p:sp>
        <p:nvSpPr>
          <p:cNvPr id="8" name="26 Forme 3"/>
          <p:cNvSpPr/>
          <p:nvPr/>
        </p:nvSpPr>
        <p:spPr>
          <a:xfrm>
            <a:off x="411480" y="2057400"/>
            <a:ext cx="6903720" cy="8686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9" name="26 Autour des tâches"/>
          <p:cNvSpPr txBox="1"/>
          <p:nvPr/>
        </p:nvSpPr>
        <p:spPr>
          <a:xfrm>
            <a:off x="640080" y="2148840"/>
            <a:ext cx="6446520" cy="292608"/>
          </a:xfrm>
          <a:prstGeom prst="rect">
            <a:avLst/>
          </a:prstGeom>
          <a:noFill/>
        </p:spPr>
        <p:txBody>
          <a:bodyPr wrap="square" lIns="0" rIns="0" tIns="0" bIns="0" anchor="t"/>
          <a:lstStyle/>
          <a:p>
            <a:pPr algn="l"/>
            <a:r>
              <a:rPr sz="1500" b="1" i="0">
                <a:solidFill>
                  <a:srgbClr val="1A1A1A"/>
                </a:solidFill>
                <a:latin typeface="Arial"/>
              </a:rPr>
              <a:t>Autour des tâches</a:t>
            </a:r>
          </a:p>
        </p:txBody>
      </p:sp>
      <p:sp>
        <p:nvSpPr>
          <p:cNvPr id="10" name="26 Réalisé, à venir, blocage. Note obligat…"/>
          <p:cNvSpPr txBox="1"/>
          <p:nvPr/>
        </p:nvSpPr>
        <p:spPr>
          <a:xfrm>
            <a:off x="640080" y="2478024"/>
            <a:ext cx="6446520" cy="347472"/>
          </a:xfrm>
          <a:prstGeom prst="rect">
            <a:avLst/>
          </a:prstGeom>
          <a:noFill/>
        </p:spPr>
        <p:txBody>
          <a:bodyPr wrap="square" lIns="0" rIns="0" tIns="0" bIns="0" anchor="t"/>
          <a:lstStyle/>
          <a:p>
            <a:pPr algn="l"/>
            <a:r>
              <a:rPr sz="1300" b="0" i="0">
                <a:solidFill>
                  <a:srgbClr val="5E4E53"/>
                </a:solidFill>
                <a:latin typeface="Arial"/>
              </a:rPr>
              <a:t>Réalisé, à venir, blocage. Note obligatoire si le statut est bloqué.</a:t>
            </a:r>
          </a:p>
        </p:txBody>
      </p:sp>
      <p:sp>
        <p:nvSpPr>
          <p:cNvPr id="11" name="26 Forme 4"/>
          <p:cNvSpPr/>
          <p:nvPr/>
        </p:nvSpPr>
        <p:spPr>
          <a:xfrm>
            <a:off x="411480" y="3017520"/>
            <a:ext cx="6903720" cy="8686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2" name="26 Web et mobile"/>
          <p:cNvSpPr txBox="1"/>
          <p:nvPr/>
        </p:nvSpPr>
        <p:spPr>
          <a:xfrm>
            <a:off x="640080" y="3108960"/>
            <a:ext cx="6446520" cy="292608"/>
          </a:xfrm>
          <a:prstGeom prst="rect">
            <a:avLst/>
          </a:prstGeom>
          <a:noFill/>
        </p:spPr>
        <p:txBody>
          <a:bodyPr wrap="square" lIns="0" rIns="0" tIns="0" bIns="0" anchor="t"/>
          <a:lstStyle/>
          <a:p>
            <a:pPr algn="l"/>
            <a:r>
              <a:rPr sz="1500" b="1" i="0">
                <a:solidFill>
                  <a:srgbClr val="1A1A1A"/>
                </a:solidFill>
                <a:latin typeface="Arial"/>
              </a:rPr>
              <a:t>Web et mobile</a:t>
            </a:r>
          </a:p>
        </p:txBody>
      </p:sp>
      <p:sp>
        <p:nvSpPr>
          <p:cNvPr id="13" name="26 Les mêmes règles. Un serveur, deux répo…"/>
          <p:cNvSpPr txBox="1"/>
          <p:nvPr/>
        </p:nvSpPr>
        <p:spPr>
          <a:xfrm>
            <a:off x="640080" y="3438144"/>
            <a:ext cx="6446520" cy="347472"/>
          </a:xfrm>
          <a:prstGeom prst="rect">
            <a:avLst/>
          </a:prstGeom>
          <a:noFill/>
        </p:spPr>
        <p:txBody>
          <a:bodyPr wrap="square" lIns="0" rIns="0" tIns="0" bIns="0" anchor="t"/>
          <a:lstStyle/>
          <a:p>
            <a:pPr algn="l"/>
            <a:r>
              <a:rPr sz="1300" b="0" i="0">
                <a:solidFill>
                  <a:srgbClr val="5E4E53"/>
                </a:solidFill>
                <a:latin typeface="Arial"/>
              </a:rPr>
              <a:t>Les mêmes règles. Un serveur, deux réponses.</a:t>
            </a:r>
          </a:p>
        </p:txBody>
      </p:sp>
      <p:sp>
        <p:nvSpPr>
          <p:cNvPr id="14" name="26 Forme 5"/>
          <p:cNvSpPr/>
          <p:nvPr/>
        </p:nvSpPr>
        <p:spPr>
          <a:xfrm>
            <a:off x="411480" y="3977640"/>
            <a:ext cx="6903720" cy="868680"/>
          </a:xfrm>
          <a:prstGeom prst="roundRect">
            <a:avLst>
              <a:gd name="adj" fmla="val 10000"/>
            </a:avLst>
          </a:prstGeom>
          <a:solidFill>
            <a:srgbClr val="FFFFFF"/>
          </a:solidFill>
          <a:ln w="15875">
            <a:solidFill>
              <a:srgbClr val="E8C5CE"/>
            </a:solidFill>
          </a:ln>
        </p:spPr>
        <p:txBody>
          <a:bodyPr rtlCol="0" anchor="ctr"/>
          <a:lstStyle/>
          <a:p>
            <a:pPr algn="ctr"/>
          </a:p>
        </p:txBody>
      </p:sp>
      <p:sp>
        <p:nvSpPr>
          <p:cNvPr id="15" name="26 Rôles nets"/>
          <p:cNvSpPr txBox="1"/>
          <p:nvPr/>
        </p:nvSpPr>
        <p:spPr>
          <a:xfrm>
            <a:off x="640080" y="4069080"/>
            <a:ext cx="6446520" cy="292608"/>
          </a:xfrm>
          <a:prstGeom prst="rect">
            <a:avLst/>
          </a:prstGeom>
          <a:noFill/>
        </p:spPr>
        <p:txBody>
          <a:bodyPr wrap="square" lIns="0" rIns="0" tIns="0" bIns="0" anchor="t"/>
          <a:lstStyle/>
          <a:p>
            <a:pPr algn="l"/>
            <a:r>
              <a:rPr sz="1500" b="1" i="0">
                <a:solidFill>
                  <a:srgbClr val="1A1A1A"/>
                </a:solidFill>
                <a:latin typeface="Arial"/>
              </a:rPr>
              <a:t>Rôles nets</a:t>
            </a:r>
          </a:p>
        </p:txBody>
      </p:sp>
      <p:sp>
        <p:nvSpPr>
          <p:cNvPr id="16" name="26 Administrateur, chef d'équipe, membre.…"/>
          <p:cNvSpPr txBox="1"/>
          <p:nvPr/>
        </p:nvSpPr>
        <p:spPr>
          <a:xfrm>
            <a:off x="640080" y="4398264"/>
            <a:ext cx="6446520" cy="347472"/>
          </a:xfrm>
          <a:prstGeom prst="rect">
            <a:avLst/>
          </a:prstGeom>
          <a:noFill/>
        </p:spPr>
        <p:txBody>
          <a:bodyPr wrap="square" lIns="0" rIns="0" tIns="0" bIns="0" anchor="t"/>
          <a:lstStyle/>
          <a:p>
            <a:pPr algn="l"/>
            <a:r>
              <a:rPr sz="1300" b="0" i="0">
                <a:solidFill>
                  <a:srgbClr val="5E4E53"/>
                </a:solidFill>
                <a:latin typeface="Arial"/>
              </a:rPr>
              <a:t>Administrateur, chef d'équipe, membre. Politiques sur la ressource.</a:t>
            </a:r>
          </a:p>
        </p:txBody>
      </p:sp>
      <p:sp>
        <p:nvSpPr>
          <p:cNvPr id="17" name="26 Forme 6"/>
          <p:cNvSpPr/>
          <p:nvPr/>
        </p:nvSpPr>
        <p:spPr>
          <a:xfrm>
            <a:off x="7498079" y="1097280"/>
            <a:ext cx="4251960" cy="3794760"/>
          </a:xfrm>
          <a:prstGeom prst="roundRect">
            <a:avLst>
              <a:gd name="adj" fmla="val 10000"/>
            </a:avLst>
          </a:prstGeom>
          <a:solidFill>
            <a:srgbClr val="F6E8ED"/>
          </a:solidFill>
          <a:ln w="15875">
            <a:solidFill>
              <a:srgbClr val="E8C5CE"/>
            </a:solidFill>
          </a:ln>
        </p:spPr>
        <p:txBody>
          <a:bodyPr rtlCol="0" anchor="ctr"/>
          <a:lstStyle/>
          <a:p>
            <a:pPr algn="ctr"/>
          </a:p>
        </p:txBody>
      </p:sp>
      <p:sp>
        <p:nvSpPr>
          <p:cNvPr id="18" name="26 Plus tard, pas dans cette version"/>
          <p:cNvSpPr txBox="1"/>
          <p:nvPr/>
        </p:nvSpPr>
        <p:spPr>
          <a:xfrm>
            <a:off x="7699248" y="1280160"/>
            <a:ext cx="3840480" cy="548640"/>
          </a:xfrm>
          <a:prstGeom prst="rect">
            <a:avLst/>
          </a:prstGeom>
          <a:noFill/>
        </p:spPr>
        <p:txBody>
          <a:bodyPr wrap="square" lIns="0" rIns="0" tIns="0" bIns="0" anchor="t"/>
          <a:lstStyle/>
          <a:p>
            <a:pPr algn="l"/>
            <a:r>
              <a:rPr sz="1400" b="1" i="0">
                <a:solidFill>
                  <a:srgbClr val="8B4D5C"/>
                </a:solidFill>
                <a:latin typeface="Arial"/>
              </a:rPr>
              <a:t>Plus tard, pas dans cette version</a:t>
            </a:r>
          </a:p>
        </p:txBody>
      </p:sp>
      <p:sp>
        <p:nvSpPr>
          <p:cNvPr id="19" name="26 Notification quand une tâche bloque. Br…"/>
          <p:cNvSpPr txBox="1"/>
          <p:nvPr/>
        </p:nvSpPr>
        <p:spPr>
          <a:xfrm>
            <a:off x="7680960" y="1920240"/>
            <a:ext cx="3886200" cy="2651760"/>
          </a:xfrm>
          <a:prstGeom prst="rect">
            <a:avLst/>
          </a:prstGeom>
          <a:noFill/>
        </p:spPr>
        <p:txBody>
          <a:bodyPr wrap="square" lIns="18288" rIns="18288" tIns="18288" bIns="18288" anchor="t"/>
          <a:lstStyle/>
          <a:p>
            <a:pPr algn="l">
              <a:spcBef>
                <a:spcPts val="0"/>
              </a:spcBef>
              <a:spcAft>
                <a:spcPts val="800"/>
              </a:spcAft>
            </a:pPr>
            <a:r>
              <a:rPr sz="1300" b="0" i="0">
                <a:solidFill>
                  <a:srgbClr val="5E4E53"/>
                </a:solidFill>
                <a:latin typeface="Arial"/>
              </a:rPr>
              <a:t>Notification quand une tâche bloque.</a:t>
            </a:r>
          </a:p>
          <a:p>
            <a:pPr algn="l">
              <a:spcBef>
                <a:spcPts val="0"/>
              </a:spcBef>
              <a:spcAft>
                <a:spcPts val="800"/>
              </a:spcAft>
            </a:pPr>
            <a:r>
              <a:rPr sz="1300" b="0" i="0">
                <a:solidFill>
                  <a:srgbClr val="5E4E53"/>
                </a:solidFill>
                <a:latin typeface="Arial"/>
              </a:rPr>
              <a:t>Brief du jour, à partir de l'historique des points.</a:t>
            </a:r>
          </a:p>
          <a:p>
            <a:pPr algn="l">
              <a:spcBef>
                <a:spcPts val="0"/>
              </a:spcBef>
              <a:spcAft>
                <a:spcPts val="800"/>
              </a:spcAft>
            </a:pPr>
            <a:r>
              <a:rPr sz="1300" b="0" i="0">
                <a:solidFill>
                  <a:srgbClr val="5E4E53"/>
                </a:solidFill>
                <a:latin typeface="Arial"/>
              </a:rPr>
              <a:t>Export PDF des tableaux de bord.</a:t>
            </a:r>
          </a:p>
          <a:p>
            <a:pPr algn="l">
              <a:spcBef>
                <a:spcPts val="0"/>
              </a:spcBef>
              <a:spcAft>
                <a:spcPts val="800"/>
              </a:spcAft>
            </a:pPr>
            <a:r>
              <a:rPr sz="1300" b="0" i="0">
                <a:solidFill>
                  <a:srgbClr val="5E4E53"/>
                </a:solidFill>
                <a:latin typeface="Arial"/>
              </a:rPr>
              <a:t>Expiration des jetons, plafond de tentatives.</a:t>
            </a:r>
          </a:p>
        </p:txBody>
      </p:sp>
      <p:sp>
        <p:nvSpPr>
          <p:cNvPr id="20" name="26 Apports : mener l'application de l'anal…"/>
          <p:cNvSpPr txBox="1"/>
          <p:nvPr/>
        </p:nvSpPr>
        <p:spPr>
          <a:xfrm>
            <a:off x="457200" y="5074920"/>
            <a:ext cx="11247120" cy="1097280"/>
          </a:xfrm>
          <a:prstGeom prst="rect">
            <a:avLst/>
          </a:prstGeom>
          <a:noFill/>
        </p:spPr>
        <p:txBody>
          <a:bodyPr wrap="square" lIns="0" rIns="0" tIns="0" bIns="0" anchor="t"/>
          <a:lstStyle/>
          <a:p>
            <a:pPr algn="l"/>
            <a:r>
              <a:rPr sz="1500" b="0" i="0">
                <a:solidFill>
                  <a:srgbClr val="1A1A1A"/>
                </a:solidFill>
                <a:latin typeface="Arial"/>
              </a:rPr>
              <a:t>Apports : mener l'application de l'analyse UML jusqu'à l'iPhone en ligne, avec les règles testées à chaque push.</a:t>
            </a:r>
          </a:p>
        </p:txBody>
      </p:sp>
      <p:sp>
        <p:nvSpPr>
          <p:cNvPr id="21" name="26 Forme 7"/>
          <p:cNvSpPr/>
          <p:nvPr/>
        </p:nvSpPr>
        <p:spPr>
          <a:xfrm>
            <a:off x="457200" y="6382512"/>
            <a:ext cx="11274552" cy="10972"/>
          </a:xfrm>
          <a:prstGeom prst="rect">
            <a:avLst/>
          </a:prstGeom>
          <a:solidFill>
            <a:srgbClr val="E8C5CE"/>
          </a:solidFill>
          <a:ln>
            <a:noFill/>
          </a:ln>
        </p:spPr>
        <p:txBody>
          <a:bodyPr rtlCol="0" anchor="ctr"/>
          <a:lstStyle/>
          <a:p>
            <a:pPr algn="ctr"/>
          </a:p>
        </p:txBody>
      </p:sp>
      <p:sp>
        <p:nvSpPr>
          <p:cNvPr id="22" name="26 Briefly"/>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3" name="26 Chiraz Lamraoui"/>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4" name="26 26"/>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27 Forme"/>
          <p:cNvSpPr/>
          <p:nvPr/>
        </p:nvSpPr>
        <p:spPr>
          <a:xfrm>
            <a:off x="0" y="0"/>
            <a:ext cx="12191695" cy="64008"/>
          </a:xfrm>
          <a:prstGeom prst="rect">
            <a:avLst/>
          </a:prstGeom>
          <a:solidFill>
            <a:srgbClr val="8B4D5C"/>
          </a:solidFill>
          <a:ln>
            <a:noFill/>
          </a:ln>
        </p:spPr>
        <p:txBody>
          <a:bodyPr rtlCol="0" anchor="ctr"/>
          <a:lstStyle/>
          <a:p>
            <a:pPr algn="ctr"/>
          </a:p>
        </p:txBody>
      </p:sp>
      <p:sp>
        <p:nvSpPr>
          <p:cNvPr id="3" name="27 Forme 2"/>
          <p:cNvSpPr/>
          <p:nvPr/>
        </p:nvSpPr>
        <p:spPr>
          <a:xfrm>
            <a:off x="0" y="6793992"/>
            <a:ext cx="12191695" cy="64008"/>
          </a:xfrm>
          <a:prstGeom prst="rect">
            <a:avLst/>
          </a:prstGeom>
          <a:solidFill>
            <a:srgbClr val="8B4D5C"/>
          </a:solidFill>
          <a:ln>
            <a:noFill/>
          </a:ln>
        </p:spPr>
        <p:txBody>
          <a:bodyPr rtlCol="0" anchor="ctr"/>
          <a:lstStyle/>
          <a:p>
            <a:pPr algn="ctr"/>
          </a:p>
        </p:txBody>
      </p:sp>
      <p:sp>
        <p:nvSpPr>
          <p:cNvPr id="4" name="27 BRIEFLY"/>
          <p:cNvSpPr txBox="1"/>
          <p:nvPr/>
        </p:nvSpPr>
        <p:spPr>
          <a:xfrm>
            <a:off x="822960" y="2057400"/>
            <a:ext cx="10515600" cy="292608"/>
          </a:xfrm>
          <a:prstGeom prst="rect">
            <a:avLst/>
          </a:prstGeom>
          <a:noFill/>
        </p:spPr>
        <p:txBody>
          <a:bodyPr wrap="square" lIns="0" rIns="0" tIns="0" bIns="0" anchor="t"/>
          <a:lstStyle/>
          <a:p>
            <a:pPr algn="ctr"/>
            <a:r>
              <a:rPr sz="1300" b="1" i="0">
                <a:solidFill>
                  <a:srgbClr val="8B4D5C"/>
                </a:solidFill>
                <a:latin typeface="Arial"/>
              </a:rPr>
              <a:t>BRIEFLY</a:t>
            </a:r>
          </a:p>
        </p:txBody>
      </p:sp>
      <p:sp>
        <p:nvSpPr>
          <p:cNvPr id="5" name="27 Merci pour votre attention."/>
          <p:cNvSpPr txBox="1"/>
          <p:nvPr/>
        </p:nvSpPr>
        <p:spPr>
          <a:xfrm>
            <a:off x="822960" y="2423160"/>
            <a:ext cx="10515600" cy="685800"/>
          </a:xfrm>
          <a:prstGeom prst="rect">
            <a:avLst/>
          </a:prstGeom>
          <a:noFill/>
        </p:spPr>
        <p:txBody>
          <a:bodyPr wrap="square" lIns="0" rIns="0" tIns="0" bIns="0" anchor="t"/>
          <a:lstStyle/>
          <a:p>
            <a:pPr algn="ctr"/>
            <a:r>
              <a:rPr sz="4000" b="1" i="0">
                <a:solidFill>
                  <a:srgbClr val="1A1A1A"/>
                </a:solidFill>
                <a:latin typeface="Arial"/>
              </a:rPr>
              <a:t>Merci pour votre attention.</a:t>
            </a:r>
          </a:p>
        </p:txBody>
      </p:sp>
      <p:sp>
        <p:nvSpPr>
          <p:cNvPr id="6" name="27 Forme 3"/>
          <p:cNvSpPr/>
          <p:nvPr/>
        </p:nvSpPr>
        <p:spPr>
          <a:xfrm>
            <a:off x="5532120" y="3246120"/>
            <a:ext cx="1143000" cy="41148"/>
          </a:xfrm>
          <a:prstGeom prst="rect">
            <a:avLst/>
          </a:prstGeom>
          <a:solidFill>
            <a:srgbClr val="8B4D5C"/>
          </a:solidFill>
          <a:ln>
            <a:noFill/>
          </a:ln>
        </p:spPr>
        <p:txBody>
          <a:bodyPr rtlCol="0" anchor="ctr"/>
          <a:lstStyle/>
          <a:p>
            <a:pPr algn="ctr"/>
          </a:p>
        </p:txBody>
      </p:sp>
      <p:sp>
        <p:nvSpPr>
          <p:cNvPr id="7" name="27 Je suis à votre disposition pour répond…"/>
          <p:cNvSpPr txBox="1"/>
          <p:nvPr/>
        </p:nvSpPr>
        <p:spPr>
          <a:xfrm>
            <a:off x="822960" y="3474720"/>
            <a:ext cx="10515600" cy="457200"/>
          </a:xfrm>
          <a:prstGeom prst="rect">
            <a:avLst/>
          </a:prstGeom>
          <a:noFill/>
        </p:spPr>
        <p:txBody>
          <a:bodyPr wrap="square" lIns="0" rIns="0" tIns="0" bIns="0" anchor="t"/>
          <a:lstStyle/>
          <a:p>
            <a:pPr algn="ctr"/>
            <a:r>
              <a:rPr sz="2000" b="0" i="0">
                <a:solidFill>
                  <a:srgbClr val="5E4E53"/>
                </a:solidFill>
                <a:latin typeface="Arial"/>
              </a:rPr>
              <a:t>Je suis à votre disposition pour répondre à vos questions.</a:t>
            </a:r>
          </a:p>
        </p:txBody>
      </p:sp>
      <p:sp>
        <p:nvSpPr>
          <p:cNvPr id="8" name="27 Chiraz Lamraoui    ·    27 octobre 2026"/>
          <p:cNvSpPr txBox="1"/>
          <p:nvPr/>
        </p:nvSpPr>
        <p:spPr>
          <a:xfrm>
            <a:off x="822960" y="4160520"/>
            <a:ext cx="10515600" cy="365760"/>
          </a:xfrm>
          <a:prstGeom prst="rect">
            <a:avLst/>
          </a:prstGeom>
          <a:noFill/>
        </p:spPr>
        <p:txBody>
          <a:bodyPr wrap="square" lIns="0" rIns="0" tIns="0" bIns="0" anchor="t"/>
          <a:lstStyle/>
          <a:p>
            <a:pPr algn="ctr"/>
            <a:r>
              <a:rPr sz="1500" b="0" i="0">
                <a:solidFill>
                  <a:srgbClr val="8B4D5C"/>
                </a:solidFill>
                <a:latin typeface="Arial"/>
              </a:rPr>
              <a:t>Chiraz Lamraoui    ·    27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Briefly — Chiraz Lamraoui</dc:title>
  <dc:subject>Conception et développement de Briefly</dc:subject>
  <dc:creator>Chiraz Lamraoui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