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me présente, je nomme Briefly et le titre. L'entreprise d'accueil est Drif Consult. J'annonce que je pars du contexte, puis du besoin, avant de montrer l'application.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lis les six parties sans les détailler. Le fil est le suivant : d'où vient le besoin, comment il a été spécifié, comment l'application est construite, ce qui est en ligne.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ne lis pas les onze compétences. Je dis que le projet couvre les trois activités du titre : développer, concevoir en couches, préparer la mise en production. Le détail est dans le tableau 1.2 du mémoire.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L'alternance est rattachée à Drif Consult, avec Yasser comme tuteur. J'ai travaillé sur Roman.ai, sur le front-end et sur le parrainage. Je précise tout de suite que Briefly est mon application de mémoire, pas une brique de Roman.ai. Je ne développe pas le produit de l'entreprise.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lis la question, puis je la découpe : organisation fermée, tâche, deux supports, rôles. Le stand-up est le problème. Il n'existe pas d'objet brief séparé : la tâche porte l'avancement. Les quatre pastilles décrivent le constat, pas un incident chez Roman.ai.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outil par colonne, une limite, puis la phrase du bandeau. Monday et Linear restent dans le mémoire, tableau 1.1. Je ne fais pas un benchmark de cinq produits à l'oral.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dis le nom, pour qui, et que le stand-up tient dans la tâche. Les quatre cartes sont les fonctions réelles. J'annonce les trois rôles, détaillés juste après.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J'insiste sur le chef. Ce n'est pas un simple libellé : is_team_lead est un drapeau sur l'appartenance à l'équipe. Un chef peut diriger plusieurs équipes. Il ne crée ni les projets ni les utilisateurs.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lis un cas par acteur. L'administrateur crée le projet et y affecte une équipe. Le chef définit les tâches et les assigne. Le membre gère les tâches qui lui sont assignées. Je ne commente pas chaque flèche include.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ne lis pas chaque date. L'ordre : accès, membre, chef, administration, tests, mobile. Le sprint 5 dure treize semaines, je le dis. Entre le 25 juillet et le 1er septembre, pas de sprint. La mêlée Scrum n'est pas le stand-up que l'application outille.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marche le schéma. Le cas que je retiens est le refus : tâche bloquée sans note. Le mobile subit la même règle, parce que la validation est sur le serveur. Chaque point reste dans l'historique, il n'y a pas de table brief.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phrases. Le pivot chef, puis tasks vers task_updates. Je distingue le taux du tableau de bord et le pourcentage du statut, pour ne pas les mélanger si on me le demande.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dis pourquoi une seule fois : la validation, les politiques et le métier ne sont pas recopiés dans le téléphone. Controller choisit HTML ou JSON. Les clients ne parlent jamais à la base. Si on me demande l'organisation du mobile : Riverpod, GoRouter, Dio. Je ne les mets pas sur la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écran, une phrase. Chef : je vois ce qui bloque. Membre : je remplis réalisé et à venir. Admin : je vois les équipes, les projets et le taux global. Français et anglais, thème clair et sombre, si on me le demande. Je peux aussi ouvrir https://lamraoui.alwaysdata.net.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n'est pas une maquette. L'application est installée sur un iPhone en release, URL https://lamraoui.alwaysdata.net. Les droits ne sont pas réécrits dans Flutter. Le contrôle de la note sur le téléphone est un confort. Le serveur reste l'autorité.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choisis une protection et je la tiens. Si on me demande le mot de passe oublié : le parcours existe, MAIL_MAILER vaut log en production, le courriel est journalisé, il n'est pas envoyé. Je dis les deux limites avant qu'on me les trouve : pas de rate limit, jetons sans expiration.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prends le cas du blocage sans note, parce qu'il porte le métier. Les refus 401, 403 et 422 sont dans les tableaux 4.4 à 4.8. Mot de passe oublié, profil, se souvenir de moi et thème sont réalisés, ils ne sont pas tous dans cette suite. Je le dis si on me le demande, je ne l'annonce pas.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J'ouvre le site si le réseau le permet, sinon je reste sur les captures. Le seeder ne tourne pas en production. Un administrateur a été créé à la main pour les essais. Le job CI ne déploie pas tout seul : la mise en ligne reste manuelle. C'est une piste, pas un oubli caché.</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reviens à la question de la slide 5 et je coche les quatre bouts. Les pastilles de droite ne sont pas dans l'application. Je le dis, puis je passe à la dernière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lis la phrase, je m'arrête, j'attends la question.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8366760" y="0"/>
            <a:ext cx="3824935" cy="6858000"/>
          </a:xfrm>
          <a:prstGeom prst="rect">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0"/>
            <a:ext cx="64008" cy="6858000"/>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adg-education.png"/>
          <p:cNvPicPr>
            <a:picLocks noChangeAspect="1"/>
          </p:cNvPicPr>
          <p:nvPr/>
        </p:nvPicPr>
        <p:blipFill>
          <a:blip r:embed="rId2"/>
          <a:stretch>
            <a:fillRect/>
          </a:stretch>
        </p:blipFill>
        <p:spPr>
          <a:xfrm>
            <a:off x="530352" y="384048"/>
            <a:ext cx="1143000" cy="731520"/>
          </a:xfrm>
          <a:prstGeom prst="rect">
            <a:avLst/>
          </a:prstGeom>
        </p:spPr>
      </p:pic>
      <p:sp>
        <p:nvSpPr>
          <p:cNvPr id="5" name="TextBox 4"/>
          <p:cNvSpPr txBox="1"/>
          <p:nvPr/>
        </p:nvSpPr>
        <p:spPr>
          <a:xfrm>
            <a:off x="1828800" y="475488"/>
            <a:ext cx="6035040" cy="256032"/>
          </a:xfrm>
          <a:prstGeom prst="rect">
            <a:avLst/>
          </a:prstGeom>
          <a:noFill/>
        </p:spPr>
        <p:txBody>
          <a:bodyPr wrap="square" lIns="0" rIns="0" tIns="0" bIns="0" anchor="t"/>
          <a:lstStyle/>
          <a:p>
            <a:pPr algn="l"/>
            <a:r>
              <a:rPr sz="1300" b="0" i="0">
                <a:solidFill>
                  <a:srgbClr val="5E4E53"/>
                </a:solidFill>
                <a:latin typeface="Arial"/>
              </a:rPr>
              <a:t>ADG Education  ·  Campus Paris</a:t>
            </a:r>
          </a:p>
        </p:txBody>
      </p:sp>
      <p:sp>
        <p:nvSpPr>
          <p:cNvPr id="6" name="TextBox 5"/>
          <p:cNvSpPr txBox="1"/>
          <p:nvPr/>
        </p:nvSpPr>
        <p:spPr>
          <a:xfrm>
            <a:off x="1828800" y="749808"/>
            <a:ext cx="6217920" cy="256032"/>
          </a:xfrm>
          <a:prstGeom prst="rect">
            <a:avLst/>
          </a:prstGeom>
          <a:noFill/>
        </p:spPr>
        <p:txBody>
          <a:bodyPr wrap="square" lIns="0" rIns="0" tIns="0" bIns="0" anchor="t"/>
          <a:lstStyle/>
          <a:p>
            <a:pPr algn="l"/>
            <a:r>
              <a:rPr sz="1300" b="0" i="0">
                <a:solidFill>
                  <a:srgbClr val="5E4E53"/>
                </a:solidFill>
                <a:latin typeface="Arial"/>
              </a:rPr>
              <a:t>Titre professionnel CDA  ·  RNCP 37873  ·  niveau 6</a:t>
            </a:r>
          </a:p>
        </p:txBody>
      </p:sp>
      <p:sp>
        <p:nvSpPr>
          <p:cNvPr id="7" name="TextBox 6"/>
          <p:cNvSpPr txBox="1"/>
          <p:nvPr/>
        </p:nvSpPr>
        <p:spPr>
          <a:xfrm>
            <a:off x="530352" y="1965960"/>
            <a:ext cx="7498079" cy="868680"/>
          </a:xfrm>
          <a:prstGeom prst="rect">
            <a:avLst/>
          </a:prstGeom>
          <a:noFill/>
        </p:spPr>
        <p:txBody>
          <a:bodyPr wrap="square" lIns="0" rIns="0" tIns="0" bIns="0" anchor="t"/>
          <a:lstStyle/>
          <a:p>
            <a:pPr algn="l"/>
            <a:r>
              <a:rPr sz="6000" b="1" i="0">
                <a:solidFill>
                  <a:srgbClr val="8B4D5C"/>
                </a:solidFill>
                <a:latin typeface="Arial"/>
              </a:rPr>
              <a:t>Briefly</a:t>
            </a:r>
          </a:p>
        </p:txBody>
      </p:sp>
      <p:sp>
        <p:nvSpPr>
          <p:cNvPr id="8" name="TextBox 7"/>
          <p:cNvSpPr txBox="1"/>
          <p:nvPr/>
        </p:nvSpPr>
        <p:spPr>
          <a:xfrm>
            <a:off x="502920" y="2926080"/>
            <a:ext cx="7498079" cy="868680"/>
          </a:xfrm>
          <a:prstGeom prst="rect">
            <a:avLst/>
          </a:prstGeom>
          <a:noFill/>
        </p:spPr>
        <p:txBody>
          <a:bodyPr wrap="square" lIns="18288" rIns="18288" tIns="18288" bIns="18288" anchor="t"/>
          <a:lstStyle/>
          <a:p>
            <a:pPr algn="l">
              <a:spcBef>
                <a:spcPts val="0"/>
              </a:spcBef>
              <a:spcAft>
                <a:spcPts val="200"/>
              </a:spcAft>
            </a:pPr>
            <a:r>
              <a:rPr sz="2000" b="0" i="0">
                <a:solidFill>
                  <a:srgbClr val="1A1A1A"/>
                </a:solidFill>
                <a:latin typeface="Arial"/>
              </a:rPr>
              <a:t>Conception et développement d'une application</a:t>
            </a:r>
          </a:p>
          <a:p>
            <a:pPr algn="l">
              <a:spcBef>
                <a:spcPts val="0"/>
              </a:spcBef>
              <a:spcAft>
                <a:spcPts val="0"/>
              </a:spcAft>
            </a:pPr>
            <a:r>
              <a:rPr sz="2000" b="0" i="0">
                <a:solidFill>
                  <a:srgbClr val="1A1A1A"/>
                </a:solidFill>
                <a:latin typeface="Arial"/>
              </a:rPr>
              <a:t>web et mobile de suivi de l'avancement des équipes</a:t>
            </a:r>
          </a:p>
        </p:txBody>
      </p:sp>
      <p:sp>
        <p:nvSpPr>
          <p:cNvPr id="9" name="Rectangle 8"/>
          <p:cNvSpPr/>
          <p:nvPr/>
        </p:nvSpPr>
        <p:spPr>
          <a:xfrm>
            <a:off x="530352" y="3977639"/>
            <a:ext cx="1554480" cy="4114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4160520"/>
            <a:ext cx="5486400" cy="320040"/>
          </a:xfrm>
          <a:prstGeom prst="rect">
            <a:avLst/>
          </a:prstGeom>
          <a:noFill/>
        </p:spPr>
        <p:txBody>
          <a:bodyPr wrap="square" lIns="0" rIns="0" tIns="0" bIns="0" anchor="t"/>
          <a:lstStyle/>
          <a:p>
            <a:pPr algn="l"/>
            <a:r>
              <a:rPr sz="1400" b="0" i="0">
                <a:solidFill>
                  <a:srgbClr val="5E4E53"/>
                </a:solidFill>
                <a:latin typeface="Arial"/>
              </a:rPr>
              <a:t>Mémoire de fin de formation</a:t>
            </a:r>
          </a:p>
        </p:txBody>
      </p:sp>
      <p:sp>
        <p:nvSpPr>
          <p:cNvPr id="11" name="TextBox 10"/>
          <p:cNvSpPr txBox="1"/>
          <p:nvPr/>
        </p:nvSpPr>
        <p:spPr>
          <a:xfrm>
            <a:off x="8686800" y="1417320"/>
            <a:ext cx="3108960" cy="4206240"/>
          </a:xfrm>
          <a:prstGeom prst="rect">
            <a:avLst/>
          </a:prstGeom>
          <a:noFill/>
        </p:spPr>
        <p:txBody>
          <a:bodyPr wrap="square" lIns="18288" rIns="18288" tIns="18288" bIns="18288" anchor="t"/>
          <a:lstStyle/>
          <a:p>
            <a:pPr algn="l">
              <a:spcBef>
                <a:spcPts val="0"/>
              </a:spcBef>
              <a:spcAft>
                <a:spcPts val="1000"/>
              </a:spcAft>
            </a:pPr>
            <a:r>
              <a:rPr sz="1200" b="1" i="0">
                <a:solidFill>
                  <a:srgbClr val="8B4D5C"/>
                </a:solidFill>
                <a:latin typeface="Arial"/>
              </a:rPr>
              <a:t>Soutenance</a:t>
            </a:r>
          </a:p>
          <a:p>
            <a:pPr algn="l">
              <a:spcBef>
                <a:spcPts val="0"/>
              </a:spcBef>
              <a:spcAft>
                <a:spcPts val="1600"/>
              </a:spcAft>
            </a:pPr>
            <a:r>
              <a:rPr sz="2000" b="1" i="0">
                <a:solidFill>
                  <a:srgbClr val="1A1A1A"/>
                </a:solidFill>
                <a:latin typeface="Arial"/>
              </a:rPr>
              <a:t>Chiraz Lamraoui</a:t>
            </a:r>
          </a:p>
          <a:p>
            <a:pPr algn="l">
              <a:spcBef>
                <a:spcPts val="0"/>
              </a:spcBef>
              <a:spcAft>
                <a:spcPts val="800"/>
              </a:spcAft>
            </a:pPr>
            <a:r>
              <a:rPr sz="1500" b="0" i="0">
                <a:solidFill>
                  <a:srgbClr val="1A1A1A"/>
                </a:solidFill>
                <a:latin typeface="Arial"/>
              </a:rPr>
              <a:t>Drif Consult</a:t>
            </a:r>
          </a:p>
          <a:p>
            <a:pPr algn="l">
              <a:spcBef>
                <a:spcPts val="0"/>
              </a:spcBef>
              <a:spcAft>
                <a:spcPts val="100"/>
              </a:spcAft>
            </a:pPr>
            <a:r>
              <a:rPr sz="1200" b="1" i="0">
                <a:solidFill>
                  <a:srgbClr val="8B4D5C"/>
                </a:solidFill>
                <a:latin typeface="Arial"/>
              </a:rPr>
              <a:t>Tuteur</a:t>
            </a:r>
          </a:p>
          <a:p>
            <a:pPr algn="l">
              <a:spcBef>
                <a:spcPts val="0"/>
              </a:spcBef>
              <a:spcAft>
                <a:spcPts val="1000"/>
              </a:spcAft>
            </a:pPr>
            <a:r>
              <a:rPr sz="1400" b="0" i="0">
                <a:solidFill>
                  <a:srgbClr val="1A1A1A"/>
                </a:solidFill>
                <a:latin typeface="Arial"/>
              </a:rPr>
              <a:t>Yasser El Habib Drif</a:t>
            </a:r>
          </a:p>
          <a:p>
            <a:pPr algn="l">
              <a:spcBef>
                <a:spcPts val="0"/>
              </a:spcBef>
              <a:spcAft>
                <a:spcPts val="100"/>
              </a:spcAft>
            </a:pPr>
            <a:r>
              <a:rPr sz="1200" b="1" i="0">
                <a:solidFill>
                  <a:srgbClr val="8B4D5C"/>
                </a:solidFill>
                <a:latin typeface="Arial"/>
              </a:rPr>
              <a:t>Enseignant</a:t>
            </a:r>
          </a:p>
          <a:p>
            <a:pPr algn="l">
              <a:spcBef>
                <a:spcPts val="0"/>
              </a:spcBef>
              <a:spcAft>
                <a:spcPts val="1400"/>
              </a:spcAft>
            </a:pPr>
            <a:r>
              <a:rPr sz="1400" b="0" i="0">
                <a:solidFill>
                  <a:srgbClr val="1A1A1A"/>
                </a:solidFill>
                <a:latin typeface="Arial"/>
              </a:rPr>
              <a:t>Anis Benammar</a:t>
            </a:r>
          </a:p>
          <a:p>
            <a:pPr algn="l">
              <a:spcBef>
                <a:spcPts val="0"/>
              </a:spcBef>
              <a:spcAft>
                <a:spcPts val="0"/>
              </a:spcAft>
            </a:pPr>
            <a:r>
              <a:rPr sz="1400" b="1" i="0">
                <a:solidFill>
                  <a:srgbClr val="6E3A48"/>
                </a:solidFill>
                <a:latin typeface="Arial"/>
              </a:rPr>
              <a:t>27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DÉROULÉ</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Plan de la soutenance</a:t>
            </a:r>
          </a:p>
        </p:txBody>
      </p:sp>
      <p:sp>
        <p:nvSpPr>
          <p:cNvPr id="5" name="Rounded Rectangle 4"/>
          <p:cNvSpPr/>
          <p:nvPr/>
        </p:nvSpPr>
        <p:spPr>
          <a:xfrm>
            <a:off x="457200" y="1371600"/>
            <a:ext cx="3611880" cy="214884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3504" y="1572768"/>
            <a:ext cx="50292" cy="1737360"/>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54480"/>
            <a:ext cx="1280160" cy="347472"/>
          </a:xfrm>
          <a:prstGeom prst="rect">
            <a:avLst/>
          </a:prstGeom>
          <a:noFill/>
        </p:spPr>
        <p:txBody>
          <a:bodyPr wrap="square" lIns="0" rIns="0" tIns="0" bIns="0" anchor="t"/>
          <a:lstStyle/>
          <a:p>
            <a:pPr algn="l"/>
            <a:r>
              <a:rPr sz="1800" b="1" i="0">
                <a:solidFill>
                  <a:srgbClr val="8B4D5C"/>
                </a:solidFill>
                <a:latin typeface="Arial"/>
              </a:rPr>
              <a:t>01</a:t>
            </a:r>
          </a:p>
        </p:txBody>
      </p:sp>
      <p:sp>
        <p:nvSpPr>
          <p:cNvPr id="8" name="TextBox 7"/>
          <p:cNvSpPr txBox="1"/>
          <p:nvPr/>
        </p:nvSpPr>
        <p:spPr>
          <a:xfrm>
            <a:off x="804672" y="1938528"/>
            <a:ext cx="3017520" cy="502920"/>
          </a:xfrm>
          <a:prstGeom prst="rect">
            <a:avLst/>
          </a:prstGeom>
          <a:noFill/>
        </p:spPr>
        <p:txBody>
          <a:bodyPr wrap="square" lIns="0" rIns="0" tIns="0" bIns="0" anchor="t"/>
          <a:lstStyle/>
          <a:p>
            <a:pPr algn="l"/>
            <a:r>
              <a:rPr sz="1800" b="1" i="0">
                <a:solidFill>
                  <a:srgbClr val="1A1A1A"/>
                </a:solidFill>
                <a:latin typeface="Arial"/>
              </a:rPr>
              <a:t>Contexte</a:t>
            </a:r>
          </a:p>
        </p:txBody>
      </p:sp>
      <p:sp>
        <p:nvSpPr>
          <p:cNvPr id="9" name="TextBox 8"/>
          <p:cNvSpPr txBox="1"/>
          <p:nvPr/>
        </p:nvSpPr>
        <p:spPr>
          <a:xfrm>
            <a:off x="804672" y="2514600"/>
            <a:ext cx="3017520" cy="822960"/>
          </a:xfrm>
          <a:prstGeom prst="rect">
            <a:avLst/>
          </a:prstGeom>
          <a:noFill/>
        </p:spPr>
        <p:txBody>
          <a:bodyPr wrap="square" lIns="0" rIns="0" tIns="0" bIns="0" anchor="t"/>
          <a:lstStyle/>
          <a:p>
            <a:pPr algn="l"/>
            <a:r>
              <a:rPr sz="1400" b="0" i="0">
                <a:solidFill>
                  <a:srgbClr val="5E4E53"/>
                </a:solidFill>
                <a:latin typeface="Arial"/>
              </a:rPr>
              <a:t>L'alternance, le constat, la question, ce que les outils du marché ne couvrent pas.</a:t>
            </a:r>
          </a:p>
        </p:txBody>
      </p:sp>
      <p:sp>
        <p:nvSpPr>
          <p:cNvPr id="10" name="Rounded Rectangle 9"/>
          <p:cNvSpPr/>
          <p:nvPr/>
        </p:nvSpPr>
        <p:spPr>
          <a:xfrm>
            <a:off x="4297680" y="1371600"/>
            <a:ext cx="3611880" cy="214884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43984" y="1572768"/>
            <a:ext cx="50292" cy="1737360"/>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1554480"/>
            <a:ext cx="1280160" cy="347472"/>
          </a:xfrm>
          <a:prstGeom prst="rect">
            <a:avLst/>
          </a:prstGeom>
          <a:noFill/>
        </p:spPr>
        <p:txBody>
          <a:bodyPr wrap="square" lIns="0" rIns="0" tIns="0" bIns="0" anchor="t"/>
          <a:lstStyle/>
          <a:p>
            <a:pPr algn="l"/>
            <a:r>
              <a:rPr sz="1800" b="1" i="0">
                <a:solidFill>
                  <a:srgbClr val="8B4D5C"/>
                </a:solidFill>
                <a:latin typeface="Arial"/>
              </a:rPr>
              <a:t>02</a:t>
            </a:r>
          </a:p>
        </p:txBody>
      </p:sp>
      <p:sp>
        <p:nvSpPr>
          <p:cNvPr id="13" name="TextBox 12"/>
          <p:cNvSpPr txBox="1"/>
          <p:nvPr/>
        </p:nvSpPr>
        <p:spPr>
          <a:xfrm>
            <a:off x="4645152" y="1938528"/>
            <a:ext cx="3017520" cy="502920"/>
          </a:xfrm>
          <a:prstGeom prst="rect">
            <a:avLst/>
          </a:prstGeom>
          <a:noFill/>
        </p:spPr>
        <p:txBody>
          <a:bodyPr wrap="square" lIns="0" rIns="0" tIns="0" bIns="0" anchor="t"/>
          <a:lstStyle/>
          <a:p>
            <a:pPr algn="l"/>
            <a:r>
              <a:rPr sz="1800" b="1" i="0">
                <a:solidFill>
                  <a:srgbClr val="1A1A1A"/>
                </a:solidFill>
                <a:latin typeface="Arial"/>
              </a:rPr>
              <a:t>Besoins et méthode</a:t>
            </a:r>
          </a:p>
        </p:txBody>
      </p:sp>
      <p:sp>
        <p:nvSpPr>
          <p:cNvPr id="14" name="TextBox 13"/>
          <p:cNvSpPr txBox="1"/>
          <p:nvPr/>
        </p:nvSpPr>
        <p:spPr>
          <a:xfrm>
            <a:off x="4645152" y="2514600"/>
            <a:ext cx="3017520" cy="822960"/>
          </a:xfrm>
          <a:prstGeom prst="rect">
            <a:avLst/>
          </a:prstGeom>
          <a:noFill/>
        </p:spPr>
        <p:txBody>
          <a:bodyPr wrap="square" lIns="0" rIns="0" tIns="0" bIns="0" anchor="t"/>
          <a:lstStyle/>
          <a:p>
            <a:pPr algn="l"/>
            <a:r>
              <a:rPr sz="1400" b="0" i="0">
                <a:solidFill>
                  <a:srgbClr val="5E4E53"/>
                </a:solidFill>
                <a:latin typeface="Arial"/>
              </a:rPr>
              <a:t>Trois rôles, cas d'utilisation, Scrum en six sprints.</a:t>
            </a:r>
          </a:p>
        </p:txBody>
      </p:sp>
      <p:sp>
        <p:nvSpPr>
          <p:cNvPr id="15" name="Rounded Rectangle 14"/>
          <p:cNvSpPr/>
          <p:nvPr/>
        </p:nvSpPr>
        <p:spPr>
          <a:xfrm>
            <a:off x="8138160" y="1371600"/>
            <a:ext cx="3611880" cy="214884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84464" y="1572768"/>
            <a:ext cx="50292" cy="1737360"/>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85632" y="1554480"/>
            <a:ext cx="1280160" cy="347472"/>
          </a:xfrm>
          <a:prstGeom prst="rect">
            <a:avLst/>
          </a:prstGeom>
          <a:noFill/>
        </p:spPr>
        <p:txBody>
          <a:bodyPr wrap="square" lIns="0" rIns="0" tIns="0" bIns="0" anchor="t"/>
          <a:lstStyle/>
          <a:p>
            <a:pPr algn="l"/>
            <a:r>
              <a:rPr sz="1800" b="1" i="0">
                <a:solidFill>
                  <a:srgbClr val="8B4D5C"/>
                </a:solidFill>
                <a:latin typeface="Arial"/>
              </a:rPr>
              <a:t>03</a:t>
            </a:r>
          </a:p>
        </p:txBody>
      </p:sp>
      <p:sp>
        <p:nvSpPr>
          <p:cNvPr id="18" name="TextBox 17"/>
          <p:cNvSpPr txBox="1"/>
          <p:nvPr/>
        </p:nvSpPr>
        <p:spPr>
          <a:xfrm>
            <a:off x="8485632" y="1938528"/>
            <a:ext cx="3017520" cy="502920"/>
          </a:xfrm>
          <a:prstGeom prst="rect">
            <a:avLst/>
          </a:prstGeom>
          <a:noFill/>
        </p:spPr>
        <p:txBody>
          <a:bodyPr wrap="square" lIns="0" rIns="0" tIns="0" bIns="0" anchor="t"/>
          <a:lstStyle/>
          <a:p>
            <a:pPr algn="l"/>
            <a:r>
              <a:rPr sz="1800" b="1" i="0">
                <a:solidFill>
                  <a:srgbClr val="1A1A1A"/>
                </a:solidFill>
                <a:latin typeface="Arial"/>
              </a:rPr>
              <a:t>Conception</a:t>
            </a:r>
          </a:p>
        </p:txBody>
      </p:sp>
      <p:sp>
        <p:nvSpPr>
          <p:cNvPr id="19" name="TextBox 18"/>
          <p:cNvSpPr txBox="1"/>
          <p:nvPr/>
        </p:nvSpPr>
        <p:spPr>
          <a:xfrm>
            <a:off x="8485632" y="2514600"/>
            <a:ext cx="3017520" cy="822960"/>
          </a:xfrm>
          <a:prstGeom prst="rect">
            <a:avLst/>
          </a:prstGeom>
          <a:noFill/>
        </p:spPr>
        <p:txBody>
          <a:bodyPr wrap="square" lIns="0" rIns="0" tIns="0" bIns="0" anchor="t"/>
          <a:lstStyle/>
          <a:p>
            <a:pPr algn="l"/>
            <a:r>
              <a:rPr sz="1400" b="0" i="0">
                <a:solidFill>
                  <a:srgbClr val="5E4E53"/>
                </a:solidFill>
                <a:latin typeface="Arial"/>
              </a:rPr>
              <a:t>Le point d'avancement, les données, un serveur pour deux clients.</a:t>
            </a:r>
          </a:p>
        </p:txBody>
      </p:sp>
      <p:sp>
        <p:nvSpPr>
          <p:cNvPr id="20" name="Rounded Rectangle 19"/>
          <p:cNvSpPr/>
          <p:nvPr/>
        </p:nvSpPr>
        <p:spPr>
          <a:xfrm>
            <a:off x="457200" y="3749039"/>
            <a:ext cx="3611880" cy="214884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3504" y="3950207"/>
            <a:ext cx="50292" cy="1737360"/>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3931920"/>
            <a:ext cx="1280160" cy="347472"/>
          </a:xfrm>
          <a:prstGeom prst="rect">
            <a:avLst/>
          </a:prstGeom>
          <a:noFill/>
        </p:spPr>
        <p:txBody>
          <a:bodyPr wrap="square" lIns="0" rIns="0" tIns="0" bIns="0" anchor="t"/>
          <a:lstStyle/>
          <a:p>
            <a:pPr algn="l"/>
            <a:r>
              <a:rPr sz="1800" b="1" i="0">
                <a:solidFill>
                  <a:srgbClr val="8B4D5C"/>
                </a:solidFill>
                <a:latin typeface="Arial"/>
              </a:rPr>
              <a:t>04</a:t>
            </a:r>
          </a:p>
        </p:txBody>
      </p:sp>
      <p:sp>
        <p:nvSpPr>
          <p:cNvPr id="23" name="TextBox 22"/>
          <p:cNvSpPr txBox="1"/>
          <p:nvPr/>
        </p:nvSpPr>
        <p:spPr>
          <a:xfrm>
            <a:off x="804672" y="4315968"/>
            <a:ext cx="3017520" cy="502920"/>
          </a:xfrm>
          <a:prstGeom prst="rect">
            <a:avLst/>
          </a:prstGeom>
          <a:noFill/>
        </p:spPr>
        <p:txBody>
          <a:bodyPr wrap="square" lIns="0" rIns="0" tIns="0" bIns="0" anchor="t"/>
          <a:lstStyle/>
          <a:p>
            <a:pPr algn="l"/>
            <a:r>
              <a:rPr sz="1800" b="1" i="0">
                <a:solidFill>
                  <a:srgbClr val="1A1A1A"/>
                </a:solidFill>
                <a:latin typeface="Arial"/>
              </a:rPr>
              <a:t>Réalisation</a:t>
            </a:r>
          </a:p>
        </p:txBody>
      </p:sp>
      <p:sp>
        <p:nvSpPr>
          <p:cNvPr id="24" name="TextBox 23"/>
          <p:cNvSpPr txBox="1"/>
          <p:nvPr/>
        </p:nvSpPr>
        <p:spPr>
          <a:xfrm>
            <a:off x="804672" y="4892040"/>
            <a:ext cx="3017520" cy="822960"/>
          </a:xfrm>
          <a:prstGeom prst="rect">
            <a:avLst/>
          </a:prstGeom>
          <a:noFill/>
        </p:spPr>
        <p:txBody>
          <a:bodyPr wrap="square" lIns="0" rIns="0" tIns="0" bIns="0" anchor="t"/>
          <a:lstStyle/>
          <a:p>
            <a:pPr algn="l"/>
            <a:r>
              <a:rPr sz="1400" b="0" i="0">
                <a:solidFill>
                  <a:srgbClr val="5E4E53"/>
                </a:solidFill>
                <a:latin typeface="Arial"/>
              </a:rPr>
              <a:t>Les écrans web et l'application sur iPhone.</a:t>
            </a:r>
          </a:p>
        </p:txBody>
      </p:sp>
      <p:sp>
        <p:nvSpPr>
          <p:cNvPr id="25" name="Rounded Rectangle 24"/>
          <p:cNvSpPr/>
          <p:nvPr/>
        </p:nvSpPr>
        <p:spPr>
          <a:xfrm>
            <a:off x="4297680" y="3749039"/>
            <a:ext cx="3611880" cy="214884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43984" y="3950207"/>
            <a:ext cx="50292" cy="1737360"/>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45152" y="3931920"/>
            <a:ext cx="1280160" cy="347472"/>
          </a:xfrm>
          <a:prstGeom prst="rect">
            <a:avLst/>
          </a:prstGeom>
          <a:noFill/>
        </p:spPr>
        <p:txBody>
          <a:bodyPr wrap="square" lIns="0" rIns="0" tIns="0" bIns="0" anchor="t"/>
          <a:lstStyle/>
          <a:p>
            <a:pPr algn="l"/>
            <a:r>
              <a:rPr sz="1800" b="1" i="0">
                <a:solidFill>
                  <a:srgbClr val="8B4D5C"/>
                </a:solidFill>
                <a:latin typeface="Arial"/>
              </a:rPr>
              <a:t>05</a:t>
            </a:r>
          </a:p>
        </p:txBody>
      </p:sp>
      <p:sp>
        <p:nvSpPr>
          <p:cNvPr id="28" name="TextBox 27"/>
          <p:cNvSpPr txBox="1"/>
          <p:nvPr/>
        </p:nvSpPr>
        <p:spPr>
          <a:xfrm>
            <a:off x="4645152" y="4315968"/>
            <a:ext cx="3017520" cy="502920"/>
          </a:xfrm>
          <a:prstGeom prst="rect">
            <a:avLst/>
          </a:prstGeom>
          <a:noFill/>
        </p:spPr>
        <p:txBody>
          <a:bodyPr wrap="square" lIns="0" rIns="0" tIns="0" bIns="0" anchor="t"/>
          <a:lstStyle/>
          <a:p>
            <a:pPr algn="l"/>
            <a:r>
              <a:rPr sz="1800" b="1" i="0">
                <a:solidFill>
                  <a:srgbClr val="1A1A1A"/>
                </a:solidFill>
                <a:latin typeface="Arial"/>
              </a:rPr>
              <a:t>Sécurité, tests, mise en ligne</a:t>
            </a:r>
          </a:p>
        </p:txBody>
      </p:sp>
      <p:sp>
        <p:nvSpPr>
          <p:cNvPr id="29" name="TextBox 28"/>
          <p:cNvSpPr txBox="1"/>
          <p:nvPr/>
        </p:nvSpPr>
        <p:spPr>
          <a:xfrm>
            <a:off x="4645152" y="4892040"/>
            <a:ext cx="3017520" cy="822960"/>
          </a:xfrm>
          <a:prstGeom prst="rect">
            <a:avLst/>
          </a:prstGeom>
          <a:noFill/>
        </p:spPr>
        <p:txBody>
          <a:bodyPr wrap="square" lIns="0" rIns="0" tIns="0" bIns="0" anchor="t"/>
          <a:lstStyle/>
          <a:p>
            <a:pPr algn="l"/>
            <a:r>
              <a:rPr sz="1400" b="0" i="0">
                <a:solidFill>
                  <a:srgbClr val="5E4E53"/>
                </a:solidFill>
                <a:latin typeface="Arial"/>
              </a:rPr>
              <a:t>Droits, PHPUnit, alwaysdata.</a:t>
            </a:r>
          </a:p>
        </p:txBody>
      </p:sp>
      <p:sp>
        <p:nvSpPr>
          <p:cNvPr id="30" name="Rounded Rectangle 29"/>
          <p:cNvSpPr/>
          <p:nvPr/>
        </p:nvSpPr>
        <p:spPr>
          <a:xfrm>
            <a:off x="8138160" y="3749039"/>
            <a:ext cx="3611880" cy="214884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84464" y="3950207"/>
            <a:ext cx="50292" cy="1737360"/>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85632" y="3931920"/>
            <a:ext cx="1280160" cy="347472"/>
          </a:xfrm>
          <a:prstGeom prst="rect">
            <a:avLst/>
          </a:prstGeom>
          <a:noFill/>
        </p:spPr>
        <p:txBody>
          <a:bodyPr wrap="square" lIns="0" rIns="0" tIns="0" bIns="0" anchor="t"/>
          <a:lstStyle/>
          <a:p>
            <a:pPr algn="l"/>
            <a:r>
              <a:rPr sz="1800" b="1" i="0">
                <a:solidFill>
                  <a:srgbClr val="8B4D5C"/>
                </a:solidFill>
                <a:latin typeface="Arial"/>
              </a:rPr>
              <a:t>06</a:t>
            </a:r>
          </a:p>
        </p:txBody>
      </p:sp>
      <p:sp>
        <p:nvSpPr>
          <p:cNvPr id="33" name="TextBox 32"/>
          <p:cNvSpPr txBox="1"/>
          <p:nvPr/>
        </p:nvSpPr>
        <p:spPr>
          <a:xfrm>
            <a:off x="8485632" y="4315968"/>
            <a:ext cx="3017520" cy="502920"/>
          </a:xfrm>
          <a:prstGeom prst="rect">
            <a:avLst/>
          </a:prstGeom>
          <a:noFill/>
        </p:spPr>
        <p:txBody>
          <a:bodyPr wrap="square" lIns="0" rIns="0" tIns="0" bIns="0" anchor="t"/>
          <a:lstStyle/>
          <a:p>
            <a:pPr algn="l"/>
            <a:r>
              <a:rPr sz="1800" b="1" i="0">
                <a:solidFill>
                  <a:srgbClr val="1A1A1A"/>
                </a:solidFill>
                <a:latin typeface="Arial"/>
              </a:rPr>
              <a:t>Bilan</a:t>
            </a:r>
          </a:p>
        </p:txBody>
      </p:sp>
      <p:sp>
        <p:nvSpPr>
          <p:cNvPr id="34" name="TextBox 33"/>
          <p:cNvSpPr txBox="1"/>
          <p:nvPr/>
        </p:nvSpPr>
        <p:spPr>
          <a:xfrm>
            <a:off x="8485632" y="4892040"/>
            <a:ext cx="3017520" cy="822960"/>
          </a:xfrm>
          <a:prstGeom prst="rect">
            <a:avLst/>
          </a:prstGeom>
          <a:noFill/>
        </p:spPr>
        <p:txBody>
          <a:bodyPr wrap="square" lIns="0" rIns="0" tIns="0" bIns="0" anchor="t"/>
          <a:lstStyle/>
          <a:p>
            <a:pPr algn="l"/>
            <a:r>
              <a:rPr sz="1400" b="0" i="0">
                <a:solidFill>
                  <a:srgbClr val="5E4E53"/>
                </a:solidFill>
                <a:latin typeface="Arial"/>
              </a:rPr>
              <a:t>Réponse à la question, et ce qui reste ouvert.</a:t>
            </a:r>
          </a:p>
        </p:txBody>
      </p:sp>
      <p:sp>
        <p:nvSpPr>
          <p:cNvPr id="35" name="Rectangle 34"/>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37" name="TextBox 36"/>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38" name="TextBox 37"/>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RÉFÉRENTIEL</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Compétences du titre CDA</a:t>
            </a:r>
          </a:p>
        </p:txBody>
      </p:sp>
      <p:sp>
        <p:nvSpPr>
          <p:cNvPr id="5" name="TextBox 4"/>
          <p:cNvSpPr txBox="1"/>
          <p:nvPr/>
        </p:nvSpPr>
        <p:spPr>
          <a:xfrm>
            <a:off x="457200" y="1051560"/>
            <a:ext cx="11155680" cy="365760"/>
          </a:xfrm>
          <a:prstGeom prst="rect">
            <a:avLst/>
          </a:prstGeom>
          <a:noFill/>
        </p:spPr>
        <p:txBody>
          <a:bodyPr wrap="square" lIns="0" rIns="0" tIns="0" bIns="0" anchor="t"/>
          <a:lstStyle/>
          <a:p>
            <a:pPr algn="l"/>
            <a:r>
              <a:rPr sz="1500" b="0" i="0">
                <a:solidFill>
                  <a:srgbClr val="5E4E53"/>
                </a:solidFill>
                <a:latin typeface="Arial"/>
              </a:rPr>
              <a:t>Le référentiel RNCP 37873 regroupe onze compétences en trois activités. Briefly les met en œuvre.</a:t>
            </a:r>
          </a:p>
        </p:txBody>
      </p:sp>
      <p:sp>
        <p:nvSpPr>
          <p:cNvPr id="6" name="Rounded Rectangle 5"/>
          <p:cNvSpPr/>
          <p:nvPr/>
        </p:nvSpPr>
        <p:spPr>
          <a:xfrm>
            <a:off x="457200" y="1554480"/>
            <a:ext cx="3611880" cy="3977639"/>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611880" cy="1051560"/>
          </a:xfrm>
          <a:prstGeom prst="roundRect">
            <a:avLst>
              <a:gd name="adj" fmla="val 10000"/>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331720"/>
            <a:ext cx="3611880" cy="274320"/>
          </a:xfrm>
          <a:prstGeom prst="rect">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755648"/>
            <a:ext cx="420624" cy="420624"/>
          </a:xfrm>
          <a:prstGeom prst="ellipse">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819656"/>
            <a:ext cx="420624" cy="310896"/>
          </a:xfrm>
          <a:prstGeom prst="rect">
            <a:avLst/>
          </a:prstGeom>
          <a:noFill/>
        </p:spPr>
        <p:txBody>
          <a:bodyPr wrap="square" lIns="0" rIns="0" tIns="0" bIns="0" anchor="t"/>
          <a:lstStyle/>
          <a:p>
            <a:pPr algn="ctr"/>
            <a:r>
              <a:rPr sz="1500" b="1" i="0">
                <a:solidFill>
                  <a:srgbClr val="FFFFFF"/>
                </a:solidFill>
                <a:latin typeface="Arial"/>
              </a:rPr>
              <a:t>1</a:t>
            </a:r>
          </a:p>
        </p:txBody>
      </p:sp>
      <p:sp>
        <p:nvSpPr>
          <p:cNvPr id="11" name="TextBox 10"/>
          <p:cNvSpPr txBox="1"/>
          <p:nvPr/>
        </p:nvSpPr>
        <p:spPr>
          <a:xfrm>
            <a:off x="1207007" y="1719072"/>
            <a:ext cx="2651760" cy="731520"/>
          </a:xfrm>
          <a:prstGeom prst="rect">
            <a:avLst/>
          </a:prstGeom>
          <a:noFill/>
        </p:spPr>
        <p:txBody>
          <a:bodyPr wrap="square" lIns="0" rIns="0" tIns="0" bIns="0" anchor="t"/>
          <a:lstStyle/>
          <a:p>
            <a:pPr algn="l"/>
            <a:r>
              <a:rPr sz="1500" b="1" i="0">
                <a:solidFill>
                  <a:srgbClr val="1A1A1A"/>
                </a:solidFill>
                <a:latin typeface="Arial"/>
              </a:rPr>
              <a:t>Développer une application sécurisée</a:t>
            </a:r>
          </a:p>
        </p:txBody>
      </p:sp>
      <p:sp>
        <p:nvSpPr>
          <p:cNvPr id="12" name="TextBox 11"/>
          <p:cNvSpPr txBox="1"/>
          <p:nvPr/>
        </p:nvSpPr>
        <p:spPr>
          <a:xfrm>
            <a:off x="713232" y="2834640"/>
            <a:ext cx="3108960" cy="2926080"/>
          </a:xfrm>
          <a:prstGeom prst="rect">
            <a:avLst/>
          </a:prstGeom>
          <a:noFill/>
        </p:spPr>
        <p:txBody>
          <a:bodyPr wrap="square" lIns="18288" rIns="18288" tIns="18288" bIns="18288" anchor="t"/>
          <a:lstStyle/>
          <a:p>
            <a:pPr algn="l">
              <a:spcBef>
                <a:spcPts val="0"/>
              </a:spcBef>
              <a:spcAft>
                <a:spcPts val="1200"/>
              </a:spcAft>
            </a:pPr>
            <a:r>
              <a:rPr sz="1400" b="0" i="0">
                <a:solidFill>
                  <a:srgbClr val="1A1A1A"/>
                </a:solidFill>
                <a:latin typeface="Arial"/>
              </a:rPr>
              <a:t>Poste macOS, XAMPP, Flutter, Xcode</a:t>
            </a:r>
          </a:p>
          <a:p>
            <a:pPr algn="l">
              <a:spcBef>
                <a:spcPts val="0"/>
              </a:spcBef>
              <a:spcAft>
                <a:spcPts val="1200"/>
              </a:spcAft>
            </a:pPr>
            <a:r>
              <a:rPr sz="1400" b="0" i="0">
                <a:solidFill>
                  <a:srgbClr val="1A1A1A"/>
                </a:solidFill>
                <a:latin typeface="Arial"/>
              </a:rPr>
              <a:t>Interfaces Blade, Bootstrap et Flutter, français et anglais</a:t>
            </a:r>
          </a:p>
          <a:p>
            <a:pPr algn="l">
              <a:spcBef>
                <a:spcPts val="0"/>
              </a:spcBef>
              <a:spcAft>
                <a:spcPts val="1200"/>
              </a:spcAft>
            </a:pPr>
            <a:r>
              <a:rPr sz="1400" b="0" i="0">
                <a:solidFill>
                  <a:srgbClr val="1A1A1A"/>
                </a:solidFill>
                <a:latin typeface="Arial"/>
              </a:rPr>
              <a:t>Services métier et politiques d'accès</a:t>
            </a:r>
          </a:p>
          <a:p>
            <a:pPr algn="l">
              <a:spcBef>
                <a:spcPts val="0"/>
              </a:spcBef>
              <a:spcAft>
                <a:spcPts val="1200"/>
              </a:spcAft>
            </a:pPr>
            <a:r>
              <a:rPr sz="1400" b="0" i="0">
                <a:solidFill>
                  <a:srgbClr val="1A1A1A"/>
                </a:solidFill>
                <a:latin typeface="Arial"/>
              </a:rPr>
              <a:t>Scrum en six sprints</a:t>
            </a:r>
          </a:p>
        </p:txBody>
      </p:sp>
      <p:sp>
        <p:nvSpPr>
          <p:cNvPr id="13" name="Rounded Rectangle 12"/>
          <p:cNvSpPr/>
          <p:nvPr/>
        </p:nvSpPr>
        <p:spPr>
          <a:xfrm>
            <a:off x="4297680" y="1554480"/>
            <a:ext cx="3611880" cy="3977639"/>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97680" y="1554480"/>
            <a:ext cx="3611880" cy="1051560"/>
          </a:xfrm>
          <a:prstGeom prst="roundRect">
            <a:avLst>
              <a:gd name="adj" fmla="val 10000"/>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331720"/>
            <a:ext cx="3611880" cy="274320"/>
          </a:xfrm>
          <a:prstGeom prst="rect">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98848" y="1755648"/>
            <a:ext cx="420624" cy="420624"/>
          </a:xfrm>
          <a:prstGeom prst="ellipse">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98848" y="1819656"/>
            <a:ext cx="420624" cy="310896"/>
          </a:xfrm>
          <a:prstGeom prst="rect">
            <a:avLst/>
          </a:prstGeom>
          <a:noFill/>
        </p:spPr>
        <p:txBody>
          <a:bodyPr wrap="square" lIns="0" rIns="0" tIns="0" bIns="0" anchor="t"/>
          <a:lstStyle/>
          <a:p>
            <a:pPr algn="ctr"/>
            <a:r>
              <a:rPr sz="1500" b="1" i="0">
                <a:solidFill>
                  <a:srgbClr val="FFFFFF"/>
                </a:solidFill>
                <a:latin typeface="Arial"/>
              </a:rPr>
              <a:t>2</a:t>
            </a:r>
          </a:p>
        </p:txBody>
      </p:sp>
      <p:sp>
        <p:nvSpPr>
          <p:cNvPr id="18" name="TextBox 17"/>
          <p:cNvSpPr txBox="1"/>
          <p:nvPr/>
        </p:nvSpPr>
        <p:spPr>
          <a:xfrm>
            <a:off x="5047488" y="1719072"/>
            <a:ext cx="2651760" cy="731520"/>
          </a:xfrm>
          <a:prstGeom prst="rect">
            <a:avLst/>
          </a:prstGeom>
          <a:noFill/>
        </p:spPr>
        <p:txBody>
          <a:bodyPr wrap="square" lIns="0" rIns="0" tIns="0" bIns="0" anchor="t"/>
          <a:lstStyle/>
          <a:p>
            <a:pPr algn="l"/>
            <a:r>
              <a:rPr sz="1500" b="1" i="0">
                <a:solidFill>
                  <a:srgbClr val="1A1A1A"/>
                </a:solidFill>
                <a:latin typeface="Arial"/>
              </a:rPr>
              <a:t>Concevoir une application en couches</a:t>
            </a:r>
          </a:p>
        </p:txBody>
      </p:sp>
      <p:sp>
        <p:nvSpPr>
          <p:cNvPr id="19" name="TextBox 18"/>
          <p:cNvSpPr txBox="1"/>
          <p:nvPr/>
        </p:nvSpPr>
        <p:spPr>
          <a:xfrm>
            <a:off x="4553712" y="2834640"/>
            <a:ext cx="3108960" cy="2926080"/>
          </a:xfrm>
          <a:prstGeom prst="rect">
            <a:avLst/>
          </a:prstGeom>
          <a:noFill/>
        </p:spPr>
        <p:txBody>
          <a:bodyPr wrap="square" lIns="18288" rIns="18288" tIns="18288" bIns="18288" anchor="t"/>
          <a:lstStyle/>
          <a:p>
            <a:pPr algn="l">
              <a:spcBef>
                <a:spcPts val="0"/>
              </a:spcBef>
              <a:spcAft>
                <a:spcPts val="1200"/>
              </a:spcAft>
            </a:pPr>
            <a:r>
              <a:rPr sz="1400" b="0" i="0">
                <a:solidFill>
                  <a:srgbClr val="1A1A1A"/>
                </a:solidFill>
                <a:latin typeface="Arial"/>
              </a:rPr>
              <a:t>Acteurs, cas d'utilisation, maquettes</a:t>
            </a:r>
          </a:p>
          <a:p>
            <a:pPr algn="l">
              <a:spcBef>
                <a:spcPts val="0"/>
              </a:spcBef>
              <a:spcAft>
                <a:spcPts val="1200"/>
              </a:spcAft>
            </a:pPr>
            <a:r>
              <a:rPr sz="1400" b="0" i="0">
                <a:solidFill>
                  <a:srgbClr val="1A1A1A"/>
                </a:solidFill>
                <a:latin typeface="Arial"/>
              </a:rPr>
              <a:t>Architecture 3-tiers, HTML et JSON</a:t>
            </a:r>
          </a:p>
          <a:p>
            <a:pPr algn="l">
              <a:spcBef>
                <a:spcPts val="0"/>
              </a:spcBef>
              <a:spcAft>
                <a:spcPts val="1200"/>
              </a:spcAft>
            </a:pPr>
            <a:r>
              <a:rPr sz="1400" b="0" i="0">
                <a:solidFill>
                  <a:srgbClr val="1A1A1A"/>
                </a:solidFill>
                <a:latin typeface="Arial"/>
              </a:rPr>
              <a:t>Schéma relationnel MySQL</a:t>
            </a:r>
          </a:p>
          <a:p>
            <a:pPr algn="l">
              <a:spcBef>
                <a:spcPts val="0"/>
              </a:spcBef>
              <a:spcAft>
                <a:spcPts val="1200"/>
              </a:spcAft>
            </a:pPr>
            <a:r>
              <a:rPr sz="1400" b="0" i="0">
                <a:solidFill>
                  <a:srgbClr val="1A1A1A"/>
                </a:solidFill>
                <a:latin typeface="Arial"/>
              </a:rPr>
              <a:t>Modèles Eloquent et relations</a:t>
            </a:r>
          </a:p>
        </p:txBody>
      </p:sp>
      <p:sp>
        <p:nvSpPr>
          <p:cNvPr id="20" name="Rounded Rectangle 19"/>
          <p:cNvSpPr/>
          <p:nvPr/>
        </p:nvSpPr>
        <p:spPr>
          <a:xfrm>
            <a:off x="8138160" y="1554480"/>
            <a:ext cx="3611880" cy="3977639"/>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38160" y="1554480"/>
            <a:ext cx="3611880" cy="1051560"/>
          </a:xfrm>
          <a:prstGeom prst="roundRect">
            <a:avLst>
              <a:gd name="adj" fmla="val 10000"/>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38160" y="2331720"/>
            <a:ext cx="3611880" cy="274320"/>
          </a:xfrm>
          <a:prstGeom prst="rect">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39328" y="1755648"/>
            <a:ext cx="420624" cy="420624"/>
          </a:xfrm>
          <a:prstGeom prst="ellipse">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9328" y="1819656"/>
            <a:ext cx="420624" cy="310896"/>
          </a:xfrm>
          <a:prstGeom prst="rect">
            <a:avLst/>
          </a:prstGeom>
          <a:noFill/>
        </p:spPr>
        <p:txBody>
          <a:bodyPr wrap="square" lIns="0" rIns="0" tIns="0" bIns="0" anchor="t"/>
          <a:lstStyle/>
          <a:p>
            <a:pPr algn="ctr"/>
            <a:r>
              <a:rPr sz="1500" b="1" i="0">
                <a:solidFill>
                  <a:srgbClr val="FFFFFF"/>
                </a:solidFill>
                <a:latin typeface="Arial"/>
              </a:rPr>
              <a:t>3</a:t>
            </a:r>
          </a:p>
        </p:txBody>
      </p:sp>
      <p:sp>
        <p:nvSpPr>
          <p:cNvPr id="25" name="TextBox 24"/>
          <p:cNvSpPr txBox="1"/>
          <p:nvPr/>
        </p:nvSpPr>
        <p:spPr>
          <a:xfrm>
            <a:off x="8887968" y="1719072"/>
            <a:ext cx="2651760" cy="731520"/>
          </a:xfrm>
          <a:prstGeom prst="rect">
            <a:avLst/>
          </a:prstGeom>
          <a:noFill/>
        </p:spPr>
        <p:txBody>
          <a:bodyPr wrap="square" lIns="0" rIns="0" tIns="0" bIns="0" anchor="t"/>
          <a:lstStyle/>
          <a:p>
            <a:pPr algn="l"/>
            <a:r>
              <a:rPr sz="1500" b="1" i="0">
                <a:solidFill>
                  <a:srgbClr val="1A1A1A"/>
                </a:solidFill>
                <a:latin typeface="Arial"/>
              </a:rPr>
              <a:t>Préparer le déploiement</a:t>
            </a:r>
          </a:p>
        </p:txBody>
      </p:sp>
      <p:sp>
        <p:nvSpPr>
          <p:cNvPr id="26" name="TextBox 25"/>
          <p:cNvSpPr txBox="1"/>
          <p:nvPr/>
        </p:nvSpPr>
        <p:spPr>
          <a:xfrm>
            <a:off x="8394192" y="2834640"/>
            <a:ext cx="3108960" cy="2926080"/>
          </a:xfrm>
          <a:prstGeom prst="rect">
            <a:avLst/>
          </a:prstGeom>
          <a:noFill/>
        </p:spPr>
        <p:txBody>
          <a:bodyPr wrap="square" lIns="18288" rIns="18288" tIns="18288" bIns="18288" anchor="t"/>
          <a:lstStyle/>
          <a:p>
            <a:pPr algn="l">
              <a:spcBef>
                <a:spcPts val="0"/>
              </a:spcBef>
              <a:spcAft>
                <a:spcPts val="1200"/>
              </a:spcAft>
            </a:pPr>
            <a:r>
              <a:rPr sz="1400" b="0" i="0">
                <a:solidFill>
                  <a:srgbClr val="1A1A1A"/>
                </a:solidFill>
                <a:latin typeface="Arial"/>
              </a:rPr>
              <a:t>Plans de tests PHPUnit par sprint</a:t>
            </a:r>
          </a:p>
          <a:p>
            <a:pPr algn="l">
              <a:spcBef>
                <a:spcPts val="0"/>
              </a:spcBef>
              <a:spcAft>
                <a:spcPts val="1200"/>
              </a:spcAft>
            </a:pPr>
            <a:r>
              <a:rPr sz="1400" b="0" i="0">
                <a:solidFill>
                  <a:srgbClr val="1A1A1A"/>
                </a:solidFill>
                <a:latin typeface="Arial"/>
              </a:rPr>
              <a:t>Mise en ligne alwaysdata, web et iPhone</a:t>
            </a:r>
          </a:p>
          <a:p>
            <a:pPr algn="l">
              <a:spcBef>
                <a:spcPts val="0"/>
              </a:spcBef>
              <a:spcAft>
                <a:spcPts val="1200"/>
              </a:spcAft>
            </a:pPr>
            <a:r>
              <a:rPr sz="1400" b="0" i="0">
                <a:solidFill>
                  <a:srgbClr val="1A1A1A"/>
                </a:solidFill>
                <a:latin typeface="Arial"/>
              </a:rPr>
              <a:t>GitHub Actions à chaque push</a:t>
            </a:r>
          </a:p>
          <a:p>
            <a:pPr algn="l">
              <a:spcBef>
                <a:spcPts val="0"/>
              </a:spcBef>
              <a:spcAft>
                <a:spcPts val="1200"/>
              </a:spcAft>
            </a:pPr>
            <a:r>
              <a:rPr sz="1400" b="0" i="0">
                <a:solidFill>
                  <a:srgbClr val="1A1A1A"/>
                </a:solidFill>
                <a:latin typeface="Arial"/>
              </a:rPr>
              <a:t>Déploiement du serveur documenté</a:t>
            </a:r>
          </a:p>
        </p:txBody>
      </p:sp>
      <p:sp>
        <p:nvSpPr>
          <p:cNvPr id="27" name="Rectangle 26"/>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9" name="TextBox 28"/>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30" name="TextBox 29"/>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Référentiel CDA  ·  activités 1 à 3</a:t>
            </a:r>
          </a:p>
        </p:txBody>
      </p:sp>
      <p:sp>
        <p:nvSpPr>
          <p:cNvPr id="31" name="TextBox 30"/>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01   CONTEXTE</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Où j'ai fait mon alternance</a:t>
            </a:r>
          </a:p>
        </p:txBody>
      </p:sp>
      <p:sp>
        <p:nvSpPr>
          <p:cNvPr id="5" name="Rounded Rectangle 4"/>
          <p:cNvSpPr/>
          <p:nvPr/>
        </p:nvSpPr>
        <p:spPr>
          <a:xfrm>
            <a:off x="457200" y="1234440"/>
            <a:ext cx="3611880" cy="169164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 y="1389888"/>
            <a:ext cx="3154680" cy="292608"/>
          </a:xfrm>
          <a:prstGeom prst="rect">
            <a:avLst/>
          </a:prstGeom>
          <a:noFill/>
        </p:spPr>
        <p:txBody>
          <a:bodyPr wrap="square" lIns="0" rIns="0" tIns="0" bIns="0" anchor="t"/>
          <a:lstStyle/>
          <a:p>
            <a:pPr algn="l"/>
            <a:r>
              <a:rPr sz="1200" b="1" i="0">
                <a:solidFill>
                  <a:srgbClr val="8B4D5C"/>
                </a:solidFill>
                <a:latin typeface="Arial"/>
              </a:rPr>
              <a:t>Entreprise d'accueil</a:t>
            </a:r>
          </a:p>
        </p:txBody>
      </p:sp>
      <p:sp>
        <p:nvSpPr>
          <p:cNvPr id="7" name="TextBox 6"/>
          <p:cNvSpPr txBox="1"/>
          <p:nvPr/>
        </p:nvSpPr>
        <p:spPr>
          <a:xfrm>
            <a:off x="676656" y="1828800"/>
            <a:ext cx="3154680" cy="822960"/>
          </a:xfrm>
          <a:prstGeom prst="rect">
            <a:avLst/>
          </a:prstGeom>
          <a:noFill/>
        </p:spPr>
        <p:txBody>
          <a:bodyPr wrap="square" lIns="0" rIns="0" tIns="0" bIns="0" anchor="t"/>
          <a:lstStyle/>
          <a:p>
            <a:pPr algn="l"/>
            <a:r>
              <a:rPr sz="1800" b="1" i="0">
                <a:solidFill>
                  <a:srgbClr val="1A1A1A"/>
                </a:solidFill>
                <a:latin typeface="Arial"/>
              </a:rPr>
              <a:t>Drif Consult</a:t>
            </a:r>
          </a:p>
        </p:txBody>
      </p:sp>
      <p:sp>
        <p:nvSpPr>
          <p:cNvPr id="8" name="Rounded Rectangle 7"/>
          <p:cNvSpPr/>
          <p:nvPr/>
        </p:nvSpPr>
        <p:spPr>
          <a:xfrm>
            <a:off x="4297680" y="1234440"/>
            <a:ext cx="3611880" cy="169164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1389888"/>
            <a:ext cx="3154680" cy="292608"/>
          </a:xfrm>
          <a:prstGeom prst="rect">
            <a:avLst/>
          </a:prstGeom>
          <a:noFill/>
        </p:spPr>
        <p:txBody>
          <a:bodyPr wrap="square" lIns="0" rIns="0" tIns="0" bIns="0" anchor="t"/>
          <a:lstStyle/>
          <a:p>
            <a:pPr algn="l"/>
            <a:r>
              <a:rPr sz="1200" b="1" i="0">
                <a:solidFill>
                  <a:srgbClr val="8B4D5C"/>
                </a:solidFill>
                <a:latin typeface="Arial"/>
              </a:rPr>
              <a:t>Tuteur</a:t>
            </a:r>
          </a:p>
        </p:txBody>
      </p:sp>
      <p:sp>
        <p:nvSpPr>
          <p:cNvPr id="10" name="TextBox 9"/>
          <p:cNvSpPr txBox="1"/>
          <p:nvPr/>
        </p:nvSpPr>
        <p:spPr>
          <a:xfrm>
            <a:off x="4517136" y="1828800"/>
            <a:ext cx="3154680" cy="822960"/>
          </a:xfrm>
          <a:prstGeom prst="rect">
            <a:avLst/>
          </a:prstGeom>
          <a:noFill/>
        </p:spPr>
        <p:txBody>
          <a:bodyPr wrap="square" lIns="0" rIns="0" tIns="0" bIns="0" anchor="t"/>
          <a:lstStyle/>
          <a:p>
            <a:pPr algn="l"/>
            <a:r>
              <a:rPr sz="1800" b="1" i="0">
                <a:solidFill>
                  <a:srgbClr val="1A1A1A"/>
                </a:solidFill>
                <a:latin typeface="Arial"/>
              </a:rPr>
              <a:t>Yasser El Habib Drif</a:t>
            </a:r>
          </a:p>
        </p:txBody>
      </p:sp>
      <p:sp>
        <p:nvSpPr>
          <p:cNvPr id="11" name="Rounded Rectangle 10"/>
          <p:cNvSpPr/>
          <p:nvPr/>
        </p:nvSpPr>
        <p:spPr>
          <a:xfrm>
            <a:off x="8138160" y="1234440"/>
            <a:ext cx="3611880" cy="169164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7616" y="1389888"/>
            <a:ext cx="3154680" cy="292608"/>
          </a:xfrm>
          <a:prstGeom prst="rect">
            <a:avLst/>
          </a:prstGeom>
          <a:noFill/>
        </p:spPr>
        <p:txBody>
          <a:bodyPr wrap="square" lIns="0" rIns="0" tIns="0" bIns="0" anchor="t"/>
          <a:lstStyle/>
          <a:p>
            <a:pPr algn="l"/>
            <a:r>
              <a:rPr sz="1200" b="1" i="0">
                <a:solidFill>
                  <a:srgbClr val="8B4D5C"/>
                </a:solidFill>
                <a:latin typeface="Arial"/>
              </a:rPr>
              <a:t>Produit</a:t>
            </a:r>
          </a:p>
        </p:txBody>
      </p:sp>
      <p:sp>
        <p:nvSpPr>
          <p:cNvPr id="13" name="TextBox 12"/>
          <p:cNvSpPr txBox="1"/>
          <p:nvPr/>
        </p:nvSpPr>
        <p:spPr>
          <a:xfrm>
            <a:off x="8357616" y="1828800"/>
            <a:ext cx="3154680" cy="822960"/>
          </a:xfrm>
          <a:prstGeom prst="rect">
            <a:avLst/>
          </a:prstGeom>
          <a:noFill/>
        </p:spPr>
        <p:txBody>
          <a:bodyPr wrap="square" lIns="0" rIns="0" tIns="0" bIns="0" anchor="t"/>
          <a:lstStyle/>
          <a:p>
            <a:pPr algn="l"/>
            <a:r>
              <a:rPr sz="1800" b="1" i="0">
                <a:solidFill>
                  <a:srgbClr val="1A1A1A"/>
                </a:solidFill>
                <a:latin typeface="Arial"/>
              </a:rPr>
              <a:t>Roman.ai, coworker pour Slack</a:t>
            </a:r>
          </a:p>
        </p:txBody>
      </p:sp>
      <p:sp>
        <p:nvSpPr>
          <p:cNvPr id="14" name="Rounded Rectangle 13"/>
          <p:cNvSpPr/>
          <p:nvPr/>
        </p:nvSpPr>
        <p:spPr>
          <a:xfrm>
            <a:off x="457200" y="3154680"/>
            <a:ext cx="11247120" cy="22402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337560"/>
            <a:ext cx="7315200" cy="292608"/>
          </a:xfrm>
          <a:prstGeom prst="rect">
            <a:avLst/>
          </a:prstGeom>
          <a:noFill/>
        </p:spPr>
        <p:txBody>
          <a:bodyPr wrap="square" lIns="0" rIns="0" tIns="0" bIns="0" anchor="t"/>
          <a:lstStyle/>
          <a:p>
            <a:pPr algn="l"/>
            <a:r>
              <a:rPr sz="1300" b="1" i="0">
                <a:solidFill>
                  <a:srgbClr val="8B4D5C"/>
                </a:solidFill>
                <a:latin typeface="Arial"/>
              </a:rPr>
              <a:t>Missions, au niveau du produit</a:t>
            </a:r>
          </a:p>
        </p:txBody>
      </p:sp>
      <p:sp>
        <p:nvSpPr>
          <p:cNvPr id="16" name="TextBox 15"/>
          <p:cNvSpPr txBox="1"/>
          <p:nvPr/>
        </p:nvSpPr>
        <p:spPr>
          <a:xfrm>
            <a:off x="731520" y="3703320"/>
            <a:ext cx="10607040" cy="2103120"/>
          </a:xfrm>
          <a:prstGeom prst="rect">
            <a:avLst/>
          </a:prstGeom>
          <a:noFill/>
        </p:spPr>
        <p:txBody>
          <a:bodyPr wrap="square" lIns="18288" rIns="18288" tIns="18288" bIns="18288" anchor="t"/>
          <a:lstStyle/>
          <a:p>
            <a:pPr algn="l">
              <a:spcBef>
                <a:spcPts val="0"/>
              </a:spcBef>
              <a:spcAft>
                <a:spcPts val="800"/>
              </a:spcAft>
            </a:pPr>
            <a:r>
              <a:rPr sz="1600" b="0" i="0">
                <a:solidFill>
                  <a:srgbClr val="1A1A1A"/>
                </a:solidFill>
                <a:latin typeface="Arial"/>
              </a:rPr>
              <a:t>Front-end. Interfaces du produit, cohérence visuelle.</a:t>
            </a:r>
          </a:p>
          <a:p>
            <a:pPr algn="l">
              <a:spcBef>
                <a:spcPts val="0"/>
              </a:spcBef>
              <a:spcAft>
                <a:spcPts val="1400"/>
              </a:spcAft>
            </a:pPr>
            <a:r>
              <a:rPr sz="1600" b="0" i="0">
                <a:solidFill>
                  <a:srgbClr val="1A1A1A"/>
                </a:solidFill>
                <a:latin typeface="Arial"/>
              </a:rPr>
              <a:t>Parrainage. La fonction qui relie un utilisateur à ceux qu'il invite.</a:t>
            </a:r>
          </a:p>
          <a:p>
            <a:pPr algn="l">
              <a:spcBef>
                <a:spcPts val="0"/>
              </a:spcBef>
              <a:spcAft>
                <a:spcPts val="600"/>
              </a:spcAft>
            </a:pPr>
            <a:r>
              <a:rPr sz="1600" b="1" i="0">
                <a:solidFill>
                  <a:srgbClr val="1A1A1A"/>
                </a:solidFill>
                <a:latin typeface="Arial"/>
              </a:rPr>
              <a:t>Ce travail en équipe produit m'a menée au projet de titre.</a:t>
            </a:r>
          </a:p>
          <a:p>
            <a:pPr algn="l">
              <a:spcBef>
                <a:spcPts val="0"/>
              </a:spcBef>
              <a:spcAft>
                <a:spcPts val="0"/>
              </a:spcAft>
            </a:pPr>
            <a:r>
              <a:rPr sz="1600" b="1" i="0">
                <a:solidFill>
                  <a:srgbClr val="1A1A1A"/>
                </a:solidFill>
                <a:latin typeface="Arial"/>
              </a:rPr>
              <a:t>Briefly n'est pas une fonction de Roman.ai.</a:t>
            </a:r>
          </a:p>
        </p:txBody>
      </p:sp>
      <p:sp>
        <p:nvSpPr>
          <p:cNvPr id="17" name="Rectangle 16"/>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19" name="TextBox 18"/>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0" name="TextBox 19"/>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01   CONTEXTE</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La question</a:t>
            </a:r>
          </a:p>
        </p:txBody>
      </p:sp>
      <p:sp>
        <p:nvSpPr>
          <p:cNvPr id="5" name="Rounded Rectangle 4"/>
          <p:cNvSpPr/>
          <p:nvPr/>
        </p:nvSpPr>
        <p:spPr>
          <a:xfrm>
            <a:off x="457200" y="1115568"/>
            <a:ext cx="11247120" cy="1874519"/>
          </a:xfrm>
          <a:prstGeom prst="roundRect">
            <a:avLst>
              <a:gd name="adj" fmla="val 10000"/>
            </a:avLst>
          </a:prstGeom>
          <a:solidFill>
            <a:srgbClr val="F6E8ED"/>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15568"/>
            <a:ext cx="82296" cy="1874519"/>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298448"/>
            <a:ext cx="10607040" cy="1508760"/>
          </a:xfrm>
          <a:prstGeom prst="rect">
            <a:avLst/>
          </a:prstGeom>
          <a:noFill/>
        </p:spPr>
        <p:txBody>
          <a:bodyPr wrap="square" lIns="0" rIns="0" tIns="0" bIns="0" anchor="t"/>
          <a:lstStyle/>
          <a:p>
            <a:pPr algn="l"/>
            <a:r>
              <a:rPr sz="2200" b="1" i="0">
                <a:solidFill>
                  <a:srgbClr val="1A1A1A"/>
                </a:solidFill>
                <a:latin typeface="Arial"/>
              </a:rPr>
              <a:t>Comment offrir à une organisation fermée un suivi d'avancement quotidien, structuré autour des tâches, accessible sur le web et sur mobile, avec des rôles nets ?</a:t>
            </a:r>
          </a:p>
        </p:txBody>
      </p:sp>
      <p:sp>
        <p:nvSpPr>
          <p:cNvPr id="8" name="Rounded Rectangle 7"/>
          <p:cNvSpPr/>
          <p:nvPr/>
        </p:nvSpPr>
        <p:spPr>
          <a:xfrm>
            <a:off x="457200" y="3337560"/>
            <a:ext cx="5623560" cy="126187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3721608"/>
            <a:ext cx="457200" cy="457200"/>
          </a:xfrm>
          <a:prstGeom prst="ellipse">
            <a:avLst/>
          </a:prstGeom>
          <a:solidFill>
            <a:srgbClr val="F6E8ED"/>
          </a:solidFill>
          <a:ln>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794760"/>
            <a:ext cx="457200" cy="329184"/>
          </a:xfrm>
          <a:prstGeom prst="rect">
            <a:avLst/>
          </a:prstGeom>
          <a:noFill/>
        </p:spPr>
        <p:txBody>
          <a:bodyPr wrap="square" lIns="0" rIns="0" tIns="0" bIns="0" anchor="t"/>
          <a:lstStyle/>
          <a:p>
            <a:pPr algn="ctr"/>
            <a:r>
              <a:rPr sz="1600" b="1" i="0">
                <a:solidFill>
                  <a:srgbClr val="8B4D5C"/>
                </a:solidFill>
                <a:latin typeface="Arial"/>
              </a:rPr>
              <a:t>1</a:t>
            </a:r>
          </a:p>
        </p:txBody>
      </p:sp>
      <p:sp>
        <p:nvSpPr>
          <p:cNvPr id="11" name="TextBox 10"/>
          <p:cNvSpPr txBox="1"/>
          <p:nvPr/>
        </p:nvSpPr>
        <p:spPr>
          <a:xfrm>
            <a:off x="1280160" y="3685032"/>
            <a:ext cx="4572000" cy="640080"/>
          </a:xfrm>
          <a:prstGeom prst="rect">
            <a:avLst/>
          </a:prstGeom>
          <a:noFill/>
        </p:spPr>
        <p:txBody>
          <a:bodyPr wrap="square" lIns="0" rIns="0" tIns="0" bIns="0" anchor="t"/>
          <a:lstStyle/>
          <a:p>
            <a:pPr algn="l"/>
            <a:r>
              <a:rPr sz="1600" b="0" i="0">
                <a:solidFill>
                  <a:srgbClr val="1A1A1A"/>
                </a:solidFill>
                <a:latin typeface="Arial"/>
              </a:rPr>
              <a:t>Le point quotidien se fait souvent dans Slack ou Teams.</a:t>
            </a:r>
          </a:p>
        </p:txBody>
      </p:sp>
      <p:sp>
        <p:nvSpPr>
          <p:cNvPr id="12" name="Rounded Rectangle 11"/>
          <p:cNvSpPr/>
          <p:nvPr/>
        </p:nvSpPr>
        <p:spPr>
          <a:xfrm>
            <a:off x="6309360" y="3337560"/>
            <a:ext cx="5623560" cy="126187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10528" y="3721608"/>
            <a:ext cx="457200" cy="457200"/>
          </a:xfrm>
          <a:prstGeom prst="ellipse">
            <a:avLst/>
          </a:prstGeom>
          <a:solidFill>
            <a:srgbClr val="F6E8ED"/>
          </a:solidFill>
          <a:ln>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0528" y="3794760"/>
            <a:ext cx="457200" cy="329184"/>
          </a:xfrm>
          <a:prstGeom prst="rect">
            <a:avLst/>
          </a:prstGeom>
          <a:noFill/>
        </p:spPr>
        <p:txBody>
          <a:bodyPr wrap="square" lIns="0" rIns="0" tIns="0" bIns="0" anchor="t"/>
          <a:lstStyle/>
          <a:p>
            <a:pPr algn="ctr"/>
            <a:r>
              <a:rPr sz="1600" b="1" i="0">
                <a:solidFill>
                  <a:srgbClr val="8B4D5C"/>
                </a:solidFill>
                <a:latin typeface="Arial"/>
              </a:rPr>
              <a:t>2</a:t>
            </a:r>
          </a:p>
        </p:txBody>
      </p:sp>
      <p:sp>
        <p:nvSpPr>
          <p:cNvPr id="15" name="TextBox 14"/>
          <p:cNvSpPr txBox="1"/>
          <p:nvPr/>
        </p:nvSpPr>
        <p:spPr>
          <a:xfrm>
            <a:off x="7132320" y="3685032"/>
            <a:ext cx="4572000" cy="640080"/>
          </a:xfrm>
          <a:prstGeom prst="rect">
            <a:avLst/>
          </a:prstGeom>
          <a:noFill/>
        </p:spPr>
        <p:txBody>
          <a:bodyPr wrap="square" lIns="0" rIns="0" tIns="0" bIns="0" anchor="t"/>
          <a:lstStyle/>
          <a:p>
            <a:pPr algn="l"/>
            <a:r>
              <a:rPr sz="1600" b="0" i="0">
                <a:solidFill>
                  <a:srgbClr val="1A1A1A"/>
                </a:solidFill>
                <a:latin typeface="Arial"/>
              </a:rPr>
              <a:t>Il n'est pas relié à une tâche.</a:t>
            </a:r>
          </a:p>
        </p:txBody>
      </p:sp>
      <p:sp>
        <p:nvSpPr>
          <p:cNvPr id="16" name="Rounded Rectangle 15"/>
          <p:cNvSpPr/>
          <p:nvPr/>
        </p:nvSpPr>
        <p:spPr>
          <a:xfrm>
            <a:off x="457200" y="4754880"/>
            <a:ext cx="5623560" cy="126187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138928"/>
            <a:ext cx="457200" cy="457200"/>
          </a:xfrm>
          <a:prstGeom prst="ellipse">
            <a:avLst/>
          </a:prstGeom>
          <a:solidFill>
            <a:srgbClr val="F6E8ED"/>
          </a:solidFill>
          <a:ln>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212080"/>
            <a:ext cx="457200" cy="329184"/>
          </a:xfrm>
          <a:prstGeom prst="rect">
            <a:avLst/>
          </a:prstGeom>
          <a:noFill/>
        </p:spPr>
        <p:txBody>
          <a:bodyPr wrap="square" lIns="0" rIns="0" tIns="0" bIns="0" anchor="t"/>
          <a:lstStyle/>
          <a:p>
            <a:pPr algn="ctr"/>
            <a:r>
              <a:rPr sz="1600" b="1" i="0">
                <a:solidFill>
                  <a:srgbClr val="8B4D5C"/>
                </a:solidFill>
                <a:latin typeface="Arial"/>
              </a:rPr>
              <a:t>3</a:t>
            </a:r>
          </a:p>
        </p:txBody>
      </p:sp>
      <p:sp>
        <p:nvSpPr>
          <p:cNvPr id="19" name="TextBox 18"/>
          <p:cNvSpPr txBox="1"/>
          <p:nvPr/>
        </p:nvSpPr>
        <p:spPr>
          <a:xfrm>
            <a:off x="1280160" y="5102352"/>
            <a:ext cx="4572000" cy="640080"/>
          </a:xfrm>
          <a:prstGeom prst="rect">
            <a:avLst/>
          </a:prstGeom>
          <a:noFill/>
        </p:spPr>
        <p:txBody>
          <a:bodyPr wrap="square" lIns="0" rIns="0" tIns="0" bIns="0" anchor="t"/>
          <a:lstStyle/>
          <a:p>
            <a:pPr algn="l"/>
            <a:r>
              <a:rPr sz="1600" b="0" i="0">
                <a:solidFill>
                  <a:srgbClr val="1A1A1A"/>
                </a:solidFill>
                <a:latin typeface="Arial"/>
              </a:rPr>
              <a:t>Un blocage disparaît dans le fil.</a:t>
            </a:r>
          </a:p>
        </p:txBody>
      </p:sp>
      <p:sp>
        <p:nvSpPr>
          <p:cNvPr id="20" name="Rounded Rectangle 19"/>
          <p:cNvSpPr/>
          <p:nvPr/>
        </p:nvSpPr>
        <p:spPr>
          <a:xfrm>
            <a:off x="6309360" y="4754880"/>
            <a:ext cx="5623560" cy="126187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10528" y="5138928"/>
            <a:ext cx="457200" cy="457200"/>
          </a:xfrm>
          <a:prstGeom prst="ellipse">
            <a:avLst/>
          </a:prstGeom>
          <a:solidFill>
            <a:srgbClr val="F6E8ED"/>
          </a:solidFill>
          <a:ln>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5212080"/>
            <a:ext cx="457200" cy="329184"/>
          </a:xfrm>
          <a:prstGeom prst="rect">
            <a:avLst/>
          </a:prstGeom>
          <a:noFill/>
        </p:spPr>
        <p:txBody>
          <a:bodyPr wrap="square" lIns="0" rIns="0" tIns="0" bIns="0" anchor="t"/>
          <a:lstStyle/>
          <a:p>
            <a:pPr algn="ctr"/>
            <a:r>
              <a:rPr sz="1600" b="1" i="0">
                <a:solidFill>
                  <a:srgbClr val="8B4D5C"/>
                </a:solidFill>
                <a:latin typeface="Arial"/>
              </a:rPr>
              <a:t>4</a:t>
            </a:r>
          </a:p>
        </p:txBody>
      </p:sp>
      <p:sp>
        <p:nvSpPr>
          <p:cNvPr id="23" name="TextBox 22"/>
          <p:cNvSpPr txBox="1"/>
          <p:nvPr/>
        </p:nvSpPr>
        <p:spPr>
          <a:xfrm>
            <a:off x="7132320" y="5102352"/>
            <a:ext cx="4572000" cy="640080"/>
          </a:xfrm>
          <a:prstGeom prst="rect">
            <a:avLst/>
          </a:prstGeom>
          <a:noFill/>
        </p:spPr>
        <p:txBody>
          <a:bodyPr wrap="square" lIns="0" rIns="0" tIns="0" bIns="0" anchor="t"/>
          <a:lstStyle/>
          <a:p>
            <a:pPr algn="l"/>
            <a:r>
              <a:rPr sz="1600" b="0" i="0">
                <a:solidFill>
                  <a:srgbClr val="1A1A1A"/>
                </a:solidFill>
                <a:latin typeface="Arial"/>
              </a:rPr>
              <a:t>Le chef d'équipe n'a pas de tableau de bord à jour.</a:t>
            </a:r>
          </a:p>
        </p:txBody>
      </p:sp>
      <p:sp>
        <p:nvSpPr>
          <p:cNvPr id="24" name="Rectangle 23"/>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6" name="TextBox 25"/>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7" name="TextBox 26"/>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a:t>
            </a:r>
          </a:p>
        </p:txBody>
      </p:sp>
      <p:sp>
        <p:nvSpPr>
          <p:cNvPr id="28" name="TextBox 27"/>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01   CONTEXTE</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Ce que les outils du marché ne font pas</a:t>
            </a:r>
          </a:p>
        </p:txBody>
      </p:sp>
      <p:sp>
        <p:nvSpPr>
          <p:cNvPr id="5" name="Rounded Rectangle 4"/>
          <p:cNvSpPr/>
          <p:nvPr/>
        </p:nvSpPr>
        <p:spPr>
          <a:xfrm>
            <a:off x="411480" y="1115568"/>
            <a:ext cx="3703320" cy="310896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43584"/>
            <a:ext cx="3337560" cy="237744"/>
          </a:xfrm>
          <a:prstGeom prst="rect">
            <a:avLst/>
          </a:prstGeom>
          <a:noFill/>
        </p:spPr>
        <p:txBody>
          <a:bodyPr wrap="square" lIns="0" rIns="0" tIns="0" bIns="0" anchor="t"/>
          <a:lstStyle/>
          <a:p>
            <a:pPr algn="l"/>
            <a:r>
              <a:rPr sz="1200" b="1" i="0">
                <a:solidFill>
                  <a:srgbClr val="8B4D5C"/>
                </a:solidFill>
                <a:latin typeface="Arial"/>
              </a:rPr>
              <a:t>Messagerie</a:t>
            </a:r>
          </a:p>
        </p:txBody>
      </p:sp>
      <p:sp>
        <p:nvSpPr>
          <p:cNvPr id="7" name="TextBox 6"/>
          <p:cNvSpPr txBox="1"/>
          <p:nvPr/>
        </p:nvSpPr>
        <p:spPr>
          <a:xfrm>
            <a:off x="594360" y="1481328"/>
            <a:ext cx="3337560" cy="292608"/>
          </a:xfrm>
          <a:prstGeom prst="rect">
            <a:avLst/>
          </a:prstGeom>
          <a:noFill/>
        </p:spPr>
        <p:txBody>
          <a:bodyPr wrap="square" lIns="0" rIns="0" tIns="0" bIns="0" anchor="t"/>
          <a:lstStyle/>
          <a:p>
            <a:pPr algn="l"/>
            <a:r>
              <a:rPr sz="1600" b="1" i="0">
                <a:solidFill>
                  <a:srgbClr val="1A1A1A"/>
                </a:solidFill>
                <a:latin typeface="Arial"/>
              </a:rPr>
              <a:t>Slack, Teams</a:t>
            </a:r>
          </a:p>
        </p:txBody>
      </p:sp>
      <p:sp>
        <p:nvSpPr>
          <p:cNvPr id="8" name="Rounded Rectangle 7"/>
          <p:cNvSpPr/>
          <p:nvPr/>
        </p:nvSpPr>
        <p:spPr>
          <a:xfrm>
            <a:off x="576072" y="1874519"/>
            <a:ext cx="3383280" cy="1417320"/>
          </a:xfrm>
          <a:prstGeom prst="roundRect">
            <a:avLst>
              <a:gd name="adj" fmla="val 6000"/>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xistant-slack-teams.png"/>
          <p:cNvPicPr>
            <a:picLocks noChangeAspect="1"/>
          </p:cNvPicPr>
          <p:nvPr/>
        </p:nvPicPr>
        <p:blipFill>
          <a:blip r:embed="rId2"/>
          <a:stretch>
            <a:fillRect/>
          </a:stretch>
        </p:blipFill>
        <p:spPr>
          <a:xfrm>
            <a:off x="684022" y="1920240"/>
            <a:ext cx="3167379" cy="1325880"/>
          </a:xfrm>
          <a:prstGeom prst="rect">
            <a:avLst/>
          </a:prstGeom>
        </p:spPr>
      </p:pic>
      <p:sp>
        <p:nvSpPr>
          <p:cNvPr id="10" name="TextBox 9"/>
          <p:cNvSpPr txBox="1"/>
          <p:nvPr/>
        </p:nvSpPr>
        <p:spPr>
          <a:xfrm>
            <a:off x="594360" y="3364992"/>
            <a:ext cx="3337560" cy="1005840"/>
          </a:xfrm>
          <a:prstGeom prst="rect">
            <a:avLst/>
          </a:prstGeom>
          <a:noFill/>
        </p:spPr>
        <p:txBody>
          <a:bodyPr wrap="square" lIns="0" rIns="0" tIns="0" bIns="0" anchor="t"/>
          <a:lstStyle/>
          <a:p>
            <a:pPr algn="l"/>
            <a:r>
              <a:rPr sz="1400" b="0" i="0">
                <a:solidFill>
                  <a:srgbClr val="1A1A1A"/>
                </a:solidFill>
                <a:latin typeface="Arial"/>
              </a:rPr>
              <a:t>Immédiat. Rien ne reste lié à la tâche.</a:t>
            </a:r>
          </a:p>
        </p:txBody>
      </p:sp>
      <p:sp>
        <p:nvSpPr>
          <p:cNvPr id="11" name="Rounded Rectangle 10"/>
          <p:cNvSpPr/>
          <p:nvPr/>
        </p:nvSpPr>
        <p:spPr>
          <a:xfrm>
            <a:off x="4297680" y="1115568"/>
            <a:ext cx="3703320" cy="310896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243584"/>
            <a:ext cx="3337560" cy="237744"/>
          </a:xfrm>
          <a:prstGeom prst="rect">
            <a:avLst/>
          </a:prstGeom>
          <a:noFill/>
        </p:spPr>
        <p:txBody>
          <a:bodyPr wrap="square" lIns="0" rIns="0" tIns="0" bIns="0" anchor="t"/>
          <a:lstStyle/>
          <a:p>
            <a:pPr algn="l"/>
            <a:r>
              <a:rPr sz="1200" b="1" i="0">
                <a:solidFill>
                  <a:srgbClr val="8B4D5C"/>
                </a:solidFill>
                <a:latin typeface="Arial"/>
              </a:rPr>
              <a:t>Tableau léger</a:t>
            </a:r>
          </a:p>
        </p:txBody>
      </p:sp>
      <p:sp>
        <p:nvSpPr>
          <p:cNvPr id="13" name="TextBox 12"/>
          <p:cNvSpPr txBox="1"/>
          <p:nvPr/>
        </p:nvSpPr>
        <p:spPr>
          <a:xfrm>
            <a:off x="4480560" y="1481328"/>
            <a:ext cx="3337560" cy="292608"/>
          </a:xfrm>
          <a:prstGeom prst="rect">
            <a:avLst/>
          </a:prstGeom>
          <a:noFill/>
        </p:spPr>
        <p:txBody>
          <a:bodyPr wrap="square" lIns="0" rIns="0" tIns="0" bIns="0" anchor="t"/>
          <a:lstStyle/>
          <a:p>
            <a:pPr algn="l"/>
            <a:r>
              <a:rPr sz="1600" b="1" i="0">
                <a:solidFill>
                  <a:srgbClr val="1A1A1A"/>
                </a:solidFill>
                <a:latin typeface="Arial"/>
              </a:rPr>
              <a:t>Trello</a:t>
            </a:r>
          </a:p>
        </p:txBody>
      </p:sp>
      <p:sp>
        <p:nvSpPr>
          <p:cNvPr id="14" name="Rounded Rectangle 13"/>
          <p:cNvSpPr/>
          <p:nvPr/>
        </p:nvSpPr>
        <p:spPr>
          <a:xfrm>
            <a:off x="4462272" y="1874519"/>
            <a:ext cx="3383280" cy="1417320"/>
          </a:xfrm>
          <a:prstGeom prst="roundRect">
            <a:avLst>
              <a:gd name="adj" fmla="val 6000"/>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xistant-trello.jpg"/>
          <p:cNvPicPr>
            <a:picLocks noChangeAspect="1"/>
          </p:cNvPicPr>
          <p:nvPr/>
        </p:nvPicPr>
        <p:blipFill>
          <a:blip r:embed="rId3"/>
          <a:stretch>
            <a:fillRect/>
          </a:stretch>
        </p:blipFill>
        <p:spPr>
          <a:xfrm>
            <a:off x="4828032" y="1920240"/>
            <a:ext cx="2651760" cy="1325880"/>
          </a:xfrm>
          <a:prstGeom prst="rect">
            <a:avLst/>
          </a:prstGeom>
        </p:spPr>
      </p:pic>
      <p:sp>
        <p:nvSpPr>
          <p:cNvPr id="16" name="TextBox 15"/>
          <p:cNvSpPr txBox="1"/>
          <p:nvPr/>
        </p:nvSpPr>
        <p:spPr>
          <a:xfrm>
            <a:off x="4480560" y="3364992"/>
            <a:ext cx="3337560" cy="1005840"/>
          </a:xfrm>
          <a:prstGeom prst="rect">
            <a:avLst/>
          </a:prstGeom>
          <a:noFill/>
        </p:spPr>
        <p:txBody>
          <a:bodyPr wrap="square" lIns="0" rIns="0" tIns="0" bIns="0" anchor="t"/>
          <a:lstStyle/>
          <a:p>
            <a:pPr algn="l"/>
            <a:r>
              <a:rPr sz="1400" b="0" i="0">
                <a:solidFill>
                  <a:srgbClr val="1A1A1A"/>
                </a:solidFill>
                <a:latin typeface="Arial"/>
              </a:rPr>
              <a:t>Cartes et colonnes. Pas de rôles métier, ni de note de blocage obligatoire.</a:t>
            </a:r>
          </a:p>
        </p:txBody>
      </p:sp>
      <p:sp>
        <p:nvSpPr>
          <p:cNvPr id="17" name="Rounded Rectangle 16"/>
          <p:cNvSpPr/>
          <p:nvPr/>
        </p:nvSpPr>
        <p:spPr>
          <a:xfrm>
            <a:off x="8183879" y="1115568"/>
            <a:ext cx="3703320" cy="310896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59" y="1243584"/>
            <a:ext cx="3337560" cy="237744"/>
          </a:xfrm>
          <a:prstGeom prst="rect">
            <a:avLst/>
          </a:prstGeom>
          <a:noFill/>
        </p:spPr>
        <p:txBody>
          <a:bodyPr wrap="square" lIns="0" rIns="0" tIns="0" bIns="0" anchor="t"/>
          <a:lstStyle/>
          <a:p>
            <a:pPr algn="l"/>
            <a:r>
              <a:rPr sz="1200" b="1" i="0">
                <a:solidFill>
                  <a:srgbClr val="8B4D5C"/>
                </a:solidFill>
                <a:latin typeface="Arial"/>
              </a:rPr>
              <a:t>Forge</a:t>
            </a:r>
          </a:p>
        </p:txBody>
      </p:sp>
      <p:sp>
        <p:nvSpPr>
          <p:cNvPr id="19" name="TextBox 18"/>
          <p:cNvSpPr txBox="1"/>
          <p:nvPr/>
        </p:nvSpPr>
        <p:spPr>
          <a:xfrm>
            <a:off x="8366759" y="1481328"/>
            <a:ext cx="3337560" cy="292608"/>
          </a:xfrm>
          <a:prstGeom prst="rect">
            <a:avLst/>
          </a:prstGeom>
          <a:noFill/>
        </p:spPr>
        <p:txBody>
          <a:bodyPr wrap="square" lIns="0" rIns="0" tIns="0" bIns="0" anchor="t"/>
          <a:lstStyle/>
          <a:p>
            <a:pPr algn="l"/>
            <a:r>
              <a:rPr sz="1600" b="1" i="0">
                <a:solidFill>
                  <a:srgbClr val="1A1A1A"/>
                </a:solidFill>
                <a:latin typeface="Arial"/>
              </a:rPr>
              <a:t>Jira</a:t>
            </a:r>
          </a:p>
        </p:txBody>
      </p:sp>
      <p:sp>
        <p:nvSpPr>
          <p:cNvPr id="20" name="Rounded Rectangle 19"/>
          <p:cNvSpPr/>
          <p:nvPr/>
        </p:nvSpPr>
        <p:spPr>
          <a:xfrm>
            <a:off x="8348471" y="1874519"/>
            <a:ext cx="3383280" cy="1417320"/>
          </a:xfrm>
          <a:prstGeom prst="roundRect">
            <a:avLst>
              <a:gd name="adj" fmla="val 6000"/>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xistant-jira.png"/>
          <p:cNvPicPr>
            <a:picLocks noChangeAspect="1"/>
          </p:cNvPicPr>
          <p:nvPr/>
        </p:nvPicPr>
        <p:blipFill>
          <a:blip r:embed="rId4"/>
          <a:stretch>
            <a:fillRect/>
          </a:stretch>
        </p:blipFill>
        <p:spPr>
          <a:xfrm>
            <a:off x="8398155" y="1920240"/>
            <a:ext cx="3283913" cy="1325880"/>
          </a:xfrm>
          <a:prstGeom prst="rect">
            <a:avLst/>
          </a:prstGeom>
        </p:spPr>
      </p:pic>
      <p:sp>
        <p:nvSpPr>
          <p:cNvPr id="22" name="TextBox 21"/>
          <p:cNvSpPr txBox="1"/>
          <p:nvPr/>
        </p:nvSpPr>
        <p:spPr>
          <a:xfrm>
            <a:off x="8366759" y="3364992"/>
            <a:ext cx="3337560" cy="1005840"/>
          </a:xfrm>
          <a:prstGeom prst="rect">
            <a:avLst/>
          </a:prstGeom>
          <a:noFill/>
        </p:spPr>
        <p:txBody>
          <a:bodyPr wrap="square" lIns="0" rIns="0" tIns="0" bIns="0" anchor="t"/>
          <a:lstStyle/>
          <a:p>
            <a:pPr algn="l"/>
            <a:r>
              <a:rPr sz="1400" b="0" i="0">
                <a:solidFill>
                  <a:srgbClr val="1A1A1A"/>
                </a:solidFill>
                <a:latin typeface="Arial"/>
              </a:rPr>
              <a:t>Tickets et workflows. Trop lourd pour le point du matin.</a:t>
            </a:r>
          </a:p>
        </p:txBody>
      </p:sp>
      <p:sp>
        <p:nvSpPr>
          <p:cNvPr id="23" name="Rounded Rectangle 22"/>
          <p:cNvSpPr/>
          <p:nvPr/>
        </p:nvSpPr>
        <p:spPr>
          <a:xfrm>
            <a:off x="411480" y="4407408"/>
            <a:ext cx="11338560" cy="1051560"/>
          </a:xfrm>
          <a:prstGeom prst="roundRect">
            <a:avLst>
              <a:gd name="adj" fmla="val 8000"/>
            </a:avLst>
          </a:prstGeom>
          <a:solidFill>
            <a:srgbClr val="F6E8ED"/>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617720"/>
            <a:ext cx="10927080" cy="731520"/>
          </a:xfrm>
          <a:prstGeom prst="rect">
            <a:avLst/>
          </a:prstGeom>
          <a:noFill/>
        </p:spPr>
        <p:txBody>
          <a:bodyPr wrap="square" lIns="0" rIns="0" tIns="0" bIns="0" anchor="t"/>
          <a:lstStyle/>
          <a:p>
            <a:pPr algn="l"/>
            <a:r>
              <a:rPr sz="1500" b="1" i="0">
                <a:solidFill>
                  <a:srgbClr val="1A1A1A"/>
                </a:solidFill>
                <a:latin typeface="Arial"/>
              </a:rPr>
              <a:t>Aucun ne réunit une organisation fermée, trois rôles, un avancement en trois champs, et le web plus le mobile sur les mêmes règles.</a:t>
            </a:r>
          </a:p>
        </p:txBody>
      </p:sp>
      <p:sp>
        <p:nvSpPr>
          <p:cNvPr id="25" name="Rectangle 24"/>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7" name="TextBox 26"/>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8" name="TextBox 27"/>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a:t>
            </a:r>
          </a:p>
        </p:txBody>
      </p:sp>
      <p:sp>
        <p:nvSpPr>
          <p:cNvPr id="29" name="TextBox 28"/>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01   CONTEXTE</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Briefly</a:t>
            </a:r>
          </a:p>
        </p:txBody>
      </p:sp>
      <p:sp>
        <p:nvSpPr>
          <p:cNvPr id="5" name="TextBox 4"/>
          <p:cNvSpPr txBox="1"/>
          <p:nvPr/>
        </p:nvSpPr>
        <p:spPr>
          <a:xfrm>
            <a:off x="457200" y="1051560"/>
            <a:ext cx="11247120" cy="365760"/>
          </a:xfrm>
          <a:prstGeom prst="rect">
            <a:avLst/>
          </a:prstGeom>
          <a:noFill/>
        </p:spPr>
        <p:txBody>
          <a:bodyPr wrap="square" lIns="0" rIns="0" tIns="0" bIns="0" anchor="t"/>
          <a:lstStyle/>
          <a:p>
            <a:pPr algn="l"/>
            <a:r>
              <a:rPr sz="1600" b="0" i="0">
                <a:solidFill>
                  <a:srgbClr val="1A1A1A"/>
                </a:solidFill>
                <a:latin typeface="Arial"/>
              </a:rPr>
              <a:t>Application interne, web et mobile. Pas d'inscription publique. L'administrateur crée les comptes.</a:t>
            </a:r>
          </a:p>
        </p:txBody>
      </p:sp>
      <p:sp>
        <p:nvSpPr>
          <p:cNvPr id="6" name="Rounded Rectangle 5"/>
          <p:cNvSpPr/>
          <p:nvPr/>
        </p:nvSpPr>
        <p:spPr>
          <a:xfrm>
            <a:off x="457200" y="1536192"/>
            <a:ext cx="4709160" cy="89611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 y="1682495"/>
            <a:ext cx="50292" cy="603504"/>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4114800" cy="292608"/>
          </a:xfrm>
          <a:prstGeom prst="rect">
            <a:avLst/>
          </a:prstGeom>
          <a:noFill/>
        </p:spPr>
        <p:txBody>
          <a:bodyPr wrap="square" lIns="0" rIns="0" tIns="0" bIns="0" anchor="t"/>
          <a:lstStyle/>
          <a:p>
            <a:pPr algn="l"/>
            <a:r>
              <a:rPr sz="1600" b="1" i="0">
                <a:solidFill>
                  <a:srgbClr val="1A1A1A"/>
                </a:solidFill>
                <a:latin typeface="Arial"/>
              </a:rPr>
              <a:t>Organiser</a:t>
            </a:r>
          </a:p>
        </p:txBody>
      </p:sp>
      <p:sp>
        <p:nvSpPr>
          <p:cNvPr id="9" name="TextBox 8"/>
          <p:cNvSpPr txBox="1"/>
          <p:nvPr/>
        </p:nvSpPr>
        <p:spPr>
          <a:xfrm>
            <a:off x="822960" y="1956816"/>
            <a:ext cx="4114800" cy="365760"/>
          </a:xfrm>
          <a:prstGeom prst="rect">
            <a:avLst/>
          </a:prstGeom>
          <a:noFill/>
        </p:spPr>
        <p:txBody>
          <a:bodyPr wrap="square" lIns="0" rIns="0" tIns="0" bIns="0" anchor="t"/>
          <a:lstStyle/>
          <a:p>
            <a:pPr algn="l"/>
            <a:r>
              <a:rPr sz="1400" b="0" i="0">
                <a:solidFill>
                  <a:srgbClr val="5E4E53"/>
                </a:solidFill>
                <a:latin typeface="Arial"/>
              </a:rPr>
              <a:t>Équipes, projets, tâches.</a:t>
            </a:r>
          </a:p>
        </p:txBody>
      </p:sp>
      <p:sp>
        <p:nvSpPr>
          <p:cNvPr id="10" name="Rounded Rectangle 9"/>
          <p:cNvSpPr/>
          <p:nvPr/>
        </p:nvSpPr>
        <p:spPr>
          <a:xfrm>
            <a:off x="457200" y="2523744"/>
            <a:ext cx="4709160" cy="89611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 y="2670048"/>
            <a:ext cx="50292" cy="603504"/>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615184"/>
            <a:ext cx="4114800" cy="292608"/>
          </a:xfrm>
          <a:prstGeom prst="rect">
            <a:avLst/>
          </a:prstGeom>
          <a:noFill/>
        </p:spPr>
        <p:txBody>
          <a:bodyPr wrap="square" lIns="0" rIns="0" tIns="0" bIns="0" anchor="t"/>
          <a:lstStyle/>
          <a:p>
            <a:pPr algn="l"/>
            <a:r>
              <a:rPr sz="1600" b="1" i="0">
                <a:solidFill>
                  <a:srgbClr val="1A1A1A"/>
                </a:solidFill>
                <a:latin typeface="Arial"/>
              </a:rPr>
              <a:t>Rendre compte</a:t>
            </a:r>
          </a:p>
        </p:txBody>
      </p:sp>
      <p:sp>
        <p:nvSpPr>
          <p:cNvPr id="13" name="TextBox 12"/>
          <p:cNvSpPr txBox="1"/>
          <p:nvPr/>
        </p:nvSpPr>
        <p:spPr>
          <a:xfrm>
            <a:off x="822960" y="2944368"/>
            <a:ext cx="4114800" cy="365760"/>
          </a:xfrm>
          <a:prstGeom prst="rect">
            <a:avLst/>
          </a:prstGeom>
          <a:noFill/>
        </p:spPr>
        <p:txBody>
          <a:bodyPr wrap="square" lIns="0" rIns="0" tIns="0" bIns="0" anchor="t"/>
          <a:lstStyle/>
          <a:p>
            <a:pPr algn="l"/>
            <a:r>
              <a:rPr sz="1400" b="0" i="0">
                <a:solidFill>
                  <a:srgbClr val="5E4E53"/>
                </a:solidFill>
                <a:latin typeface="Arial"/>
              </a:rPr>
              <a:t>Réalisé, à venir, blocage.</a:t>
            </a:r>
          </a:p>
        </p:txBody>
      </p:sp>
      <p:sp>
        <p:nvSpPr>
          <p:cNvPr id="14" name="Rounded Rectangle 13"/>
          <p:cNvSpPr/>
          <p:nvPr/>
        </p:nvSpPr>
        <p:spPr>
          <a:xfrm>
            <a:off x="457200" y="3511296"/>
            <a:ext cx="4709160" cy="89611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 y="3657600"/>
            <a:ext cx="50292" cy="603504"/>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602736"/>
            <a:ext cx="4114800" cy="292608"/>
          </a:xfrm>
          <a:prstGeom prst="rect">
            <a:avLst/>
          </a:prstGeom>
          <a:noFill/>
        </p:spPr>
        <p:txBody>
          <a:bodyPr wrap="square" lIns="0" rIns="0" tIns="0" bIns="0" anchor="t"/>
          <a:lstStyle/>
          <a:p>
            <a:pPr algn="l"/>
            <a:r>
              <a:rPr sz="1600" b="1" i="0">
                <a:solidFill>
                  <a:srgbClr val="1A1A1A"/>
                </a:solidFill>
                <a:latin typeface="Arial"/>
              </a:rPr>
              <a:t>Piloter</a:t>
            </a:r>
          </a:p>
        </p:txBody>
      </p:sp>
      <p:sp>
        <p:nvSpPr>
          <p:cNvPr id="17" name="TextBox 16"/>
          <p:cNvSpPr txBox="1"/>
          <p:nvPr/>
        </p:nvSpPr>
        <p:spPr>
          <a:xfrm>
            <a:off x="822960" y="3931920"/>
            <a:ext cx="4114800" cy="365760"/>
          </a:xfrm>
          <a:prstGeom prst="rect">
            <a:avLst/>
          </a:prstGeom>
          <a:noFill/>
        </p:spPr>
        <p:txBody>
          <a:bodyPr wrap="square" lIns="0" rIns="0" tIns="0" bIns="0" anchor="t"/>
          <a:lstStyle/>
          <a:p>
            <a:pPr algn="l"/>
            <a:r>
              <a:rPr sz="1400" b="0" i="0">
                <a:solidFill>
                  <a:srgbClr val="5E4E53"/>
                </a:solidFill>
                <a:latin typeface="Arial"/>
              </a:rPr>
              <a:t>Taux par membre, équipe et projet.</a:t>
            </a:r>
          </a:p>
        </p:txBody>
      </p:sp>
      <p:sp>
        <p:nvSpPr>
          <p:cNvPr id="18" name="Rounded Rectangle 17"/>
          <p:cNvSpPr/>
          <p:nvPr/>
        </p:nvSpPr>
        <p:spPr>
          <a:xfrm>
            <a:off x="457200" y="4498848"/>
            <a:ext cx="4709160" cy="89611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 y="4645152"/>
            <a:ext cx="50292" cy="603504"/>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590288"/>
            <a:ext cx="4114800" cy="292608"/>
          </a:xfrm>
          <a:prstGeom prst="rect">
            <a:avLst/>
          </a:prstGeom>
          <a:noFill/>
        </p:spPr>
        <p:txBody>
          <a:bodyPr wrap="square" lIns="0" rIns="0" tIns="0" bIns="0" anchor="t"/>
          <a:lstStyle/>
          <a:p>
            <a:pPr algn="l"/>
            <a:r>
              <a:rPr sz="1600" b="1" i="0">
                <a:solidFill>
                  <a:srgbClr val="1A1A1A"/>
                </a:solidFill>
                <a:latin typeface="Arial"/>
              </a:rPr>
              <a:t>Cloisonner</a:t>
            </a:r>
          </a:p>
        </p:txBody>
      </p:sp>
      <p:sp>
        <p:nvSpPr>
          <p:cNvPr id="21" name="TextBox 20"/>
          <p:cNvSpPr txBox="1"/>
          <p:nvPr/>
        </p:nvSpPr>
        <p:spPr>
          <a:xfrm>
            <a:off x="822960" y="4919472"/>
            <a:ext cx="4114800" cy="365760"/>
          </a:xfrm>
          <a:prstGeom prst="rect">
            <a:avLst/>
          </a:prstGeom>
          <a:noFill/>
        </p:spPr>
        <p:txBody>
          <a:bodyPr wrap="square" lIns="0" rIns="0" tIns="0" bIns="0" anchor="t"/>
          <a:lstStyle/>
          <a:p>
            <a:pPr algn="l"/>
            <a:r>
              <a:rPr sz="1400" b="0" i="0">
                <a:solidFill>
                  <a:srgbClr val="5E4E53"/>
                </a:solidFill>
                <a:latin typeface="Arial"/>
              </a:rPr>
              <a:t>Administrateur, chef d'équipe, membre.</a:t>
            </a:r>
          </a:p>
        </p:txBody>
      </p:sp>
      <p:sp>
        <p:nvSpPr>
          <p:cNvPr id="22" name="Rounded Rectangle 21"/>
          <p:cNvSpPr/>
          <p:nvPr/>
        </p:nvSpPr>
        <p:spPr>
          <a:xfrm>
            <a:off x="5394960" y="1536192"/>
            <a:ext cx="6309360" cy="3118406"/>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dash.png"/>
          <p:cNvPicPr>
            <a:picLocks noChangeAspect="1"/>
          </p:cNvPicPr>
          <p:nvPr/>
        </p:nvPicPr>
        <p:blipFill>
          <a:blip r:embed="rId2"/>
          <a:stretch>
            <a:fillRect/>
          </a:stretch>
        </p:blipFill>
        <p:spPr>
          <a:xfrm>
            <a:off x="5559552" y="1664208"/>
            <a:ext cx="5980176" cy="2862374"/>
          </a:xfrm>
          <a:prstGeom prst="rect">
            <a:avLst/>
          </a:prstGeom>
        </p:spPr>
      </p:pic>
      <p:sp>
        <p:nvSpPr>
          <p:cNvPr id="24" name="Rectangle 23"/>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6" name="TextBox 25"/>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7" name="TextBox 26"/>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a:t>
            </a:r>
          </a:p>
        </p:txBody>
      </p:sp>
      <p:sp>
        <p:nvSpPr>
          <p:cNvPr id="28" name="TextBox 27"/>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02   BESOINS</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Trois rôles</a:t>
            </a:r>
          </a:p>
        </p:txBody>
      </p:sp>
      <p:sp>
        <p:nvSpPr>
          <p:cNvPr id="5" name="Rounded Rectangle 4"/>
          <p:cNvSpPr/>
          <p:nvPr/>
        </p:nvSpPr>
        <p:spPr>
          <a:xfrm>
            <a:off x="365760" y="1115568"/>
            <a:ext cx="3749039" cy="49834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5760" y="1115568"/>
            <a:ext cx="3749039" cy="713232"/>
          </a:xfrm>
          <a:prstGeom prst="roundRect">
            <a:avLst>
              <a:gd name="adj" fmla="val 10000"/>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3749039" cy="274320"/>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261872"/>
            <a:ext cx="3337560" cy="384048"/>
          </a:xfrm>
          <a:prstGeom prst="rect">
            <a:avLst/>
          </a:prstGeom>
          <a:noFill/>
        </p:spPr>
        <p:txBody>
          <a:bodyPr wrap="square" lIns="0" rIns="0" tIns="0" bIns="0" anchor="t"/>
          <a:lstStyle/>
          <a:p>
            <a:pPr algn="l"/>
            <a:r>
              <a:rPr sz="1800" b="1" i="0">
                <a:solidFill>
                  <a:srgbClr val="FFFFFF"/>
                </a:solidFill>
                <a:latin typeface="Arial"/>
              </a:rPr>
              <a:t>Administrateur</a:t>
            </a:r>
          </a:p>
        </p:txBody>
      </p:sp>
      <p:sp>
        <p:nvSpPr>
          <p:cNvPr id="9" name="TextBox 8"/>
          <p:cNvSpPr txBox="1"/>
          <p:nvPr/>
        </p:nvSpPr>
        <p:spPr>
          <a:xfrm>
            <a:off x="566928" y="1993392"/>
            <a:ext cx="3337560" cy="256032"/>
          </a:xfrm>
          <a:prstGeom prst="rect">
            <a:avLst/>
          </a:prstGeom>
          <a:noFill/>
        </p:spPr>
        <p:txBody>
          <a:bodyPr wrap="square" lIns="0" rIns="0" tIns="0" bIns="0" anchor="t"/>
          <a:lstStyle/>
          <a:p>
            <a:pPr algn="l"/>
            <a:r>
              <a:rPr sz="1200" b="1" i="0">
                <a:solidFill>
                  <a:srgbClr val="8B4D5C"/>
                </a:solidFill>
                <a:latin typeface="Arial"/>
              </a:rPr>
              <a:t>Peut</a:t>
            </a:r>
          </a:p>
        </p:txBody>
      </p:sp>
      <p:sp>
        <p:nvSpPr>
          <p:cNvPr id="10" name="TextBox 9"/>
          <p:cNvSpPr txBox="1"/>
          <p:nvPr/>
        </p:nvSpPr>
        <p:spPr>
          <a:xfrm>
            <a:off x="566928" y="2286000"/>
            <a:ext cx="3337560" cy="1097280"/>
          </a:xfrm>
          <a:prstGeom prst="rect">
            <a:avLst/>
          </a:prstGeom>
          <a:noFill/>
        </p:spPr>
        <p:txBody>
          <a:bodyPr wrap="square" lIns="0" rIns="0" tIns="0" bIns="0" anchor="t"/>
          <a:lstStyle/>
          <a:p>
            <a:pPr algn="l"/>
            <a:r>
              <a:rPr sz="1400" b="0" i="0">
                <a:solidFill>
                  <a:srgbClr val="1A1A1A"/>
                </a:solidFill>
                <a:latin typeface="Arial"/>
              </a:rPr>
              <a:t>Créer les comptes, les équipes et les projets. Voir le tableau de bord global.</a:t>
            </a:r>
          </a:p>
        </p:txBody>
      </p:sp>
      <p:sp>
        <p:nvSpPr>
          <p:cNvPr id="11" name="Rectangle 10"/>
          <p:cNvSpPr/>
          <p:nvPr/>
        </p:nvSpPr>
        <p:spPr>
          <a:xfrm>
            <a:off x="566928" y="3474720"/>
            <a:ext cx="3346704"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639312"/>
            <a:ext cx="3337560" cy="256032"/>
          </a:xfrm>
          <a:prstGeom prst="rect">
            <a:avLst/>
          </a:prstGeom>
          <a:noFill/>
        </p:spPr>
        <p:txBody>
          <a:bodyPr wrap="square" lIns="0" rIns="0" tIns="0" bIns="0" anchor="t"/>
          <a:lstStyle/>
          <a:p>
            <a:pPr algn="l"/>
            <a:r>
              <a:rPr sz="1200" b="1" i="0">
                <a:solidFill>
                  <a:srgbClr val="6E3A48"/>
                </a:solidFill>
                <a:latin typeface="Arial"/>
              </a:rPr>
              <a:t>Ne peut pas</a:t>
            </a:r>
          </a:p>
        </p:txBody>
      </p:sp>
      <p:sp>
        <p:nvSpPr>
          <p:cNvPr id="13" name="TextBox 12"/>
          <p:cNvSpPr txBox="1"/>
          <p:nvPr/>
        </p:nvSpPr>
        <p:spPr>
          <a:xfrm>
            <a:off x="566928" y="3950208"/>
            <a:ext cx="3337560" cy="1371600"/>
          </a:xfrm>
          <a:prstGeom prst="rect">
            <a:avLst/>
          </a:prstGeom>
          <a:noFill/>
        </p:spPr>
        <p:txBody>
          <a:bodyPr wrap="square" lIns="0" rIns="0" tIns="0" bIns="0" anchor="t"/>
          <a:lstStyle/>
          <a:p>
            <a:pPr algn="l"/>
            <a:r>
              <a:rPr sz="1400" b="0" i="0">
                <a:solidFill>
                  <a:srgbClr val="1A1A1A"/>
                </a:solidFill>
                <a:latin typeface="Arial"/>
              </a:rPr>
              <a:t>Tenir des tâches personnelles. Ouvrir /tasks le renvoie vers /admin.</a:t>
            </a:r>
          </a:p>
        </p:txBody>
      </p:sp>
      <p:sp>
        <p:nvSpPr>
          <p:cNvPr id="14" name="Rounded Rectangle 13"/>
          <p:cNvSpPr/>
          <p:nvPr/>
        </p:nvSpPr>
        <p:spPr>
          <a:xfrm>
            <a:off x="4279392" y="1115568"/>
            <a:ext cx="3749039" cy="49834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79392" y="1115568"/>
            <a:ext cx="3749039" cy="713232"/>
          </a:xfrm>
          <a:prstGeom prst="roundRect">
            <a:avLst>
              <a:gd name="adj" fmla="val 10000"/>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79392" y="1554480"/>
            <a:ext cx="3749039" cy="274320"/>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261872"/>
            <a:ext cx="3337560" cy="384048"/>
          </a:xfrm>
          <a:prstGeom prst="rect">
            <a:avLst/>
          </a:prstGeom>
          <a:noFill/>
        </p:spPr>
        <p:txBody>
          <a:bodyPr wrap="square" lIns="0" rIns="0" tIns="0" bIns="0" anchor="t"/>
          <a:lstStyle/>
          <a:p>
            <a:pPr algn="l"/>
            <a:r>
              <a:rPr sz="1800" b="1" i="0">
                <a:solidFill>
                  <a:srgbClr val="FFFFFF"/>
                </a:solidFill>
                <a:latin typeface="Arial"/>
              </a:rPr>
              <a:t>Chef d'équipe</a:t>
            </a:r>
          </a:p>
        </p:txBody>
      </p:sp>
      <p:sp>
        <p:nvSpPr>
          <p:cNvPr id="18" name="TextBox 17"/>
          <p:cNvSpPr txBox="1"/>
          <p:nvPr/>
        </p:nvSpPr>
        <p:spPr>
          <a:xfrm>
            <a:off x="4480560" y="1993392"/>
            <a:ext cx="3337560" cy="256032"/>
          </a:xfrm>
          <a:prstGeom prst="rect">
            <a:avLst/>
          </a:prstGeom>
          <a:noFill/>
        </p:spPr>
        <p:txBody>
          <a:bodyPr wrap="square" lIns="0" rIns="0" tIns="0" bIns="0" anchor="t"/>
          <a:lstStyle/>
          <a:p>
            <a:pPr algn="l"/>
            <a:r>
              <a:rPr sz="1200" b="1" i="0">
                <a:solidFill>
                  <a:srgbClr val="8B4D5C"/>
                </a:solidFill>
                <a:latin typeface="Arial"/>
              </a:rPr>
              <a:t>Peut</a:t>
            </a:r>
          </a:p>
        </p:txBody>
      </p:sp>
      <p:sp>
        <p:nvSpPr>
          <p:cNvPr id="19" name="TextBox 18"/>
          <p:cNvSpPr txBox="1"/>
          <p:nvPr/>
        </p:nvSpPr>
        <p:spPr>
          <a:xfrm>
            <a:off x="4480560" y="2286000"/>
            <a:ext cx="3337560" cy="1097280"/>
          </a:xfrm>
          <a:prstGeom prst="rect">
            <a:avLst/>
          </a:prstGeom>
          <a:noFill/>
        </p:spPr>
        <p:txBody>
          <a:bodyPr wrap="square" lIns="0" rIns="0" tIns="0" bIns="0" anchor="t"/>
          <a:lstStyle/>
          <a:p>
            <a:pPr algn="l"/>
            <a:r>
              <a:rPr sz="1400" b="0" i="0">
                <a:solidFill>
                  <a:srgbClr val="1A1A1A"/>
                </a:solidFill>
                <a:latin typeface="Arial"/>
              </a:rPr>
              <a:t>Créer les tâches de ses équipes, filtrer, ouvrir la fiche d'un membre.</a:t>
            </a:r>
          </a:p>
        </p:txBody>
      </p:sp>
      <p:sp>
        <p:nvSpPr>
          <p:cNvPr id="20" name="Rectangle 19"/>
          <p:cNvSpPr/>
          <p:nvPr/>
        </p:nvSpPr>
        <p:spPr>
          <a:xfrm>
            <a:off x="4480560" y="3474720"/>
            <a:ext cx="3346704"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3639312"/>
            <a:ext cx="3337560" cy="256032"/>
          </a:xfrm>
          <a:prstGeom prst="rect">
            <a:avLst/>
          </a:prstGeom>
          <a:noFill/>
        </p:spPr>
        <p:txBody>
          <a:bodyPr wrap="square" lIns="0" rIns="0" tIns="0" bIns="0" anchor="t"/>
          <a:lstStyle/>
          <a:p>
            <a:pPr algn="l"/>
            <a:r>
              <a:rPr sz="1200" b="1" i="0">
                <a:solidFill>
                  <a:srgbClr val="6E3A48"/>
                </a:solidFill>
                <a:latin typeface="Arial"/>
              </a:rPr>
              <a:t>Ne peut pas</a:t>
            </a:r>
          </a:p>
        </p:txBody>
      </p:sp>
      <p:sp>
        <p:nvSpPr>
          <p:cNvPr id="22" name="TextBox 21"/>
          <p:cNvSpPr txBox="1"/>
          <p:nvPr/>
        </p:nvSpPr>
        <p:spPr>
          <a:xfrm>
            <a:off x="4480560" y="3950208"/>
            <a:ext cx="3337560" cy="1371600"/>
          </a:xfrm>
          <a:prstGeom prst="rect">
            <a:avLst/>
          </a:prstGeom>
          <a:noFill/>
        </p:spPr>
        <p:txBody>
          <a:bodyPr wrap="square" lIns="0" rIns="0" tIns="0" bIns="0" anchor="t"/>
          <a:lstStyle/>
          <a:p>
            <a:pPr algn="l"/>
            <a:r>
              <a:rPr sz="1400" b="0" i="0">
                <a:solidFill>
                  <a:srgbClr val="1A1A1A"/>
                </a:solidFill>
                <a:latin typeface="Arial"/>
              </a:rPr>
              <a:t>Créer les projets ni les comptes. Le drapeau is_team_lead peut couvrir plusieurs équipes.</a:t>
            </a:r>
          </a:p>
        </p:txBody>
      </p:sp>
      <p:sp>
        <p:nvSpPr>
          <p:cNvPr id="23" name="Rounded Rectangle 22"/>
          <p:cNvSpPr/>
          <p:nvPr/>
        </p:nvSpPr>
        <p:spPr>
          <a:xfrm>
            <a:off x="8193024" y="1115568"/>
            <a:ext cx="3749039" cy="49834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93024" y="1115568"/>
            <a:ext cx="3749039" cy="713232"/>
          </a:xfrm>
          <a:prstGeom prst="roundRect">
            <a:avLst>
              <a:gd name="adj" fmla="val 10000"/>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93024" y="1554480"/>
            <a:ext cx="3749039" cy="274320"/>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94192" y="1261872"/>
            <a:ext cx="3337560" cy="384048"/>
          </a:xfrm>
          <a:prstGeom prst="rect">
            <a:avLst/>
          </a:prstGeom>
          <a:noFill/>
        </p:spPr>
        <p:txBody>
          <a:bodyPr wrap="square" lIns="0" rIns="0" tIns="0" bIns="0" anchor="t"/>
          <a:lstStyle/>
          <a:p>
            <a:pPr algn="l"/>
            <a:r>
              <a:rPr sz="1800" b="1" i="0">
                <a:solidFill>
                  <a:srgbClr val="FFFFFF"/>
                </a:solidFill>
                <a:latin typeface="Arial"/>
              </a:rPr>
              <a:t>Membre</a:t>
            </a:r>
          </a:p>
        </p:txBody>
      </p:sp>
      <p:sp>
        <p:nvSpPr>
          <p:cNvPr id="27" name="TextBox 26"/>
          <p:cNvSpPr txBox="1"/>
          <p:nvPr/>
        </p:nvSpPr>
        <p:spPr>
          <a:xfrm>
            <a:off x="8394192" y="1993392"/>
            <a:ext cx="3337560" cy="256032"/>
          </a:xfrm>
          <a:prstGeom prst="rect">
            <a:avLst/>
          </a:prstGeom>
          <a:noFill/>
        </p:spPr>
        <p:txBody>
          <a:bodyPr wrap="square" lIns="0" rIns="0" tIns="0" bIns="0" anchor="t"/>
          <a:lstStyle/>
          <a:p>
            <a:pPr algn="l"/>
            <a:r>
              <a:rPr sz="1200" b="1" i="0">
                <a:solidFill>
                  <a:srgbClr val="8B4D5C"/>
                </a:solidFill>
                <a:latin typeface="Arial"/>
              </a:rPr>
              <a:t>Peut</a:t>
            </a:r>
          </a:p>
        </p:txBody>
      </p:sp>
      <p:sp>
        <p:nvSpPr>
          <p:cNvPr id="28" name="TextBox 27"/>
          <p:cNvSpPr txBox="1"/>
          <p:nvPr/>
        </p:nvSpPr>
        <p:spPr>
          <a:xfrm>
            <a:off x="8394192" y="2286000"/>
            <a:ext cx="3337560" cy="1097280"/>
          </a:xfrm>
          <a:prstGeom prst="rect">
            <a:avLst/>
          </a:prstGeom>
          <a:noFill/>
        </p:spPr>
        <p:txBody>
          <a:bodyPr wrap="square" lIns="0" rIns="0" tIns="0" bIns="0" anchor="t"/>
          <a:lstStyle/>
          <a:p>
            <a:pPr algn="l"/>
            <a:r>
              <a:rPr sz="1400" b="0" i="0">
                <a:solidFill>
                  <a:srgbClr val="1A1A1A"/>
                </a:solidFill>
                <a:latin typeface="Arial"/>
              </a:rPr>
              <a:t>Voir ses tâches, saisir l'avancement, consulter l'historique.</a:t>
            </a:r>
          </a:p>
        </p:txBody>
      </p:sp>
      <p:sp>
        <p:nvSpPr>
          <p:cNvPr id="29" name="Rectangle 28"/>
          <p:cNvSpPr/>
          <p:nvPr/>
        </p:nvSpPr>
        <p:spPr>
          <a:xfrm>
            <a:off x="8394192" y="3474720"/>
            <a:ext cx="3346704"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94192" y="3639312"/>
            <a:ext cx="3337560" cy="256032"/>
          </a:xfrm>
          <a:prstGeom prst="rect">
            <a:avLst/>
          </a:prstGeom>
          <a:noFill/>
        </p:spPr>
        <p:txBody>
          <a:bodyPr wrap="square" lIns="0" rIns="0" tIns="0" bIns="0" anchor="t"/>
          <a:lstStyle/>
          <a:p>
            <a:pPr algn="l"/>
            <a:r>
              <a:rPr sz="1200" b="1" i="0">
                <a:solidFill>
                  <a:srgbClr val="6E3A48"/>
                </a:solidFill>
                <a:latin typeface="Arial"/>
              </a:rPr>
              <a:t>Ne peut pas</a:t>
            </a:r>
          </a:p>
        </p:txBody>
      </p:sp>
      <p:sp>
        <p:nvSpPr>
          <p:cNvPr id="31" name="TextBox 30"/>
          <p:cNvSpPr txBox="1"/>
          <p:nvPr/>
        </p:nvSpPr>
        <p:spPr>
          <a:xfrm>
            <a:off x="8394192" y="3950208"/>
            <a:ext cx="3337560" cy="1371600"/>
          </a:xfrm>
          <a:prstGeom prst="rect">
            <a:avLst/>
          </a:prstGeom>
          <a:noFill/>
        </p:spPr>
        <p:txBody>
          <a:bodyPr wrap="square" lIns="0" rIns="0" tIns="0" bIns="0" anchor="t"/>
          <a:lstStyle/>
          <a:p>
            <a:pPr algn="l"/>
            <a:r>
              <a:rPr sz="1400" b="0" i="0">
                <a:solidFill>
                  <a:srgbClr val="1A1A1A"/>
                </a:solidFill>
                <a:latin typeface="Arial"/>
              </a:rPr>
              <a:t>Modifier une tâche qui ne lui est pas assignée.</a:t>
            </a:r>
          </a:p>
        </p:txBody>
      </p:sp>
      <p:sp>
        <p:nvSpPr>
          <p:cNvPr id="32" name="Rectangle 31"/>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34" name="TextBox 33"/>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35" name="TextBox 34"/>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a:t>
            </a:r>
          </a:p>
        </p:txBody>
      </p:sp>
      <p:sp>
        <p:nvSpPr>
          <p:cNvPr id="36" name="TextBox 35"/>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02   BESOINS</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Cas d'utilisation</a:t>
            </a:r>
          </a:p>
        </p:txBody>
      </p:sp>
      <p:sp>
        <p:nvSpPr>
          <p:cNvPr id="5" name="TextBox 4"/>
          <p:cNvSpPr txBox="1"/>
          <p:nvPr/>
        </p:nvSpPr>
        <p:spPr>
          <a:xfrm>
            <a:off x="457200" y="1024128"/>
            <a:ext cx="10972800" cy="292608"/>
          </a:xfrm>
          <a:prstGeom prst="rect">
            <a:avLst/>
          </a:prstGeom>
          <a:noFill/>
        </p:spPr>
        <p:txBody>
          <a:bodyPr wrap="square" lIns="0" rIns="0" tIns="0" bIns="0" anchor="t"/>
          <a:lstStyle/>
          <a:p>
            <a:pPr algn="l"/>
            <a:r>
              <a:rPr sz="1400" b="0" i="0">
                <a:solidFill>
                  <a:srgbClr val="5E4E53"/>
                </a:solidFill>
                <a:latin typeface="Arial"/>
              </a:rPr>
              <a:t>Trois acteurs. Les grands cas seulement.</a:t>
            </a:r>
          </a:p>
        </p:txBody>
      </p:sp>
      <p:sp>
        <p:nvSpPr>
          <p:cNvPr id="6" name="Rounded Rectangle 5"/>
          <p:cNvSpPr/>
          <p:nvPr/>
        </p:nvSpPr>
        <p:spPr>
          <a:xfrm>
            <a:off x="457200" y="1417320"/>
            <a:ext cx="11247120" cy="4846320"/>
          </a:xfrm>
          <a:prstGeom prst="roundRect">
            <a:avLst>
              <a:gd name="adj" fmla="val 6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c.png"/>
          <p:cNvPicPr>
            <a:picLocks noChangeAspect="1"/>
          </p:cNvPicPr>
          <p:nvPr/>
        </p:nvPicPr>
        <p:blipFill>
          <a:blip r:embed="rId2"/>
          <a:stretch>
            <a:fillRect/>
          </a:stretch>
        </p:blipFill>
        <p:spPr>
          <a:xfrm>
            <a:off x="1931224" y="1554480"/>
            <a:ext cx="8299071" cy="4572000"/>
          </a:xfrm>
          <a:prstGeom prst="rect">
            <a:avLst/>
          </a:prstGeom>
        </p:spPr>
      </p:pic>
      <p:sp>
        <p:nvSpPr>
          <p:cNvPr id="8" name="Rectangle 7"/>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10" name="TextBox 9"/>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11" name="TextBox 10"/>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C5  ·  Analyser les besoins et maquetter</a:t>
            </a:r>
          </a:p>
        </p:txBody>
      </p:sp>
      <p:sp>
        <p:nvSpPr>
          <p:cNvPr id="12" name="TextBox 11"/>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02   BESOINS ET MÉTHODE</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Scrum, six sprints</a:t>
            </a:r>
          </a:p>
        </p:txBody>
      </p:sp>
      <p:sp>
        <p:nvSpPr>
          <p:cNvPr id="5" name="TextBox 4"/>
          <p:cNvSpPr txBox="1"/>
          <p:nvPr/>
        </p:nvSpPr>
        <p:spPr>
          <a:xfrm>
            <a:off x="457200" y="1024128"/>
            <a:ext cx="11155680" cy="320040"/>
          </a:xfrm>
          <a:prstGeom prst="rect">
            <a:avLst/>
          </a:prstGeom>
          <a:noFill/>
        </p:spPr>
        <p:txBody>
          <a:bodyPr wrap="square" lIns="0" rIns="0" tIns="0" bIns="0" anchor="t"/>
          <a:lstStyle/>
          <a:p>
            <a:pPr algn="l"/>
            <a:r>
              <a:rPr sz="1400" b="0" i="0">
                <a:solidFill>
                  <a:srgbClr val="5E4E53"/>
                </a:solidFill>
                <a:latin typeface="Arial"/>
              </a:rPr>
              <a:t>Sprints de deux à quatre semaines, sauf le sprint 5, plus long. L'été ne contient pas de sprint.</a:t>
            </a:r>
          </a:p>
        </p:txBody>
      </p:sp>
      <p:sp>
        <p:nvSpPr>
          <p:cNvPr id="6" name="Rounded Rectangle 5"/>
          <p:cNvSpPr/>
          <p:nvPr/>
        </p:nvSpPr>
        <p:spPr>
          <a:xfrm>
            <a:off x="411480" y="1463040"/>
            <a:ext cx="3730752" cy="217627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76072" y="1609344"/>
            <a:ext cx="566928" cy="329184"/>
          </a:xfrm>
          <a:prstGeom prst="roundRect">
            <a:avLst>
              <a:gd name="adj" fmla="val 30000"/>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1627632"/>
            <a:ext cx="566928" cy="292608"/>
          </a:xfrm>
          <a:prstGeom prst="rect">
            <a:avLst/>
          </a:prstGeom>
          <a:noFill/>
        </p:spPr>
        <p:txBody>
          <a:bodyPr wrap="square" lIns="0" rIns="0" tIns="0" bIns="0" anchor="t"/>
          <a:lstStyle/>
          <a:p>
            <a:pPr algn="ctr"/>
            <a:r>
              <a:rPr sz="1200" b="1" i="0">
                <a:solidFill>
                  <a:srgbClr val="8B4D5C"/>
                </a:solidFill>
                <a:latin typeface="Arial"/>
              </a:rPr>
              <a:t>S1</a:t>
            </a:r>
          </a:p>
        </p:txBody>
      </p:sp>
      <p:sp>
        <p:nvSpPr>
          <p:cNvPr id="9" name="TextBox 8"/>
          <p:cNvSpPr txBox="1"/>
          <p:nvPr/>
        </p:nvSpPr>
        <p:spPr>
          <a:xfrm>
            <a:off x="1252728" y="1609344"/>
            <a:ext cx="2697480" cy="329184"/>
          </a:xfrm>
          <a:prstGeom prst="rect">
            <a:avLst/>
          </a:prstGeom>
          <a:noFill/>
        </p:spPr>
        <p:txBody>
          <a:bodyPr wrap="square" lIns="0" rIns="0" tIns="0" bIns="0" anchor="t"/>
          <a:lstStyle/>
          <a:p>
            <a:pPr algn="l"/>
            <a:r>
              <a:rPr sz="1600" b="1" i="0">
                <a:solidFill>
                  <a:srgbClr val="1A1A1A"/>
                </a:solidFill>
                <a:latin typeface="Arial"/>
              </a:rPr>
              <a:t>Accès</a:t>
            </a:r>
          </a:p>
        </p:txBody>
      </p:sp>
      <p:sp>
        <p:nvSpPr>
          <p:cNvPr id="10" name="TextBox 9"/>
          <p:cNvSpPr txBox="1"/>
          <p:nvPr/>
        </p:nvSpPr>
        <p:spPr>
          <a:xfrm>
            <a:off x="576072" y="1993392"/>
            <a:ext cx="3383280" cy="274320"/>
          </a:xfrm>
          <a:prstGeom prst="rect">
            <a:avLst/>
          </a:prstGeom>
          <a:noFill/>
        </p:spPr>
        <p:txBody>
          <a:bodyPr wrap="square" lIns="0" rIns="0" tIns="0" bIns="0" anchor="t"/>
          <a:lstStyle/>
          <a:p>
            <a:pPr algn="l"/>
            <a:r>
              <a:rPr sz="1200" b="0" i="0">
                <a:solidFill>
                  <a:srgbClr val="5E4E53"/>
                </a:solidFill>
                <a:latin typeface="Arial"/>
              </a:rPr>
              <a:t>2 au 22 février</a:t>
            </a:r>
          </a:p>
        </p:txBody>
      </p:sp>
      <p:sp>
        <p:nvSpPr>
          <p:cNvPr id="11" name="TextBox 10"/>
          <p:cNvSpPr txBox="1"/>
          <p:nvPr/>
        </p:nvSpPr>
        <p:spPr>
          <a:xfrm>
            <a:off x="576072" y="2377440"/>
            <a:ext cx="3383280" cy="1051560"/>
          </a:xfrm>
          <a:prstGeom prst="rect">
            <a:avLst/>
          </a:prstGeom>
          <a:noFill/>
        </p:spPr>
        <p:txBody>
          <a:bodyPr wrap="square" lIns="0" rIns="0" tIns="0" bIns="0" anchor="t"/>
          <a:lstStyle/>
          <a:p>
            <a:pPr algn="l"/>
            <a:r>
              <a:rPr sz="1300" b="0" i="0">
                <a:solidFill>
                  <a:srgbClr val="1A1A1A"/>
                </a:solidFill>
                <a:latin typeface="Arial"/>
              </a:rPr>
              <a:t>Connexion, profil, langue, thème. Pas d'inscription publique.</a:t>
            </a:r>
          </a:p>
        </p:txBody>
      </p:sp>
      <p:sp>
        <p:nvSpPr>
          <p:cNvPr id="12" name="Rounded Rectangle 11"/>
          <p:cNvSpPr/>
          <p:nvPr/>
        </p:nvSpPr>
        <p:spPr>
          <a:xfrm>
            <a:off x="4297680" y="1463040"/>
            <a:ext cx="3730752" cy="217627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62272" y="1609344"/>
            <a:ext cx="566928" cy="329184"/>
          </a:xfrm>
          <a:prstGeom prst="roundRect">
            <a:avLst>
              <a:gd name="adj" fmla="val 30000"/>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2272" y="1627632"/>
            <a:ext cx="566928" cy="292608"/>
          </a:xfrm>
          <a:prstGeom prst="rect">
            <a:avLst/>
          </a:prstGeom>
          <a:noFill/>
        </p:spPr>
        <p:txBody>
          <a:bodyPr wrap="square" lIns="0" rIns="0" tIns="0" bIns="0" anchor="t"/>
          <a:lstStyle/>
          <a:p>
            <a:pPr algn="ctr"/>
            <a:r>
              <a:rPr sz="1200" b="1" i="0">
                <a:solidFill>
                  <a:srgbClr val="8B4D5C"/>
                </a:solidFill>
                <a:latin typeface="Arial"/>
              </a:rPr>
              <a:t>S2</a:t>
            </a:r>
          </a:p>
        </p:txBody>
      </p:sp>
      <p:sp>
        <p:nvSpPr>
          <p:cNvPr id="15" name="TextBox 14"/>
          <p:cNvSpPr txBox="1"/>
          <p:nvPr/>
        </p:nvSpPr>
        <p:spPr>
          <a:xfrm>
            <a:off x="5138928" y="1609344"/>
            <a:ext cx="2697480" cy="329184"/>
          </a:xfrm>
          <a:prstGeom prst="rect">
            <a:avLst/>
          </a:prstGeom>
          <a:noFill/>
        </p:spPr>
        <p:txBody>
          <a:bodyPr wrap="square" lIns="0" rIns="0" tIns="0" bIns="0" anchor="t"/>
          <a:lstStyle/>
          <a:p>
            <a:pPr algn="l"/>
            <a:r>
              <a:rPr sz="1600" b="1" i="0">
                <a:solidFill>
                  <a:srgbClr val="1A1A1A"/>
                </a:solidFill>
                <a:latin typeface="Arial"/>
              </a:rPr>
              <a:t>Membre</a:t>
            </a:r>
          </a:p>
        </p:txBody>
      </p:sp>
      <p:sp>
        <p:nvSpPr>
          <p:cNvPr id="16" name="TextBox 15"/>
          <p:cNvSpPr txBox="1"/>
          <p:nvPr/>
        </p:nvSpPr>
        <p:spPr>
          <a:xfrm>
            <a:off x="4462272" y="1993392"/>
            <a:ext cx="3383280" cy="274320"/>
          </a:xfrm>
          <a:prstGeom prst="rect">
            <a:avLst/>
          </a:prstGeom>
          <a:noFill/>
        </p:spPr>
        <p:txBody>
          <a:bodyPr wrap="square" lIns="0" rIns="0" tIns="0" bIns="0" anchor="t"/>
          <a:lstStyle/>
          <a:p>
            <a:pPr algn="l"/>
            <a:r>
              <a:rPr sz="1200" b="0" i="0">
                <a:solidFill>
                  <a:srgbClr val="5E4E53"/>
                </a:solidFill>
                <a:latin typeface="Arial"/>
              </a:rPr>
              <a:t>23 février au 15 mars</a:t>
            </a:r>
          </a:p>
        </p:txBody>
      </p:sp>
      <p:sp>
        <p:nvSpPr>
          <p:cNvPr id="17" name="TextBox 16"/>
          <p:cNvSpPr txBox="1"/>
          <p:nvPr/>
        </p:nvSpPr>
        <p:spPr>
          <a:xfrm>
            <a:off x="4462272" y="2377440"/>
            <a:ext cx="3383280" cy="1051560"/>
          </a:xfrm>
          <a:prstGeom prst="rect">
            <a:avLst/>
          </a:prstGeom>
          <a:noFill/>
        </p:spPr>
        <p:txBody>
          <a:bodyPr wrap="square" lIns="0" rIns="0" tIns="0" bIns="0" anchor="t"/>
          <a:lstStyle/>
          <a:p>
            <a:pPr algn="l"/>
            <a:r>
              <a:rPr sz="1300" b="0" i="0">
                <a:solidFill>
                  <a:srgbClr val="1A1A1A"/>
                </a:solidFill>
                <a:latin typeface="Arial"/>
              </a:rPr>
              <a:t>Tâches, avancement, historique. Seul l'assigné met à jour.</a:t>
            </a:r>
          </a:p>
        </p:txBody>
      </p:sp>
      <p:sp>
        <p:nvSpPr>
          <p:cNvPr id="18" name="Rounded Rectangle 17"/>
          <p:cNvSpPr/>
          <p:nvPr/>
        </p:nvSpPr>
        <p:spPr>
          <a:xfrm>
            <a:off x="8183879" y="1463040"/>
            <a:ext cx="3730752" cy="217627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48471" y="1609344"/>
            <a:ext cx="566928" cy="329184"/>
          </a:xfrm>
          <a:prstGeom prst="roundRect">
            <a:avLst>
              <a:gd name="adj" fmla="val 30000"/>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8471" y="1627632"/>
            <a:ext cx="566928" cy="292608"/>
          </a:xfrm>
          <a:prstGeom prst="rect">
            <a:avLst/>
          </a:prstGeom>
          <a:noFill/>
        </p:spPr>
        <p:txBody>
          <a:bodyPr wrap="square" lIns="0" rIns="0" tIns="0" bIns="0" anchor="t"/>
          <a:lstStyle/>
          <a:p>
            <a:pPr algn="ctr"/>
            <a:r>
              <a:rPr sz="1200" b="1" i="0">
                <a:solidFill>
                  <a:srgbClr val="8B4D5C"/>
                </a:solidFill>
                <a:latin typeface="Arial"/>
              </a:rPr>
              <a:t>S3</a:t>
            </a:r>
          </a:p>
        </p:txBody>
      </p:sp>
      <p:sp>
        <p:nvSpPr>
          <p:cNvPr id="21" name="TextBox 20"/>
          <p:cNvSpPr txBox="1"/>
          <p:nvPr/>
        </p:nvSpPr>
        <p:spPr>
          <a:xfrm>
            <a:off x="9025128" y="1609344"/>
            <a:ext cx="2697480" cy="329184"/>
          </a:xfrm>
          <a:prstGeom prst="rect">
            <a:avLst/>
          </a:prstGeom>
          <a:noFill/>
        </p:spPr>
        <p:txBody>
          <a:bodyPr wrap="square" lIns="0" rIns="0" tIns="0" bIns="0" anchor="t"/>
          <a:lstStyle/>
          <a:p>
            <a:pPr algn="l"/>
            <a:r>
              <a:rPr sz="1600" b="1" i="0">
                <a:solidFill>
                  <a:srgbClr val="1A1A1A"/>
                </a:solidFill>
                <a:latin typeface="Arial"/>
              </a:rPr>
              <a:t>Chef d'équipe</a:t>
            </a:r>
          </a:p>
        </p:txBody>
      </p:sp>
      <p:sp>
        <p:nvSpPr>
          <p:cNvPr id="22" name="TextBox 21"/>
          <p:cNvSpPr txBox="1"/>
          <p:nvPr/>
        </p:nvSpPr>
        <p:spPr>
          <a:xfrm>
            <a:off x="8348471" y="1993392"/>
            <a:ext cx="3383280" cy="274320"/>
          </a:xfrm>
          <a:prstGeom prst="rect">
            <a:avLst/>
          </a:prstGeom>
          <a:noFill/>
        </p:spPr>
        <p:txBody>
          <a:bodyPr wrap="square" lIns="0" rIns="0" tIns="0" bIns="0" anchor="t"/>
          <a:lstStyle/>
          <a:p>
            <a:pPr algn="l"/>
            <a:r>
              <a:rPr sz="1200" b="0" i="0">
                <a:solidFill>
                  <a:srgbClr val="5E4E53"/>
                </a:solidFill>
                <a:latin typeface="Arial"/>
              </a:rPr>
              <a:t>16 mars au 5 avril</a:t>
            </a:r>
          </a:p>
        </p:txBody>
      </p:sp>
      <p:sp>
        <p:nvSpPr>
          <p:cNvPr id="23" name="TextBox 22"/>
          <p:cNvSpPr txBox="1"/>
          <p:nvPr/>
        </p:nvSpPr>
        <p:spPr>
          <a:xfrm>
            <a:off x="8348471" y="2377440"/>
            <a:ext cx="3383280" cy="1051560"/>
          </a:xfrm>
          <a:prstGeom prst="rect">
            <a:avLst/>
          </a:prstGeom>
          <a:noFill/>
        </p:spPr>
        <p:txBody>
          <a:bodyPr wrap="square" lIns="0" rIns="0" tIns="0" bIns="0" anchor="t"/>
          <a:lstStyle/>
          <a:p>
            <a:pPr algn="l"/>
            <a:r>
              <a:rPr sz="1300" b="0" i="0">
                <a:solidFill>
                  <a:srgbClr val="1A1A1A"/>
                </a:solidFill>
                <a:latin typeface="Arial"/>
              </a:rPr>
              <a:t>Tâches d'équipe, filtre, fiche membre. Pas de création de projet.</a:t>
            </a:r>
          </a:p>
        </p:txBody>
      </p:sp>
      <p:sp>
        <p:nvSpPr>
          <p:cNvPr id="24" name="Rounded Rectangle 23"/>
          <p:cNvSpPr/>
          <p:nvPr/>
        </p:nvSpPr>
        <p:spPr>
          <a:xfrm>
            <a:off x="411480" y="3794760"/>
            <a:ext cx="3730752" cy="217627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76072" y="3941064"/>
            <a:ext cx="566928" cy="329184"/>
          </a:xfrm>
          <a:prstGeom prst="roundRect">
            <a:avLst>
              <a:gd name="adj" fmla="val 30000"/>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6072" y="3959352"/>
            <a:ext cx="566928" cy="292608"/>
          </a:xfrm>
          <a:prstGeom prst="rect">
            <a:avLst/>
          </a:prstGeom>
          <a:noFill/>
        </p:spPr>
        <p:txBody>
          <a:bodyPr wrap="square" lIns="0" rIns="0" tIns="0" bIns="0" anchor="t"/>
          <a:lstStyle/>
          <a:p>
            <a:pPr algn="ctr"/>
            <a:r>
              <a:rPr sz="1200" b="1" i="0">
                <a:solidFill>
                  <a:srgbClr val="8B4D5C"/>
                </a:solidFill>
                <a:latin typeface="Arial"/>
              </a:rPr>
              <a:t>S4</a:t>
            </a:r>
          </a:p>
        </p:txBody>
      </p:sp>
      <p:sp>
        <p:nvSpPr>
          <p:cNvPr id="27" name="TextBox 26"/>
          <p:cNvSpPr txBox="1"/>
          <p:nvPr/>
        </p:nvSpPr>
        <p:spPr>
          <a:xfrm>
            <a:off x="1252728" y="3941064"/>
            <a:ext cx="2697480" cy="329184"/>
          </a:xfrm>
          <a:prstGeom prst="rect">
            <a:avLst/>
          </a:prstGeom>
          <a:noFill/>
        </p:spPr>
        <p:txBody>
          <a:bodyPr wrap="square" lIns="0" rIns="0" tIns="0" bIns="0" anchor="t"/>
          <a:lstStyle/>
          <a:p>
            <a:pPr algn="l"/>
            <a:r>
              <a:rPr sz="1600" b="1" i="0">
                <a:solidFill>
                  <a:srgbClr val="1A1A1A"/>
                </a:solidFill>
                <a:latin typeface="Arial"/>
              </a:rPr>
              <a:t>Administration</a:t>
            </a:r>
          </a:p>
        </p:txBody>
      </p:sp>
      <p:sp>
        <p:nvSpPr>
          <p:cNvPr id="28" name="TextBox 27"/>
          <p:cNvSpPr txBox="1"/>
          <p:nvPr/>
        </p:nvSpPr>
        <p:spPr>
          <a:xfrm>
            <a:off x="576072" y="4325112"/>
            <a:ext cx="3383280" cy="274320"/>
          </a:xfrm>
          <a:prstGeom prst="rect">
            <a:avLst/>
          </a:prstGeom>
          <a:noFill/>
        </p:spPr>
        <p:txBody>
          <a:bodyPr wrap="square" lIns="0" rIns="0" tIns="0" bIns="0" anchor="t"/>
          <a:lstStyle/>
          <a:p>
            <a:pPr algn="l"/>
            <a:r>
              <a:rPr sz="1200" b="0" i="0">
                <a:solidFill>
                  <a:srgbClr val="5E4E53"/>
                </a:solidFill>
                <a:latin typeface="Arial"/>
              </a:rPr>
              <a:t>6 au 26 avril</a:t>
            </a:r>
          </a:p>
        </p:txBody>
      </p:sp>
      <p:sp>
        <p:nvSpPr>
          <p:cNvPr id="29" name="TextBox 28"/>
          <p:cNvSpPr txBox="1"/>
          <p:nvPr/>
        </p:nvSpPr>
        <p:spPr>
          <a:xfrm>
            <a:off x="576072" y="4709160"/>
            <a:ext cx="3383280" cy="1051560"/>
          </a:xfrm>
          <a:prstGeom prst="rect">
            <a:avLst/>
          </a:prstGeom>
          <a:noFill/>
        </p:spPr>
        <p:txBody>
          <a:bodyPr wrap="square" lIns="0" rIns="0" tIns="0" bIns="0" anchor="t"/>
          <a:lstStyle/>
          <a:p>
            <a:pPr algn="l"/>
            <a:r>
              <a:rPr sz="1300" b="0" i="0">
                <a:solidFill>
                  <a:srgbClr val="1A1A1A"/>
                </a:solidFill>
                <a:latin typeface="Arial"/>
              </a:rPr>
              <a:t>Comptes, équipes, projets, tableau global.</a:t>
            </a:r>
          </a:p>
        </p:txBody>
      </p:sp>
      <p:sp>
        <p:nvSpPr>
          <p:cNvPr id="30" name="Rounded Rectangle 29"/>
          <p:cNvSpPr/>
          <p:nvPr/>
        </p:nvSpPr>
        <p:spPr>
          <a:xfrm>
            <a:off x="4297680" y="3794760"/>
            <a:ext cx="3730752" cy="217627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462272" y="3941064"/>
            <a:ext cx="566928" cy="329184"/>
          </a:xfrm>
          <a:prstGeom prst="roundRect">
            <a:avLst>
              <a:gd name="adj" fmla="val 30000"/>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62272" y="3959352"/>
            <a:ext cx="566928" cy="292608"/>
          </a:xfrm>
          <a:prstGeom prst="rect">
            <a:avLst/>
          </a:prstGeom>
          <a:noFill/>
        </p:spPr>
        <p:txBody>
          <a:bodyPr wrap="square" lIns="0" rIns="0" tIns="0" bIns="0" anchor="t"/>
          <a:lstStyle/>
          <a:p>
            <a:pPr algn="ctr"/>
            <a:r>
              <a:rPr sz="1200" b="1" i="0">
                <a:solidFill>
                  <a:srgbClr val="8B4D5C"/>
                </a:solidFill>
                <a:latin typeface="Arial"/>
              </a:rPr>
              <a:t>S5</a:t>
            </a:r>
          </a:p>
        </p:txBody>
      </p:sp>
      <p:sp>
        <p:nvSpPr>
          <p:cNvPr id="33" name="TextBox 32"/>
          <p:cNvSpPr txBox="1"/>
          <p:nvPr/>
        </p:nvSpPr>
        <p:spPr>
          <a:xfrm>
            <a:off x="5138928" y="3941064"/>
            <a:ext cx="2697480" cy="329184"/>
          </a:xfrm>
          <a:prstGeom prst="rect">
            <a:avLst/>
          </a:prstGeom>
          <a:noFill/>
        </p:spPr>
        <p:txBody>
          <a:bodyPr wrap="square" lIns="0" rIns="0" tIns="0" bIns="0" anchor="t"/>
          <a:lstStyle/>
          <a:p>
            <a:pPr algn="l"/>
            <a:r>
              <a:rPr sz="1600" b="1" i="0">
                <a:solidFill>
                  <a:srgbClr val="1A1A1A"/>
                </a:solidFill>
                <a:latin typeface="Arial"/>
              </a:rPr>
              <a:t>Tests et sécurité</a:t>
            </a:r>
          </a:p>
        </p:txBody>
      </p:sp>
      <p:sp>
        <p:nvSpPr>
          <p:cNvPr id="34" name="TextBox 33"/>
          <p:cNvSpPr txBox="1"/>
          <p:nvPr/>
        </p:nvSpPr>
        <p:spPr>
          <a:xfrm>
            <a:off x="4462272" y="4325112"/>
            <a:ext cx="3383280" cy="274320"/>
          </a:xfrm>
          <a:prstGeom prst="rect">
            <a:avLst/>
          </a:prstGeom>
          <a:noFill/>
        </p:spPr>
        <p:txBody>
          <a:bodyPr wrap="square" lIns="0" rIns="0" tIns="0" bIns="0" anchor="t"/>
          <a:lstStyle/>
          <a:p>
            <a:pPr algn="l"/>
            <a:r>
              <a:rPr sz="1200" b="0" i="0">
                <a:solidFill>
                  <a:srgbClr val="5E4E53"/>
                </a:solidFill>
                <a:latin typeface="Arial"/>
              </a:rPr>
              <a:t>27 avril au 25 juillet</a:t>
            </a:r>
          </a:p>
        </p:txBody>
      </p:sp>
      <p:sp>
        <p:nvSpPr>
          <p:cNvPr id="35" name="TextBox 34"/>
          <p:cNvSpPr txBox="1"/>
          <p:nvPr/>
        </p:nvSpPr>
        <p:spPr>
          <a:xfrm>
            <a:off x="4462272" y="4709160"/>
            <a:ext cx="3383280" cy="1051560"/>
          </a:xfrm>
          <a:prstGeom prst="rect">
            <a:avLst/>
          </a:prstGeom>
          <a:noFill/>
        </p:spPr>
        <p:txBody>
          <a:bodyPr wrap="square" lIns="0" rIns="0" tIns="0" bIns="0" anchor="t"/>
          <a:lstStyle/>
          <a:p>
            <a:pPr algn="l"/>
            <a:r>
              <a:rPr sz="1300" b="0" i="0">
                <a:solidFill>
                  <a:srgbClr val="1A1A1A"/>
                </a:solidFill>
                <a:latin typeface="Arial"/>
              </a:rPr>
              <a:t>PHPUnit, mesures de sécurité, GitHub Actions.</a:t>
            </a:r>
          </a:p>
        </p:txBody>
      </p:sp>
      <p:sp>
        <p:nvSpPr>
          <p:cNvPr id="36" name="Rounded Rectangle 35"/>
          <p:cNvSpPr/>
          <p:nvPr/>
        </p:nvSpPr>
        <p:spPr>
          <a:xfrm>
            <a:off x="8183879" y="3794760"/>
            <a:ext cx="3730752" cy="2176272"/>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348471" y="3941064"/>
            <a:ext cx="566928" cy="329184"/>
          </a:xfrm>
          <a:prstGeom prst="roundRect">
            <a:avLst>
              <a:gd name="adj" fmla="val 30000"/>
            </a:avLst>
          </a:prstGeom>
          <a:solidFill>
            <a:srgbClr val="F6E8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48471" y="3959352"/>
            <a:ext cx="566928" cy="292608"/>
          </a:xfrm>
          <a:prstGeom prst="rect">
            <a:avLst/>
          </a:prstGeom>
          <a:noFill/>
        </p:spPr>
        <p:txBody>
          <a:bodyPr wrap="square" lIns="0" rIns="0" tIns="0" bIns="0" anchor="t"/>
          <a:lstStyle/>
          <a:p>
            <a:pPr algn="ctr"/>
            <a:r>
              <a:rPr sz="1200" b="1" i="0">
                <a:solidFill>
                  <a:srgbClr val="8B4D5C"/>
                </a:solidFill>
                <a:latin typeface="Arial"/>
              </a:rPr>
              <a:t>S6</a:t>
            </a:r>
          </a:p>
        </p:txBody>
      </p:sp>
      <p:sp>
        <p:nvSpPr>
          <p:cNvPr id="39" name="TextBox 38"/>
          <p:cNvSpPr txBox="1"/>
          <p:nvPr/>
        </p:nvSpPr>
        <p:spPr>
          <a:xfrm>
            <a:off x="9025128" y="3941064"/>
            <a:ext cx="2697480" cy="329184"/>
          </a:xfrm>
          <a:prstGeom prst="rect">
            <a:avLst/>
          </a:prstGeom>
          <a:noFill/>
        </p:spPr>
        <p:txBody>
          <a:bodyPr wrap="square" lIns="0" rIns="0" tIns="0" bIns="0" anchor="t"/>
          <a:lstStyle/>
          <a:p>
            <a:pPr algn="l"/>
            <a:r>
              <a:rPr sz="1600" b="1" i="0">
                <a:solidFill>
                  <a:srgbClr val="1A1A1A"/>
                </a:solidFill>
                <a:latin typeface="Arial"/>
              </a:rPr>
              <a:t>Mobile et mise en ligne</a:t>
            </a:r>
          </a:p>
        </p:txBody>
      </p:sp>
      <p:sp>
        <p:nvSpPr>
          <p:cNvPr id="40" name="TextBox 39"/>
          <p:cNvSpPr txBox="1"/>
          <p:nvPr/>
        </p:nvSpPr>
        <p:spPr>
          <a:xfrm>
            <a:off x="8348471" y="4325112"/>
            <a:ext cx="3383280" cy="274320"/>
          </a:xfrm>
          <a:prstGeom prst="rect">
            <a:avLst/>
          </a:prstGeom>
          <a:noFill/>
        </p:spPr>
        <p:txBody>
          <a:bodyPr wrap="square" lIns="0" rIns="0" tIns="0" bIns="0" anchor="t"/>
          <a:lstStyle/>
          <a:p>
            <a:pPr algn="l"/>
            <a:r>
              <a:rPr sz="1200" b="0" i="0">
                <a:solidFill>
                  <a:srgbClr val="5E4E53"/>
                </a:solidFill>
                <a:latin typeface="Arial"/>
              </a:rPr>
              <a:t>1er sept. au 10 octobre</a:t>
            </a:r>
          </a:p>
        </p:txBody>
      </p:sp>
      <p:sp>
        <p:nvSpPr>
          <p:cNvPr id="41" name="TextBox 40"/>
          <p:cNvSpPr txBox="1"/>
          <p:nvPr/>
        </p:nvSpPr>
        <p:spPr>
          <a:xfrm>
            <a:off x="8348471" y="4709160"/>
            <a:ext cx="3383280" cy="1051560"/>
          </a:xfrm>
          <a:prstGeom prst="rect">
            <a:avLst/>
          </a:prstGeom>
          <a:noFill/>
        </p:spPr>
        <p:txBody>
          <a:bodyPr wrap="square" lIns="0" rIns="0" tIns="0" bIns="0" anchor="t"/>
          <a:lstStyle/>
          <a:p>
            <a:pPr algn="l"/>
            <a:r>
              <a:rPr sz="1300" b="0" i="0">
                <a:solidFill>
                  <a:srgbClr val="1A1A1A"/>
                </a:solidFill>
                <a:latin typeface="Arial"/>
              </a:rPr>
              <a:t>Flutter, mêmes parcours, iPhone sur le serveur HTTPS.</a:t>
            </a:r>
          </a:p>
        </p:txBody>
      </p:sp>
      <p:sp>
        <p:nvSpPr>
          <p:cNvPr id="42" name="Rectangle 41"/>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44" name="TextBox 43"/>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45" name="TextBox 44"/>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C4  ·  Contribuer à la gestion d'un projet</a:t>
            </a:r>
          </a:p>
        </p:txBody>
      </p:sp>
      <p:sp>
        <p:nvSpPr>
          <p:cNvPr id="46" name="TextBox 45"/>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03   CONCEPTION</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600" b="1" i="0">
                <a:solidFill>
                  <a:srgbClr val="1A1A1A"/>
                </a:solidFill>
                <a:latin typeface="Arial"/>
              </a:rPr>
              <a:t>Enregistrer l'avancement</a:t>
            </a:r>
          </a:p>
        </p:txBody>
      </p:sp>
      <p:sp>
        <p:nvSpPr>
          <p:cNvPr id="5" name="Rounded Rectangle 4"/>
          <p:cNvSpPr/>
          <p:nvPr/>
        </p:nvSpPr>
        <p:spPr>
          <a:xfrm>
            <a:off x="365760" y="1097280"/>
            <a:ext cx="5623560" cy="8686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30352" y="1316736"/>
            <a:ext cx="420624" cy="420624"/>
          </a:xfrm>
          <a:prstGeom prst="ellipse">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380744"/>
            <a:ext cx="420624" cy="310896"/>
          </a:xfrm>
          <a:prstGeom prst="rect">
            <a:avLst/>
          </a:prstGeom>
          <a:noFill/>
        </p:spPr>
        <p:txBody>
          <a:bodyPr wrap="square" lIns="0" rIns="0" tIns="0" bIns="0" anchor="t"/>
          <a:lstStyle/>
          <a:p>
            <a:pPr algn="ctr"/>
            <a:r>
              <a:rPr sz="1400" b="1" i="0">
                <a:solidFill>
                  <a:srgbClr val="FFFFFF"/>
                </a:solidFill>
                <a:latin typeface="Arial"/>
              </a:rPr>
              <a:t>1</a:t>
            </a:r>
          </a:p>
        </p:txBody>
      </p:sp>
      <p:sp>
        <p:nvSpPr>
          <p:cNvPr id="8" name="TextBox 7"/>
          <p:cNvSpPr txBox="1"/>
          <p:nvPr/>
        </p:nvSpPr>
        <p:spPr>
          <a:xfrm>
            <a:off x="1097280" y="1243584"/>
            <a:ext cx="4709160" cy="603504"/>
          </a:xfrm>
          <a:prstGeom prst="rect">
            <a:avLst/>
          </a:prstGeom>
          <a:noFill/>
        </p:spPr>
        <p:txBody>
          <a:bodyPr wrap="square" lIns="0" rIns="0" tIns="0" bIns="0" anchor="t"/>
          <a:lstStyle/>
          <a:p>
            <a:pPr algn="l"/>
            <a:r>
              <a:rPr sz="1300" b="0" i="0">
                <a:solidFill>
                  <a:srgbClr val="1A1A1A"/>
                </a:solidFill>
                <a:latin typeface="Arial"/>
              </a:rPr>
              <a:t>Le membre envoie le statut, le réalisé, l'à venir et, si besoin, la note.</a:t>
            </a:r>
          </a:p>
        </p:txBody>
      </p:sp>
      <p:sp>
        <p:nvSpPr>
          <p:cNvPr id="9" name="Rounded Rectangle 8"/>
          <p:cNvSpPr/>
          <p:nvPr/>
        </p:nvSpPr>
        <p:spPr>
          <a:xfrm>
            <a:off x="365760" y="2057400"/>
            <a:ext cx="5623560" cy="8686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30352" y="2276856"/>
            <a:ext cx="420624" cy="420624"/>
          </a:xfrm>
          <a:prstGeom prst="ellipse">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2340864"/>
            <a:ext cx="420624" cy="310896"/>
          </a:xfrm>
          <a:prstGeom prst="rect">
            <a:avLst/>
          </a:prstGeom>
          <a:noFill/>
        </p:spPr>
        <p:txBody>
          <a:bodyPr wrap="square" lIns="0" rIns="0" tIns="0" bIns="0" anchor="t"/>
          <a:lstStyle/>
          <a:p>
            <a:pPr algn="ctr"/>
            <a:r>
              <a:rPr sz="1400" b="1" i="0">
                <a:solidFill>
                  <a:srgbClr val="FFFFFF"/>
                </a:solidFill>
                <a:latin typeface="Arial"/>
              </a:rPr>
              <a:t>2</a:t>
            </a:r>
          </a:p>
        </p:txBody>
      </p:sp>
      <p:sp>
        <p:nvSpPr>
          <p:cNvPr id="12" name="TextBox 11"/>
          <p:cNvSpPr txBox="1"/>
          <p:nvPr/>
        </p:nvSpPr>
        <p:spPr>
          <a:xfrm>
            <a:off x="1097280" y="2203704"/>
            <a:ext cx="4709160" cy="603504"/>
          </a:xfrm>
          <a:prstGeom prst="rect">
            <a:avLst/>
          </a:prstGeom>
          <a:noFill/>
        </p:spPr>
        <p:txBody>
          <a:bodyPr wrap="square" lIns="0" rIns="0" tIns="0" bIns="0" anchor="t"/>
          <a:lstStyle/>
          <a:p>
            <a:pPr algn="l"/>
            <a:r>
              <a:rPr sz="1300" b="0" i="0">
                <a:solidFill>
                  <a:srgbClr val="1A1A1A"/>
                </a:solidFill>
                <a:latin typeface="Arial"/>
              </a:rPr>
              <a:t>Le contrôleur vérifie que la tâche lui est assignée, et que la saisie est valide.</a:t>
            </a:r>
          </a:p>
        </p:txBody>
      </p:sp>
      <p:sp>
        <p:nvSpPr>
          <p:cNvPr id="13" name="Rounded Rectangle 12"/>
          <p:cNvSpPr/>
          <p:nvPr/>
        </p:nvSpPr>
        <p:spPr>
          <a:xfrm>
            <a:off x="365760" y="3017520"/>
            <a:ext cx="5623560" cy="8686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30352" y="3236976"/>
            <a:ext cx="420624" cy="420624"/>
          </a:xfrm>
          <a:prstGeom prst="ellipse">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3300984"/>
            <a:ext cx="420624" cy="310896"/>
          </a:xfrm>
          <a:prstGeom prst="rect">
            <a:avLst/>
          </a:prstGeom>
          <a:noFill/>
        </p:spPr>
        <p:txBody>
          <a:bodyPr wrap="square" lIns="0" rIns="0" tIns="0" bIns="0" anchor="t"/>
          <a:lstStyle/>
          <a:p>
            <a:pPr algn="ctr"/>
            <a:r>
              <a:rPr sz="1400" b="1" i="0">
                <a:solidFill>
                  <a:srgbClr val="FFFFFF"/>
                </a:solidFill>
                <a:latin typeface="Arial"/>
              </a:rPr>
              <a:t>3</a:t>
            </a:r>
          </a:p>
        </p:txBody>
      </p:sp>
      <p:sp>
        <p:nvSpPr>
          <p:cNvPr id="16" name="TextBox 15"/>
          <p:cNvSpPr txBox="1"/>
          <p:nvPr/>
        </p:nvSpPr>
        <p:spPr>
          <a:xfrm>
            <a:off x="1097280" y="3163824"/>
            <a:ext cx="4709160" cy="603504"/>
          </a:xfrm>
          <a:prstGeom prst="rect">
            <a:avLst/>
          </a:prstGeom>
          <a:noFill/>
        </p:spPr>
        <p:txBody>
          <a:bodyPr wrap="square" lIns="0" rIns="0" tIns="0" bIns="0" anchor="t"/>
          <a:lstStyle/>
          <a:p>
            <a:pPr algn="l"/>
            <a:r>
              <a:rPr sz="1300" b="0" i="0">
                <a:solidFill>
                  <a:srgbClr val="1A1A1A"/>
                </a:solidFill>
                <a:latin typeface="Arial"/>
              </a:rPr>
              <a:t>Statut bloqué sans note : le serveur refuse.</a:t>
            </a:r>
          </a:p>
        </p:txBody>
      </p:sp>
      <p:sp>
        <p:nvSpPr>
          <p:cNvPr id="17" name="Rounded Rectangle 16"/>
          <p:cNvSpPr/>
          <p:nvPr/>
        </p:nvSpPr>
        <p:spPr>
          <a:xfrm>
            <a:off x="365760" y="3977640"/>
            <a:ext cx="5623560" cy="8686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30352" y="4197096"/>
            <a:ext cx="420624" cy="420624"/>
          </a:xfrm>
          <a:prstGeom prst="ellipse">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4261104"/>
            <a:ext cx="420624" cy="310896"/>
          </a:xfrm>
          <a:prstGeom prst="rect">
            <a:avLst/>
          </a:prstGeom>
          <a:noFill/>
        </p:spPr>
        <p:txBody>
          <a:bodyPr wrap="square" lIns="0" rIns="0" tIns="0" bIns="0" anchor="t"/>
          <a:lstStyle/>
          <a:p>
            <a:pPr algn="ctr"/>
            <a:r>
              <a:rPr sz="1400" b="1" i="0">
                <a:solidFill>
                  <a:srgbClr val="FFFFFF"/>
                </a:solidFill>
                <a:latin typeface="Arial"/>
              </a:rPr>
              <a:t>4</a:t>
            </a:r>
          </a:p>
        </p:txBody>
      </p:sp>
      <p:sp>
        <p:nvSpPr>
          <p:cNvPr id="20" name="TextBox 19"/>
          <p:cNvSpPr txBox="1"/>
          <p:nvPr/>
        </p:nvSpPr>
        <p:spPr>
          <a:xfrm>
            <a:off x="1097280" y="4123944"/>
            <a:ext cx="4709160" cy="603504"/>
          </a:xfrm>
          <a:prstGeom prst="rect">
            <a:avLst/>
          </a:prstGeom>
          <a:noFill/>
        </p:spPr>
        <p:txBody>
          <a:bodyPr wrap="square" lIns="0" rIns="0" tIns="0" bIns="0" anchor="t"/>
          <a:lstStyle/>
          <a:p>
            <a:pPr algn="l"/>
            <a:r>
              <a:rPr sz="1300" b="0" i="0">
                <a:solidFill>
                  <a:srgbClr val="1A1A1A"/>
                </a:solidFill>
                <a:latin typeface="Arial"/>
              </a:rPr>
              <a:t>Sinon, le service met à jour la tâche et ajoute une ligne dans task_updates.</a:t>
            </a:r>
          </a:p>
        </p:txBody>
      </p:sp>
      <p:sp>
        <p:nvSpPr>
          <p:cNvPr id="21" name="Rounded Rectangle 20"/>
          <p:cNvSpPr/>
          <p:nvPr/>
        </p:nvSpPr>
        <p:spPr>
          <a:xfrm>
            <a:off x="365760" y="4937760"/>
            <a:ext cx="5623560" cy="8686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30352" y="5157216"/>
            <a:ext cx="420624" cy="420624"/>
          </a:xfrm>
          <a:prstGeom prst="ellipse">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5221224"/>
            <a:ext cx="420624" cy="310896"/>
          </a:xfrm>
          <a:prstGeom prst="rect">
            <a:avLst/>
          </a:prstGeom>
          <a:noFill/>
        </p:spPr>
        <p:txBody>
          <a:bodyPr wrap="square" lIns="0" rIns="0" tIns="0" bIns="0" anchor="t"/>
          <a:lstStyle/>
          <a:p>
            <a:pPr algn="ctr"/>
            <a:r>
              <a:rPr sz="1400" b="1" i="0">
                <a:solidFill>
                  <a:srgbClr val="FFFFFF"/>
                </a:solidFill>
                <a:latin typeface="Arial"/>
              </a:rPr>
              <a:t>5</a:t>
            </a:r>
          </a:p>
        </p:txBody>
      </p:sp>
      <p:sp>
        <p:nvSpPr>
          <p:cNvPr id="24" name="TextBox 23"/>
          <p:cNvSpPr txBox="1"/>
          <p:nvPr/>
        </p:nvSpPr>
        <p:spPr>
          <a:xfrm>
            <a:off x="1097280" y="5084064"/>
            <a:ext cx="4709160" cy="603504"/>
          </a:xfrm>
          <a:prstGeom prst="rect">
            <a:avLst/>
          </a:prstGeom>
          <a:noFill/>
        </p:spPr>
        <p:txBody>
          <a:bodyPr wrap="square" lIns="0" rIns="0" tIns="0" bIns="0" anchor="t"/>
          <a:lstStyle/>
          <a:p>
            <a:pPr algn="l"/>
            <a:r>
              <a:rPr sz="1300" b="0" i="0">
                <a:solidFill>
                  <a:srgbClr val="1A1A1A"/>
                </a:solidFill>
                <a:latin typeface="Arial"/>
              </a:rPr>
              <a:t>Statut terminé : la date de clôture est posée.</a:t>
            </a:r>
          </a:p>
        </p:txBody>
      </p:sp>
      <p:sp>
        <p:nvSpPr>
          <p:cNvPr id="25" name="Rounded Rectangle 24"/>
          <p:cNvSpPr/>
          <p:nvPr/>
        </p:nvSpPr>
        <p:spPr>
          <a:xfrm>
            <a:off x="6172200" y="1097280"/>
            <a:ext cx="5577840" cy="502920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eq.png"/>
          <p:cNvPicPr>
            <a:picLocks noChangeAspect="1"/>
          </p:cNvPicPr>
          <p:nvPr/>
        </p:nvPicPr>
        <p:blipFill>
          <a:blip r:embed="rId2"/>
          <a:stretch>
            <a:fillRect/>
          </a:stretch>
        </p:blipFill>
        <p:spPr>
          <a:xfrm>
            <a:off x="6263640" y="1337201"/>
            <a:ext cx="5394960" cy="4540213"/>
          </a:xfrm>
          <a:prstGeom prst="rect">
            <a:avLst/>
          </a:prstGeom>
        </p:spPr>
      </p:pic>
      <p:sp>
        <p:nvSpPr>
          <p:cNvPr id="27" name="Rectangle 26"/>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9" name="TextBox 28"/>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30" name="TextBox 29"/>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C6  ·  Définir l'architecture</a:t>
            </a:r>
          </a:p>
        </p:txBody>
      </p:sp>
      <p:sp>
        <p:nvSpPr>
          <p:cNvPr id="31" name="TextBox 30"/>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03   CONCEPTION</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Les données</a:t>
            </a:r>
          </a:p>
        </p:txBody>
      </p:sp>
      <p:sp>
        <p:nvSpPr>
          <p:cNvPr id="5" name="TextBox 4"/>
          <p:cNvSpPr txBox="1"/>
          <p:nvPr/>
        </p:nvSpPr>
        <p:spPr>
          <a:xfrm>
            <a:off x="457200" y="1024128"/>
            <a:ext cx="11155680" cy="320040"/>
          </a:xfrm>
          <a:prstGeom prst="rect">
            <a:avLst/>
          </a:prstGeom>
          <a:noFill/>
        </p:spPr>
        <p:txBody>
          <a:bodyPr wrap="square" lIns="0" rIns="0" tIns="0" bIns="0" anchor="t"/>
          <a:lstStyle/>
          <a:p>
            <a:pPr algn="l"/>
            <a:r>
              <a:rPr sz="1500" b="0" i="0">
                <a:solidFill>
                  <a:srgbClr val="5E4E53"/>
                </a:solidFill>
                <a:latin typeface="Arial"/>
              </a:rPr>
              <a:t>Une tâche appartient à un projet et à un assigné. Un point d'avancement est une ligne d'historique.</a:t>
            </a:r>
          </a:p>
        </p:txBody>
      </p:sp>
      <p:sp>
        <p:nvSpPr>
          <p:cNvPr id="6" name="Rounded Rectangle 5"/>
          <p:cNvSpPr/>
          <p:nvPr/>
        </p:nvSpPr>
        <p:spPr>
          <a:xfrm>
            <a:off x="411480" y="1508760"/>
            <a:ext cx="3566160" cy="15544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636776"/>
            <a:ext cx="3200400" cy="329184"/>
          </a:xfrm>
          <a:prstGeom prst="rect">
            <a:avLst/>
          </a:prstGeom>
          <a:noFill/>
        </p:spPr>
        <p:txBody>
          <a:bodyPr wrap="square" lIns="0" rIns="0" tIns="0" bIns="0" anchor="t"/>
          <a:lstStyle/>
          <a:p>
            <a:pPr algn="l"/>
            <a:r>
              <a:rPr sz="1600" b="1" i="0">
                <a:solidFill>
                  <a:srgbClr val="8B4D5C"/>
                </a:solidFill>
                <a:latin typeface="Arial"/>
              </a:rPr>
              <a:t>Utilisateur</a:t>
            </a:r>
          </a:p>
        </p:txBody>
      </p:sp>
      <p:sp>
        <p:nvSpPr>
          <p:cNvPr id="8" name="TextBox 7"/>
          <p:cNvSpPr txBox="1"/>
          <p:nvPr/>
        </p:nvSpPr>
        <p:spPr>
          <a:xfrm>
            <a:off x="594360" y="2011680"/>
            <a:ext cx="3200400" cy="914400"/>
          </a:xfrm>
          <a:prstGeom prst="rect">
            <a:avLst/>
          </a:prstGeom>
          <a:noFill/>
        </p:spPr>
        <p:txBody>
          <a:bodyPr wrap="square" lIns="0" rIns="0" tIns="0" bIns="0" anchor="t"/>
          <a:lstStyle/>
          <a:p>
            <a:pPr algn="l"/>
            <a:r>
              <a:rPr sz="1300" b="0" i="0">
                <a:solidFill>
                  <a:srgbClr val="5E4E53"/>
                </a:solidFill>
                <a:latin typeface="Arial"/>
              </a:rPr>
              <a:t>Rôle : administrateur, chef d'équipe ou membre. Mot de passe haché.</a:t>
            </a:r>
          </a:p>
        </p:txBody>
      </p:sp>
      <p:sp>
        <p:nvSpPr>
          <p:cNvPr id="9" name="Rounded Rectangle 8"/>
          <p:cNvSpPr/>
          <p:nvPr/>
        </p:nvSpPr>
        <p:spPr>
          <a:xfrm>
            <a:off x="4297680" y="1508760"/>
            <a:ext cx="3566160" cy="15544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636776"/>
            <a:ext cx="3200400" cy="329184"/>
          </a:xfrm>
          <a:prstGeom prst="rect">
            <a:avLst/>
          </a:prstGeom>
          <a:noFill/>
        </p:spPr>
        <p:txBody>
          <a:bodyPr wrap="square" lIns="0" rIns="0" tIns="0" bIns="0" anchor="t"/>
          <a:lstStyle/>
          <a:p>
            <a:pPr algn="l"/>
            <a:r>
              <a:rPr sz="1600" b="1" i="0">
                <a:solidFill>
                  <a:srgbClr val="8B4D5C"/>
                </a:solidFill>
                <a:latin typeface="Arial"/>
              </a:rPr>
              <a:t>Équipe</a:t>
            </a:r>
          </a:p>
        </p:txBody>
      </p:sp>
      <p:sp>
        <p:nvSpPr>
          <p:cNvPr id="11" name="TextBox 10"/>
          <p:cNvSpPr txBox="1"/>
          <p:nvPr/>
        </p:nvSpPr>
        <p:spPr>
          <a:xfrm>
            <a:off x="4480560" y="2011680"/>
            <a:ext cx="3200400" cy="914400"/>
          </a:xfrm>
          <a:prstGeom prst="rect">
            <a:avLst/>
          </a:prstGeom>
          <a:noFill/>
        </p:spPr>
        <p:txBody>
          <a:bodyPr wrap="square" lIns="0" rIns="0" tIns="0" bIns="0" anchor="t"/>
          <a:lstStyle/>
          <a:p>
            <a:pPr algn="l"/>
            <a:r>
              <a:rPr sz="1300" b="0" i="0">
                <a:solidFill>
                  <a:srgbClr val="5E4E53"/>
                </a:solidFill>
                <a:latin typeface="Arial"/>
              </a:rPr>
              <a:t>Plusieurs membres. Le chef est le drapeau is_team_lead du pivot team_user.</a:t>
            </a:r>
          </a:p>
        </p:txBody>
      </p:sp>
      <p:sp>
        <p:nvSpPr>
          <p:cNvPr id="12" name="Rounded Rectangle 11"/>
          <p:cNvSpPr/>
          <p:nvPr/>
        </p:nvSpPr>
        <p:spPr>
          <a:xfrm>
            <a:off x="8183879" y="1508760"/>
            <a:ext cx="3566160" cy="15544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59" y="1636776"/>
            <a:ext cx="3200400" cy="329184"/>
          </a:xfrm>
          <a:prstGeom prst="rect">
            <a:avLst/>
          </a:prstGeom>
          <a:noFill/>
        </p:spPr>
        <p:txBody>
          <a:bodyPr wrap="square" lIns="0" rIns="0" tIns="0" bIns="0" anchor="t"/>
          <a:lstStyle/>
          <a:p>
            <a:pPr algn="l"/>
            <a:r>
              <a:rPr sz="1600" b="1" i="0">
                <a:solidFill>
                  <a:srgbClr val="8B4D5C"/>
                </a:solidFill>
                <a:latin typeface="Arial"/>
              </a:rPr>
              <a:t>Projet</a:t>
            </a:r>
          </a:p>
        </p:txBody>
      </p:sp>
      <p:sp>
        <p:nvSpPr>
          <p:cNvPr id="14" name="TextBox 13"/>
          <p:cNvSpPr txBox="1"/>
          <p:nvPr/>
        </p:nvSpPr>
        <p:spPr>
          <a:xfrm>
            <a:off x="8366759" y="2011680"/>
            <a:ext cx="3200400" cy="914400"/>
          </a:xfrm>
          <a:prstGeom prst="rect">
            <a:avLst/>
          </a:prstGeom>
          <a:noFill/>
        </p:spPr>
        <p:txBody>
          <a:bodyPr wrap="square" lIns="0" rIns="0" tIns="0" bIns="0" anchor="t"/>
          <a:lstStyle/>
          <a:p>
            <a:pPr algn="l"/>
            <a:r>
              <a:rPr sz="1300" b="0" i="0">
                <a:solidFill>
                  <a:srgbClr val="5E4E53"/>
                </a:solidFill>
                <a:latin typeface="Arial"/>
              </a:rPr>
              <a:t>Lié à une ou plusieurs équipes par project_team.</a:t>
            </a:r>
          </a:p>
        </p:txBody>
      </p:sp>
      <p:sp>
        <p:nvSpPr>
          <p:cNvPr id="15" name="Rounded Rectangle 14"/>
          <p:cNvSpPr/>
          <p:nvPr/>
        </p:nvSpPr>
        <p:spPr>
          <a:xfrm>
            <a:off x="411480" y="3291840"/>
            <a:ext cx="5532120" cy="169164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419856"/>
            <a:ext cx="5166359" cy="329184"/>
          </a:xfrm>
          <a:prstGeom prst="rect">
            <a:avLst/>
          </a:prstGeom>
          <a:noFill/>
        </p:spPr>
        <p:txBody>
          <a:bodyPr wrap="square" lIns="0" rIns="0" tIns="0" bIns="0" anchor="t"/>
          <a:lstStyle/>
          <a:p>
            <a:pPr algn="l"/>
            <a:r>
              <a:rPr sz="1600" b="1" i="0">
                <a:solidFill>
                  <a:srgbClr val="8B4D5C"/>
                </a:solidFill>
                <a:latin typeface="Arial"/>
              </a:rPr>
              <a:t>Tâche</a:t>
            </a:r>
          </a:p>
        </p:txBody>
      </p:sp>
      <p:sp>
        <p:nvSpPr>
          <p:cNvPr id="17" name="TextBox 16"/>
          <p:cNvSpPr txBox="1"/>
          <p:nvPr/>
        </p:nvSpPr>
        <p:spPr>
          <a:xfrm>
            <a:off x="594360" y="3794760"/>
            <a:ext cx="5166359" cy="1051560"/>
          </a:xfrm>
          <a:prstGeom prst="rect">
            <a:avLst/>
          </a:prstGeom>
          <a:noFill/>
        </p:spPr>
        <p:txBody>
          <a:bodyPr wrap="square" lIns="0" rIns="0" tIns="0" bIns="0" anchor="t"/>
          <a:lstStyle/>
          <a:p>
            <a:pPr algn="l"/>
            <a:r>
              <a:rPr sz="1300" b="0" i="0">
                <a:solidFill>
                  <a:srgbClr val="5E4E53"/>
                </a:solidFill>
                <a:latin typeface="Arial"/>
              </a:rPr>
              <a:t>Un projet, un assigné, un statut. Le statut donne un pourcentage : à faire 0, en cours 60, bloqué 30, terminé 100.</a:t>
            </a:r>
          </a:p>
        </p:txBody>
      </p:sp>
      <p:sp>
        <p:nvSpPr>
          <p:cNvPr id="18" name="Rounded Rectangle 17"/>
          <p:cNvSpPr/>
          <p:nvPr/>
        </p:nvSpPr>
        <p:spPr>
          <a:xfrm>
            <a:off x="6172200" y="3291840"/>
            <a:ext cx="5577840" cy="169164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3419856"/>
            <a:ext cx="5212079" cy="329184"/>
          </a:xfrm>
          <a:prstGeom prst="rect">
            <a:avLst/>
          </a:prstGeom>
          <a:noFill/>
        </p:spPr>
        <p:txBody>
          <a:bodyPr wrap="square" lIns="0" rIns="0" tIns="0" bIns="0" anchor="t"/>
          <a:lstStyle/>
          <a:p>
            <a:pPr algn="l"/>
            <a:r>
              <a:rPr sz="1600" b="1" i="0">
                <a:solidFill>
                  <a:srgbClr val="8B4D5C"/>
                </a:solidFill>
                <a:latin typeface="Arial"/>
              </a:rPr>
              <a:t>Point d'avancement</a:t>
            </a:r>
          </a:p>
        </p:txBody>
      </p:sp>
      <p:sp>
        <p:nvSpPr>
          <p:cNvPr id="20" name="TextBox 19"/>
          <p:cNvSpPr txBox="1"/>
          <p:nvPr/>
        </p:nvSpPr>
        <p:spPr>
          <a:xfrm>
            <a:off x="6355080" y="3794760"/>
            <a:ext cx="5212079" cy="1051560"/>
          </a:xfrm>
          <a:prstGeom prst="rect">
            <a:avLst/>
          </a:prstGeom>
          <a:noFill/>
        </p:spPr>
        <p:txBody>
          <a:bodyPr wrap="square" lIns="0" rIns="0" tIns="0" bIns="0" anchor="t"/>
          <a:lstStyle/>
          <a:p>
            <a:pPr algn="l"/>
            <a:r>
              <a:rPr sz="1300" b="0" i="0">
                <a:solidFill>
                  <a:srgbClr val="5E4E53"/>
                </a:solidFill>
                <a:latin typeface="Arial"/>
              </a:rPr>
              <a:t>Table task_updates. Réalisé, à venir, note de blocage, date. Plusieurs lignes par tâche.</a:t>
            </a:r>
          </a:p>
        </p:txBody>
      </p:sp>
      <p:sp>
        <p:nvSpPr>
          <p:cNvPr id="21" name="Rounded Rectangle 20"/>
          <p:cNvSpPr/>
          <p:nvPr/>
        </p:nvSpPr>
        <p:spPr>
          <a:xfrm>
            <a:off x="411480" y="5166360"/>
            <a:ext cx="11338560" cy="1051560"/>
          </a:xfrm>
          <a:prstGeom prst="roundRect">
            <a:avLst>
              <a:gd name="adj" fmla="val 8000"/>
            </a:avLst>
          </a:prstGeom>
          <a:solidFill>
            <a:srgbClr val="F6E8ED"/>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349240"/>
            <a:ext cx="10927080" cy="777240"/>
          </a:xfrm>
          <a:prstGeom prst="rect">
            <a:avLst/>
          </a:prstGeom>
          <a:noFill/>
        </p:spPr>
        <p:txBody>
          <a:bodyPr wrap="square" lIns="0" rIns="0" tIns="0" bIns="0" anchor="t"/>
          <a:lstStyle/>
          <a:p>
            <a:pPr algn="l"/>
            <a:r>
              <a:rPr sz="1500" b="0" i="0">
                <a:solidFill>
                  <a:srgbClr val="1A1A1A"/>
                </a:solidFill>
                <a:latin typeface="Arial"/>
              </a:rPr>
              <a:t>Le taux des tableaux de bord est le nombre de tâches terminées divisé par le total. Le pourcentage affiché sur une tâche vient du statut, pas de ce taux.</a:t>
            </a:r>
          </a:p>
        </p:txBody>
      </p:sp>
      <p:sp>
        <p:nvSpPr>
          <p:cNvPr id="23" name="Rectangle 22"/>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5" name="TextBox 24"/>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6" name="TextBox 25"/>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C7  ·  Base de données relationnelle</a:t>
            </a:r>
          </a:p>
        </p:txBody>
      </p:sp>
      <p:sp>
        <p:nvSpPr>
          <p:cNvPr id="27" name="TextBox 26"/>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03   CONCEPTION</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Un serveur, deux clients</a:t>
            </a:r>
          </a:p>
        </p:txBody>
      </p:sp>
      <p:sp>
        <p:nvSpPr>
          <p:cNvPr id="5" name="Rounded Rectangle 4"/>
          <p:cNvSpPr/>
          <p:nvPr/>
        </p:nvSpPr>
        <p:spPr>
          <a:xfrm>
            <a:off x="411480" y="1097280"/>
            <a:ext cx="11338560" cy="2880360"/>
          </a:xfrm>
          <a:prstGeom prst="roundRect">
            <a:avLst>
              <a:gd name="adj" fmla="val 6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ch.png"/>
          <p:cNvPicPr>
            <a:picLocks noChangeAspect="1"/>
          </p:cNvPicPr>
          <p:nvPr/>
        </p:nvPicPr>
        <p:blipFill>
          <a:blip r:embed="rId2"/>
          <a:stretch>
            <a:fillRect/>
          </a:stretch>
        </p:blipFill>
        <p:spPr>
          <a:xfrm>
            <a:off x="2151838" y="1234440"/>
            <a:ext cx="7903563" cy="2606040"/>
          </a:xfrm>
          <a:prstGeom prst="rect">
            <a:avLst/>
          </a:prstGeom>
        </p:spPr>
      </p:pic>
      <p:sp>
        <p:nvSpPr>
          <p:cNvPr id="7" name="Rounded Rectangle 6"/>
          <p:cNvSpPr/>
          <p:nvPr/>
        </p:nvSpPr>
        <p:spPr>
          <a:xfrm>
            <a:off x="411480" y="4160520"/>
            <a:ext cx="2788920" cy="114300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279392"/>
            <a:ext cx="2514600" cy="292608"/>
          </a:xfrm>
          <a:prstGeom prst="rect">
            <a:avLst/>
          </a:prstGeom>
          <a:noFill/>
        </p:spPr>
        <p:txBody>
          <a:bodyPr wrap="square" lIns="0" rIns="0" tIns="0" bIns="0" anchor="t"/>
          <a:lstStyle/>
          <a:p>
            <a:pPr algn="l"/>
            <a:r>
              <a:rPr sz="1400" b="1" i="0">
                <a:solidFill>
                  <a:srgbClr val="1A1A1A"/>
                </a:solidFill>
                <a:latin typeface="Arial"/>
              </a:rPr>
              <a:t>Navigateur</a:t>
            </a:r>
          </a:p>
        </p:txBody>
      </p:sp>
      <p:sp>
        <p:nvSpPr>
          <p:cNvPr id="9" name="TextBox 8"/>
          <p:cNvSpPr txBox="1"/>
          <p:nvPr/>
        </p:nvSpPr>
        <p:spPr>
          <a:xfrm>
            <a:off x="548640" y="4617720"/>
            <a:ext cx="2514600" cy="530352"/>
          </a:xfrm>
          <a:prstGeom prst="rect">
            <a:avLst/>
          </a:prstGeom>
          <a:noFill/>
        </p:spPr>
        <p:txBody>
          <a:bodyPr wrap="square" lIns="0" rIns="0" tIns="0" bIns="0" anchor="t"/>
          <a:lstStyle/>
          <a:p>
            <a:pPr algn="l"/>
            <a:r>
              <a:rPr sz="1300" b="0" i="0">
                <a:solidFill>
                  <a:srgbClr val="5E4E53"/>
                </a:solidFill>
                <a:latin typeface="Arial"/>
              </a:rPr>
              <a:t>Session, pages HTML.</a:t>
            </a:r>
          </a:p>
        </p:txBody>
      </p:sp>
      <p:sp>
        <p:nvSpPr>
          <p:cNvPr id="10" name="Rounded Rectangle 9"/>
          <p:cNvSpPr/>
          <p:nvPr/>
        </p:nvSpPr>
        <p:spPr>
          <a:xfrm>
            <a:off x="3337560" y="4160520"/>
            <a:ext cx="2788920" cy="114300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4279392"/>
            <a:ext cx="2514600" cy="292608"/>
          </a:xfrm>
          <a:prstGeom prst="rect">
            <a:avLst/>
          </a:prstGeom>
          <a:noFill/>
        </p:spPr>
        <p:txBody>
          <a:bodyPr wrap="square" lIns="0" rIns="0" tIns="0" bIns="0" anchor="t"/>
          <a:lstStyle/>
          <a:p>
            <a:pPr algn="l"/>
            <a:r>
              <a:rPr sz="1400" b="1" i="0">
                <a:solidFill>
                  <a:srgbClr val="1A1A1A"/>
                </a:solidFill>
                <a:latin typeface="Arial"/>
              </a:rPr>
              <a:t>iPhone</a:t>
            </a:r>
          </a:p>
        </p:txBody>
      </p:sp>
      <p:sp>
        <p:nvSpPr>
          <p:cNvPr id="12" name="TextBox 11"/>
          <p:cNvSpPr txBox="1"/>
          <p:nvPr/>
        </p:nvSpPr>
        <p:spPr>
          <a:xfrm>
            <a:off x="3474720" y="4617720"/>
            <a:ext cx="2514600" cy="530352"/>
          </a:xfrm>
          <a:prstGeom prst="rect">
            <a:avLst/>
          </a:prstGeom>
          <a:noFill/>
        </p:spPr>
        <p:txBody>
          <a:bodyPr wrap="square" lIns="0" rIns="0" tIns="0" bIns="0" anchor="t"/>
          <a:lstStyle/>
          <a:p>
            <a:pPr algn="l"/>
            <a:r>
              <a:rPr sz="1300" b="0" i="0">
                <a:solidFill>
                  <a:srgbClr val="5E4E53"/>
                </a:solidFill>
                <a:latin typeface="Arial"/>
              </a:rPr>
              <a:t>Jeton Sanctum, JSON.</a:t>
            </a:r>
          </a:p>
        </p:txBody>
      </p:sp>
      <p:sp>
        <p:nvSpPr>
          <p:cNvPr id="13" name="Rounded Rectangle 12"/>
          <p:cNvSpPr/>
          <p:nvPr/>
        </p:nvSpPr>
        <p:spPr>
          <a:xfrm>
            <a:off x="6263640" y="4160520"/>
            <a:ext cx="2788920" cy="114300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279392"/>
            <a:ext cx="2514600" cy="292608"/>
          </a:xfrm>
          <a:prstGeom prst="rect">
            <a:avLst/>
          </a:prstGeom>
          <a:noFill/>
        </p:spPr>
        <p:txBody>
          <a:bodyPr wrap="square" lIns="0" rIns="0" tIns="0" bIns="0" anchor="t"/>
          <a:lstStyle/>
          <a:p>
            <a:pPr algn="l"/>
            <a:r>
              <a:rPr sz="1400" b="1" i="0">
                <a:solidFill>
                  <a:srgbClr val="1A1A1A"/>
                </a:solidFill>
                <a:latin typeface="Arial"/>
              </a:rPr>
              <a:t>Même catalogue</a:t>
            </a:r>
          </a:p>
        </p:txBody>
      </p:sp>
      <p:sp>
        <p:nvSpPr>
          <p:cNvPr id="15" name="TextBox 14"/>
          <p:cNvSpPr txBox="1"/>
          <p:nvPr/>
        </p:nvSpPr>
        <p:spPr>
          <a:xfrm>
            <a:off x="6400800" y="4617720"/>
            <a:ext cx="2514600" cy="530352"/>
          </a:xfrm>
          <a:prstGeom prst="rect">
            <a:avLst/>
          </a:prstGeom>
          <a:noFill/>
        </p:spPr>
        <p:txBody>
          <a:bodyPr wrap="square" lIns="0" rIns="0" tIns="0" bIns="0" anchor="t"/>
          <a:lstStyle/>
          <a:p>
            <a:pPr algn="l"/>
            <a:r>
              <a:rPr sz="1300" b="0" i="0">
                <a:solidFill>
                  <a:srgbClr val="5E4E53"/>
                </a:solidFill>
                <a:latin typeface="Arial"/>
              </a:rPr>
              <a:t>routes/web.php, pas de routes/api.php.</a:t>
            </a:r>
          </a:p>
        </p:txBody>
      </p:sp>
      <p:sp>
        <p:nvSpPr>
          <p:cNvPr id="16" name="Rounded Rectangle 15"/>
          <p:cNvSpPr/>
          <p:nvPr/>
        </p:nvSpPr>
        <p:spPr>
          <a:xfrm>
            <a:off x="9189720" y="4160520"/>
            <a:ext cx="2788920" cy="114300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0" y="4279392"/>
            <a:ext cx="2514600" cy="292608"/>
          </a:xfrm>
          <a:prstGeom prst="rect">
            <a:avLst/>
          </a:prstGeom>
          <a:noFill/>
        </p:spPr>
        <p:txBody>
          <a:bodyPr wrap="square" lIns="0" rIns="0" tIns="0" bIns="0" anchor="t"/>
          <a:lstStyle/>
          <a:p>
            <a:pPr algn="l"/>
            <a:r>
              <a:rPr sz="1400" b="1" i="0">
                <a:solidFill>
                  <a:srgbClr val="1A1A1A"/>
                </a:solidFill>
                <a:latin typeface="Arial"/>
              </a:rPr>
              <a:t>Réponse</a:t>
            </a:r>
          </a:p>
        </p:txBody>
      </p:sp>
      <p:sp>
        <p:nvSpPr>
          <p:cNvPr id="18" name="TextBox 17"/>
          <p:cNvSpPr txBox="1"/>
          <p:nvPr/>
        </p:nvSpPr>
        <p:spPr>
          <a:xfrm>
            <a:off x="9326880" y="4617720"/>
            <a:ext cx="2514600" cy="530352"/>
          </a:xfrm>
          <a:prstGeom prst="rect">
            <a:avLst/>
          </a:prstGeom>
          <a:noFill/>
        </p:spPr>
        <p:txBody>
          <a:bodyPr wrap="square" lIns="0" rIns="0" tIns="0" bIns="0" anchor="t"/>
          <a:lstStyle/>
          <a:p>
            <a:pPr algn="l"/>
            <a:r>
              <a:rPr sz="1300" b="0" i="0">
                <a:solidFill>
                  <a:srgbClr val="5E4E53"/>
                </a:solidFill>
                <a:latin typeface="Arial"/>
              </a:rPr>
              <a:t>Selon l'en-tête Accept.</a:t>
            </a:r>
          </a:p>
        </p:txBody>
      </p:sp>
      <p:sp>
        <p:nvSpPr>
          <p:cNvPr id="19" name="TextBox 18"/>
          <p:cNvSpPr txBox="1"/>
          <p:nvPr/>
        </p:nvSpPr>
        <p:spPr>
          <a:xfrm>
            <a:off x="457200" y="5486400"/>
            <a:ext cx="11247120" cy="365760"/>
          </a:xfrm>
          <a:prstGeom prst="rect">
            <a:avLst/>
          </a:prstGeom>
          <a:noFill/>
        </p:spPr>
        <p:txBody>
          <a:bodyPr wrap="square" lIns="0" rIns="0" tIns="0" bIns="0" anchor="t"/>
          <a:lstStyle/>
          <a:p>
            <a:pPr algn="l"/>
            <a:r>
              <a:rPr sz="1400" b="0" i="0">
                <a:solidFill>
                  <a:srgbClr val="5E4E53"/>
                </a:solidFill>
                <a:latin typeface="Arial"/>
              </a:rPr>
              <a:t>Laravel 13, PHP 8.5, Blade, Bootstrap 5.3, MySQL en local, MariaDB 11.4 en ligne, Flutter.</a:t>
            </a:r>
          </a:p>
        </p:txBody>
      </p:sp>
      <p:sp>
        <p:nvSpPr>
          <p:cNvPr id="20" name="Rectangle 19"/>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2" name="TextBox 21"/>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3" name="TextBox 22"/>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C6  ·  Définir l'architecture logicielle</a:t>
            </a:r>
          </a:p>
        </p:txBody>
      </p:sp>
      <p:sp>
        <p:nvSpPr>
          <p:cNvPr id="24" name="TextBox 23"/>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04   RÉALISATION</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L'application web</a:t>
            </a:r>
          </a:p>
        </p:txBody>
      </p:sp>
      <p:sp>
        <p:nvSpPr>
          <p:cNvPr id="5" name="Rounded Rectangle 4"/>
          <p:cNvSpPr/>
          <p:nvPr/>
        </p:nvSpPr>
        <p:spPr>
          <a:xfrm>
            <a:off x="365760" y="1115568"/>
            <a:ext cx="3767328" cy="2797009"/>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207008"/>
            <a:ext cx="3438144" cy="256032"/>
          </a:xfrm>
          <a:prstGeom prst="rect">
            <a:avLst/>
          </a:prstGeom>
          <a:noFill/>
        </p:spPr>
        <p:txBody>
          <a:bodyPr wrap="square" lIns="0" rIns="0" tIns="0" bIns="0" anchor="t"/>
          <a:lstStyle/>
          <a:p>
            <a:pPr algn="l"/>
            <a:r>
              <a:rPr sz="1400" b="1" i="0">
                <a:solidFill>
                  <a:srgbClr val="8B4D5C"/>
                </a:solidFill>
                <a:latin typeface="Arial"/>
              </a:rPr>
              <a:t>Chef d'équipe</a:t>
            </a:r>
          </a:p>
        </p:txBody>
      </p:sp>
      <p:sp>
        <p:nvSpPr>
          <p:cNvPr id="7" name="TextBox 6"/>
          <p:cNvSpPr txBox="1"/>
          <p:nvPr/>
        </p:nvSpPr>
        <p:spPr>
          <a:xfrm>
            <a:off x="530352" y="1463040"/>
            <a:ext cx="3438144" cy="502920"/>
          </a:xfrm>
          <a:prstGeom prst="rect">
            <a:avLst/>
          </a:prstGeom>
          <a:noFill/>
        </p:spPr>
        <p:txBody>
          <a:bodyPr wrap="square" lIns="0" rIns="0" tIns="0" bIns="0" anchor="t"/>
          <a:lstStyle/>
          <a:p>
            <a:pPr algn="l"/>
            <a:r>
              <a:rPr sz="1300" b="0" i="0">
                <a:solidFill>
                  <a:srgbClr val="1A1A1A"/>
                </a:solidFill>
                <a:latin typeface="Arial"/>
              </a:rPr>
              <a:t>Taux, tâches, compteurs de l'équipe, dont les bloquées.</a:t>
            </a:r>
          </a:p>
        </p:txBody>
      </p:sp>
      <p:pic>
        <p:nvPicPr>
          <p:cNvPr id="8" name="Picture 7" descr="web-dashboard-lead-crop.png"/>
          <p:cNvPicPr>
            <a:picLocks noChangeAspect="1"/>
          </p:cNvPicPr>
          <p:nvPr/>
        </p:nvPicPr>
        <p:blipFill>
          <a:blip r:embed="rId2"/>
          <a:stretch>
            <a:fillRect/>
          </a:stretch>
        </p:blipFill>
        <p:spPr>
          <a:xfrm>
            <a:off x="512064" y="2029968"/>
            <a:ext cx="3474720" cy="1663153"/>
          </a:xfrm>
          <a:prstGeom prst="rect">
            <a:avLst/>
          </a:prstGeom>
        </p:spPr>
      </p:pic>
      <p:sp>
        <p:nvSpPr>
          <p:cNvPr id="9" name="Rounded Rectangle 8"/>
          <p:cNvSpPr/>
          <p:nvPr/>
        </p:nvSpPr>
        <p:spPr>
          <a:xfrm>
            <a:off x="4279392" y="1115568"/>
            <a:ext cx="3767328" cy="2797009"/>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43984" y="1207008"/>
            <a:ext cx="3438144" cy="256032"/>
          </a:xfrm>
          <a:prstGeom prst="rect">
            <a:avLst/>
          </a:prstGeom>
          <a:noFill/>
        </p:spPr>
        <p:txBody>
          <a:bodyPr wrap="square" lIns="0" rIns="0" tIns="0" bIns="0" anchor="t"/>
          <a:lstStyle/>
          <a:p>
            <a:pPr algn="l"/>
            <a:r>
              <a:rPr sz="1400" b="1" i="0">
                <a:solidFill>
                  <a:srgbClr val="8B4D5C"/>
                </a:solidFill>
                <a:latin typeface="Arial"/>
              </a:rPr>
              <a:t>Membre</a:t>
            </a:r>
          </a:p>
        </p:txBody>
      </p:sp>
      <p:sp>
        <p:nvSpPr>
          <p:cNvPr id="11" name="TextBox 10"/>
          <p:cNvSpPr txBox="1"/>
          <p:nvPr/>
        </p:nvSpPr>
        <p:spPr>
          <a:xfrm>
            <a:off x="4443984" y="1463040"/>
            <a:ext cx="3438144" cy="502920"/>
          </a:xfrm>
          <a:prstGeom prst="rect">
            <a:avLst/>
          </a:prstGeom>
          <a:noFill/>
        </p:spPr>
        <p:txBody>
          <a:bodyPr wrap="square" lIns="0" rIns="0" tIns="0" bIns="0" anchor="t"/>
          <a:lstStyle/>
          <a:p>
            <a:pPr algn="l"/>
            <a:r>
              <a:rPr sz="1300" b="0" i="0">
                <a:solidFill>
                  <a:srgbClr val="1A1A1A"/>
                </a:solidFill>
                <a:latin typeface="Arial"/>
              </a:rPr>
              <a:t>Statut, réalisé, à venir. L'historique sous la fiche.</a:t>
            </a:r>
          </a:p>
        </p:txBody>
      </p:sp>
      <p:pic>
        <p:nvPicPr>
          <p:cNvPr id="12" name="Picture 11" descr="web-task-detail-crop.png"/>
          <p:cNvPicPr>
            <a:picLocks noChangeAspect="1"/>
          </p:cNvPicPr>
          <p:nvPr/>
        </p:nvPicPr>
        <p:blipFill>
          <a:blip r:embed="rId3"/>
          <a:stretch>
            <a:fillRect/>
          </a:stretch>
        </p:blipFill>
        <p:spPr>
          <a:xfrm>
            <a:off x="4425696" y="2029968"/>
            <a:ext cx="3474720" cy="1626050"/>
          </a:xfrm>
          <a:prstGeom prst="rect">
            <a:avLst/>
          </a:prstGeom>
        </p:spPr>
      </p:pic>
      <p:sp>
        <p:nvSpPr>
          <p:cNvPr id="13" name="Rounded Rectangle 12"/>
          <p:cNvSpPr/>
          <p:nvPr/>
        </p:nvSpPr>
        <p:spPr>
          <a:xfrm>
            <a:off x="8193024" y="1115568"/>
            <a:ext cx="3767328" cy="2797009"/>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7616" y="1207008"/>
            <a:ext cx="3438144" cy="256032"/>
          </a:xfrm>
          <a:prstGeom prst="rect">
            <a:avLst/>
          </a:prstGeom>
          <a:noFill/>
        </p:spPr>
        <p:txBody>
          <a:bodyPr wrap="square" lIns="0" rIns="0" tIns="0" bIns="0" anchor="t"/>
          <a:lstStyle/>
          <a:p>
            <a:pPr algn="l"/>
            <a:r>
              <a:rPr sz="1400" b="1" i="0">
                <a:solidFill>
                  <a:srgbClr val="8B4D5C"/>
                </a:solidFill>
                <a:latin typeface="Arial"/>
              </a:rPr>
              <a:t>Administrateur</a:t>
            </a:r>
          </a:p>
        </p:txBody>
      </p:sp>
      <p:sp>
        <p:nvSpPr>
          <p:cNvPr id="15" name="TextBox 14"/>
          <p:cNvSpPr txBox="1"/>
          <p:nvPr/>
        </p:nvSpPr>
        <p:spPr>
          <a:xfrm>
            <a:off x="8357616" y="1463040"/>
            <a:ext cx="3438144" cy="502920"/>
          </a:xfrm>
          <a:prstGeom prst="rect">
            <a:avLst/>
          </a:prstGeom>
          <a:noFill/>
        </p:spPr>
        <p:txBody>
          <a:bodyPr wrap="square" lIns="0" rIns="0" tIns="0" bIns="0" anchor="t"/>
          <a:lstStyle/>
          <a:p>
            <a:pPr algn="l"/>
            <a:r>
              <a:rPr sz="1300" b="0" i="0">
                <a:solidFill>
                  <a:srgbClr val="1A1A1A"/>
                </a:solidFill>
                <a:latin typeface="Arial"/>
              </a:rPr>
              <a:t>Effectifs, taux global, répartition des statuts.</a:t>
            </a:r>
          </a:p>
        </p:txBody>
      </p:sp>
      <p:pic>
        <p:nvPicPr>
          <p:cNvPr id="16" name="Picture 15" descr="web-admin-dashboard-crop.png"/>
          <p:cNvPicPr>
            <a:picLocks noChangeAspect="1"/>
          </p:cNvPicPr>
          <p:nvPr/>
        </p:nvPicPr>
        <p:blipFill>
          <a:blip r:embed="rId4"/>
          <a:stretch>
            <a:fillRect/>
          </a:stretch>
        </p:blipFill>
        <p:spPr>
          <a:xfrm>
            <a:off x="8339328" y="2029968"/>
            <a:ext cx="3474720" cy="1650167"/>
          </a:xfrm>
          <a:prstGeom prst="rect">
            <a:avLst/>
          </a:prstGeom>
        </p:spPr>
      </p:pic>
      <p:sp>
        <p:nvSpPr>
          <p:cNvPr id="17" name="TextBox 16"/>
          <p:cNvSpPr txBox="1"/>
          <p:nvPr/>
        </p:nvSpPr>
        <p:spPr>
          <a:xfrm>
            <a:off x="457200" y="4058881"/>
            <a:ext cx="11155680" cy="365760"/>
          </a:xfrm>
          <a:prstGeom prst="rect">
            <a:avLst/>
          </a:prstGeom>
          <a:noFill/>
        </p:spPr>
        <p:txBody>
          <a:bodyPr wrap="square" lIns="0" rIns="0" tIns="0" bIns="0" anchor="t"/>
          <a:lstStyle/>
          <a:p>
            <a:pPr algn="ctr"/>
            <a:r>
              <a:rPr sz="1400" b="0" i="0">
                <a:solidFill>
                  <a:srgbClr val="5E4E53"/>
                </a:solidFill>
                <a:latin typeface="Arial"/>
              </a:rPr>
              <a:t>Français et anglais. Thème clair et thème sombre.</a:t>
            </a:r>
          </a:p>
        </p:txBody>
      </p:sp>
      <p:sp>
        <p:nvSpPr>
          <p:cNvPr id="18" name="Rectangle 17"/>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0" name="TextBox 19"/>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1" name="TextBox 20"/>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C2  ·  Développer des interfaces</a:t>
            </a:r>
          </a:p>
        </p:txBody>
      </p:sp>
      <p:sp>
        <p:nvSpPr>
          <p:cNvPr id="22" name="TextBox 21"/>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04   RÉALISATION</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L'application sur iPhone</a:t>
            </a:r>
          </a:p>
        </p:txBody>
      </p:sp>
      <p:sp>
        <p:nvSpPr>
          <p:cNvPr id="5" name="TextBox 4"/>
          <p:cNvSpPr txBox="1"/>
          <p:nvPr/>
        </p:nvSpPr>
        <p:spPr>
          <a:xfrm>
            <a:off x="457200" y="1024128"/>
            <a:ext cx="11155680" cy="365760"/>
          </a:xfrm>
          <a:prstGeom prst="rect">
            <a:avLst/>
          </a:prstGeom>
          <a:noFill/>
        </p:spPr>
        <p:txBody>
          <a:bodyPr wrap="square" lIns="0" rIns="0" tIns="0" bIns="0" anchor="t"/>
          <a:lstStyle/>
          <a:p>
            <a:pPr algn="l"/>
            <a:r>
              <a:rPr sz="1500" b="0" i="0">
                <a:solidFill>
                  <a:srgbClr val="5E4E53"/>
                </a:solidFill>
                <a:latin typeface="Arial"/>
              </a:rPr>
              <a:t>Les mêmes parcours, branchés sur le serveur HTTPS. Le téléphone envoie Accept: application/json et un jeton.</a:t>
            </a:r>
          </a:p>
        </p:txBody>
      </p:sp>
      <p:sp>
        <p:nvSpPr>
          <p:cNvPr id="6" name="Rounded Rectangle 5"/>
          <p:cNvSpPr/>
          <p:nvPr/>
        </p:nvSpPr>
        <p:spPr>
          <a:xfrm>
            <a:off x="1051560" y="1508760"/>
            <a:ext cx="2880360" cy="4434840"/>
          </a:xfrm>
          <a:prstGeom prst="roundRect">
            <a:avLst>
              <a:gd name="adj" fmla="val 12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obile-dashboard.png"/>
          <p:cNvPicPr>
            <a:picLocks noChangeAspect="1"/>
          </p:cNvPicPr>
          <p:nvPr/>
        </p:nvPicPr>
        <p:blipFill>
          <a:blip r:embed="rId2"/>
          <a:stretch>
            <a:fillRect/>
          </a:stretch>
        </p:blipFill>
        <p:spPr>
          <a:xfrm>
            <a:off x="1616540" y="1627632"/>
            <a:ext cx="1750399" cy="3794760"/>
          </a:xfrm>
          <a:prstGeom prst="rect">
            <a:avLst/>
          </a:prstGeom>
        </p:spPr>
      </p:pic>
      <p:sp>
        <p:nvSpPr>
          <p:cNvPr id="8" name="TextBox 7"/>
          <p:cNvSpPr txBox="1"/>
          <p:nvPr/>
        </p:nvSpPr>
        <p:spPr>
          <a:xfrm>
            <a:off x="1051560" y="5961888"/>
            <a:ext cx="2880360" cy="292608"/>
          </a:xfrm>
          <a:prstGeom prst="rect">
            <a:avLst/>
          </a:prstGeom>
          <a:noFill/>
        </p:spPr>
        <p:txBody>
          <a:bodyPr wrap="square" lIns="0" rIns="0" tIns="0" bIns="0" anchor="t"/>
          <a:lstStyle/>
          <a:p>
            <a:pPr algn="ctr"/>
            <a:r>
              <a:rPr sz="1300" b="1" i="0">
                <a:solidFill>
                  <a:srgbClr val="1A1A1A"/>
                </a:solidFill>
                <a:latin typeface="Arial"/>
              </a:rPr>
              <a:t>Tableau de bord</a:t>
            </a:r>
          </a:p>
        </p:txBody>
      </p:sp>
      <p:sp>
        <p:nvSpPr>
          <p:cNvPr id="9" name="Rounded Rectangle 8"/>
          <p:cNvSpPr/>
          <p:nvPr/>
        </p:nvSpPr>
        <p:spPr>
          <a:xfrm>
            <a:off x="4709160" y="1508760"/>
            <a:ext cx="2880360" cy="4434840"/>
          </a:xfrm>
          <a:prstGeom prst="roundRect">
            <a:avLst>
              <a:gd name="adj" fmla="val 12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obile-task-detail.png"/>
          <p:cNvPicPr>
            <a:picLocks noChangeAspect="1"/>
          </p:cNvPicPr>
          <p:nvPr/>
        </p:nvPicPr>
        <p:blipFill>
          <a:blip r:embed="rId3"/>
          <a:stretch>
            <a:fillRect/>
          </a:stretch>
        </p:blipFill>
        <p:spPr>
          <a:xfrm>
            <a:off x="5274140" y="1627632"/>
            <a:ext cx="1750399" cy="3794760"/>
          </a:xfrm>
          <a:prstGeom prst="rect">
            <a:avLst/>
          </a:prstGeom>
        </p:spPr>
      </p:pic>
      <p:sp>
        <p:nvSpPr>
          <p:cNvPr id="11" name="TextBox 10"/>
          <p:cNvSpPr txBox="1"/>
          <p:nvPr/>
        </p:nvSpPr>
        <p:spPr>
          <a:xfrm>
            <a:off x="4709160" y="5961888"/>
            <a:ext cx="2880360" cy="292608"/>
          </a:xfrm>
          <a:prstGeom prst="rect">
            <a:avLst/>
          </a:prstGeom>
          <a:noFill/>
        </p:spPr>
        <p:txBody>
          <a:bodyPr wrap="square" lIns="0" rIns="0" tIns="0" bIns="0" anchor="t"/>
          <a:lstStyle/>
          <a:p>
            <a:pPr algn="ctr"/>
            <a:r>
              <a:rPr sz="1300" b="1" i="0">
                <a:solidFill>
                  <a:srgbClr val="1A1A1A"/>
                </a:solidFill>
                <a:latin typeface="Arial"/>
              </a:rPr>
              <a:t>Détail de tâche</a:t>
            </a:r>
          </a:p>
        </p:txBody>
      </p:sp>
      <p:sp>
        <p:nvSpPr>
          <p:cNvPr id="12" name="Rounded Rectangle 11"/>
          <p:cNvSpPr/>
          <p:nvPr/>
        </p:nvSpPr>
        <p:spPr>
          <a:xfrm>
            <a:off x="8366760" y="1508760"/>
            <a:ext cx="2880360" cy="4434840"/>
          </a:xfrm>
          <a:prstGeom prst="roundRect">
            <a:avLst>
              <a:gd name="adj" fmla="val 12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obile-admin-dashboard.png"/>
          <p:cNvPicPr>
            <a:picLocks noChangeAspect="1"/>
          </p:cNvPicPr>
          <p:nvPr/>
        </p:nvPicPr>
        <p:blipFill>
          <a:blip r:embed="rId4"/>
          <a:stretch>
            <a:fillRect/>
          </a:stretch>
        </p:blipFill>
        <p:spPr>
          <a:xfrm>
            <a:off x="8931740" y="1627632"/>
            <a:ext cx="1750399" cy="3794760"/>
          </a:xfrm>
          <a:prstGeom prst="rect">
            <a:avLst/>
          </a:prstGeom>
        </p:spPr>
      </p:pic>
      <p:sp>
        <p:nvSpPr>
          <p:cNvPr id="14" name="TextBox 13"/>
          <p:cNvSpPr txBox="1"/>
          <p:nvPr/>
        </p:nvSpPr>
        <p:spPr>
          <a:xfrm>
            <a:off x="8366760" y="5961888"/>
            <a:ext cx="2880360" cy="292608"/>
          </a:xfrm>
          <a:prstGeom prst="rect">
            <a:avLst/>
          </a:prstGeom>
          <a:noFill/>
        </p:spPr>
        <p:txBody>
          <a:bodyPr wrap="square" lIns="0" rIns="0" tIns="0" bIns="0" anchor="t"/>
          <a:lstStyle/>
          <a:p>
            <a:pPr algn="ctr"/>
            <a:r>
              <a:rPr sz="1300" b="1" i="0">
                <a:solidFill>
                  <a:srgbClr val="1A1A1A"/>
                </a:solidFill>
                <a:latin typeface="Arial"/>
              </a:rPr>
              <a:t>Administration</a:t>
            </a:r>
          </a:p>
        </p:txBody>
      </p:sp>
      <p:sp>
        <p:nvSpPr>
          <p:cNvPr id="15" name="Rectangle 14"/>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17" name="TextBox 16"/>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18" name="TextBox 17"/>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C2  ·  Développer des interfaces</a:t>
            </a:r>
          </a:p>
        </p:txBody>
      </p:sp>
      <p:sp>
        <p:nvSpPr>
          <p:cNvPr id="19" name="TextBox 18"/>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05   SÉCURITÉ</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Droits et protections</a:t>
            </a:r>
          </a:p>
        </p:txBody>
      </p:sp>
      <p:sp>
        <p:nvSpPr>
          <p:cNvPr id="5" name="Rounded Rectangle 4"/>
          <p:cNvSpPr/>
          <p:nvPr/>
        </p:nvSpPr>
        <p:spPr>
          <a:xfrm>
            <a:off x="411480" y="1143000"/>
            <a:ext cx="3730752" cy="1828800"/>
          </a:xfrm>
          <a:prstGeom prst="roundRect">
            <a:avLst>
              <a:gd name="adj" fmla="val 8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07592"/>
            <a:ext cx="3383280" cy="347472"/>
          </a:xfrm>
          <a:prstGeom prst="rect">
            <a:avLst/>
          </a:prstGeom>
          <a:noFill/>
        </p:spPr>
        <p:txBody>
          <a:bodyPr wrap="square" lIns="0" rIns="0" tIns="0" bIns="0" anchor="t"/>
          <a:lstStyle/>
          <a:p>
            <a:pPr algn="l"/>
            <a:r>
              <a:rPr sz="1600" b="1" i="0">
                <a:solidFill>
                  <a:srgbClr val="1A1A1A"/>
                </a:solidFill>
                <a:latin typeface="Arial"/>
              </a:rPr>
              <a:t>Mots de passe</a:t>
            </a:r>
          </a:p>
        </p:txBody>
      </p:sp>
      <p:sp>
        <p:nvSpPr>
          <p:cNvPr id="7" name="TextBox 6"/>
          <p:cNvSpPr txBox="1"/>
          <p:nvPr/>
        </p:nvSpPr>
        <p:spPr>
          <a:xfrm>
            <a:off x="594360" y="1737360"/>
            <a:ext cx="3383280" cy="1051560"/>
          </a:xfrm>
          <a:prstGeom prst="rect">
            <a:avLst/>
          </a:prstGeom>
          <a:noFill/>
        </p:spPr>
        <p:txBody>
          <a:bodyPr wrap="square" lIns="0" rIns="0" tIns="0" bIns="0" anchor="t"/>
          <a:lstStyle/>
          <a:p>
            <a:pPr algn="l"/>
            <a:r>
              <a:rPr sz="1300" b="0" i="0">
                <a:solidFill>
                  <a:srgbClr val="5E4E53"/>
                </a:solidFill>
                <a:latin typeface="Arial"/>
              </a:rPr>
              <a:t>Bcrypt dès l'affectation. password et remember_token masqués dans le JSON.</a:t>
            </a:r>
          </a:p>
        </p:txBody>
      </p:sp>
      <p:sp>
        <p:nvSpPr>
          <p:cNvPr id="8" name="Rounded Rectangle 7"/>
          <p:cNvSpPr/>
          <p:nvPr/>
        </p:nvSpPr>
        <p:spPr>
          <a:xfrm>
            <a:off x="4297680" y="1143000"/>
            <a:ext cx="3730752" cy="1828800"/>
          </a:xfrm>
          <a:prstGeom prst="roundRect">
            <a:avLst>
              <a:gd name="adj" fmla="val 8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307592"/>
            <a:ext cx="3383280" cy="347472"/>
          </a:xfrm>
          <a:prstGeom prst="rect">
            <a:avLst/>
          </a:prstGeom>
          <a:noFill/>
        </p:spPr>
        <p:txBody>
          <a:bodyPr wrap="square" lIns="0" rIns="0" tIns="0" bIns="0" anchor="t"/>
          <a:lstStyle/>
          <a:p>
            <a:pPr algn="l"/>
            <a:r>
              <a:rPr sz="1600" b="1" i="0">
                <a:solidFill>
                  <a:srgbClr val="1A1A1A"/>
                </a:solidFill>
                <a:latin typeface="Arial"/>
              </a:rPr>
              <a:t>Session et jeton</a:t>
            </a:r>
          </a:p>
        </p:txBody>
      </p:sp>
      <p:sp>
        <p:nvSpPr>
          <p:cNvPr id="10" name="TextBox 9"/>
          <p:cNvSpPr txBox="1"/>
          <p:nvPr/>
        </p:nvSpPr>
        <p:spPr>
          <a:xfrm>
            <a:off x="4480560" y="1737360"/>
            <a:ext cx="3383280" cy="1051560"/>
          </a:xfrm>
          <a:prstGeom prst="rect">
            <a:avLst/>
          </a:prstGeom>
          <a:noFill/>
        </p:spPr>
        <p:txBody>
          <a:bodyPr wrap="square" lIns="0" rIns="0" tIns="0" bIns="0" anchor="t"/>
          <a:lstStyle/>
          <a:p>
            <a:pPr algn="l"/>
            <a:r>
              <a:rPr sz="1300" b="0" i="0">
                <a:solidFill>
                  <a:srgbClr val="5E4E53"/>
                </a:solidFill>
                <a:latin typeface="Arial"/>
              </a:rPr>
              <a:t>Session régénérée à la connexion. Sanctum ne stocke que l'empreinte du jeton.</a:t>
            </a:r>
          </a:p>
        </p:txBody>
      </p:sp>
      <p:sp>
        <p:nvSpPr>
          <p:cNvPr id="11" name="Rounded Rectangle 10"/>
          <p:cNvSpPr/>
          <p:nvPr/>
        </p:nvSpPr>
        <p:spPr>
          <a:xfrm>
            <a:off x="8183879" y="1143000"/>
            <a:ext cx="3730752" cy="1828800"/>
          </a:xfrm>
          <a:prstGeom prst="roundRect">
            <a:avLst>
              <a:gd name="adj" fmla="val 8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59" y="1307592"/>
            <a:ext cx="3383280" cy="347472"/>
          </a:xfrm>
          <a:prstGeom prst="rect">
            <a:avLst/>
          </a:prstGeom>
          <a:noFill/>
        </p:spPr>
        <p:txBody>
          <a:bodyPr wrap="square" lIns="0" rIns="0" tIns="0" bIns="0" anchor="t"/>
          <a:lstStyle/>
          <a:p>
            <a:pPr algn="l"/>
            <a:r>
              <a:rPr sz="1600" b="1" i="0">
                <a:solidFill>
                  <a:srgbClr val="1A1A1A"/>
                </a:solidFill>
                <a:latin typeface="Arial"/>
              </a:rPr>
              <a:t>CSRF</a:t>
            </a:r>
          </a:p>
        </p:txBody>
      </p:sp>
      <p:sp>
        <p:nvSpPr>
          <p:cNvPr id="13" name="TextBox 12"/>
          <p:cNvSpPr txBox="1"/>
          <p:nvPr/>
        </p:nvSpPr>
        <p:spPr>
          <a:xfrm>
            <a:off x="8366759" y="1737360"/>
            <a:ext cx="3383280" cy="1051560"/>
          </a:xfrm>
          <a:prstGeom prst="rect">
            <a:avLst/>
          </a:prstGeom>
          <a:noFill/>
        </p:spPr>
        <p:txBody>
          <a:bodyPr wrap="square" lIns="0" rIns="0" tIns="0" bIns="0" anchor="t"/>
          <a:lstStyle/>
          <a:p>
            <a:pPr algn="l"/>
            <a:r>
              <a:rPr sz="1300" b="0" i="0">
                <a:solidFill>
                  <a:srgbClr val="5E4E53"/>
                </a:solidFill>
                <a:latin typeface="Arial"/>
              </a:rPr>
              <a:t>Jeton sur les formulaires web. Exemption seulement pour le Bearer, et pour le login JSON.</a:t>
            </a:r>
          </a:p>
        </p:txBody>
      </p:sp>
      <p:sp>
        <p:nvSpPr>
          <p:cNvPr id="14" name="Rounded Rectangle 13"/>
          <p:cNvSpPr/>
          <p:nvPr/>
        </p:nvSpPr>
        <p:spPr>
          <a:xfrm>
            <a:off x="411480" y="3108960"/>
            <a:ext cx="3730752" cy="1828800"/>
          </a:xfrm>
          <a:prstGeom prst="roundRect">
            <a:avLst>
              <a:gd name="adj" fmla="val 8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273552"/>
            <a:ext cx="3383280" cy="347472"/>
          </a:xfrm>
          <a:prstGeom prst="rect">
            <a:avLst/>
          </a:prstGeom>
          <a:noFill/>
        </p:spPr>
        <p:txBody>
          <a:bodyPr wrap="square" lIns="0" rIns="0" tIns="0" bIns="0" anchor="t"/>
          <a:lstStyle/>
          <a:p>
            <a:pPr algn="l"/>
            <a:r>
              <a:rPr sz="1600" b="1" i="0">
                <a:solidFill>
                  <a:srgbClr val="1A1A1A"/>
                </a:solidFill>
                <a:latin typeface="Arial"/>
              </a:rPr>
              <a:t>Accès</a:t>
            </a:r>
          </a:p>
        </p:txBody>
      </p:sp>
      <p:sp>
        <p:nvSpPr>
          <p:cNvPr id="16" name="TextBox 15"/>
          <p:cNvSpPr txBox="1"/>
          <p:nvPr/>
        </p:nvSpPr>
        <p:spPr>
          <a:xfrm>
            <a:off x="594360" y="3703320"/>
            <a:ext cx="3383280" cy="1051560"/>
          </a:xfrm>
          <a:prstGeom prst="rect">
            <a:avLst/>
          </a:prstGeom>
          <a:noFill/>
        </p:spPr>
        <p:txBody>
          <a:bodyPr wrap="square" lIns="0" rIns="0" tIns="0" bIns="0" anchor="t"/>
          <a:lstStyle/>
          <a:p>
            <a:pPr algn="l"/>
            <a:r>
              <a:rPr sz="1300" b="0" i="0">
                <a:solidFill>
                  <a:srgbClr val="5E4E53"/>
                </a:solidFill>
                <a:latin typeface="Arial"/>
              </a:rPr>
              <a:t>Sans session, refus. Ensuite le rôle. Ensuite la politique sur la ressource.</a:t>
            </a:r>
          </a:p>
        </p:txBody>
      </p:sp>
      <p:sp>
        <p:nvSpPr>
          <p:cNvPr id="17" name="Rounded Rectangle 16"/>
          <p:cNvSpPr/>
          <p:nvPr/>
        </p:nvSpPr>
        <p:spPr>
          <a:xfrm>
            <a:off x="4297680" y="3108960"/>
            <a:ext cx="3730752" cy="1828800"/>
          </a:xfrm>
          <a:prstGeom prst="roundRect">
            <a:avLst>
              <a:gd name="adj" fmla="val 8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273552"/>
            <a:ext cx="3383280" cy="347472"/>
          </a:xfrm>
          <a:prstGeom prst="rect">
            <a:avLst/>
          </a:prstGeom>
          <a:noFill/>
        </p:spPr>
        <p:txBody>
          <a:bodyPr wrap="square" lIns="0" rIns="0" tIns="0" bIns="0" anchor="t"/>
          <a:lstStyle/>
          <a:p>
            <a:pPr algn="l"/>
            <a:r>
              <a:rPr sz="1600" b="1" i="0">
                <a:solidFill>
                  <a:srgbClr val="1A1A1A"/>
                </a:solidFill>
                <a:latin typeface="Arial"/>
              </a:rPr>
              <a:t>Données</a:t>
            </a:r>
          </a:p>
        </p:txBody>
      </p:sp>
      <p:sp>
        <p:nvSpPr>
          <p:cNvPr id="19" name="TextBox 18"/>
          <p:cNvSpPr txBox="1"/>
          <p:nvPr/>
        </p:nvSpPr>
        <p:spPr>
          <a:xfrm>
            <a:off x="4480560" y="3703320"/>
            <a:ext cx="3383280" cy="1051560"/>
          </a:xfrm>
          <a:prstGeom prst="rect">
            <a:avLst/>
          </a:prstGeom>
          <a:noFill/>
        </p:spPr>
        <p:txBody>
          <a:bodyPr wrap="square" lIns="0" rIns="0" tIns="0" bIns="0" anchor="t"/>
          <a:lstStyle/>
          <a:p>
            <a:pPr algn="l"/>
            <a:r>
              <a:rPr sz="1300" b="0" i="0">
                <a:solidFill>
                  <a:srgbClr val="5E4E53"/>
                </a:solidFill>
                <a:latin typeface="Arial"/>
              </a:rPr>
              <a:t>Validation avant écriture. Requêtes préparées. Échappement Blade.</a:t>
            </a:r>
          </a:p>
        </p:txBody>
      </p:sp>
      <p:sp>
        <p:nvSpPr>
          <p:cNvPr id="20" name="Rounded Rectangle 19"/>
          <p:cNvSpPr/>
          <p:nvPr/>
        </p:nvSpPr>
        <p:spPr>
          <a:xfrm>
            <a:off x="8183879" y="3108960"/>
            <a:ext cx="3730752" cy="1828800"/>
          </a:xfrm>
          <a:prstGeom prst="roundRect">
            <a:avLst>
              <a:gd name="adj" fmla="val 8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59" y="3273552"/>
            <a:ext cx="3383280" cy="347472"/>
          </a:xfrm>
          <a:prstGeom prst="rect">
            <a:avLst/>
          </a:prstGeom>
          <a:noFill/>
        </p:spPr>
        <p:txBody>
          <a:bodyPr wrap="square" lIns="0" rIns="0" tIns="0" bIns="0" anchor="t"/>
          <a:lstStyle/>
          <a:p>
            <a:pPr algn="l"/>
            <a:r>
              <a:rPr sz="1600" b="1" i="0">
                <a:solidFill>
                  <a:srgbClr val="1A1A1A"/>
                </a:solidFill>
                <a:latin typeface="Arial"/>
              </a:rPr>
              <a:t>Assignation</a:t>
            </a:r>
          </a:p>
        </p:txBody>
      </p:sp>
      <p:sp>
        <p:nvSpPr>
          <p:cNvPr id="22" name="TextBox 21"/>
          <p:cNvSpPr txBox="1"/>
          <p:nvPr/>
        </p:nvSpPr>
        <p:spPr>
          <a:xfrm>
            <a:off x="8366759" y="3703320"/>
            <a:ext cx="3383280" cy="1051560"/>
          </a:xfrm>
          <a:prstGeom prst="rect">
            <a:avLst/>
          </a:prstGeom>
          <a:noFill/>
        </p:spPr>
        <p:txBody>
          <a:bodyPr wrap="square" lIns="0" rIns="0" tIns="0" bIns="0" anchor="t"/>
          <a:lstStyle/>
          <a:p>
            <a:pPr algn="l"/>
            <a:r>
              <a:rPr sz="1300" b="0" i="0">
                <a:solidFill>
                  <a:srgbClr val="5E4E53"/>
                </a:solidFill>
                <a:latin typeface="Arial"/>
              </a:rPr>
              <a:t>Une tâche ne peut être donnée qu'à un membre de l'équipe de contexte.</a:t>
            </a:r>
          </a:p>
        </p:txBody>
      </p:sp>
      <p:sp>
        <p:nvSpPr>
          <p:cNvPr id="23" name="Rounded Rectangle 22"/>
          <p:cNvSpPr/>
          <p:nvPr/>
        </p:nvSpPr>
        <p:spPr>
          <a:xfrm>
            <a:off x="411480" y="5120640"/>
            <a:ext cx="11338560" cy="1051560"/>
          </a:xfrm>
          <a:prstGeom prst="roundRect">
            <a:avLst>
              <a:gd name="adj" fmla="val 8000"/>
            </a:avLst>
          </a:prstGeom>
          <a:solidFill>
            <a:srgbClr val="F6E8ED"/>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248656"/>
            <a:ext cx="2743200" cy="256032"/>
          </a:xfrm>
          <a:prstGeom prst="rect">
            <a:avLst/>
          </a:prstGeom>
          <a:noFill/>
        </p:spPr>
        <p:txBody>
          <a:bodyPr wrap="square" lIns="0" rIns="0" tIns="0" bIns="0" anchor="t"/>
          <a:lstStyle/>
          <a:p>
            <a:pPr algn="l"/>
            <a:r>
              <a:rPr sz="1200" b="1" i="0">
                <a:solidFill>
                  <a:srgbClr val="8B4D5C"/>
                </a:solidFill>
                <a:latin typeface="Arial"/>
              </a:rPr>
              <a:t>Limites connues</a:t>
            </a:r>
          </a:p>
        </p:txBody>
      </p:sp>
      <p:sp>
        <p:nvSpPr>
          <p:cNvPr id="25" name="TextBox 24"/>
          <p:cNvSpPr txBox="1"/>
          <p:nvPr/>
        </p:nvSpPr>
        <p:spPr>
          <a:xfrm>
            <a:off x="640080" y="5541264"/>
            <a:ext cx="10881360" cy="457200"/>
          </a:xfrm>
          <a:prstGeom prst="rect">
            <a:avLst/>
          </a:prstGeom>
          <a:noFill/>
        </p:spPr>
        <p:txBody>
          <a:bodyPr wrap="square" lIns="0" rIns="0" tIns="0" bIns="0" anchor="t"/>
          <a:lstStyle/>
          <a:p>
            <a:pPr algn="l"/>
            <a:r>
              <a:rPr sz="1500" b="0" i="0">
                <a:solidFill>
                  <a:srgbClr val="1A1A1A"/>
                </a:solidFill>
                <a:latin typeface="Arial"/>
              </a:rPr>
              <a:t>Pas de plafond sur les tentatives de connexion. Jetons Sanctum sans date d'expiration.</a:t>
            </a:r>
          </a:p>
        </p:txBody>
      </p:sp>
      <p:sp>
        <p:nvSpPr>
          <p:cNvPr id="26" name="Rectangle 25"/>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8" name="TextBox 27"/>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9" name="TextBox 28"/>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C3  ·  Développer des composants métier</a:t>
            </a:r>
          </a:p>
        </p:txBody>
      </p:sp>
      <p:sp>
        <p:nvSpPr>
          <p:cNvPr id="30" name="TextBox 29"/>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05   TESTS</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Quatre cas, rejoués par PHPUnit</a:t>
            </a:r>
          </a:p>
        </p:txBody>
      </p:sp>
      <p:graphicFrame>
        <p:nvGraphicFramePr>
          <p:cNvPr id="5" name="Table 4"/>
          <p:cNvGraphicFramePr>
            <a:graphicFrameLocks noGrp="1"/>
          </p:cNvGraphicFramePr>
          <p:nvPr/>
        </p:nvGraphicFramePr>
        <p:xfrm>
          <a:off x="411480" y="1188720"/>
          <a:ext cx="11338560" cy="4160520"/>
        </p:xfrm>
        <a:graphic>
          <a:graphicData uri="http://schemas.openxmlformats.org/drawingml/2006/table">
            <a:tbl>
              <a:tblPr firstRow="1" bandRow="1">
                <a:tableStyleId>{5C22544A-7EE6-4342-B048-85BDC9FD1C3A}</a:tableStyleId>
              </a:tblPr>
              <a:tblGrid>
                <a:gridCol w="2286000"/>
                <a:gridCol w="5212080"/>
                <a:gridCol w="3840480"/>
              </a:tblGrid>
              <a:tr h="832104">
                <a:tc>
                  <a:txBody>
                    <a:bodyPr lIns="109728"/>
                    <a:lstStyle/>
                    <a:p>
                      <a:r>
                        <a:rPr sz="1400" b="1" i="0">
                          <a:solidFill>
                            <a:srgbClr val="FFFFFF"/>
                          </a:solidFill>
                          <a:latin typeface="Arial"/>
                        </a:rPr>
                        <a:t>Cas</a:t>
                      </a:r>
                    </a:p>
                  </a:txBody>
                  <a:tcPr anchor="ctr">
                    <a:solidFill>
                      <a:srgbClr val="8B4D5C"/>
                    </a:solidFill>
                  </a:tcPr>
                </a:tc>
                <a:tc>
                  <a:txBody>
                    <a:bodyPr lIns="109728"/>
                    <a:lstStyle/>
                    <a:p>
                      <a:r>
                        <a:rPr sz="1400" b="1" i="0">
                          <a:solidFill>
                            <a:srgbClr val="FFFFFF"/>
                          </a:solidFill>
                          <a:latin typeface="Arial"/>
                        </a:rPr>
                        <a:t>Démarche</a:t>
                      </a:r>
                    </a:p>
                  </a:txBody>
                  <a:tcPr anchor="ctr">
                    <a:solidFill>
                      <a:srgbClr val="8B4D5C"/>
                    </a:solidFill>
                  </a:tcPr>
                </a:tc>
                <a:tc>
                  <a:txBody>
                    <a:bodyPr lIns="109728"/>
                    <a:lstStyle/>
                    <a:p>
                      <a:r>
                        <a:rPr sz="1400" b="1" i="0">
                          <a:solidFill>
                            <a:srgbClr val="FFFFFF"/>
                          </a:solidFill>
                          <a:latin typeface="Arial"/>
                        </a:rPr>
                        <a:t>Résultat</a:t>
                      </a:r>
                    </a:p>
                  </a:txBody>
                  <a:tcPr anchor="ctr">
                    <a:solidFill>
                      <a:srgbClr val="8B4D5C"/>
                    </a:solidFill>
                  </a:tcPr>
                </a:tc>
              </a:tr>
              <a:tr h="832104">
                <a:tc>
                  <a:txBody>
                    <a:bodyPr lIns="109728" wrap="square"/>
                    <a:lstStyle/>
                    <a:p>
                      <a:r>
                        <a:rPr sz="1400" b="1" i="0">
                          <a:solidFill>
                            <a:srgbClr val="1A1A1A"/>
                          </a:solidFill>
                          <a:latin typeface="Arial"/>
                        </a:rPr>
                        <a:t>Visiteur</a:t>
                      </a:r>
                    </a:p>
                  </a:txBody>
                  <a:tcPr anchor="ctr">
                    <a:solidFill>
                      <a:srgbClr val="FFFFFF"/>
                    </a:solidFill>
                  </a:tcPr>
                </a:tc>
                <a:tc>
                  <a:txBody>
                    <a:bodyPr lIns="109728" wrap="square"/>
                    <a:lstStyle/>
                    <a:p>
                      <a:r>
                        <a:rPr sz="1400" b="0" i="0">
                          <a:solidFill>
                            <a:srgbClr val="1A1A1A"/>
                          </a:solidFill>
                          <a:latin typeface="Arial"/>
                        </a:rPr>
                        <a:t>Ouvrir /dashboard sans session.</a:t>
                      </a:r>
                    </a:p>
                  </a:txBody>
                  <a:tcPr anchor="ctr">
                    <a:solidFill>
                      <a:srgbClr val="FFFFFF"/>
                    </a:solidFill>
                  </a:tcPr>
                </a:tc>
                <a:tc>
                  <a:txBody>
                    <a:bodyPr lIns="109728" wrap="square"/>
                    <a:lstStyle/>
                    <a:p>
                      <a:r>
                        <a:rPr sz="1400" b="0" i="0">
                          <a:solidFill>
                            <a:srgbClr val="1A1A1A"/>
                          </a:solidFill>
                          <a:latin typeface="Arial"/>
                        </a:rPr>
                        <a:t>Redirection vers /login.</a:t>
                      </a:r>
                    </a:p>
                  </a:txBody>
                  <a:tcPr anchor="ctr">
                    <a:solidFill>
                      <a:srgbClr val="FFFFFF"/>
                    </a:solidFill>
                  </a:tcPr>
                </a:tc>
              </a:tr>
              <a:tr h="832104">
                <a:tc>
                  <a:txBody>
                    <a:bodyPr lIns="109728" wrap="square"/>
                    <a:lstStyle/>
                    <a:p>
                      <a:r>
                        <a:rPr sz="1400" b="1" i="0">
                          <a:solidFill>
                            <a:srgbClr val="1A1A1A"/>
                          </a:solidFill>
                          <a:latin typeface="Arial"/>
                        </a:rPr>
                        <a:t>Blocage sans note</a:t>
                      </a:r>
                    </a:p>
                  </a:txBody>
                  <a:tcPr anchor="ctr">
                    <a:solidFill>
                      <a:srgbClr val="F6E8ED"/>
                    </a:solidFill>
                  </a:tcPr>
                </a:tc>
                <a:tc>
                  <a:txBody>
                    <a:bodyPr lIns="109728" wrap="square"/>
                    <a:lstStyle/>
                    <a:p>
                      <a:r>
                        <a:rPr sz="1400" b="0" i="0">
                          <a:solidFill>
                            <a:srgbClr val="1A1A1A"/>
                          </a:solidFill>
                          <a:latin typeface="Arial"/>
                        </a:rPr>
                        <a:t>Passer une tâche au statut bloqué sans note.</a:t>
                      </a:r>
                    </a:p>
                  </a:txBody>
                  <a:tcPr anchor="ctr">
                    <a:solidFill>
                      <a:srgbClr val="F6E8ED"/>
                    </a:solidFill>
                  </a:tcPr>
                </a:tc>
                <a:tc>
                  <a:txBody>
                    <a:bodyPr lIns="109728" wrap="square"/>
                    <a:lstStyle/>
                    <a:p>
                      <a:r>
                        <a:rPr sz="1400" b="0" i="0">
                          <a:solidFill>
                            <a:srgbClr val="1A1A1A"/>
                          </a:solidFill>
                          <a:latin typeface="Arial"/>
                        </a:rPr>
                        <a:t>Le serveur refuse l'enregistrement.</a:t>
                      </a:r>
                    </a:p>
                  </a:txBody>
                  <a:tcPr anchor="ctr">
                    <a:solidFill>
                      <a:srgbClr val="F6E8ED"/>
                    </a:solidFill>
                  </a:tcPr>
                </a:tc>
              </a:tr>
              <a:tr h="832104">
                <a:tc>
                  <a:txBody>
                    <a:bodyPr lIns="109728" wrap="square"/>
                    <a:lstStyle/>
                    <a:p>
                      <a:r>
                        <a:rPr sz="1400" b="1" i="0">
                          <a:solidFill>
                            <a:srgbClr val="1A1A1A"/>
                          </a:solidFill>
                          <a:latin typeface="Arial"/>
                        </a:rPr>
                        <a:t>Tâche d'un autre</a:t>
                      </a:r>
                    </a:p>
                  </a:txBody>
                  <a:tcPr anchor="ctr">
                    <a:solidFill>
                      <a:srgbClr val="FFFFFF"/>
                    </a:solidFill>
                  </a:tcPr>
                </a:tc>
                <a:tc>
                  <a:txBody>
                    <a:bodyPr lIns="109728" wrap="square"/>
                    <a:lstStyle/>
                    <a:p>
                      <a:r>
                        <a:rPr sz="1400" b="0" i="0">
                          <a:solidFill>
                            <a:srgbClr val="1A1A1A"/>
                          </a:solidFill>
                          <a:latin typeface="Arial"/>
                        </a:rPr>
                        <a:t>Un membre met à jour la tâche d'un collègue.</a:t>
                      </a:r>
                    </a:p>
                  </a:txBody>
                  <a:tcPr anchor="ctr">
                    <a:solidFill>
                      <a:srgbClr val="FFFFFF"/>
                    </a:solidFill>
                  </a:tcPr>
                </a:tc>
                <a:tc>
                  <a:txBody>
                    <a:bodyPr lIns="109728" wrap="square"/>
                    <a:lstStyle/>
                    <a:p>
                      <a:r>
                        <a:rPr sz="1400" b="0" i="0">
                          <a:solidFill>
                            <a:srgbClr val="1A1A1A"/>
                          </a:solidFill>
                          <a:latin typeface="Arial"/>
                        </a:rPr>
                        <a:t>Réponse 403.</a:t>
                      </a:r>
                    </a:p>
                  </a:txBody>
                  <a:tcPr anchor="ctr">
                    <a:solidFill>
                      <a:srgbClr val="FFFFFF"/>
                    </a:solidFill>
                  </a:tcPr>
                </a:tc>
              </a:tr>
              <a:tr h="832104">
                <a:tc>
                  <a:txBody>
                    <a:bodyPr lIns="109728" wrap="square"/>
                    <a:lstStyle/>
                    <a:p>
                      <a:r>
                        <a:rPr sz="1400" b="1" i="0">
                          <a:solidFill>
                            <a:srgbClr val="1A1A1A"/>
                          </a:solidFill>
                          <a:latin typeface="Arial"/>
                        </a:rPr>
                        <a:t>Projet par le chef</a:t>
                      </a:r>
                    </a:p>
                  </a:txBody>
                  <a:tcPr anchor="ctr">
                    <a:solidFill>
                      <a:srgbClr val="F6E8ED"/>
                    </a:solidFill>
                  </a:tcPr>
                </a:tc>
                <a:tc>
                  <a:txBody>
                    <a:bodyPr lIns="109728" wrap="square"/>
                    <a:lstStyle/>
                    <a:p>
                      <a:r>
                        <a:rPr sz="1400" b="0" i="0">
                          <a:solidFill>
                            <a:srgbClr val="1A1A1A"/>
                          </a:solidFill>
                          <a:latin typeface="Arial"/>
                        </a:rPr>
                        <a:t>Un chef d'équipe tente de créer un projet.</a:t>
                      </a:r>
                    </a:p>
                  </a:txBody>
                  <a:tcPr anchor="ctr">
                    <a:solidFill>
                      <a:srgbClr val="F6E8ED"/>
                    </a:solidFill>
                  </a:tcPr>
                </a:tc>
                <a:tc>
                  <a:txBody>
                    <a:bodyPr lIns="109728" wrap="square"/>
                    <a:lstStyle/>
                    <a:p>
                      <a:r>
                        <a:rPr sz="1400" b="0" i="0">
                          <a:solidFill>
                            <a:srgbClr val="1A1A1A"/>
                          </a:solidFill>
                          <a:latin typeface="Arial"/>
                        </a:rPr>
                        <a:t>Réponse 403. Aucune ligne créée.</a:t>
                      </a:r>
                    </a:p>
                  </a:txBody>
                  <a:tcPr anchor="ctr">
                    <a:solidFill>
                      <a:srgbClr val="F6E8ED"/>
                    </a:solidFill>
                  </a:tcPr>
                </a:tc>
              </a:tr>
            </a:tbl>
          </a:graphicData>
        </a:graphic>
      </p:graphicFrame>
      <p:sp>
        <p:nvSpPr>
          <p:cNvPr id="6" name="TextBox 5"/>
          <p:cNvSpPr txBox="1"/>
          <p:nvPr/>
        </p:nvSpPr>
        <p:spPr>
          <a:xfrm>
            <a:off x="457200" y="5532120"/>
            <a:ext cx="11155680" cy="640080"/>
          </a:xfrm>
          <a:prstGeom prst="rect">
            <a:avLst/>
          </a:prstGeom>
          <a:noFill/>
        </p:spPr>
        <p:txBody>
          <a:bodyPr wrap="square" lIns="0" rIns="0" tIns="0" bIns="0" anchor="t"/>
          <a:lstStyle/>
          <a:p>
            <a:pPr algn="l"/>
            <a:r>
              <a:rPr sz="1400" b="0" i="0">
                <a:solidFill>
                  <a:srgbClr val="5E4E53"/>
                </a:solidFill>
                <a:latin typeface="Arial"/>
              </a:rPr>
              <a:t>La suite tourne en local et dans GitHub Actions, à chaque push sur main et à chaque pull request.</a:t>
            </a:r>
          </a:p>
        </p:txBody>
      </p:sp>
      <p:sp>
        <p:nvSpPr>
          <p:cNvPr id="7" name="Rectangle 6"/>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9" name="TextBox 8"/>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10" name="TextBox 9"/>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C9  ·  Préparer et exécuter les plans de tests</a:t>
            </a:r>
          </a:p>
        </p:txBody>
      </p:sp>
      <p:sp>
        <p:nvSpPr>
          <p:cNvPr id="11" name="TextBox 10"/>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05   MISE EN LIGNE</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Démonstration</a:t>
            </a:r>
          </a:p>
        </p:txBody>
      </p:sp>
      <p:sp>
        <p:nvSpPr>
          <p:cNvPr id="5" name="Rounded Rectangle 4"/>
          <p:cNvSpPr/>
          <p:nvPr/>
        </p:nvSpPr>
        <p:spPr>
          <a:xfrm>
            <a:off x="457200" y="1115568"/>
            <a:ext cx="11247120" cy="1554480"/>
          </a:xfrm>
          <a:prstGeom prst="roundRect">
            <a:avLst>
              <a:gd name="adj" fmla="val 10000"/>
            </a:avLst>
          </a:prstGeom>
          <a:solidFill>
            <a:srgbClr val="F6E8ED"/>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261872"/>
            <a:ext cx="5486400" cy="256032"/>
          </a:xfrm>
          <a:prstGeom prst="rect">
            <a:avLst/>
          </a:prstGeom>
          <a:noFill/>
        </p:spPr>
        <p:txBody>
          <a:bodyPr wrap="square" lIns="0" rIns="0" tIns="0" bIns="0" anchor="t"/>
          <a:lstStyle/>
          <a:p>
            <a:pPr algn="l"/>
            <a:r>
              <a:rPr sz="1200" b="1" i="0">
                <a:solidFill>
                  <a:srgbClr val="8B4D5C"/>
                </a:solidFill>
                <a:latin typeface="Arial"/>
              </a:rPr>
              <a:t>Application en ligne</a:t>
            </a:r>
          </a:p>
        </p:txBody>
      </p:sp>
      <p:sp>
        <p:nvSpPr>
          <p:cNvPr id="7" name="TextBox 6"/>
          <p:cNvSpPr txBox="1"/>
          <p:nvPr/>
        </p:nvSpPr>
        <p:spPr>
          <a:xfrm>
            <a:off x="713232" y="1572768"/>
            <a:ext cx="10607040" cy="777240"/>
          </a:xfrm>
          <a:prstGeom prst="rect">
            <a:avLst/>
          </a:prstGeom>
          <a:noFill/>
        </p:spPr>
        <p:txBody>
          <a:bodyPr wrap="square" lIns="0" rIns="0" tIns="0" bIns="0" anchor="t"/>
          <a:lstStyle/>
          <a:p>
            <a:pPr algn="l"/>
            <a:r>
              <a:rPr sz="2800" b="1" i="0">
                <a:solidFill>
                  <a:srgbClr val="6E3A48"/>
                </a:solidFill>
                <a:latin typeface="Arial"/>
              </a:rPr>
              <a:t>https://lamraoui.alwaysdata.net</a:t>
            </a:r>
          </a:p>
        </p:txBody>
      </p:sp>
      <p:sp>
        <p:nvSpPr>
          <p:cNvPr id="8" name="Rounded Rectangle 7"/>
          <p:cNvSpPr/>
          <p:nvPr/>
        </p:nvSpPr>
        <p:spPr>
          <a:xfrm>
            <a:off x="457200" y="2926080"/>
            <a:ext cx="5623560" cy="1417320"/>
          </a:xfrm>
          <a:prstGeom prst="roundRect">
            <a:avLst>
              <a:gd name="adj" fmla="val 8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090672"/>
            <a:ext cx="5212080" cy="310896"/>
          </a:xfrm>
          <a:prstGeom prst="rect">
            <a:avLst/>
          </a:prstGeom>
          <a:noFill/>
        </p:spPr>
        <p:txBody>
          <a:bodyPr wrap="square" lIns="0" rIns="0" tIns="0" bIns="0" anchor="t"/>
          <a:lstStyle/>
          <a:p>
            <a:pPr algn="l"/>
            <a:r>
              <a:rPr sz="1500" b="1" i="0">
                <a:solidFill>
                  <a:srgbClr val="1A1A1A"/>
                </a:solidFill>
                <a:latin typeface="Arial"/>
              </a:rPr>
              <a:t>Hébergement</a:t>
            </a:r>
          </a:p>
        </p:txBody>
      </p:sp>
      <p:sp>
        <p:nvSpPr>
          <p:cNvPr id="10" name="TextBox 9"/>
          <p:cNvSpPr txBox="1"/>
          <p:nvPr/>
        </p:nvSpPr>
        <p:spPr>
          <a:xfrm>
            <a:off x="658368" y="3474720"/>
            <a:ext cx="5212080" cy="685800"/>
          </a:xfrm>
          <a:prstGeom prst="rect">
            <a:avLst/>
          </a:prstGeom>
          <a:noFill/>
        </p:spPr>
        <p:txBody>
          <a:bodyPr wrap="square" lIns="0" rIns="0" tIns="0" bIns="0" anchor="t"/>
          <a:lstStyle/>
          <a:p>
            <a:pPr algn="l"/>
            <a:r>
              <a:rPr sz="1400" b="0" i="0">
                <a:solidFill>
                  <a:srgbClr val="5E4E53"/>
                </a:solidFill>
                <a:latin typeface="Arial"/>
              </a:rPr>
              <a:t>alwaysdata, PHP 8.5, MariaDB 11.4, HTTPS. Racine sur public/.</a:t>
            </a:r>
          </a:p>
        </p:txBody>
      </p:sp>
      <p:sp>
        <p:nvSpPr>
          <p:cNvPr id="11" name="Rounded Rectangle 10"/>
          <p:cNvSpPr/>
          <p:nvPr/>
        </p:nvSpPr>
        <p:spPr>
          <a:xfrm>
            <a:off x="6309360" y="2926080"/>
            <a:ext cx="5623560" cy="1417320"/>
          </a:xfrm>
          <a:prstGeom prst="roundRect">
            <a:avLst>
              <a:gd name="adj" fmla="val 8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0528" y="3090672"/>
            <a:ext cx="5212080" cy="310896"/>
          </a:xfrm>
          <a:prstGeom prst="rect">
            <a:avLst/>
          </a:prstGeom>
          <a:noFill/>
        </p:spPr>
        <p:txBody>
          <a:bodyPr wrap="square" lIns="0" rIns="0" tIns="0" bIns="0" anchor="t"/>
          <a:lstStyle/>
          <a:p>
            <a:pPr algn="l"/>
            <a:r>
              <a:rPr sz="1500" b="1" i="0">
                <a:solidFill>
                  <a:srgbClr val="1A1A1A"/>
                </a:solidFill>
                <a:latin typeface="Arial"/>
              </a:rPr>
              <a:t>Production</a:t>
            </a:r>
          </a:p>
        </p:txBody>
      </p:sp>
      <p:sp>
        <p:nvSpPr>
          <p:cNvPr id="13" name="TextBox 12"/>
          <p:cNvSpPr txBox="1"/>
          <p:nvPr/>
        </p:nvSpPr>
        <p:spPr>
          <a:xfrm>
            <a:off x="6510528" y="3474720"/>
            <a:ext cx="5212080" cy="685800"/>
          </a:xfrm>
          <a:prstGeom prst="rect">
            <a:avLst/>
          </a:prstGeom>
          <a:noFill/>
        </p:spPr>
        <p:txBody>
          <a:bodyPr wrap="square" lIns="0" rIns="0" tIns="0" bIns="0" anchor="t"/>
          <a:lstStyle/>
          <a:p>
            <a:pPr algn="l"/>
            <a:r>
              <a:rPr sz="1400" b="0" i="0">
                <a:solidFill>
                  <a:srgbClr val="5E4E53"/>
                </a:solidFill>
                <a:latin typeface="Arial"/>
              </a:rPr>
              <a:t>APP_DEBUG à false. Les comptes de démonstration ne sont pas recréés.</a:t>
            </a:r>
          </a:p>
        </p:txBody>
      </p:sp>
      <p:sp>
        <p:nvSpPr>
          <p:cNvPr id="14" name="Rounded Rectangle 13"/>
          <p:cNvSpPr/>
          <p:nvPr/>
        </p:nvSpPr>
        <p:spPr>
          <a:xfrm>
            <a:off x="457200" y="4480560"/>
            <a:ext cx="5623560" cy="1417320"/>
          </a:xfrm>
          <a:prstGeom prst="roundRect">
            <a:avLst>
              <a:gd name="adj" fmla="val 8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4645152"/>
            <a:ext cx="5212080" cy="310896"/>
          </a:xfrm>
          <a:prstGeom prst="rect">
            <a:avLst/>
          </a:prstGeom>
          <a:noFill/>
        </p:spPr>
        <p:txBody>
          <a:bodyPr wrap="square" lIns="0" rIns="0" tIns="0" bIns="0" anchor="t"/>
          <a:lstStyle/>
          <a:p>
            <a:pPr algn="l"/>
            <a:r>
              <a:rPr sz="1500" b="1" i="0">
                <a:solidFill>
                  <a:srgbClr val="1A1A1A"/>
                </a:solidFill>
                <a:latin typeface="Arial"/>
              </a:rPr>
              <a:t>iPhone</a:t>
            </a:r>
          </a:p>
        </p:txBody>
      </p:sp>
      <p:sp>
        <p:nvSpPr>
          <p:cNvPr id="16" name="TextBox 15"/>
          <p:cNvSpPr txBox="1"/>
          <p:nvPr/>
        </p:nvSpPr>
        <p:spPr>
          <a:xfrm>
            <a:off x="658368" y="5029200"/>
            <a:ext cx="5212080" cy="685800"/>
          </a:xfrm>
          <a:prstGeom prst="rect">
            <a:avLst/>
          </a:prstGeom>
          <a:noFill/>
        </p:spPr>
        <p:txBody>
          <a:bodyPr wrap="square" lIns="0" rIns="0" tIns="0" bIns="0" anchor="t"/>
          <a:lstStyle/>
          <a:p>
            <a:pPr algn="l"/>
            <a:r>
              <a:rPr sz="1400" b="0" i="0">
                <a:solidFill>
                  <a:srgbClr val="5E4E53"/>
                </a:solidFill>
                <a:latin typeface="Arial"/>
              </a:rPr>
              <a:t>Build release, signée dans Xcode, même URL.</a:t>
            </a:r>
          </a:p>
        </p:txBody>
      </p:sp>
      <p:sp>
        <p:nvSpPr>
          <p:cNvPr id="17" name="Rounded Rectangle 16"/>
          <p:cNvSpPr/>
          <p:nvPr/>
        </p:nvSpPr>
        <p:spPr>
          <a:xfrm>
            <a:off x="6309360" y="4480560"/>
            <a:ext cx="5623560" cy="1417320"/>
          </a:xfrm>
          <a:prstGeom prst="roundRect">
            <a:avLst>
              <a:gd name="adj" fmla="val 8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4645152"/>
            <a:ext cx="5212080" cy="310896"/>
          </a:xfrm>
          <a:prstGeom prst="rect">
            <a:avLst/>
          </a:prstGeom>
          <a:noFill/>
        </p:spPr>
        <p:txBody>
          <a:bodyPr wrap="square" lIns="0" rIns="0" tIns="0" bIns="0" anchor="t"/>
          <a:lstStyle/>
          <a:p>
            <a:pPr algn="l"/>
            <a:r>
              <a:rPr sz="1500" b="1" i="0">
                <a:solidFill>
                  <a:srgbClr val="1A1A1A"/>
                </a:solidFill>
                <a:latin typeface="Arial"/>
              </a:rPr>
              <a:t>Intégration continue</a:t>
            </a:r>
          </a:p>
        </p:txBody>
      </p:sp>
      <p:sp>
        <p:nvSpPr>
          <p:cNvPr id="19" name="TextBox 18"/>
          <p:cNvSpPr txBox="1"/>
          <p:nvPr/>
        </p:nvSpPr>
        <p:spPr>
          <a:xfrm>
            <a:off x="6510528" y="5029200"/>
            <a:ext cx="5212080" cy="685800"/>
          </a:xfrm>
          <a:prstGeom prst="rect">
            <a:avLst/>
          </a:prstGeom>
          <a:noFill/>
        </p:spPr>
        <p:txBody>
          <a:bodyPr wrap="square" lIns="0" rIns="0" tIns="0" bIns="0" anchor="t"/>
          <a:lstStyle/>
          <a:p>
            <a:pPr algn="l"/>
            <a:r>
              <a:rPr sz="1400" b="0" i="0">
                <a:solidFill>
                  <a:srgbClr val="5E4E53"/>
                </a:solidFill>
                <a:latin typeface="Arial"/>
              </a:rPr>
              <a:t>GitHub Actions : PHPUnit, flutter analyze, flutter test.</a:t>
            </a:r>
          </a:p>
        </p:txBody>
      </p:sp>
      <p:sp>
        <p:nvSpPr>
          <p:cNvPr id="20" name="Rectangle 19"/>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2" name="TextBox 21"/>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3" name="TextBox 22"/>
          <p:cNvSpPr txBox="1"/>
          <p:nvPr/>
        </p:nvSpPr>
        <p:spPr>
          <a:xfrm>
            <a:off x="4572000" y="6473952"/>
            <a:ext cx="5943600" cy="256032"/>
          </a:xfrm>
          <a:prstGeom prst="rect">
            <a:avLst/>
          </a:prstGeom>
          <a:noFill/>
        </p:spPr>
        <p:txBody>
          <a:bodyPr wrap="square" lIns="0" rIns="0" tIns="0" bIns="0" anchor="t"/>
          <a:lstStyle/>
          <a:p>
            <a:pPr algn="r"/>
            <a:r>
              <a:rPr sz="1100" b="0" i="0">
                <a:solidFill>
                  <a:srgbClr val="8B4D5C"/>
                </a:solidFill>
                <a:latin typeface="Arial"/>
              </a:rPr>
              <a:t>C10  ·  Déploiement    C11  ·  DevOps</a:t>
            </a:r>
          </a:p>
        </p:txBody>
      </p:sp>
      <p:sp>
        <p:nvSpPr>
          <p:cNvPr id="24" name="TextBox 23"/>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9144000" cy="237744"/>
          </a:xfrm>
          <a:prstGeom prst="rect">
            <a:avLst/>
          </a:prstGeom>
          <a:noFill/>
        </p:spPr>
        <p:txBody>
          <a:bodyPr wrap="square" lIns="0" rIns="0" tIns="0" bIns="0" anchor="t"/>
          <a:lstStyle/>
          <a:p>
            <a:pPr algn="l"/>
            <a:r>
              <a:rPr sz="1100" b="1" i="0">
                <a:solidFill>
                  <a:srgbClr val="8B4D5C"/>
                </a:solidFill>
                <a:latin typeface="Arial"/>
              </a:rPr>
              <a:t>06   BILAN</a:t>
            </a:r>
          </a:p>
        </p:txBody>
      </p:sp>
      <p:sp>
        <p:nvSpPr>
          <p:cNvPr id="4" name="TextBox 3"/>
          <p:cNvSpPr txBox="1"/>
          <p:nvPr/>
        </p:nvSpPr>
        <p:spPr>
          <a:xfrm>
            <a:off x="457200" y="475488"/>
            <a:ext cx="11247120" cy="457200"/>
          </a:xfrm>
          <a:prstGeom prst="rect">
            <a:avLst/>
          </a:prstGeom>
          <a:noFill/>
        </p:spPr>
        <p:txBody>
          <a:bodyPr wrap="square" lIns="0" rIns="0" tIns="0" bIns="0" anchor="t"/>
          <a:lstStyle/>
          <a:p>
            <a:pPr algn="l"/>
            <a:r>
              <a:rPr sz="2800" b="1" i="0">
                <a:solidFill>
                  <a:srgbClr val="1A1A1A"/>
                </a:solidFill>
                <a:latin typeface="Arial"/>
              </a:rPr>
              <a:t>Réponse à la question</a:t>
            </a:r>
          </a:p>
        </p:txBody>
      </p:sp>
      <p:sp>
        <p:nvSpPr>
          <p:cNvPr id="5" name="Rounded Rectangle 4"/>
          <p:cNvSpPr/>
          <p:nvPr/>
        </p:nvSpPr>
        <p:spPr>
          <a:xfrm>
            <a:off x="411480" y="1097280"/>
            <a:ext cx="6903720" cy="8686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88720"/>
            <a:ext cx="6446520" cy="292608"/>
          </a:xfrm>
          <a:prstGeom prst="rect">
            <a:avLst/>
          </a:prstGeom>
          <a:noFill/>
        </p:spPr>
        <p:txBody>
          <a:bodyPr wrap="square" lIns="0" rIns="0" tIns="0" bIns="0" anchor="t"/>
          <a:lstStyle/>
          <a:p>
            <a:pPr algn="l"/>
            <a:r>
              <a:rPr sz="1500" b="1" i="0">
                <a:solidFill>
                  <a:srgbClr val="1A1A1A"/>
                </a:solidFill>
                <a:latin typeface="Arial"/>
              </a:rPr>
              <a:t>Organisation fermée</a:t>
            </a:r>
          </a:p>
        </p:txBody>
      </p:sp>
      <p:sp>
        <p:nvSpPr>
          <p:cNvPr id="7" name="TextBox 6"/>
          <p:cNvSpPr txBox="1"/>
          <p:nvPr/>
        </p:nvSpPr>
        <p:spPr>
          <a:xfrm>
            <a:off x="640080" y="1517904"/>
            <a:ext cx="6446520" cy="347472"/>
          </a:xfrm>
          <a:prstGeom prst="rect">
            <a:avLst/>
          </a:prstGeom>
          <a:noFill/>
        </p:spPr>
        <p:txBody>
          <a:bodyPr wrap="square" lIns="0" rIns="0" tIns="0" bIns="0" anchor="t"/>
          <a:lstStyle/>
          <a:p>
            <a:pPr algn="l"/>
            <a:r>
              <a:rPr sz="1300" b="0" i="0">
                <a:solidFill>
                  <a:srgbClr val="5E4E53"/>
                </a:solidFill>
                <a:latin typeface="Arial"/>
              </a:rPr>
              <a:t>Pas d'inscription publique. L'administrateur crée les comptes.</a:t>
            </a:r>
          </a:p>
        </p:txBody>
      </p:sp>
      <p:sp>
        <p:nvSpPr>
          <p:cNvPr id="8" name="Rounded Rectangle 7"/>
          <p:cNvSpPr/>
          <p:nvPr/>
        </p:nvSpPr>
        <p:spPr>
          <a:xfrm>
            <a:off x="411480" y="2057400"/>
            <a:ext cx="6903720" cy="8686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48840"/>
            <a:ext cx="6446520" cy="292608"/>
          </a:xfrm>
          <a:prstGeom prst="rect">
            <a:avLst/>
          </a:prstGeom>
          <a:noFill/>
        </p:spPr>
        <p:txBody>
          <a:bodyPr wrap="square" lIns="0" rIns="0" tIns="0" bIns="0" anchor="t"/>
          <a:lstStyle/>
          <a:p>
            <a:pPr algn="l"/>
            <a:r>
              <a:rPr sz="1500" b="1" i="0">
                <a:solidFill>
                  <a:srgbClr val="1A1A1A"/>
                </a:solidFill>
                <a:latin typeface="Arial"/>
              </a:rPr>
              <a:t>Autour des tâches</a:t>
            </a:r>
          </a:p>
        </p:txBody>
      </p:sp>
      <p:sp>
        <p:nvSpPr>
          <p:cNvPr id="10" name="TextBox 9"/>
          <p:cNvSpPr txBox="1"/>
          <p:nvPr/>
        </p:nvSpPr>
        <p:spPr>
          <a:xfrm>
            <a:off x="640080" y="2478024"/>
            <a:ext cx="6446520" cy="347472"/>
          </a:xfrm>
          <a:prstGeom prst="rect">
            <a:avLst/>
          </a:prstGeom>
          <a:noFill/>
        </p:spPr>
        <p:txBody>
          <a:bodyPr wrap="square" lIns="0" rIns="0" tIns="0" bIns="0" anchor="t"/>
          <a:lstStyle/>
          <a:p>
            <a:pPr algn="l"/>
            <a:r>
              <a:rPr sz="1300" b="0" i="0">
                <a:solidFill>
                  <a:srgbClr val="5E4E53"/>
                </a:solidFill>
                <a:latin typeface="Arial"/>
              </a:rPr>
              <a:t>Réalisé, à venir, blocage. Note obligatoire si le statut est bloqué.</a:t>
            </a:r>
          </a:p>
        </p:txBody>
      </p:sp>
      <p:sp>
        <p:nvSpPr>
          <p:cNvPr id="11" name="Rounded Rectangle 10"/>
          <p:cNvSpPr/>
          <p:nvPr/>
        </p:nvSpPr>
        <p:spPr>
          <a:xfrm>
            <a:off x="411480" y="3017520"/>
            <a:ext cx="6903720" cy="8686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108960"/>
            <a:ext cx="6446520" cy="292608"/>
          </a:xfrm>
          <a:prstGeom prst="rect">
            <a:avLst/>
          </a:prstGeom>
          <a:noFill/>
        </p:spPr>
        <p:txBody>
          <a:bodyPr wrap="square" lIns="0" rIns="0" tIns="0" bIns="0" anchor="t"/>
          <a:lstStyle/>
          <a:p>
            <a:pPr algn="l"/>
            <a:r>
              <a:rPr sz="1500" b="1" i="0">
                <a:solidFill>
                  <a:srgbClr val="1A1A1A"/>
                </a:solidFill>
                <a:latin typeface="Arial"/>
              </a:rPr>
              <a:t>Web et mobile</a:t>
            </a:r>
          </a:p>
        </p:txBody>
      </p:sp>
      <p:sp>
        <p:nvSpPr>
          <p:cNvPr id="13" name="TextBox 12"/>
          <p:cNvSpPr txBox="1"/>
          <p:nvPr/>
        </p:nvSpPr>
        <p:spPr>
          <a:xfrm>
            <a:off x="640080" y="3438144"/>
            <a:ext cx="6446520" cy="347472"/>
          </a:xfrm>
          <a:prstGeom prst="rect">
            <a:avLst/>
          </a:prstGeom>
          <a:noFill/>
        </p:spPr>
        <p:txBody>
          <a:bodyPr wrap="square" lIns="0" rIns="0" tIns="0" bIns="0" anchor="t"/>
          <a:lstStyle/>
          <a:p>
            <a:pPr algn="l"/>
            <a:r>
              <a:rPr sz="1300" b="0" i="0">
                <a:solidFill>
                  <a:srgbClr val="5E4E53"/>
                </a:solidFill>
                <a:latin typeface="Arial"/>
              </a:rPr>
              <a:t>Les mêmes règles. Un serveur, deux réponses.</a:t>
            </a:r>
          </a:p>
        </p:txBody>
      </p:sp>
      <p:sp>
        <p:nvSpPr>
          <p:cNvPr id="14" name="Rounded Rectangle 13"/>
          <p:cNvSpPr/>
          <p:nvPr/>
        </p:nvSpPr>
        <p:spPr>
          <a:xfrm>
            <a:off x="411480" y="3977640"/>
            <a:ext cx="6903720" cy="868680"/>
          </a:xfrm>
          <a:prstGeom prst="roundRect">
            <a:avLst>
              <a:gd name="adj" fmla="val 10000"/>
            </a:avLst>
          </a:prstGeom>
          <a:solidFill>
            <a:srgbClr val="FFFFFF"/>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69080"/>
            <a:ext cx="6446520" cy="292608"/>
          </a:xfrm>
          <a:prstGeom prst="rect">
            <a:avLst/>
          </a:prstGeom>
          <a:noFill/>
        </p:spPr>
        <p:txBody>
          <a:bodyPr wrap="square" lIns="0" rIns="0" tIns="0" bIns="0" anchor="t"/>
          <a:lstStyle/>
          <a:p>
            <a:pPr algn="l"/>
            <a:r>
              <a:rPr sz="1500" b="1" i="0">
                <a:solidFill>
                  <a:srgbClr val="1A1A1A"/>
                </a:solidFill>
                <a:latin typeface="Arial"/>
              </a:rPr>
              <a:t>Rôles nets</a:t>
            </a:r>
          </a:p>
        </p:txBody>
      </p:sp>
      <p:sp>
        <p:nvSpPr>
          <p:cNvPr id="16" name="TextBox 15"/>
          <p:cNvSpPr txBox="1"/>
          <p:nvPr/>
        </p:nvSpPr>
        <p:spPr>
          <a:xfrm>
            <a:off x="640080" y="4398264"/>
            <a:ext cx="6446520" cy="347472"/>
          </a:xfrm>
          <a:prstGeom prst="rect">
            <a:avLst/>
          </a:prstGeom>
          <a:noFill/>
        </p:spPr>
        <p:txBody>
          <a:bodyPr wrap="square" lIns="0" rIns="0" tIns="0" bIns="0" anchor="t"/>
          <a:lstStyle/>
          <a:p>
            <a:pPr algn="l"/>
            <a:r>
              <a:rPr sz="1300" b="0" i="0">
                <a:solidFill>
                  <a:srgbClr val="5E4E53"/>
                </a:solidFill>
                <a:latin typeface="Arial"/>
              </a:rPr>
              <a:t>Administrateur, chef d'équipe, membre. Politiques sur la ressource.</a:t>
            </a:r>
          </a:p>
        </p:txBody>
      </p:sp>
      <p:sp>
        <p:nvSpPr>
          <p:cNvPr id="17" name="Rounded Rectangle 16"/>
          <p:cNvSpPr/>
          <p:nvPr/>
        </p:nvSpPr>
        <p:spPr>
          <a:xfrm>
            <a:off x="7498079" y="1097280"/>
            <a:ext cx="4251960" cy="3794760"/>
          </a:xfrm>
          <a:prstGeom prst="roundRect">
            <a:avLst>
              <a:gd name="adj" fmla="val 10000"/>
            </a:avLst>
          </a:prstGeom>
          <a:solidFill>
            <a:srgbClr val="F6E8ED"/>
          </a:solidFill>
          <a:ln w="15875">
            <a:solidFill>
              <a:srgbClr val="E8C5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8" y="1280160"/>
            <a:ext cx="3840480" cy="548640"/>
          </a:xfrm>
          <a:prstGeom prst="rect">
            <a:avLst/>
          </a:prstGeom>
          <a:noFill/>
        </p:spPr>
        <p:txBody>
          <a:bodyPr wrap="square" lIns="0" rIns="0" tIns="0" bIns="0" anchor="t"/>
          <a:lstStyle/>
          <a:p>
            <a:pPr algn="l"/>
            <a:r>
              <a:rPr sz="1400" b="1" i="0">
                <a:solidFill>
                  <a:srgbClr val="8B4D5C"/>
                </a:solidFill>
                <a:latin typeface="Arial"/>
              </a:rPr>
              <a:t>Plus tard, pas dans cette version</a:t>
            </a:r>
          </a:p>
        </p:txBody>
      </p:sp>
      <p:sp>
        <p:nvSpPr>
          <p:cNvPr id="19" name="TextBox 18"/>
          <p:cNvSpPr txBox="1"/>
          <p:nvPr/>
        </p:nvSpPr>
        <p:spPr>
          <a:xfrm>
            <a:off x="7680960" y="1920240"/>
            <a:ext cx="3886200" cy="2651760"/>
          </a:xfrm>
          <a:prstGeom prst="rect">
            <a:avLst/>
          </a:prstGeom>
          <a:noFill/>
        </p:spPr>
        <p:txBody>
          <a:bodyPr wrap="square" lIns="18288" rIns="18288" tIns="18288" bIns="18288" anchor="t"/>
          <a:lstStyle/>
          <a:p>
            <a:pPr algn="l">
              <a:spcBef>
                <a:spcPts val="0"/>
              </a:spcBef>
              <a:spcAft>
                <a:spcPts val="800"/>
              </a:spcAft>
            </a:pPr>
            <a:r>
              <a:rPr sz="1300" b="0" i="0">
                <a:solidFill>
                  <a:srgbClr val="5E4E53"/>
                </a:solidFill>
                <a:latin typeface="Arial"/>
              </a:rPr>
              <a:t>Notification quand une tâche bloque.</a:t>
            </a:r>
          </a:p>
          <a:p>
            <a:pPr algn="l">
              <a:spcBef>
                <a:spcPts val="0"/>
              </a:spcBef>
              <a:spcAft>
                <a:spcPts val="800"/>
              </a:spcAft>
            </a:pPr>
            <a:r>
              <a:rPr sz="1300" b="0" i="0">
                <a:solidFill>
                  <a:srgbClr val="5E4E53"/>
                </a:solidFill>
                <a:latin typeface="Arial"/>
              </a:rPr>
              <a:t>Brief du jour, à partir de task_updates.</a:t>
            </a:r>
          </a:p>
          <a:p>
            <a:pPr algn="l">
              <a:spcBef>
                <a:spcPts val="0"/>
              </a:spcBef>
              <a:spcAft>
                <a:spcPts val="800"/>
              </a:spcAft>
            </a:pPr>
            <a:r>
              <a:rPr sz="1300" b="0" i="0">
                <a:solidFill>
                  <a:srgbClr val="5E4E53"/>
                </a:solidFill>
                <a:latin typeface="Arial"/>
              </a:rPr>
              <a:t>Export PDF des tableaux de bord.</a:t>
            </a:r>
          </a:p>
          <a:p>
            <a:pPr algn="l">
              <a:spcBef>
                <a:spcPts val="0"/>
              </a:spcBef>
              <a:spcAft>
                <a:spcPts val="800"/>
              </a:spcAft>
            </a:pPr>
            <a:r>
              <a:rPr sz="1300" b="0" i="0">
                <a:solidFill>
                  <a:srgbClr val="5E4E53"/>
                </a:solidFill>
                <a:latin typeface="Arial"/>
              </a:rPr>
              <a:t>Expiration des jetons, plafond de tentatives.</a:t>
            </a:r>
          </a:p>
        </p:txBody>
      </p:sp>
      <p:sp>
        <p:nvSpPr>
          <p:cNvPr id="20" name="TextBox 19"/>
          <p:cNvSpPr txBox="1"/>
          <p:nvPr/>
        </p:nvSpPr>
        <p:spPr>
          <a:xfrm>
            <a:off x="457200" y="5074920"/>
            <a:ext cx="11247120" cy="1097280"/>
          </a:xfrm>
          <a:prstGeom prst="rect">
            <a:avLst/>
          </a:prstGeom>
          <a:noFill/>
        </p:spPr>
        <p:txBody>
          <a:bodyPr wrap="square" lIns="0" rIns="0" tIns="0" bIns="0" anchor="t"/>
          <a:lstStyle/>
          <a:p>
            <a:pPr algn="l"/>
            <a:r>
              <a:rPr sz="1500" b="0" i="0">
                <a:solidFill>
                  <a:srgbClr val="1A1A1A"/>
                </a:solidFill>
                <a:latin typeface="Arial"/>
              </a:rPr>
              <a:t>Apports : mener l'application de l'analyse UML jusqu'à l'iPhone en ligne, avec les règles testées à chaque push.</a:t>
            </a:r>
          </a:p>
        </p:txBody>
      </p:sp>
      <p:sp>
        <p:nvSpPr>
          <p:cNvPr id="21" name="Rectangle 20"/>
          <p:cNvSpPr/>
          <p:nvPr/>
        </p:nvSpPr>
        <p:spPr>
          <a:xfrm>
            <a:off x="457200" y="6382512"/>
            <a:ext cx="11274552" cy="10972"/>
          </a:xfrm>
          <a:prstGeom prst="rect">
            <a:avLst/>
          </a:prstGeom>
          <a:solidFill>
            <a:srgbClr val="E8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473952"/>
            <a:ext cx="1188720" cy="256032"/>
          </a:xfrm>
          <a:prstGeom prst="rect">
            <a:avLst/>
          </a:prstGeom>
          <a:noFill/>
        </p:spPr>
        <p:txBody>
          <a:bodyPr wrap="square" lIns="0" rIns="0" tIns="0" bIns="0" anchor="t"/>
          <a:lstStyle/>
          <a:p>
            <a:pPr algn="l"/>
            <a:r>
              <a:rPr sz="1100" b="1" i="0">
                <a:solidFill>
                  <a:srgbClr val="8B4D5C"/>
                </a:solidFill>
                <a:latin typeface="Arial"/>
              </a:rPr>
              <a:t>Briefly</a:t>
            </a:r>
          </a:p>
        </p:txBody>
      </p:sp>
      <p:sp>
        <p:nvSpPr>
          <p:cNvPr id="23" name="TextBox 22"/>
          <p:cNvSpPr txBox="1"/>
          <p:nvPr/>
        </p:nvSpPr>
        <p:spPr>
          <a:xfrm>
            <a:off x="1691640" y="6473952"/>
            <a:ext cx="2926080" cy="256032"/>
          </a:xfrm>
          <a:prstGeom prst="rect">
            <a:avLst/>
          </a:prstGeom>
          <a:noFill/>
        </p:spPr>
        <p:txBody>
          <a:bodyPr wrap="square" lIns="0" rIns="0" tIns="0" bIns="0" anchor="t"/>
          <a:lstStyle/>
          <a:p>
            <a:pPr algn="l"/>
            <a:r>
              <a:rPr sz="1100" b="0" i="0">
                <a:solidFill>
                  <a:srgbClr val="5E4E53"/>
                </a:solidFill>
                <a:latin typeface="Arial"/>
              </a:rPr>
              <a:t>Chiraz Lamraoui</a:t>
            </a:r>
          </a:p>
        </p:txBody>
      </p:sp>
      <p:sp>
        <p:nvSpPr>
          <p:cNvPr id="24" name="TextBox 23"/>
          <p:cNvSpPr txBox="1"/>
          <p:nvPr/>
        </p:nvSpPr>
        <p:spPr>
          <a:xfrm>
            <a:off x="10698480" y="6473952"/>
            <a:ext cx="1005840" cy="256032"/>
          </a:xfrm>
          <a:prstGeom prst="rect">
            <a:avLst/>
          </a:prstGeom>
          <a:noFill/>
        </p:spPr>
        <p:txBody>
          <a:bodyPr wrap="square" lIns="0" rIns="0" tIns="0" bIns="0" anchor="t"/>
          <a:lstStyle/>
          <a:p>
            <a:pPr algn="r"/>
            <a:r>
              <a:rPr sz="1100" b="1" i="0">
                <a:solidFill>
                  <a:srgbClr val="8B4D5C"/>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6F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91695" cy="6400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10515600" cy="292608"/>
          </a:xfrm>
          <a:prstGeom prst="rect">
            <a:avLst/>
          </a:prstGeom>
          <a:noFill/>
        </p:spPr>
        <p:txBody>
          <a:bodyPr wrap="square" lIns="0" rIns="0" tIns="0" bIns="0" anchor="t"/>
          <a:lstStyle/>
          <a:p>
            <a:pPr algn="ctr"/>
            <a:r>
              <a:rPr sz="1300" b="1" i="0">
                <a:solidFill>
                  <a:srgbClr val="8B4D5C"/>
                </a:solidFill>
                <a:latin typeface="Arial"/>
              </a:rPr>
              <a:t>BRIEFLY</a:t>
            </a:r>
          </a:p>
        </p:txBody>
      </p:sp>
      <p:sp>
        <p:nvSpPr>
          <p:cNvPr id="5" name="TextBox 4"/>
          <p:cNvSpPr txBox="1"/>
          <p:nvPr/>
        </p:nvSpPr>
        <p:spPr>
          <a:xfrm>
            <a:off x="822960" y="2423160"/>
            <a:ext cx="10515600" cy="685800"/>
          </a:xfrm>
          <a:prstGeom prst="rect">
            <a:avLst/>
          </a:prstGeom>
          <a:noFill/>
        </p:spPr>
        <p:txBody>
          <a:bodyPr wrap="square" lIns="0" rIns="0" tIns="0" bIns="0" anchor="t"/>
          <a:lstStyle/>
          <a:p>
            <a:pPr algn="ctr"/>
            <a:r>
              <a:rPr sz="4000" b="1" i="0">
                <a:solidFill>
                  <a:srgbClr val="1A1A1A"/>
                </a:solidFill>
                <a:latin typeface="Arial"/>
              </a:rPr>
              <a:t>Merci pour votre attention.</a:t>
            </a:r>
          </a:p>
        </p:txBody>
      </p:sp>
      <p:sp>
        <p:nvSpPr>
          <p:cNvPr id="6" name="Rectangle 5"/>
          <p:cNvSpPr/>
          <p:nvPr/>
        </p:nvSpPr>
        <p:spPr>
          <a:xfrm>
            <a:off x="5532120" y="3246120"/>
            <a:ext cx="1143000" cy="41148"/>
          </a:xfrm>
          <a:prstGeom prst="rect">
            <a:avLst/>
          </a:prstGeom>
          <a:solidFill>
            <a:srgbClr val="8B4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74720"/>
            <a:ext cx="10515600" cy="457200"/>
          </a:xfrm>
          <a:prstGeom prst="rect">
            <a:avLst/>
          </a:prstGeom>
          <a:noFill/>
        </p:spPr>
        <p:txBody>
          <a:bodyPr wrap="square" lIns="0" rIns="0" tIns="0" bIns="0" anchor="t"/>
          <a:lstStyle/>
          <a:p>
            <a:pPr algn="ctr"/>
            <a:r>
              <a:rPr sz="2000" b="0" i="0">
                <a:solidFill>
                  <a:srgbClr val="5E4E53"/>
                </a:solidFill>
                <a:latin typeface="Arial"/>
              </a:rPr>
              <a:t>Je suis à votre disposition pour répondre à vos questions.</a:t>
            </a:r>
          </a:p>
        </p:txBody>
      </p:sp>
      <p:sp>
        <p:nvSpPr>
          <p:cNvPr id="8" name="TextBox 7"/>
          <p:cNvSpPr txBox="1"/>
          <p:nvPr/>
        </p:nvSpPr>
        <p:spPr>
          <a:xfrm>
            <a:off x="822960" y="4160520"/>
            <a:ext cx="10515600" cy="365760"/>
          </a:xfrm>
          <a:prstGeom prst="rect">
            <a:avLst/>
          </a:prstGeom>
          <a:noFill/>
        </p:spPr>
        <p:txBody>
          <a:bodyPr wrap="square" lIns="0" rIns="0" tIns="0" bIns="0" anchor="t"/>
          <a:lstStyle/>
          <a:p>
            <a:pPr algn="ctr"/>
            <a:r>
              <a:rPr sz="1500" b="0" i="0">
                <a:solidFill>
                  <a:srgbClr val="8B4D5C"/>
                </a:solidFill>
                <a:latin typeface="Arial"/>
              </a:rPr>
              <a:t>Chiraz Lamraoui    ·    27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Briefly — Chiraz Lamraoui</dc:title>
  <dc:subject>Conception et développement de Briefly</dc:subject>
  <dc:creator>Chiraz Lamraoui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