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m'appelle Chiraz Lamraoui. Je présente mon titre de concepteur développeur d'applications, à ADG Education. Mon alternance se fait chez Drif Consult, avec Yasser El Habib Drif comme tuteur, et Anis Benammar comme enseignant. Le sujet, c'est Briefly, une application web et mobile pour suivre l'avancement d'une équipe. Je ne commence pas par l'application. Je commence par l'endroit où je travaille, et par ce que j'y ai observé.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 alternance est rattachée à Drif Consult. Mon maître d'apprentissage est Yasser Drif. Au quotidien, j'ai été accueillie sur le produit Roman.ai. C'est un coworker pour Slack. Je ne vais pas détailler le produit. Je le situe seulement, pour que vous voyiez le cadre. La slide suivante dit ce que j'y ai fait, sans entrer dans les semaines.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Chez Roman, mon travail tient en deux choses. D'un côté, des tâches de front-end : les interfaces du produit, et leur cohérence visuelle. De l'autre, la fonction de parrainage, celle qui relie un utilisateur aux personnes qu'il invite. Je ne déroule pas le journal semaine par semaine. Ce travail dans une équipe produit m'a menée à mon mémoire. Briefly n'est pas une brique de Roman.ai. C'est mon application, pour le titre.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point de départ, ce n'est pas le nom Briefly. C'est un rituel. Dans beaucoup d'équipes, le point du matin se fait dans Slack ou dans Teams. Chacun dit ce qu'il a fait, ce qu'il va faire, et ce qui bloque. Ce message n'est pas relié à une tâche. Un blocage disparaît sous les messages suivants. Le chef d'équipe n'a pas un tableau qui reste à jour. Dans Briefly, je n'ai pas créé un objet brief à part. C'est la tâche qui porte l'avancement.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que je me suis posée est celle-ci. Comment donner à une organisation fermée un suivi quotidien, attaché aux tâches, sur le web et sur mobile, avec des rôles clairs ? Fermée, ça veut dire pas d'inscription publique. L'administrateur crée les comptes. Attaché aux tâches, ça veut dire que le point du matin ne flotte pas dans une messagerie. Web et mobile, avec les mêmes règles. Et trois rôles, pas un droit unique pour tout le monde. La suite de la présentation répond à ces quatre bouts.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regardé trois familles d'outils, pas cinq. La messagerie, Slack ou Teams, est immédiate, mais le message ne reste pas sur la tâche. Un tableau léger comme Trello montre des cartes et des colonnes. Il ne distingue pas un administrateur, un chef et un membre, et il n'oblige pas à écrire le blocage. Une forge comme Jira ou Linear sait tracer des tickets. Pour un point du matin, c'est lourd. Aucun de ces outils ne réunit, d'origine, une organisation fermée, trois rôles, un avancement en trois champs, et le web plus le mobile sur les mêmes règles.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est une application interne, sur le web et sur le téléphone. Il n'y a pas d'inscription publique. L'administrateur crée les comptes. Le stand-up tient dans la tâche. Quatre gestes suffisent à la présenter. Organiser les équipes, les projets et les tâches. Rendre compte avec trois champs : déjà fait, la suite, le blocage. Piloter avec un taux par membre, par équipe et par projet. Cloisonner les trois rôles. À droite, c'est le tableau de bord d'un membre, Emma, dans l'application.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y a trois rôles, et les interdits comptent autant que les droits. L'administrateur crée les comptes, les équipes et les projets, et il voit le tableau global. Il ne tient pas de tâches personnelles. Le chef suit les tâches de ses équipes, il filtre, il ouvre la fiche d'un membre. Il ne crée ni les projets ni les comptes. Chef, ce n'est pas seulement un libellé. C'est un drapeau, is_team_lead, sur le lien entre la personne et l'équipe. Une personne peut diriger plusieurs équipes. Le membre met à jour seulement les tâches qui lui sont assignées, et il revoit son historique.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suis le flux, plutôt qu'une liste de menus. L'administrateur crée le compte, l'équipe et le projet. Le chef crée la tâche et l'assigne à un membre de l'équipe. Le membre met à jour le statut, ce qui est déjà fait, et la suite. Si le statut est bloqué, la note de blocage est obligatoire. Sur l'écran, le champ s'appelle Blocage. Les tableaux calculent un taux : tâches terminées sur le total. Le statut donne aussi un pourcentage : à faire 0, en cours 60, bloqué 30, terminé 100. Il n'y a pas d'objet brief séparé. Chaque point est une ligne d'historique, dans task_updates. L'écran, c'est une tâche bloquée d'Olivia : la note est écrite, et elle reste dans l'historique.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d'écrire les écrans, j'ai posé les cas par acteur. Je n'en commente pas vingt. Tout le monde se connecte. Il n'y a pas d'inscription. L'administrateur gère la structure et consulte la vue globale. Le chef crée la tâche et suit son équipe. Le membre met à jour son avancement et consulte son historique. Si vous voulez le diagramme complet du mémoire, je peux y revenir. Ici, je garde ce qui se raconte à l'oral.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navigateur et le téléphone appellent les mêmes adresses. Elles sont toutes dans routes/web.php. Il n'y a pas un second fichier d'API. Si la requête demande du JSON, la méthode respond choisit le JSON. Sinon, Laravel renvoie la page HTML. Le web garde une session. Le mobile reçoit un jeton Sanctum, envoyé ensuite en Bearer. MySQL est derrière Laravel. Les clients ne parlent jamais à la base. J'ai fait ce choix pour écrire la validation, les politiques et le métier une seule fois. Le téléphone ne recopie pas les règles.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ne projette pas le diagramme de classes complet. Il est juste, mais trop dense pour être lu d'ici. Six tables suffisent. users, teams, et la table de lien team_user. C'est dans ce lien que se trouve le drapeau is_team_lead. projects est relié aux équipes par project_team. Une tâche appartient à un projet et à une personne assignée. Chaque point d'avancement est une ligne de task_updates. C'est l'historique. Si une tâche est bloquée, la note reste sur la tâche, et elle est aussi recopiée dans l'historique.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ne lis pas les versions. Je dis le rôle, et pourquoi. Laravel porte le serveur : les routes, la validation, les politiques. Les règles restent à un seul endroit. Blade et Bootstrap font les écrans web. Je n'ai pas monté une chaîne npm. Bootstrap est chargé tel quel. MySQL range les données. En ligne, c'est MariaDB. Flutter porte les trois rôles sur iPhone. Sanctum donne le jeton au téléphone, pendant que le navigateur garde la session. PHPUnit rejoue les refus d'accès. GitHub Actions lance ces tests à chaque push.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prends un seul développement, et je le raconte en trois temps. Le besoin : un blocage doit être explicite, et il doit rester sur la tâche. La solution : le membre envoie le statut, déjà fait, la suite, et la note. Si le statut est bloqué, la note est obligatoire. C'est une règle du formulaire, côté serveur. TaskService écrit l'historique. TaskPolicy vérifie que seul l'assigné peut mettre à jour. Le résultat : le chef voit les tâches bloquées et les taux. Le membre revoit son historique. Si je passe une tâche en bloqué sans note, le serveur refuse. Le téléphone subit la même règle, parce qu'elle n'est pas dans Flutter.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écrans suffisent pour le récit. À gauche, Sophie est cheffe de l'équipe Atlas. Elle voit 9 tâches, dont 2 bloquées, et le taux de l'équipe. Au centre, le membre ouvre sa tâche. Il remplit déjà fait, la suite, et le blocage si besoin. À droite, l'administrateur voit les équipes, les projets, les tâches, et le taux global. L'interface est en français et en anglais, avec un thème clair et un thème sombre. Si on me le demande, je le montre. Le site en ligne est lamraoui.alwaysdata.net. Je peux aussi l'ouvrir.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téléphone n'est pas une maquette à part. L'application Flutter reprend les mêmes parcours : membre, tâche, administration. Elle envoie Accept application/json, et un jeton Sanctum. Les droits ne sont pas réécrits dans Flutter. Sur cette planche, vous voyez ces parcours en largeur de téléphone, depuis le même serveur. L'application installée sur iPhone pointe vers https://lamraoui.alwaysdata.net. Une fois le serveur en HTTPS, le téléphone n'a plus besoin d'être sur le réseau du Mac.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J'en garde trois, parce que je peux les expliquer. D'abord, un serveur et deux réponses. La session pour le web, le jeton pour le mobile, et le CSRF levé seulement quand la requête porte le jeton. J'ai appris qu'un contrat HTTP évite d'écrire deux backends. Ensuite, le rôle de chef. Un simple enum ne suffisait pas. Le droit est un drapeau sur l'équipe, et une politique sur la ressource. Un chef ne voit un projet que si une de ses équipes y est rattachée. Enfin, la mise en ligne. HTTPS, les migrations, l'iPhone, et les comptes de démo qui ne partent pas en production. Le mobile ne se montre pas tant que le serveur n'est pas joignable hors du Mac. Si on me pousse, deux limites restent ouvertes : le login ne limite pas les tentatives, et les jetons Sanctum n'expirent pas.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travaillé en Scrum. Je ne lis pas chaque date. L'ordre compte. D'abord l'accès, le profil, la langue et le thème. Puis l'espace du membre, puis celui du chef, puis l'administration. Le sprint 5 est plus long. Il consolide les tests, la sécurité, et GitHub Actions, d'avril à juillet. Je ne le maquille pas. L'été, il n'y a pas de sprint. En septembre, je fais Flutter et la mise en ligne, jusqu'au 10 octobre. La soutenance est le 27 octobre. Le cycle, à côté, c'est simplement planifier, réaliser, inspecter, adapter.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reviens à la question. Organisation fermée : oui, pas d'inscription, l'administrateur crée les comptes. Suivi attaché à la tâche : oui, déjà fait, la suite, et le blocage obligatoire. Web et mobile : oui, les mêmes règles. Rôles clairs : oui, avec les interdits. Les pastilles grises ne sont pas dans l'application. Ce sont des suites possibles : une notification quand une tâche bloque, un brief du jour construit depuis l'historique, un export PDF, et une date de fin sur les jetons. Je les dis pour montrer que je sais où s'arrête cette version.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pour votre attention. Je suis à votre disposition pour répondre à vos questions. Je m'arrête là, et j'attends la première question.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10058400" cy="292608"/>
          </a:xfrm>
          <a:prstGeom prst="rect">
            <a:avLst/>
          </a:prstGeom>
          <a:noFill/>
        </p:spPr>
        <p:txBody>
          <a:bodyPr wrap="square" lIns="0" rIns="0" tIns="0" bIns="0" anchor="t"/>
          <a:lstStyle/>
          <a:p>
            <a:pPr algn="l">
              <a:spcBef>
                <a:spcPts val="0"/>
              </a:spcBef>
              <a:spcAft>
                <a:spcPts val="0"/>
              </a:spcAft>
            </a:pPr>
            <a:r>
              <a:rPr sz="1400" b="1">
                <a:solidFill>
                  <a:srgbClr val="C45B7A"/>
                </a:solidFill>
                <a:latin typeface="Calibri"/>
              </a:rPr>
              <a:t>ADG Education  ·  Campus Paris</a:t>
            </a:r>
          </a:p>
        </p:txBody>
      </p:sp>
      <p:sp>
        <p:nvSpPr>
          <p:cNvPr id="5" name="Rounded Rectangle 4"/>
          <p:cNvSpPr/>
          <p:nvPr/>
        </p:nvSpPr>
        <p:spPr>
          <a:xfrm>
            <a:off x="731520" y="1051560"/>
            <a:ext cx="10698480" cy="4160520"/>
          </a:xfrm>
          <a:prstGeom prst="roundRect">
            <a:avLst>
              <a:gd name="adj" fmla="val 6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051560"/>
            <a:ext cx="91440" cy="4160520"/>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417320"/>
            <a:ext cx="9875520" cy="365760"/>
          </a:xfrm>
          <a:prstGeom prst="rect">
            <a:avLst/>
          </a:prstGeom>
          <a:noFill/>
        </p:spPr>
        <p:txBody>
          <a:bodyPr wrap="square" lIns="0" rIns="0" tIns="0" bIns="0" anchor="t"/>
          <a:lstStyle/>
          <a:p>
            <a:pPr algn="l">
              <a:spcBef>
                <a:spcPts val="0"/>
              </a:spcBef>
              <a:spcAft>
                <a:spcPts val="0"/>
              </a:spcAft>
            </a:pPr>
            <a:r>
              <a:rPr sz="1600" b="0">
                <a:solidFill>
                  <a:srgbClr val="6E6573"/>
                </a:solidFill>
                <a:latin typeface="Calibri"/>
              </a:rPr>
              <a:t>Titre professionnel Concepteur développeur d'applications</a:t>
            </a:r>
          </a:p>
        </p:txBody>
      </p:sp>
      <p:sp>
        <p:nvSpPr>
          <p:cNvPr id="8" name="TextBox 7"/>
          <p:cNvSpPr txBox="1"/>
          <p:nvPr/>
        </p:nvSpPr>
        <p:spPr>
          <a:xfrm>
            <a:off x="1143000" y="1874519"/>
            <a:ext cx="9875520" cy="1371600"/>
          </a:xfrm>
          <a:prstGeom prst="rect">
            <a:avLst/>
          </a:prstGeom>
          <a:noFill/>
        </p:spPr>
        <p:txBody>
          <a:bodyPr wrap="square" lIns="0" rIns="0" tIns="0" bIns="0" anchor="t"/>
          <a:lstStyle/>
          <a:p>
            <a:pPr algn="l">
              <a:spcBef>
                <a:spcPts val="0"/>
              </a:spcBef>
              <a:spcAft>
                <a:spcPts val="0"/>
              </a:spcAft>
            </a:pPr>
            <a:r>
              <a:rPr sz="4000" b="1">
                <a:solidFill>
                  <a:srgbClr val="2A2430"/>
                </a:solidFill>
                <a:latin typeface="Calibri"/>
              </a:rPr>
              <a:t>Conception et développement</a:t>
            </a:r>
          </a:p>
          <a:p>
            <a:pPr algn="l">
              <a:spcBef>
                <a:spcPts val="0"/>
              </a:spcBef>
              <a:spcAft>
                <a:spcPts val="0"/>
              </a:spcAft>
            </a:pPr>
            <a:r>
              <a:rPr sz="4000" b="1">
                <a:solidFill>
                  <a:srgbClr val="2A2430"/>
                </a:solidFill>
                <a:latin typeface="Calibri"/>
              </a:rPr>
              <a:t>de Briefly</a:t>
            </a:r>
          </a:p>
        </p:txBody>
      </p:sp>
      <p:sp>
        <p:nvSpPr>
          <p:cNvPr id="9" name="TextBox 8"/>
          <p:cNvSpPr txBox="1"/>
          <p:nvPr/>
        </p:nvSpPr>
        <p:spPr>
          <a:xfrm>
            <a:off x="1143000" y="3383280"/>
            <a:ext cx="9875520" cy="640080"/>
          </a:xfrm>
          <a:prstGeom prst="rect">
            <a:avLst/>
          </a:prstGeom>
          <a:noFill/>
        </p:spPr>
        <p:txBody>
          <a:bodyPr wrap="square" lIns="0" rIns="0" tIns="0" bIns="0" anchor="t"/>
          <a:lstStyle/>
          <a:p>
            <a:pPr algn="l">
              <a:spcBef>
                <a:spcPts val="0"/>
              </a:spcBef>
              <a:spcAft>
                <a:spcPts val="0"/>
              </a:spcAft>
            </a:pPr>
            <a:r>
              <a:rPr sz="2000" b="0">
                <a:solidFill>
                  <a:srgbClr val="A34564"/>
                </a:solidFill>
                <a:latin typeface="Calibri"/>
              </a:rPr>
              <a:t>Application web et mobile de suivi de l'avancement des équipes</a:t>
            </a:r>
          </a:p>
        </p:txBody>
      </p:sp>
      <p:sp>
        <p:nvSpPr>
          <p:cNvPr id="10" name="TextBox 9"/>
          <p:cNvSpPr txBox="1"/>
          <p:nvPr/>
        </p:nvSpPr>
        <p:spPr>
          <a:xfrm>
            <a:off x="1143000" y="4206240"/>
            <a:ext cx="9875520" cy="731520"/>
          </a:xfrm>
          <a:prstGeom prst="rect">
            <a:avLst/>
          </a:prstGeom>
          <a:noFill/>
        </p:spPr>
        <p:txBody>
          <a:bodyPr wrap="square" lIns="0" rIns="0" tIns="0" bIns="0" anchor="t"/>
          <a:lstStyle/>
          <a:p>
            <a:pPr algn="l">
              <a:spcBef>
                <a:spcPts val="0"/>
              </a:spcBef>
              <a:spcAft>
                <a:spcPts val="0"/>
              </a:spcAft>
            </a:pPr>
            <a:r>
              <a:rPr sz="1600" b="0">
                <a:solidFill>
                  <a:srgbClr val="2A2430"/>
                </a:solidFill>
                <a:latin typeface="Calibri"/>
              </a:rPr>
              <a:t>Chiraz Lamraoui</a:t>
            </a:r>
          </a:p>
          <a:p>
            <a:pPr algn="l">
              <a:spcBef>
                <a:spcPts val="0"/>
              </a:spcBef>
              <a:spcAft>
                <a:spcPts val="0"/>
              </a:spcAft>
            </a:pPr>
            <a:r>
              <a:rPr sz="1600" b="0">
                <a:solidFill>
                  <a:srgbClr val="2A2430"/>
                </a:solidFill>
                <a:latin typeface="Calibri"/>
              </a:rPr>
              <a:t>Drif Consult  ·  Tuteur : Yasser El Habib Drif  ·  Enseignant : Anis Benammar</a:t>
            </a:r>
          </a:p>
        </p:txBody>
      </p:sp>
      <p:sp>
        <p:nvSpPr>
          <p:cNvPr id="11" name="TextBox 10"/>
          <p:cNvSpPr txBox="1"/>
          <p:nvPr/>
        </p:nvSpPr>
        <p:spPr>
          <a:xfrm>
            <a:off x="731520" y="5989320"/>
            <a:ext cx="10698480" cy="320040"/>
          </a:xfrm>
          <a:prstGeom prst="rect">
            <a:avLst/>
          </a:prstGeom>
          <a:noFill/>
        </p:spPr>
        <p:txBody>
          <a:bodyPr wrap="square" lIns="0" rIns="0" tIns="0" bIns="0" anchor="t"/>
          <a:lstStyle/>
          <a:p>
            <a:pPr algn="l">
              <a:spcBef>
                <a:spcPts val="0"/>
              </a:spcBef>
              <a:spcAft>
                <a:spcPts val="0"/>
              </a:spcAft>
            </a:pPr>
            <a:r>
              <a:rPr sz="1600" b="1">
                <a:solidFill>
                  <a:srgbClr val="C45B7A"/>
                </a:solidFill>
                <a:latin typeface="Calibri"/>
              </a:rPr>
              <a:t>Soutenance du 27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Où je suis en alternance</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02</a:t>
            </a:r>
          </a:p>
        </p:txBody>
      </p:sp>
      <p:sp>
        <p:nvSpPr>
          <p:cNvPr id="7" name="Rounded Rectangle 6"/>
          <p:cNvSpPr/>
          <p:nvPr/>
        </p:nvSpPr>
        <p:spPr>
          <a:xfrm>
            <a:off x="502920" y="1554480"/>
            <a:ext cx="3566160" cy="402336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554480"/>
            <a:ext cx="3566160" cy="73152"/>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2926080" cy="365760"/>
          </a:xfrm>
          <a:prstGeom prst="rect">
            <a:avLst/>
          </a:prstGeom>
          <a:noFill/>
        </p:spPr>
        <p:txBody>
          <a:bodyPr wrap="square" lIns="0" rIns="0" tIns="0" bIns="0" anchor="t"/>
          <a:lstStyle/>
          <a:p>
            <a:pPr algn="l">
              <a:spcBef>
                <a:spcPts val="0"/>
              </a:spcBef>
              <a:spcAft>
                <a:spcPts val="0"/>
              </a:spcAft>
            </a:pPr>
            <a:r>
              <a:rPr sz="2000" b="1">
                <a:solidFill>
                  <a:srgbClr val="C45B7A"/>
                </a:solidFill>
                <a:latin typeface="Calibri"/>
              </a:rPr>
              <a:t>01</a:t>
            </a:r>
          </a:p>
        </p:txBody>
      </p:sp>
      <p:sp>
        <p:nvSpPr>
          <p:cNvPr id="10" name="TextBox 9"/>
          <p:cNvSpPr txBox="1"/>
          <p:nvPr/>
        </p:nvSpPr>
        <p:spPr>
          <a:xfrm>
            <a:off x="777240" y="2377440"/>
            <a:ext cx="2926080" cy="36576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Entreprise d'accueil</a:t>
            </a:r>
          </a:p>
        </p:txBody>
      </p:sp>
      <p:sp>
        <p:nvSpPr>
          <p:cNvPr id="11" name="TextBox 10"/>
          <p:cNvSpPr txBox="1"/>
          <p:nvPr/>
        </p:nvSpPr>
        <p:spPr>
          <a:xfrm>
            <a:off x="777240" y="2880360"/>
            <a:ext cx="2926080" cy="1005840"/>
          </a:xfrm>
          <a:prstGeom prst="rect">
            <a:avLst/>
          </a:prstGeom>
          <a:noFill/>
        </p:spPr>
        <p:txBody>
          <a:bodyPr wrap="square" lIns="0" rIns="0" tIns="0" bIns="0" anchor="t"/>
          <a:lstStyle/>
          <a:p>
            <a:pPr algn="l">
              <a:spcBef>
                <a:spcPts val="0"/>
              </a:spcBef>
              <a:spcAft>
                <a:spcPts val="0"/>
              </a:spcAft>
            </a:pPr>
            <a:r>
              <a:rPr sz="2600" b="1">
                <a:solidFill>
                  <a:srgbClr val="2A2430"/>
                </a:solidFill>
                <a:latin typeface="Calibri"/>
              </a:rPr>
              <a:t>Drif Consult</a:t>
            </a:r>
          </a:p>
        </p:txBody>
      </p:sp>
      <p:sp>
        <p:nvSpPr>
          <p:cNvPr id="12" name="TextBox 11"/>
          <p:cNvSpPr txBox="1"/>
          <p:nvPr/>
        </p:nvSpPr>
        <p:spPr>
          <a:xfrm>
            <a:off x="777240" y="4114800"/>
            <a:ext cx="2926080" cy="914400"/>
          </a:xfrm>
          <a:prstGeom prst="rect">
            <a:avLst/>
          </a:prstGeom>
          <a:noFill/>
        </p:spPr>
        <p:txBody>
          <a:bodyPr wrap="square" lIns="0" rIns="0" tIns="0" bIns="0" anchor="t"/>
          <a:lstStyle/>
          <a:p>
            <a:pPr algn="l">
              <a:spcBef>
                <a:spcPts val="0"/>
              </a:spcBef>
              <a:spcAft>
                <a:spcPts val="0"/>
              </a:spcAft>
            </a:pPr>
            <a:r>
              <a:rPr sz="1600" b="0">
                <a:solidFill>
                  <a:srgbClr val="6E6573"/>
                </a:solidFill>
                <a:latin typeface="Calibri"/>
              </a:rPr>
              <a:t>L'entreprise inscrite sur mon mémoire.</a:t>
            </a:r>
          </a:p>
        </p:txBody>
      </p:sp>
      <p:sp>
        <p:nvSpPr>
          <p:cNvPr id="13" name="Rounded Rectangle 12"/>
          <p:cNvSpPr/>
          <p:nvPr/>
        </p:nvSpPr>
        <p:spPr>
          <a:xfrm>
            <a:off x="4297680" y="1554480"/>
            <a:ext cx="3566160" cy="402336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554480"/>
            <a:ext cx="3566160" cy="73152"/>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874519"/>
            <a:ext cx="2926080" cy="365760"/>
          </a:xfrm>
          <a:prstGeom prst="rect">
            <a:avLst/>
          </a:prstGeom>
          <a:noFill/>
        </p:spPr>
        <p:txBody>
          <a:bodyPr wrap="square" lIns="0" rIns="0" tIns="0" bIns="0" anchor="t"/>
          <a:lstStyle/>
          <a:p>
            <a:pPr algn="l">
              <a:spcBef>
                <a:spcPts val="0"/>
              </a:spcBef>
              <a:spcAft>
                <a:spcPts val="0"/>
              </a:spcAft>
            </a:pPr>
            <a:r>
              <a:rPr sz="2000" b="1">
                <a:solidFill>
                  <a:srgbClr val="C45B7A"/>
                </a:solidFill>
                <a:latin typeface="Calibri"/>
              </a:rPr>
              <a:t>02</a:t>
            </a:r>
          </a:p>
        </p:txBody>
      </p:sp>
      <p:sp>
        <p:nvSpPr>
          <p:cNvPr id="16" name="TextBox 15"/>
          <p:cNvSpPr txBox="1"/>
          <p:nvPr/>
        </p:nvSpPr>
        <p:spPr>
          <a:xfrm>
            <a:off x="4572000" y="2377440"/>
            <a:ext cx="2926080" cy="36576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Maître d'apprentissage</a:t>
            </a:r>
          </a:p>
        </p:txBody>
      </p:sp>
      <p:sp>
        <p:nvSpPr>
          <p:cNvPr id="17" name="TextBox 16"/>
          <p:cNvSpPr txBox="1"/>
          <p:nvPr/>
        </p:nvSpPr>
        <p:spPr>
          <a:xfrm>
            <a:off x="4572000" y="2880360"/>
            <a:ext cx="2926080" cy="1005840"/>
          </a:xfrm>
          <a:prstGeom prst="rect">
            <a:avLst/>
          </a:prstGeom>
          <a:noFill/>
        </p:spPr>
        <p:txBody>
          <a:bodyPr wrap="square" lIns="0" rIns="0" tIns="0" bIns="0" anchor="t"/>
          <a:lstStyle/>
          <a:p>
            <a:pPr algn="l">
              <a:spcBef>
                <a:spcPts val="0"/>
              </a:spcBef>
              <a:spcAft>
                <a:spcPts val="0"/>
              </a:spcAft>
            </a:pPr>
            <a:r>
              <a:rPr sz="2600" b="1">
                <a:solidFill>
                  <a:srgbClr val="2A2430"/>
                </a:solidFill>
                <a:latin typeface="Calibri"/>
              </a:rPr>
              <a:t>Yasser Drif</a:t>
            </a:r>
          </a:p>
        </p:txBody>
      </p:sp>
      <p:sp>
        <p:nvSpPr>
          <p:cNvPr id="18" name="TextBox 17"/>
          <p:cNvSpPr txBox="1"/>
          <p:nvPr/>
        </p:nvSpPr>
        <p:spPr>
          <a:xfrm>
            <a:off x="4572000" y="4114800"/>
            <a:ext cx="2926080" cy="914400"/>
          </a:xfrm>
          <a:prstGeom prst="rect">
            <a:avLst/>
          </a:prstGeom>
          <a:noFill/>
        </p:spPr>
        <p:txBody>
          <a:bodyPr wrap="square" lIns="0" rIns="0" tIns="0" bIns="0" anchor="t"/>
          <a:lstStyle/>
          <a:p>
            <a:pPr algn="l">
              <a:spcBef>
                <a:spcPts val="0"/>
              </a:spcBef>
              <a:spcAft>
                <a:spcPts val="0"/>
              </a:spcAft>
            </a:pPr>
            <a:r>
              <a:rPr sz="1600" b="0">
                <a:solidFill>
                  <a:srgbClr val="6E6573"/>
                </a:solidFill>
                <a:latin typeface="Calibri"/>
              </a:rPr>
              <a:t>Il suit mon alternance.</a:t>
            </a:r>
          </a:p>
        </p:txBody>
      </p:sp>
      <p:sp>
        <p:nvSpPr>
          <p:cNvPr id="19" name="Rounded Rectangle 18"/>
          <p:cNvSpPr/>
          <p:nvPr/>
        </p:nvSpPr>
        <p:spPr>
          <a:xfrm>
            <a:off x="8092440" y="1554480"/>
            <a:ext cx="3566160" cy="402336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92440" y="1554480"/>
            <a:ext cx="3566160" cy="73152"/>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874519"/>
            <a:ext cx="2926080" cy="365760"/>
          </a:xfrm>
          <a:prstGeom prst="rect">
            <a:avLst/>
          </a:prstGeom>
          <a:noFill/>
        </p:spPr>
        <p:txBody>
          <a:bodyPr wrap="square" lIns="0" rIns="0" tIns="0" bIns="0" anchor="t"/>
          <a:lstStyle/>
          <a:p>
            <a:pPr algn="l">
              <a:spcBef>
                <a:spcPts val="0"/>
              </a:spcBef>
              <a:spcAft>
                <a:spcPts val="0"/>
              </a:spcAft>
            </a:pPr>
            <a:r>
              <a:rPr sz="2000" b="1">
                <a:solidFill>
                  <a:srgbClr val="C45B7A"/>
                </a:solidFill>
                <a:latin typeface="Calibri"/>
              </a:rPr>
              <a:t>03</a:t>
            </a:r>
          </a:p>
        </p:txBody>
      </p:sp>
      <p:sp>
        <p:nvSpPr>
          <p:cNvPr id="22" name="TextBox 21"/>
          <p:cNvSpPr txBox="1"/>
          <p:nvPr/>
        </p:nvSpPr>
        <p:spPr>
          <a:xfrm>
            <a:off x="8366760" y="2377440"/>
            <a:ext cx="2926080" cy="36576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Le produit</a:t>
            </a:r>
          </a:p>
        </p:txBody>
      </p:sp>
      <p:sp>
        <p:nvSpPr>
          <p:cNvPr id="23" name="TextBox 22"/>
          <p:cNvSpPr txBox="1"/>
          <p:nvPr/>
        </p:nvSpPr>
        <p:spPr>
          <a:xfrm>
            <a:off x="8366760" y="2880360"/>
            <a:ext cx="2926080" cy="1005840"/>
          </a:xfrm>
          <a:prstGeom prst="rect">
            <a:avLst/>
          </a:prstGeom>
          <a:noFill/>
        </p:spPr>
        <p:txBody>
          <a:bodyPr wrap="square" lIns="0" rIns="0" tIns="0" bIns="0" anchor="t"/>
          <a:lstStyle/>
          <a:p>
            <a:pPr algn="l">
              <a:spcBef>
                <a:spcPts val="0"/>
              </a:spcBef>
              <a:spcAft>
                <a:spcPts val="0"/>
              </a:spcAft>
            </a:pPr>
            <a:r>
              <a:rPr sz="2600" b="1">
                <a:solidFill>
                  <a:srgbClr val="2A2430"/>
                </a:solidFill>
                <a:latin typeface="Calibri"/>
              </a:rPr>
              <a:t>Roman.ai</a:t>
            </a:r>
          </a:p>
        </p:txBody>
      </p:sp>
      <p:sp>
        <p:nvSpPr>
          <p:cNvPr id="24" name="TextBox 23"/>
          <p:cNvSpPr txBox="1"/>
          <p:nvPr/>
        </p:nvSpPr>
        <p:spPr>
          <a:xfrm>
            <a:off x="8366760" y="4114800"/>
            <a:ext cx="2926080" cy="914400"/>
          </a:xfrm>
          <a:prstGeom prst="rect">
            <a:avLst/>
          </a:prstGeom>
          <a:noFill/>
        </p:spPr>
        <p:txBody>
          <a:bodyPr wrap="square" lIns="0" rIns="0" tIns="0" bIns="0" anchor="t"/>
          <a:lstStyle/>
          <a:p>
            <a:pPr algn="l">
              <a:spcBef>
                <a:spcPts val="0"/>
              </a:spcBef>
              <a:spcAft>
                <a:spcPts val="0"/>
              </a:spcAft>
            </a:pPr>
            <a:r>
              <a:rPr sz="1600" b="0">
                <a:solidFill>
                  <a:srgbClr val="6E6573"/>
                </a:solidFill>
                <a:latin typeface="Calibri"/>
              </a:rPr>
              <a:t>Un coworker pour Slack.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Ce que j'y ai fait</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03</a:t>
            </a:r>
          </a:p>
        </p:txBody>
      </p:sp>
      <p:sp>
        <p:nvSpPr>
          <p:cNvPr id="7" name="Rounded Rectangle 6"/>
          <p:cNvSpPr/>
          <p:nvPr/>
        </p:nvSpPr>
        <p:spPr>
          <a:xfrm>
            <a:off x="502920" y="1325880"/>
            <a:ext cx="5212080" cy="320040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00200"/>
            <a:ext cx="4572000" cy="320040"/>
          </a:xfrm>
          <a:prstGeom prst="rect">
            <a:avLst/>
          </a:prstGeom>
          <a:noFill/>
        </p:spPr>
        <p:txBody>
          <a:bodyPr wrap="square" lIns="0" rIns="0" tIns="0" bIns="0" anchor="t"/>
          <a:lstStyle/>
          <a:p>
            <a:pPr algn="l">
              <a:spcBef>
                <a:spcPts val="0"/>
              </a:spcBef>
              <a:spcAft>
                <a:spcPts val="0"/>
              </a:spcAft>
            </a:pPr>
            <a:r>
              <a:rPr sz="2200" b="1">
                <a:solidFill>
                  <a:srgbClr val="2A2430"/>
                </a:solidFill>
                <a:latin typeface="Calibri"/>
              </a:rPr>
              <a:t>Front-end</a:t>
            </a:r>
          </a:p>
        </p:txBody>
      </p:sp>
      <p:sp>
        <p:nvSpPr>
          <p:cNvPr id="9" name="TextBox 8"/>
          <p:cNvSpPr txBox="1"/>
          <p:nvPr/>
        </p:nvSpPr>
        <p:spPr>
          <a:xfrm>
            <a:off x="822960" y="2148840"/>
            <a:ext cx="4572000" cy="1645920"/>
          </a:xfrm>
          <a:prstGeom prst="rect">
            <a:avLst/>
          </a:prstGeom>
          <a:noFill/>
        </p:spPr>
        <p:txBody>
          <a:bodyPr wrap="square" lIns="0" rIns="0" tIns="0" bIns="0" anchor="t"/>
          <a:lstStyle/>
          <a:p>
            <a:pPr algn="l">
              <a:spcBef>
                <a:spcPts val="0"/>
              </a:spcBef>
              <a:spcAft>
                <a:spcPts val="0"/>
              </a:spcAft>
            </a:pPr>
            <a:r>
              <a:rPr sz="1800" b="0">
                <a:solidFill>
                  <a:srgbClr val="6E6573"/>
                </a:solidFill>
                <a:latin typeface="Calibri"/>
              </a:rPr>
              <a:t>Interfaces du produit.</a:t>
            </a:r>
          </a:p>
          <a:p>
            <a:pPr algn="l">
              <a:spcBef>
                <a:spcPts val="0"/>
              </a:spcBef>
              <a:spcAft>
                <a:spcPts val="0"/>
              </a:spcAft>
            </a:pPr>
            <a:r>
              <a:rPr sz="1800" b="0">
                <a:solidFill>
                  <a:srgbClr val="6E6573"/>
                </a:solidFill>
                <a:latin typeface="Calibri"/>
              </a:rPr>
              <a:t>Cohérence visuelle des écrans.</a:t>
            </a:r>
          </a:p>
        </p:txBody>
      </p:sp>
      <p:sp>
        <p:nvSpPr>
          <p:cNvPr id="10" name="Rounded Rectangle 9"/>
          <p:cNvSpPr/>
          <p:nvPr/>
        </p:nvSpPr>
        <p:spPr>
          <a:xfrm>
            <a:off x="5943600" y="1325880"/>
            <a:ext cx="5715000" cy="320040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600200"/>
            <a:ext cx="5120640" cy="320040"/>
          </a:xfrm>
          <a:prstGeom prst="rect">
            <a:avLst/>
          </a:prstGeom>
          <a:noFill/>
        </p:spPr>
        <p:txBody>
          <a:bodyPr wrap="square" lIns="0" rIns="0" tIns="0" bIns="0" anchor="t"/>
          <a:lstStyle/>
          <a:p>
            <a:pPr algn="l">
              <a:spcBef>
                <a:spcPts val="0"/>
              </a:spcBef>
              <a:spcAft>
                <a:spcPts val="0"/>
              </a:spcAft>
            </a:pPr>
            <a:r>
              <a:rPr sz="2200" b="1">
                <a:solidFill>
                  <a:srgbClr val="2A2430"/>
                </a:solidFill>
                <a:latin typeface="Calibri"/>
              </a:rPr>
              <a:t>Parrainage</a:t>
            </a:r>
          </a:p>
        </p:txBody>
      </p:sp>
      <p:sp>
        <p:nvSpPr>
          <p:cNvPr id="12" name="TextBox 11"/>
          <p:cNvSpPr txBox="1"/>
          <p:nvPr/>
        </p:nvSpPr>
        <p:spPr>
          <a:xfrm>
            <a:off x="6263640" y="2148840"/>
            <a:ext cx="5120640" cy="1645920"/>
          </a:xfrm>
          <a:prstGeom prst="rect">
            <a:avLst/>
          </a:prstGeom>
          <a:noFill/>
        </p:spPr>
        <p:txBody>
          <a:bodyPr wrap="square" lIns="0" rIns="0" tIns="0" bIns="0" anchor="t"/>
          <a:lstStyle/>
          <a:p>
            <a:pPr algn="l">
              <a:spcBef>
                <a:spcPts val="0"/>
              </a:spcBef>
              <a:spcAft>
                <a:spcPts val="0"/>
              </a:spcAft>
            </a:pPr>
            <a:r>
              <a:rPr sz="1800" b="0">
                <a:solidFill>
                  <a:srgbClr val="6E6573"/>
                </a:solidFill>
                <a:latin typeface="Calibri"/>
              </a:rPr>
              <a:t>La fonction qui relie un utilisateur</a:t>
            </a:r>
          </a:p>
          <a:p>
            <a:pPr algn="l">
              <a:spcBef>
                <a:spcPts val="0"/>
              </a:spcBef>
              <a:spcAft>
                <a:spcPts val="0"/>
              </a:spcAft>
            </a:pPr>
            <a:r>
              <a:rPr sz="1800" b="0">
                <a:solidFill>
                  <a:srgbClr val="6E6573"/>
                </a:solidFill>
                <a:latin typeface="Calibri"/>
              </a:rPr>
              <a:t>à ceux qu'il invite.</a:t>
            </a:r>
          </a:p>
        </p:txBody>
      </p:sp>
      <p:sp>
        <p:nvSpPr>
          <p:cNvPr id="13" name="Rounded Rectangle 12"/>
          <p:cNvSpPr/>
          <p:nvPr/>
        </p:nvSpPr>
        <p:spPr>
          <a:xfrm>
            <a:off x="502920" y="4754880"/>
            <a:ext cx="11155680" cy="1371600"/>
          </a:xfrm>
          <a:prstGeom prst="roundRect">
            <a:avLst>
              <a:gd name="adj" fmla="val 10000"/>
            </a:avLst>
          </a:prstGeom>
          <a:solidFill>
            <a:srgbClr val="F8E4EC"/>
          </a:solidFill>
          <a:ln w="15875">
            <a:solidFill>
              <a:srgbClr val="F8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937760"/>
            <a:ext cx="2011680" cy="320040"/>
          </a:xfrm>
          <a:prstGeom prst="rect">
            <a:avLst/>
          </a:prstGeom>
          <a:noFill/>
        </p:spPr>
        <p:txBody>
          <a:bodyPr wrap="square" lIns="0" rIns="0" tIns="0" bIns="0" anchor="t"/>
          <a:lstStyle/>
          <a:p>
            <a:pPr algn="l">
              <a:spcBef>
                <a:spcPts val="0"/>
              </a:spcBef>
              <a:spcAft>
                <a:spcPts val="0"/>
              </a:spcAft>
            </a:pPr>
            <a:r>
              <a:rPr sz="1400" b="1">
                <a:solidFill>
                  <a:srgbClr val="A34564"/>
                </a:solidFill>
                <a:latin typeface="Calibri"/>
              </a:rPr>
              <a:t>Et ensuite</a:t>
            </a:r>
          </a:p>
        </p:txBody>
      </p:sp>
      <p:sp>
        <p:nvSpPr>
          <p:cNvPr id="15" name="TextBox 14"/>
          <p:cNvSpPr txBox="1"/>
          <p:nvPr/>
        </p:nvSpPr>
        <p:spPr>
          <a:xfrm>
            <a:off x="822960" y="5349240"/>
            <a:ext cx="10424160" cy="548640"/>
          </a:xfrm>
          <a:prstGeom prst="rect">
            <a:avLst/>
          </a:prstGeom>
          <a:noFill/>
        </p:spPr>
        <p:txBody>
          <a:bodyPr wrap="square" lIns="0" rIns="0" tIns="0" bIns="0" anchor="t"/>
          <a:lstStyle/>
          <a:p>
            <a:pPr algn="l">
              <a:spcBef>
                <a:spcPts val="0"/>
              </a:spcBef>
              <a:spcAft>
                <a:spcPts val="0"/>
              </a:spcAft>
            </a:pPr>
            <a:r>
              <a:rPr sz="1800" b="1">
                <a:solidFill>
                  <a:srgbClr val="2A2430"/>
                </a:solidFill>
                <a:latin typeface="Calibri"/>
              </a:rPr>
              <a:t>Ce cadre m'a menée à mon mémoire. Briefly n'est pas une fonction de Roman.ai.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Le constat</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04</a:t>
            </a:r>
          </a:p>
        </p:txBody>
      </p:sp>
      <p:sp>
        <p:nvSpPr>
          <p:cNvPr id="7" name="Rounded Rectangle 6"/>
          <p:cNvSpPr/>
          <p:nvPr/>
        </p:nvSpPr>
        <p:spPr>
          <a:xfrm>
            <a:off x="502920" y="1234440"/>
            <a:ext cx="5943600" cy="1051560"/>
          </a:xfrm>
          <a:prstGeom prst="roundRect">
            <a:avLst>
              <a:gd name="adj" fmla="val 15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1527048"/>
            <a:ext cx="457200" cy="457200"/>
          </a:xfrm>
          <a:prstGeom prst="ellipse">
            <a:avLst/>
          </a:prstGeom>
          <a:solidFill>
            <a:srgbClr val="F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00200"/>
            <a:ext cx="457200" cy="320040"/>
          </a:xfrm>
          <a:prstGeom prst="rect">
            <a:avLst/>
          </a:prstGeom>
          <a:noFill/>
        </p:spPr>
        <p:txBody>
          <a:bodyPr wrap="square" lIns="0" rIns="0" tIns="0" bIns="0" anchor="t"/>
          <a:lstStyle/>
          <a:p>
            <a:pPr algn="ctr">
              <a:spcBef>
                <a:spcPts val="0"/>
              </a:spcBef>
              <a:spcAft>
                <a:spcPts val="0"/>
              </a:spcAft>
            </a:pPr>
            <a:r>
              <a:rPr sz="1600" b="1">
                <a:solidFill>
                  <a:srgbClr val="C45B7A"/>
                </a:solidFill>
                <a:latin typeface="Calibri"/>
              </a:rPr>
              <a:t>1</a:t>
            </a:r>
          </a:p>
        </p:txBody>
      </p:sp>
      <p:sp>
        <p:nvSpPr>
          <p:cNvPr id="10" name="TextBox 9"/>
          <p:cNvSpPr txBox="1"/>
          <p:nvPr/>
        </p:nvSpPr>
        <p:spPr>
          <a:xfrm>
            <a:off x="1371600" y="1527048"/>
            <a:ext cx="4754880" cy="502920"/>
          </a:xfrm>
          <a:prstGeom prst="rect">
            <a:avLst/>
          </a:prstGeom>
          <a:noFill/>
        </p:spPr>
        <p:txBody>
          <a:bodyPr wrap="square" lIns="0" rIns="0" tIns="0" bIns="0" anchor="ctr"/>
          <a:lstStyle/>
          <a:p>
            <a:pPr algn="l">
              <a:spcBef>
                <a:spcPts val="0"/>
              </a:spcBef>
              <a:spcAft>
                <a:spcPts val="0"/>
              </a:spcAft>
            </a:pPr>
            <a:r>
              <a:rPr sz="1600" b="0">
                <a:solidFill>
                  <a:srgbClr val="2A2430"/>
                </a:solidFill>
                <a:latin typeface="Calibri"/>
              </a:rPr>
              <a:t>Le point du matin se fait souvent dans Slack ou Teams.</a:t>
            </a:r>
          </a:p>
        </p:txBody>
      </p:sp>
      <p:sp>
        <p:nvSpPr>
          <p:cNvPr id="11" name="Rounded Rectangle 10"/>
          <p:cNvSpPr/>
          <p:nvPr/>
        </p:nvSpPr>
        <p:spPr>
          <a:xfrm>
            <a:off x="502920" y="2423160"/>
            <a:ext cx="5943600" cy="1051560"/>
          </a:xfrm>
          <a:prstGeom prst="roundRect">
            <a:avLst>
              <a:gd name="adj" fmla="val 15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715768"/>
            <a:ext cx="457200" cy="457200"/>
          </a:xfrm>
          <a:prstGeom prst="ellipse">
            <a:avLst/>
          </a:prstGeom>
          <a:solidFill>
            <a:srgbClr val="F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788920"/>
            <a:ext cx="457200" cy="320040"/>
          </a:xfrm>
          <a:prstGeom prst="rect">
            <a:avLst/>
          </a:prstGeom>
          <a:noFill/>
        </p:spPr>
        <p:txBody>
          <a:bodyPr wrap="square" lIns="0" rIns="0" tIns="0" bIns="0" anchor="t"/>
          <a:lstStyle/>
          <a:p>
            <a:pPr algn="ctr">
              <a:spcBef>
                <a:spcPts val="0"/>
              </a:spcBef>
              <a:spcAft>
                <a:spcPts val="0"/>
              </a:spcAft>
            </a:pPr>
            <a:r>
              <a:rPr sz="1600" b="1">
                <a:solidFill>
                  <a:srgbClr val="C45B7A"/>
                </a:solidFill>
                <a:latin typeface="Calibri"/>
              </a:rPr>
              <a:t>2</a:t>
            </a:r>
          </a:p>
        </p:txBody>
      </p:sp>
      <p:sp>
        <p:nvSpPr>
          <p:cNvPr id="14" name="TextBox 13"/>
          <p:cNvSpPr txBox="1"/>
          <p:nvPr/>
        </p:nvSpPr>
        <p:spPr>
          <a:xfrm>
            <a:off x="1371600" y="2715768"/>
            <a:ext cx="4754880" cy="502920"/>
          </a:xfrm>
          <a:prstGeom prst="rect">
            <a:avLst/>
          </a:prstGeom>
          <a:noFill/>
        </p:spPr>
        <p:txBody>
          <a:bodyPr wrap="square" lIns="0" rIns="0" tIns="0" bIns="0" anchor="ctr"/>
          <a:lstStyle/>
          <a:p>
            <a:pPr algn="l">
              <a:spcBef>
                <a:spcPts val="0"/>
              </a:spcBef>
              <a:spcAft>
                <a:spcPts val="0"/>
              </a:spcAft>
            </a:pPr>
            <a:r>
              <a:rPr sz="1600" b="0">
                <a:solidFill>
                  <a:srgbClr val="2A2430"/>
                </a:solidFill>
                <a:latin typeface="Calibri"/>
              </a:rPr>
              <a:t>Il n'est pas relié à une tâche.</a:t>
            </a:r>
          </a:p>
        </p:txBody>
      </p:sp>
      <p:sp>
        <p:nvSpPr>
          <p:cNvPr id="15" name="Rounded Rectangle 14"/>
          <p:cNvSpPr/>
          <p:nvPr/>
        </p:nvSpPr>
        <p:spPr>
          <a:xfrm>
            <a:off x="502920" y="3611880"/>
            <a:ext cx="5943600" cy="1051560"/>
          </a:xfrm>
          <a:prstGeom prst="roundRect">
            <a:avLst>
              <a:gd name="adj" fmla="val 15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3904488"/>
            <a:ext cx="457200" cy="457200"/>
          </a:xfrm>
          <a:prstGeom prst="ellipse">
            <a:avLst/>
          </a:prstGeom>
          <a:solidFill>
            <a:srgbClr val="F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977640"/>
            <a:ext cx="457200" cy="320040"/>
          </a:xfrm>
          <a:prstGeom prst="rect">
            <a:avLst/>
          </a:prstGeom>
          <a:noFill/>
        </p:spPr>
        <p:txBody>
          <a:bodyPr wrap="square" lIns="0" rIns="0" tIns="0" bIns="0" anchor="t"/>
          <a:lstStyle/>
          <a:p>
            <a:pPr algn="ctr">
              <a:spcBef>
                <a:spcPts val="0"/>
              </a:spcBef>
              <a:spcAft>
                <a:spcPts val="0"/>
              </a:spcAft>
            </a:pPr>
            <a:r>
              <a:rPr sz="1600" b="1">
                <a:solidFill>
                  <a:srgbClr val="C45B7A"/>
                </a:solidFill>
                <a:latin typeface="Calibri"/>
              </a:rPr>
              <a:t>3</a:t>
            </a:r>
          </a:p>
        </p:txBody>
      </p:sp>
      <p:sp>
        <p:nvSpPr>
          <p:cNvPr id="18" name="TextBox 17"/>
          <p:cNvSpPr txBox="1"/>
          <p:nvPr/>
        </p:nvSpPr>
        <p:spPr>
          <a:xfrm>
            <a:off x="1371600" y="3904488"/>
            <a:ext cx="4754880" cy="502920"/>
          </a:xfrm>
          <a:prstGeom prst="rect">
            <a:avLst/>
          </a:prstGeom>
          <a:noFill/>
        </p:spPr>
        <p:txBody>
          <a:bodyPr wrap="square" lIns="0" rIns="0" tIns="0" bIns="0" anchor="ctr"/>
          <a:lstStyle/>
          <a:p>
            <a:pPr algn="l">
              <a:spcBef>
                <a:spcPts val="0"/>
              </a:spcBef>
              <a:spcAft>
                <a:spcPts val="0"/>
              </a:spcAft>
            </a:pPr>
            <a:r>
              <a:rPr sz="1600" b="0">
                <a:solidFill>
                  <a:srgbClr val="2A2430"/>
                </a:solidFill>
                <a:latin typeface="Calibri"/>
              </a:rPr>
              <a:t>Un blocage disparaît dans le fil.</a:t>
            </a:r>
          </a:p>
        </p:txBody>
      </p:sp>
      <p:sp>
        <p:nvSpPr>
          <p:cNvPr id="19" name="Rounded Rectangle 18"/>
          <p:cNvSpPr/>
          <p:nvPr/>
        </p:nvSpPr>
        <p:spPr>
          <a:xfrm>
            <a:off x="502920" y="4800600"/>
            <a:ext cx="5943600" cy="1051560"/>
          </a:xfrm>
          <a:prstGeom prst="roundRect">
            <a:avLst>
              <a:gd name="adj" fmla="val 15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1520" y="5093208"/>
            <a:ext cx="457200" cy="457200"/>
          </a:xfrm>
          <a:prstGeom prst="ellipse">
            <a:avLst/>
          </a:prstGeom>
          <a:solidFill>
            <a:srgbClr val="F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166360"/>
            <a:ext cx="457200" cy="320040"/>
          </a:xfrm>
          <a:prstGeom prst="rect">
            <a:avLst/>
          </a:prstGeom>
          <a:noFill/>
        </p:spPr>
        <p:txBody>
          <a:bodyPr wrap="square" lIns="0" rIns="0" tIns="0" bIns="0" anchor="t"/>
          <a:lstStyle/>
          <a:p>
            <a:pPr algn="ctr">
              <a:spcBef>
                <a:spcPts val="0"/>
              </a:spcBef>
              <a:spcAft>
                <a:spcPts val="0"/>
              </a:spcAft>
            </a:pPr>
            <a:r>
              <a:rPr sz="1600" b="1">
                <a:solidFill>
                  <a:srgbClr val="C45B7A"/>
                </a:solidFill>
                <a:latin typeface="Calibri"/>
              </a:rPr>
              <a:t>4</a:t>
            </a:r>
          </a:p>
        </p:txBody>
      </p:sp>
      <p:sp>
        <p:nvSpPr>
          <p:cNvPr id="22" name="TextBox 21"/>
          <p:cNvSpPr txBox="1"/>
          <p:nvPr/>
        </p:nvSpPr>
        <p:spPr>
          <a:xfrm>
            <a:off x="1371600" y="5093208"/>
            <a:ext cx="4754880" cy="502920"/>
          </a:xfrm>
          <a:prstGeom prst="rect">
            <a:avLst/>
          </a:prstGeom>
          <a:noFill/>
        </p:spPr>
        <p:txBody>
          <a:bodyPr wrap="square" lIns="0" rIns="0" tIns="0" bIns="0" anchor="ctr"/>
          <a:lstStyle/>
          <a:p>
            <a:pPr algn="l">
              <a:spcBef>
                <a:spcPts val="0"/>
              </a:spcBef>
              <a:spcAft>
                <a:spcPts val="0"/>
              </a:spcAft>
            </a:pPr>
            <a:r>
              <a:rPr sz="1600" b="0">
                <a:solidFill>
                  <a:srgbClr val="2A2430"/>
                </a:solidFill>
                <a:latin typeface="Calibri"/>
              </a:rPr>
              <a:t>Le chef n'a pas de tableau à jour.</a:t>
            </a:r>
          </a:p>
        </p:txBody>
      </p:sp>
      <p:pic>
        <p:nvPicPr>
          <p:cNvPr id="23" name="Picture 22" descr="illu-chat.png"/>
          <p:cNvPicPr>
            <a:picLocks noChangeAspect="1"/>
          </p:cNvPicPr>
          <p:nvPr/>
        </p:nvPicPr>
        <p:blipFill>
          <a:blip r:embed="rId3"/>
          <a:stretch>
            <a:fillRect/>
          </a:stretch>
        </p:blipFill>
        <p:spPr>
          <a:xfrm>
            <a:off x="6675120" y="2030341"/>
            <a:ext cx="4983480" cy="325451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Problématique</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05</a:t>
            </a:r>
          </a:p>
        </p:txBody>
      </p:sp>
      <p:sp>
        <p:nvSpPr>
          <p:cNvPr id="7" name="Rounded Rectangle 6"/>
          <p:cNvSpPr/>
          <p:nvPr/>
        </p:nvSpPr>
        <p:spPr>
          <a:xfrm>
            <a:off x="640080" y="1554480"/>
            <a:ext cx="8503920" cy="4114800"/>
          </a:xfrm>
          <a:prstGeom prst="roundRect">
            <a:avLst>
              <a:gd name="adj" fmla="val 6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7863840" cy="3200400"/>
          </a:xfrm>
          <a:prstGeom prst="rect">
            <a:avLst/>
          </a:prstGeom>
          <a:noFill/>
        </p:spPr>
        <p:txBody>
          <a:bodyPr wrap="square" lIns="0" rIns="0" tIns="0" bIns="0" anchor="ctr"/>
          <a:lstStyle/>
          <a:p>
            <a:pPr algn="l">
              <a:spcBef>
                <a:spcPts val="0"/>
              </a:spcBef>
              <a:spcAft>
                <a:spcPts val="0"/>
              </a:spcAft>
            </a:pPr>
            <a:r>
              <a:rPr sz="2800" b="1">
                <a:solidFill>
                  <a:srgbClr val="2A2430"/>
                </a:solidFill>
                <a:latin typeface="Calibri"/>
              </a:rPr>
              <a:t>Comment donner à une organisation fermée un suivi quotidien, attaché aux tâches, sur le web et sur mobile, avec des rôles clairs ?</a:t>
            </a:r>
          </a:p>
        </p:txBody>
      </p:sp>
      <p:sp>
        <p:nvSpPr>
          <p:cNvPr id="9" name="TextBox 8"/>
          <p:cNvSpPr txBox="1"/>
          <p:nvPr/>
        </p:nvSpPr>
        <p:spPr>
          <a:xfrm>
            <a:off x="9326880" y="2103120"/>
            <a:ext cx="2377440" cy="2194560"/>
          </a:xfrm>
          <a:prstGeom prst="rect">
            <a:avLst/>
          </a:prstGeom>
          <a:noFill/>
        </p:spPr>
        <p:txBody>
          <a:bodyPr wrap="square" lIns="0" rIns="0" tIns="0" bIns="0" anchor="t"/>
          <a:lstStyle/>
          <a:p>
            <a:pPr algn="ctr">
              <a:spcBef>
                <a:spcPts val="0"/>
              </a:spcBef>
              <a:spcAft>
                <a:spcPts val="0"/>
              </a:spcAft>
            </a:pPr>
            <a:r>
              <a:rPr sz="12000" b="1">
                <a:solidFill>
                  <a:srgbClr val="C45B7A"/>
                </a:solidFill>
                <a:latin typeface="Calibri"/>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Ce que les outils du marché ne font pas</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06</a:t>
            </a:r>
          </a:p>
        </p:txBody>
      </p:sp>
      <p:sp>
        <p:nvSpPr>
          <p:cNvPr id="7" name="Rounded Rectangle 6"/>
          <p:cNvSpPr/>
          <p:nvPr/>
        </p:nvSpPr>
        <p:spPr>
          <a:xfrm>
            <a:off x="457200" y="1097280"/>
            <a:ext cx="3657600" cy="416052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7008"/>
            <a:ext cx="3291840" cy="292608"/>
          </a:xfrm>
          <a:prstGeom prst="rect">
            <a:avLst/>
          </a:prstGeom>
          <a:noFill/>
        </p:spPr>
        <p:txBody>
          <a:bodyPr wrap="square" lIns="0" rIns="0" tIns="0" bIns="0" anchor="t"/>
          <a:lstStyle/>
          <a:p>
            <a:pPr algn="ctr">
              <a:spcBef>
                <a:spcPts val="0"/>
              </a:spcBef>
              <a:spcAft>
                <a:spcPts val="0"/>
              </a:spcAft>
            </a:pPr>
            <a:r>
              <a:rPr sz="1600" b="1">
                <a:solidFill>
                  <a:srgbClr val="2A2430"/>
                </a:solidFill>
                <a:latin typeface="Calibri"/>
              </a:rPr>
              <a:t>Messagerie</a:t>
            </a:r>
          </a:p>
        </p:txBody>
      </p:sp>
      <p:sp>
        <p:nvSpPr>
          <p:cNvPr id="9" name="TextBox 8"/>
          <p:cNvSpPr txBox="1"/>
          <p:nvPr/>
        </p:nvSpPr>
        <p:spPr>
          <a:xfrm>
            <a:off x="640080" y="1499616"/>
            <a:ext cx="3291840" cy="256032"/>
          </a:xfrm>
          <a:prstGeom prst="rect">
            <a:avLst/>
          </a:prstGeom>
          <a:noFill/>
        </p:spPr>
        <p:txBody>
          <a:bodyPr wrap="square" lIns="0" rIns="0" tIns="0" bIns="0" anchor="t"/>
          <a:lstStyle/>
          <a:p>
            <a:pPr algn="ctr">
              <a:spcBef>
                <a:spcPts val="0"/>
              </a:spcBef>
              <a:spcAft>
                <a:spcPts val="0"/>
              </a:spcAft>
            </a:pPr>
            <a:r>
              <a:rPr sz="1300" b="0">
                <a:solidFill>
                  <a:srgbClr val="C45B7A"/>
                </a:solidFill>
                <a:latin typeface="Calibri"/>
              </a:rPr>
              <a:t>Slack, Teams</a:t>
            </a:r>
          </a:p>
        </p:txBody>
      </p:sp>
      <p:pic>
        <p:nvPicPr>
          <p:cNvPr id="10" name="Picture 9" descr="illu-chat.png"/>
          <p:cNvPicPr>
            <a:picLocks noChangeAspect="1"/>
          </p:cNvPicPr>
          <p:nvPr/>
        </p:nvPicPr>
        <p:blipFill>
          <a:blip r:embed="rId3"/>
          <a:stretch>
            <a:fillRect/>
          </a:stretch>
        </p:blipFill>
        <p:spPr>
          <a:xfrm>
            <a:off x="640080" y="1919773"/>
            <a:ext cx="3291840" cy="2149773"/>
          </a:xfrm>
          <a:prstGeom prst="rect">
            <a:avLst/>
          </a:prstGeom>
        </p:spPr>
      </p:pic>
      <p:sp>
        <p:nvSpPr>
          <p:cNvPr id="11" name="TextBox 10"/>
          <p:cNvSpPr txBox="1"/>
          <p:nvPr/>
        </p:nvSpPr>
        <p:spPr>
          <a:xfrm>
            <a:off x="685800" y="4297680"/>
            <a:ext cx="3200400" cy="777240"/>
          </a:xfrm>
          <a:prstGeom prst="rect">
            <a:avLst/>
          </a:prstGeom>
          <a:noFill/>
        </p:spPr>
        <p:txBody>
          <a:bodyPr wrap="square" lIns="0" rIns="0" tIns="0" bIns="0" anchor="t"/>
          <a:lstStyle/>
          <a:p>
            <a:pPr algn="ctr">
              <a:spcBef>
                <a:spcPts val="0"/>
              </a:spcBef>
              <a:spcAft>
                <a:spcPts val="0"/>
              </a:spcAft>
            </a:pPr>
            <a:r>
              <a:rPr sz="1400" b="0">
                <a:solidFill>
                  <a:srgbClr val="6E6573"/>
                </a:solidFill>
                <a:latin typeface="Calibri"/>
              </a:rPr>
              <a:t>Immédiat. Rien ne reste sur la tâche.</a:t>
            </a:r>
          </a:p>
        </p:txBody>
      </p:sp>
      <p:sp>
        <p:nvSpPr>
          <p:cNvPr id="12" name="Rounded Rectangle 11"/>
          <p:cNvSpPr/>
          <p:nvPr/>
        </p:nvSpPr>
        <p:spPr>
          <a:xfrm>
            <a:off x="4297680" y="1097280"/>
            <a:ext cx="3657600" cy="416052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207008"/>
            <a:ext cx="3291840" cy="292608"/>
          </a:xfrm>
          <a:prstGeom prst="rect">
            <a:avLst/>
          </a:prstGeom>
          <a:noFill/>
        </p:spPr>
        <p:txBody>
          <a:bodyPr wrap="square" lIns="0" rIns="0" tIns="0" bIns="0" anchor="t"/>
          <a:lstStyle/>
          <a:p>
            <a:pPr algn="ctr">
              <a:spcBef>
                <a:spcPts val="0"/>
              </a:spcBef>
              <a:spcAft>
                <a:spcPts val="0"/>
              </a:spcAft>
            </a:pPr>
            <a:r>
              <a:rPr sz="1600" b="1">
                <a:solidFill>
                  <a:srgbClr val="2A2430"/>
                </a:solidFill>
                <a:latin typeface="Calibri"/>
              </a:rPr>
              <a:t>Tableau léger</a:t>
            </a:r>
          </a:p>
        </p:txBody>
      </p:sp>
      <p:sp>
        <p:nvSpPr>
          <p:cNvPr id="14" name="TextBox 13"/>
          <p:cNvSpPr txBox="1"/>
          <p:nvPr/>
        </p:nvSpPr>
        <p:spPr>
          <a:xfrm>
            <a:off x="4480560" y="1499616"/>
            <a:ext cx="3291840" cy="256032"/>
          </a:xfrm>
          <a:prstGeom prst="rect">
            <a:avLst/>
          </a:prstGeom>
          <a:noFill/>
        </p:spPr>
        <p:txBody>
          <a:bodyPr wrap="square" lIns="0" rIns="0" tIns="0" bIns="0" anchor="t"/>
          <a:lstStyle/>
          <a:p>
            <a:pPr algn="ctr">
              <a:spcBef>
                <a:spcPts val="0"/>
              </a:spcBef>
              <a:spcAft>
                <a:spcPts val="0"/>
              </a:spcAft>
            </a:pPr>
            <a:r>
              <a:rPr sz="1300" b="0">
                <a:solidFill>
                  <a:srgbClr val="C45B7A"/>
                </a:solidFill>
                <a:latin typeface="Calibri"/>
              </a:rPr>
              <a:t>Trello</a:t>
            </a:r>
          </a:p>
        </p:txBody>
      </p:sp>
      <p:pic>
        <p:nvPicPr>
          <p:cNvPr id="15" name="Picture 14" descr="illu-kanban.png"/>
          <p:cNvPicPr>
            <a:picLocks noChangeAspect="1"/>
          </p:cNvPicPr>
          <p:nvPr/>
        </p:nvPicPr>
        <p:blipFill>
          <a:blip r:embed="rId4"/>
          <a:stretch>
            <a:fillRect/>
          </a:stretch>
        </p:blipFill>
        <p:spPr>
          <a:xfrm>
            <a:off x="4494276" y="1828800"/>
            <a:ext cx="3264407" cy="2331720"/>
          </a:xfrm>
          <a:prstGeom prst="rect">
            <a:avLst/>
          </a:prstGeom>
        </p:spPr>
      </p:pic>
      <p:sp>
        <p:nvSpPr>
          <p:cNvPr id="16" name="TextBox 15"/>
          <p:cNvSpPr txBox="1"/>
          <p:nvPr/>
        </p:nvSpPr>
        <p:spPr>
          <a:xfrm>
            <a:off x="4526280" y="4297680"/>
            <a:ext cx="3200400" cy="777240"/>
          </a:xfrm>
          <a:prstGeom prst="rect">
            <a:avLst/>
          </a:prstGeom>
          <a:noFill/>
        </p:spPr>
        <p:txBody>
          <a:bodyPr wrap="square" lIns="0" rIns="0" tIns="0" bIns="0" anchor="t"/>
          <a:lstStyle/>
          <a:p>
            <a:pPr algn="ctr">
              <a:spcBef>
                <a:spcPts val="0"/>
              </a:spcBef>
              <a:spcAft>
                <a:spcPts val="0"/>
              </a:spcAft>
            </a:pPr>
            <a:r>
              <a:rPr sz="1400" b="0">
                <a:solidFill>
                  <a:srgbClr val="6E6573"/>
                </a:solidFill>
                <a:latin typeface="Calibri"/>
              </a:rPr>
              <a:t>Des cartes. Pas de rôles, pas de note obligatoire.</a:t>
            </a:r>
          </a:p>
        </p:txBody>
      </p:sp>
      <p:sp>
        <p:nvSpPr>
          <p:cNvPr id="17" name="Rounded Rectangle 16"/>
          <p:cNvSpPr/>
          <p:nvPr/>
        </p:nvSpPr>
        <p:spPr>
          <a:xfrm>
            <a:off x="8138160" y="1097280"/>
            <a:ext cx="3657600" cy="416052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207008"/>
            <a:ext cx="3291840" cy="292608"/>
          </a:xfrm>
          <a:prstGeom prst="rect">
            <a:avLst/>
          </a:prstGeom>
          <a:noFill/>
        </p:spPr>
        <p:txBody>
          <a:bodyPr wrap="square" lIns="0" rIns="0" tIns="0" bIns="0" anchor="t"/>
          <a:lstStyle/>
          <a:p>
            <a:pPr algn="ctr">
              <a:spcBef>
                <a:spcPts val="0"/>
              </a:spcBef>
              <a:spcAft>
                <a:spcPts val="0"/>
              </a:spcAft>
            </a:pPr>
            <a:r>
              <a:rPr sz="1600" b="1">
                <a:solidFill>
                  <a:srgbClr val="2A2430"/>
                </a:solidFill>
                <a:latin typeface="Calibri"/>
              </a:rPr>
              <a:t>Forge</a:t>
            </a:r>
          </a:p>
        </p:txBody>
      </p:sp>
      <p:sp>
        <p:nvSpPr>
          <p:cNvPr id="19" name="TextBox 18"/>
          <p:cNvSpPr txBox="1"/>
          <p:nvPr/>
        </p:nvSpPr>
        <p:spPr>
          <a:xfrm>
            <a:off x="8321040" y="1499616"/>
            <a:ext cx="3291840" cy="256032"/>
          </a:xfrm>
          <a:prstGeom prst="rect">
            <a:avLst/>
          </a:prstGeom>
          <a:noFill/>
        </p:spPr>
        <p:txBody>
          <a:bodyPr wrap="square" lIns="0" rIns="0" tIns="0" bIns="0" anchor="t"/>
          <a:lstStyle/>
          <a:p>
            <a:pPr algn="ctr">
              <a:spcBef>
                <a:spcPts val="0"/>
              </a:spcBef>
              <a:spcAft>
                <a:spcPts val="0"/>
              </a:spcAft>
            </a:pPr>
            <a:r>
              <a:rPr sz="1300" b="0">
                <a:solidFill>
                  <a:srgbClr val="C45B7A"/>
                </a:solidFill>
                <a:latin typeface="Calibri"/>
              </a:rPr>
              <a:t>Jira, Linear</a:t>
            </a:r>
          </a:p>
        </p:txBody>
      </p:sp>
      <p:pic>
        <p:nvPicPr>
          <p:cNvPr id="20" name="Picture 19" descr="illu-tickets.png"/>
          <p:cNvPicPr>
            <a:picLocks noChangeAspect="1"/>
          </p:cNvPicPr>
          <p:nvPr/>
        </p:nvPicPr>
        <p:blipFill>
          <a:blip r:embed="rId5"/>
          <a:stretch>
            <a:fillRect/>
          </a:stretch>
        </p:blipFill>
        <p:spPr>
          <a:xfrm>
            <a:off x="8321040" y="1919773"/>
            <a:ext cx="3291840" cy="2149773"/>
          </a:xfrm>
          <a:prstGeom prst="rect">
            <a:avLst/>
          </a:prstGeom>
        </p:spPr>
      </p:pic>
      <p:sp>
        <p:nvSpPr>
          <p:cNvPr id="21" name="TextBox 20"/>
          <p:cNvSpPr txBox="1"/>
          <p:nvPr/>
        </p:nvSpPr>
        <p:spPr>
          <a:xfrm>
            <a:off x="8366760" y="4297680"/>
            <a:ext cx="3200400" cy="777240"/>
          </a:xfrm>
          <a:prstGeom prst="rect">
            <a:avLst/>
          </a:prstGeom>
          <a:noFill/>
        </p:spPr>
        <p:txBody>
          <a:bodyPr wrap="square" lIns="0" rIns="0" tIns="0" bIns="0" anchor="t"/>
          <a:lstStyle/>
          <a:p>
            <a:pPr algn="ctr">
              <a:spcBef>
                <a:spcPts val="0"/>
              </a:spcBef>
              <a:spcAft>
                <a:spcPts val="0"/>
              </a:spcAft>
            </a:pPr>
            <a:r>
              <a:rPr sz="1400" b="0">
                <a:solidFill>
                  <a:srgbClr val="6E6573"/>
                </a:solidFill>
                <a:latin typeface="Calibri"/>
              </a:rPr>
              <a:t>Des tickets. Trop lourd pour le point du matin.</a:t>
            </a:r>
          </a:p>
        </p:txBody>
      </p:sp>
      <p:sp>
        <p:nvSpPr>
          <p:cNvPr id="22" name="Rounded Rectangle 21"/>
          <p:cNvSpPr/>
          <p:nvPr/>
        </p:nvSpPr>
        <p:spPr>
          <a:xfrm>
            <a:off x="457200" y="5394960"/>
            <a:ext cx="11247120" cy="868680"/>
          </a:xfrm>
          <a:prstGeom prst="roundRect">
            <a:avLst>
              <a:gd name="adj" fmla="val 12000"/>
            </a:avLst>
          </a:prstGeom>
          <a:solidFill>
            <a:srgbClr val="F8E4EC"/>
          </a:solidFill>
          <a:ln w="15875">
            <a:solidFill>
              <a:srgbClr val="F8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532120"/>
            <a:ext cx="10881360" cy="594360"/>
          </a:xfrm>
          <a:prstGeom prst="rect">
            <a:avLst/>
          </a:prstGeom>
          <a:noFill/>
        </p:spPr>
        <p:txBody>
          <a:bodyPr wrap="square" lIns="0" rIns="0" tIns="0" bIns="0" anchor="ctr"/>
          <a:lstStyle/>
          <a:p>
            <a:pPr algn="ctr">
              <a:spcBef>
                <a:spcPts val="0"/>
              </a:spcBef>
              <a:spcAft>
                <a:spcPts val="0"/>
              </a:spcAft>
            </a:pPr>
            <a:r>
              <a:rPr sz="1600" b="1">
                <a:solidFill>
                  <a:srgbClr val="2A2430"/>
                </a:solidFill>
                <a:latin typeface="Calibri"/>
              </a:rPr>
              <a:t>Aucun ne réunit une organisation fermée, trois rôles, trois champs d'avancement, et le web avec le mobile.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Briefly</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07</a:t>
            </a:r>
          </a:p>
        </p:txBody>
      </p:sp>
      <p:sp>
        <p:nvSpPr>
          <p:cNvPr id="7" name="TextBox 6"/>
          <p:cNvSpPr txBox="1"/>
          <p:nvPr/>
        </p:nvSpPr>
        <p:spPr>
          <a:xfrm>
            <a:off x="502920" y="1051560"/>
            <a:ext cx="5760720" cy="640080"/>
          </a:xfrm>
          <a:prstGeom prst="rect">
            <a:avLst/>
          </a:prstGeom>
          <a:noFill/>
        </p:spPr>
        <p:txBody>
          <a:bodyPr wrap="square" lIns="0" rIns="0" tIns="0" bIns="0" anchor="t"/>
          <a:lstStyle/>
          <a:p>
            <a:pPr algn="l">
              <a:spcBef>
                <a:spcPts val="0"/>
              </a:spcBef>
              <a:spcAft>
                <a:spcPts val="0"/>
              </a:spcAft>
            </a:pPr>
            <a:r>
              <a:rPr sz="1600" b="0">
                <a:solidFill>
                  <a:srgbClr val="6E6573"/>
                </a:solidFill>
                <a:latin typeface="Calibri"/>
              </a:rPr>
              <a:t>Application interne, web et mobile.</a:t>
            </a:r>
          </a:p>
          <a:p>
            <a:pPr algn="l">
              <a:spcBef>
                <a:spcPts val="0"/>
              </a:spcBef>
              <a:spcAft>
                <a:spcPts val="0"/>
              </a:spcAft>
            </a:pPr>
            <a:r>
              <a:rPr sz="1600" b="0">
                <a:solidFill>
                  <a:srgbClr val="6E6573"/>
                </a:solidFill>
                <a:latin typeface="Calibri"/>
              </a:rPr>
              <a:t>Pas d'inscription publique.</a:t>
            </a:r>
          </a:p>
        </p:txBody>
      </p:sp>
      <p:sp>
        <p:nvSpPr>
          <p:cNvPr id="8" name="Rounded Rectangle 7"/>
          <p:cNvSpPr/>
          <p:nvPr/>
        </p:nvSpPr>
        <p:spPr>
          <a:xfrm>
            <a:off x="502920" y="1828800"/>
            <a:ext cx="5760720" cy="960120"/>
          </a:xfrm>
          <a:prstGeom prst="roundRect">
            <a:avLst>
              <a:gd name="adj" fmla="val 14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28800"/>
            <a:ext cx="73152" cy="960120"/>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38528"/>
            <a:ext cx="5212080" cy="320040"/>
          </a:xfrm>
          <a:prstGeom prst="rect">
            <a:avLst/>
          </a:prstGeom>
          <a:noFill/>
        </p:spPr>
        <p:txBody>
          <a:bodyPr wrap="square" lIns="0" rIns="0" tIns="0" bIns="0" anchor="t"/>
          <a:lstStyle/>
          <a:p>
            <a:pPr algn="l">
              <a:spcBef>
                <a:spcPts val="0"/>
              </a:spcBef>
              <a:spcAft>
                <a:spcPts val="0"/>
              </a:spcAft>
            </a:pPr>
            <a:r>
              <a:rPr sz="1600" b="1">
                <a:solidFill>
                  <a:srgbClr val="2A2430"/>
                </a:solidFill>
                <a:latin typeface="Calibri"/>
              </a:rPr>
              <a:t>Organiser</a:t>
            </a:r>
          </a:p>
        </p:txBody>
      </p:sp>
      <p:sp>
        <p:nvSpPr>
          <p:cNvPr id="11" name="TextBox 10"/>
          <p:cNvSpPr txBox="1"/>
          <p:nvPr/>
        </p:nvSpPr>
        <p:spPr>
          <a:xfrm>
            <a:off x="777240" y="2286000"/>
            <a:ext cx="5212080" cy="36576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Équipes, projets, tâches</a:t>
            </a:r>
          </a:p>
        </p:txBody>
      </p:sp>
      <p:sp>
        <p:nvSpPr>
          <p:cNvPr id="12" name="Rounded Rectangle 11"/>
          <p:cNvSpPr/>
          <p:nvPr/>
        </p:nvSpPr>
        <p:spPr>
          <a:xfrm>
            <a:off x="502920" y="2880360"/>
            <a:ext cx="5760720" cy="960120"/>
          </a:xfrm>
          <a:prstGeom prst="roundRect">
            <a:avLst>
              <a:gd name="adj" fmla="val 14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2880360"/>
            <a:ext cx="73152" cy="960120"/>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990088"/>
            <a:ext cx="5212080" cy="320040"/>
          </a:xfrm>
          <a:prstGeom prst="rect">
            <a:avLst/>
          </a:prstGeom>
          <a:noFill/>
        </p:spPr>
        <p:txBody>
          <a:bodyPr wrap="square" lIns="0" rIns="0" tIns="0" bIns="0" anchor="t"/>
          <a:lstStyle/>
          <a:p>
            <a:pPr algn="l">
              <a:spcBef>
                <a:spcPts val="0"/>
              </a:spcBef>
              <a:spcAft>
                <a:spcPts val="0"/>
              </a:spcAft>
            </a:pPr>
            <a:r>
              <a:rPr sz="1600" b="1">
                <a:solidFill>
                  <a:srgbClr val="2A2430"/>
                </a:solidFill>
                <a:latin typeface="Calibri"/>
              </a:rPr>
              <a:t>Rendre compte</a:t>
            </a:r>
          </a:p>
        </p:txBody>
      </p:sp>
      <p:sp>
        <p:nvSpPr>
          <p:cNvPr id="15" name="TextBox 14"/>
          <p:cNvSpPr txBox="1"/>
          <p:nvPr/>
        </p:nvSpPr>
        <p:spPr>
          <a:xfrm>
            <a:off x="777240" y="3337560"/>
            <a:ext cx="5212080" cy="36576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Déjà fait, la suite, le blocage</a:t>
            </a:r>
          </a:p>
        </p:txBody>
      </p:sp>
      <p:sp>
        <p:nvSpPr>
          <p:cNvPr id="16" name="Rounded Rectangle 15"/>
          <p:cNvSpPr/>
          <p:nvPr/>
        </p:nvSpPr>
        <p:spPr>
          <a:xfrm>
            <a:off x="502920" y="3931920"/>
            <a:ext cx="5760720" cy="960120"/>
          </a:xfrm>
          <a:prstGeom prst="roundRect">
            <a:avLst>
              <a:gd name="adj" fmla="val 14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931920"/>
            <a:ext cx="73152" cy="960120"/>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041648"/>
            <a:ext cx="5212080" cy="320040"/>
          </a:xfrm>
          <a:prstGeom prst="rect">
            <a:avLst/>
          </a:prstGeom>
          <a:noFill/>
        </p:spPr>
        <p:txBody>
          <a:bodyPr wrap="square" lIns="0" rIns="0" tIns="0" bIns="0" anchor="t"/>
          <a:lstStyle/>
          <a:p>
            <a:pPr algn="l">
              <a:spcBef>
                <a:spcPts val="0"/>
              </a:spcBef>
              <a:spcAft>
                <a:spcPts val="0"/>
              </a:spcAft>
            </a:pPr>
            <a:r>
              <a:rPr sz="1600" b="1">
                <a:solidFill>
                  <a:srgbClr val="2A2430"/>
                </a:solidFill>
                <a:latin typeface="Calibri"/>
              </a:rPr>
              <a:t>Piloter</a:t>
            </a:r>
          </a:p>
        </p:txBody>
      </p:sp>
      <p:sp>
        <p:nvSpPr>
          <p:cNvPr id="19" name="TextBox 18"/>
          <p:cNvSpPr txBox="1"/>
          <p:nvPr/>
        </p:nvSpPr>
        <p:spPr>
          <a:xfrm>
            <a:off x="777240" y="4389120"/>
            <a:ext cx="5212080" cy="36576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Un taux par membre, équipe et projet</a:t>
            </a:r>
          </a:p>
        </p:txBody>
      </p:sp>
      <p:sp>
        <p:nvSpPr>
          <p:cNvPr id="20" name="Rounded Rectangle 19"/>
          <p:cNvSpPr/>
          <p:nvPr/>
        </p:nvSpPr>
        <p:spPr>
          <a:xfrm>
            <a:off x="502920" y="4983479"/>
            <a:ext cx="5760720" cy="960120"/>
          </a:xfrm>
          <a:prstGeom prst="roundRect">
            <a:avLst>
              <a:gd name="adj" fmla="val 14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983479"/>
            <a:ext cx="73152" cy="960120"/>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093207"/>
            <a:ext cx="5212080" cy="320040"/>
          </a:xfrm>
          <a:prstGeom prst="rect">
            <a:avLst/>
          </a:prstGeom>
          <a:noFill/>
        </p:spPr>
        <p:txBody>
          <a:bodyPr wrap="square" lIns="0" rIns="0" tIns="0" bIns="0" anchor="t"/>
          <a:lstStyle/>
          <a:p>
            <a:pPr algn="l">
              <a:spcBef>
                <a:spcPts val="0"/>
              </a:spcBef>
              <a:spcAft>
                <a:spcPts val="0"/>
              </a:spcAft>
            </a:pPr>
            <a:r>
              <a:rPr sz="1600" b="1">
                <a:solidFill>
                  <a:srgbClr val="2A2430"/>
                </a:solidFill>
                <a:latin typeface="Calibri"/>
              </a:rPr>
              <a:t>Cloisonner</a:t>
            </a:r>
          </a:p>
        </p:txBody>
      </p:sp>
      <p:sp>
        <p:nvSpPr>
          <p:cNvPr id="23" name="TextBox 22"/>
          <p:cNvSpPr txBox="1"/>
          <p:nvPr/>
        </p:nvSpPr>
        <p:spPr>
          <a:xfrm>
            <a:off x="777240" y="5440679"/>
            <a:ext cx="5212080" cy="36576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Administrateur, chef, membre</a:t>
            </a:r>
          </a:p>
        </p:txBody>
      </p:sp>
      <p:pic>
        <p:nvPicPr>
          <p:cNvPr id="24" name="Picture 23" descr="dash-member.png"/>
          <p:cNvPicPr>
            <a:picLocks noChangeAspect="1"/>
          </p:cNvPicPr>
          <p:nvPr/>
        </p:nvPicPr>
        <p:blipFill>
          <a:blip r:embed="rId3"/>
          <a:stretch>
            <a:fillRect/>
          </a:stretch>
        </p:blipFill>
        <p:spPr>
          <a:xfrm>
            <a:off x="6492240" y="1825294"/>
            <a:ext cx="5212080" cy="357317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Trois rôles</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08</a:t>
            </a:r>
          </a:p>
        </p:txBody>
      </p:sp>
      <p:sp>
        <p:nvSpPr>
          <p:cNvPr id="7" name="TextBox 6"/>
          <p:cNvSpPr txBox="1"/>
          <p:nvPr/>
        </p:nvSpPr>
        <p:spPr>
          <a:xfrm>
            <a:off x="411480" y="1005840"/>
            <a:ext cx="3703320" cy="320040"/>
          </a:xfrm>
          <a:prstGeom prst="rect">
            <a:avLst/>
          </a:prstGeom>
          <a:noFill/>
        </p:spPr>
        <p:txBody>
          <a:bodyPr wrap="square" lIns="0" rIns="0" tIns="0" bIns="0" anchor="t"/>
          <a:lstStyle/>
          <a:p>
            <a:pPr algn="ctr">
              <a:spcBef>
                <a:spcPts val="0"/>
              </a:spcBef>
              <a:spcAft>
                <a:spcPts val="0"/>
              </a:spcAft>
            </a:pPr>
            <a:r>
              <a:rPr sz="1800" b="1">
                <a:solidFill>
                  <a:srgbClr val="2A2430"/>
                </a:solidFill>
                <a:latin typeface="Calibri"/>
              </a:rPr>
              <a:t>Administrateur</a:t>
            </a:r>
          </a:p>
        </p:txBody>
      </p:sp>
      <p:pic>
        <p:nvPicPr>
          <p:cNvPr id="8" name="Picture 7" descr="dash-admin.png"/>
          <p:cNvPicPr>
            <a:picLocks noChangeAspect="1"/>
          </p:cNvPicPr>
          <p:nvPr/>
        </p:nvPicPr>
        <p:blipFill>
          <a:blip r:embed="rId3"/>
          <a:stretch>
            <a:fillRect/>
          </a:stretch>
        </p:blipFill>
        <p:spPr>
          <a:xfrm>
            <a:off x="695914" y="1371600"/>
            <a:ext cx="3134450" cy="2148840"/>
          </a:xfrm>
          <a:prstGeom prst="rect">
            <a:avLst/>
          </a:prstGeom>
        </p:spPr>
      </p:pic>
      <p:sp>
        <p:nvSpPr>
          <p:cNvPr id="9" name="Rounded Rectangle 8"/>
          <p:cNvSpPr/>
          <p:nvPr/>
        </p:nvSpPr>
        <p:spPr>
          <a:xfrm>
            <a:off x="411480" y="3657600"/>
            <a:ext cx="3703320" cy="1143000"/>
          </a:xfrm>
          <a:prstGeom prst="roundRect">
            <a:avLst>
              <a:gd name="adj" fmla="val 12000"/>
            </a:avLst>
          </a:prstGeom>
          <a:solidFill>
            <a:srgbClr val="F8E4EC"/>
          </a:solidFill>
          <a:ln w="15875">
            <a:solidFill>
              <a:srgbClr val="F8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749039"/>
            <a:ext cx="3429000" cy="228600"/>
          </a:xfrm>
          <a:prstGeom prst="rect">
            <a:avLst/>
          </a:prstGeom>
          <a:noFill/>
        </p:spPr>
        <p:txBody>
          <a:bodyPr wrap="square" lIns="0" rIns="0" tIns="0" bIns="0" anchor="t"/>
          <a:lstStyle/>
          <a:p>
            <a:pPr algn="l">
              <a:spcBef>
                <a:spcPts val="0"/>
              </a:spcBef>
              <a:spcAft>
                <a:spcPts val="0"/>
              </a:spcAft>
            </a:pPr>
            <a:r>
              <a:rPr sz="1200" b="1">
                <a:solidFill>
                  <a:srgbClr val="A34564"/>
                </a:solidFill>
                <a:latin typeface="Calibri"/>
              </a:rPr>
              <a:t>Peut</a:t>
            </a:r>
          </a:p>
        </p:txBody>
      </p:sp>
      <p:sp>
        <p:nvSpPr>
          <p:cNvPr id="11" name="TextBox 10"/>
          <p:cNvSpPr txBox="1"/>
          <p:nvPr/>
        </p:nvSpPr>
        <p:spPr>
          <a:xfrm>
            <a:off x="548640" y="4005072"/>
            <a:ext cx="3429000" cy="685800"/>
          </a:xfrm>
          <a:prstGeom prst="rect">
            <a:avLst/>
          </a:prstGeom>
          <a:noFill/>
        </p:spPr>
        <p:txBody>
          <a:bodyPr wrap="square" lIns="0" rIns="0" tIns="0" bIns="0" anchor="t"/>
          <a:lstStyle/>
          <a:p>
            <a:pPr algn="l">
              <a:spcBef>
                <a:spcPts val="0"/>
              </a:spcBef>
              <a:spcAft>
                <a:spcPts val="0"/>
              </a:spcAft>
            </a:pPr>
            <a:r>
              <a:rPr sz="1300" b="0">
                <a:solidFill>
                  <a:srgbClr val="2A2430"/>
                </a:solidFill>
                <a:latin typeface="Calibri"/>
              </a:rPr>
              <a:t>Comptes, équipes, projets, vue globale.</a:t>
            </a:r>
          </a:p>
        </p:txBody>
      </p:sp>
      <p:sp>
        <p:nvSpPr>
          <p:cNvPr id="12" name="Rounded Rectangle 11"/>
          <p:cNvSpPr/>
          <p:nvPr/>
        </p:nvSpPr>
        <p:spPr>
          <a:xfrm>
            <a:off x="411480" y="4892040"/>
            <a:ext cx="3703320" cy="128016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983480"/>
            <a:ext cx="3429000" cy="228600"/>
          </a:xfrm>
          <a:prstGeom prst="rect">
            <a:avLst/>
          </a:prstGeom>
          <a:noFill/>
        </p:spPr>
        <p:txBody>
          <a:bodyPr wrap="square" lIns="0" rIns="0" tIns="0" bIns="0" anchor="t"/>
          <a:lstStyle/>
          <a:p>
            <a:pPr algn="l">
              <a:spcBef>
                <a:spcPts val="0"/>
              </a:spcBef>
              <a:spcAft>
                <a:spcPts val="0"/>
              </a:spcAft>
            </a:pPr>
            <a:r>
              <a:rPr sz="1200" b="1">
                <a:solidFill>
                  <a:srgbClr val="7A7380"/>
                </a:solidFill>
                <a:latin typeface="Calibri"/>
              </a:rPr>
              <a:t>Ne peut pas</a:t>
            </a:r>
          </a:p>
        </p:txBody>
      </p:sp>
      <p:sp>
        <p:nvSpPr>
          <p:cNvPr id="14" name="TextBox 13"/>
          <p:cNvSpPr txBox="1"/>
          <p:nvPr/>
        </p:nvSpPr>
        <p:spPr>
          <a:xfrm>
            <a:off x="548640" y="5257800"/>
            <a:ext cx="3429000" cy="777240"/>
          </a:xfrm>
          <a:prstGeom prst="rect">
            <a:avLst/>
          </a:prstGeom>
          <a:noFill/>
        </p:spPr>
        <p:txBody>
          <a:bodyPr wrap="square" lIns="0" rIns="0" tIns="0" bIns="0" anchor="t"/>
          <a:lstStyle/>
          <a:p>
            <a:pPr algn="l">
              <a:spcBef>
                <a:spcPts val="0"/>
              </a:spcBef>
              <a:spcAft>
                <a:spcPts val="0"/>
              </a:spcAft>
            </a:pPr>
            <a:r>
              <a:rPr sz="1300" b="0">
                <a:solidFill>
                  <a:srgbClr val="2A2430"/>
                </a:solidFill>
                <a:latin typeface="Calibri"/>
              </a:rPr>
              <a:t>Pas de tâches personnelles.</a:t>
            </a:r>
          </a:p>
        </p:txBody>
      </p:sp>
      <p:sp>
        <p:nvSpPr>
          <p:cNvPr id="15" name="TextBox 14"/>
          <p:cNvSpPr txBox="1"/>
          <p:nvPr/>
        </p:nvSpPr>
        <p:spPr>
          <a:xfrm>
            <a:off x="4297680" y="1005840"/>
            <a:ext cx="3703320" cy="320040"/>
          </a:xfrm>
          <a:prstGeom prst="rect">
            <a:avLst/>
          </a:prstGeom>
          <a:noFill/>
        </p:spPr>
        <p:txBody>
          <a:bodyPr wrap="square" lIns="0" rIns="0" tIns="0" bIns="0" anchor="t"/>
          <a:lstStyle/>
          <a:p>
            <a:pPr algn="ctr">
              <a:spcBef>
                <a:spcPts val="0"/>
              </a:spcBef>
              <a:spcAft>
                <a:spcPts val="0"/>
              </a:spcAft>
            </a:pPr>
            <a:r>
              <a:rPr sz="1800" b="1">
                <a:solidFill>
                  <a:srgbClr val="2A2430"/>
                </a:solidFill>
                <a:latin typeface="Calibri"/>
              </a:rPr>
              <a:t>Chef d'équipe</a:t>
            </a:r>
          </a:p>
        </p:txBody>
      </p:sp>
      <p:pic>
        <p:nvPicPr>
          <p:cNvPr id="16" name="Picture 15" descr="team-tasks.png"/>
          <p:cNvPicPr>
            <a:picLocks noChangeAspect="1"/>
          </p:cNvPicPr>
          <p:nvPr/>
        </p:nvPicPr>
        <p:blipFill>
          <a:blip r:embed="rId4"/>
          <a:stretch>
            <a:fillRect/>
          </a:stretch>
        </p:blipFill>
        <p:spPr>
          <a:xfrm>
            <a:off x="4394389" y="1371600"/>
            <a:ext cx="3509901" cy="2148840"/>
          </a:xfrm>
          <a:prstGeom prst="rect">
            <a:avLst/>
          </a:prstGeom>
        </p:spPr>
      </p:pic>
      <p:sp>
        <p:nvSpPr>
          <p:cNvPr id="17" name="Rounded Rectangle 16"/>
          <p:cNvSpPr/>
          <p:nvPr/>
        </p:nvSpPr>
        <p:spPr>
          <a:xfrm>
            <a:off x="4297680" y="3657600"/>
            <a:ext cx="3703320" cy="1143000"/>
          </a:xfrm>
          <a:prstGeom prst="roundRect">
            <a:avLst>
              <a:gd name="adj" fmla="val 12000"/>
            </a:avLst>
          </a:prstGeom>
          <a:solidFill>
            <a:srgbClr val="F8E4EC"/>
          </a:solidFill>
          <a:ln w="15875">
            <a:solidFill>
              <a:srgbClr val="F8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3749039"/>
            <a:ext cx="3429000" cy="228600"/>
          </a:xfrm>
          <a:prstGeom prst="rect">
            <a:avLst/>
          </a:prstGeom>
          <a:noFill/>
        </p:spPr>
        <p:txBody>
          <a:bodyPr wrap="square" lIns="0" rIns="0" tIns="0" bIns="0" anchor="t"/>
          <a:lstStyle/>
          <a:p>
            <a:pPr algn="l">
              <a:spcBef>
                <a:spcPts val="0"/>
              </a:spcBef>
              <a:spcAft>
                <a:spcPts val="0"/>
              </a:spcAft>
            </a:pPr>
            <a:r>
              <a:rPr sz="1200" b="1">
                <a:solidFill>
                  <a:srgbClr val="A34564"/>
                </a:solidFill>
                <a:latin typeface="Calibri"/>
              </a:rPr>
              <a:t>Peut</a:t>
            </a:r>
          </a:p>
        </p:txBody>
      </p:sp>
      <p:sp>
        <p:nvSpPr>
          <p:cNvPr id="19" name="TextBox 18"/>
          <p:cNvSpPr txBox="1"/>
          <p:nvPr/>
        </p:nvSpPr>
        <p:spPr>
          <a:xfrm>
            <a:off x="4434840" y="4005072"/>
            <a:ext cx="3429000" cy="685800"/>
          </a:xfrm>
          <a:prstGeom prst="rect">
            <a:avLst/>
          </a:prstGeom>
          <a:noFill/>
        </p:spPr>
        <p:txBody>
          <a:bodyPr wrap="square" lIns="0" rIns="0" tIns="0" bIns="0" anchor="t"/>
          <a:lstStyle/>
          <a:p>
            <a:pPr algn="l">
              <a:spcBef>
                <a:spcPts val="0"/>
              </a:spcBef>
              <a:spcAft>
                <a:spcPts val="0"/>
              </a:spcAft>
            </a:pPr>
            <a:r>
              <a:rPr sz="1300" b="0">
                <a:solidFill>
                  <a:srgbClr val="2A2430"/>
                </a:solidFill>
                <a:latin typeface="Calibri"/>
              </a:rPr>
              <a:t>Tâches de ses équipes, filtre, fiche membre.</a:t>
            </a:r>
          </a:p>
        </p:txBody>
      </p:sp>
      <p:sp>
        <p:nvSpPr>
          <p:cNvPr id="20" name="Rounded Rectangle 19"/>
          <p:cNvSpPr/>
          <p:nvPr/>
        </p:nvSpPr>
        <p:spPr>
          <a:xfrm>
            <a:off x="4297680" y="4892040"/>
            <a:ext cx="3703320" cy="128016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4983480"/>
            <a:ext cx="3429000" cy="228600"/>
          </a:xfrm>
          <a:prstGeom prst="rect">
            <a:avLst/>
          </a:prstGeom>
          <a:noFill/>
        </p:spPr>
        <p:txBody>
          <a:bodyPr wrap="square" lIns="0" rIns="0" tIns="0" bIns="0" anchor="t"/>
          <a:lstStyle/>
          <a:p>
            <a:pPr algn="l">
              <a:spcBef>
                <a:spcPts val="0"/>
              </a:spcBef>
              <a:spcAft>
                <a:spcPts val="0"/>
              </a:spcAft>
            </a:pPr>
            <a:r>
              <a:rPr sz="1200" b="1">
                <a:solidFill>
                  <a:srgbClr val="7A7380"/>
                </a:solidFill>
                <a:latin typeface="Calibri"/>
              </a:rPr>
              <a:t>Ne peut pas</a:t>
            </a:r>
          </a:p>
        </p:txBody>
      </p:sp>
      <p:sp>
        <p:nvSpPr>
          <p:cNvPr id="22" name="TextBox 21"/>
          <p:cNvSpPr txBox="1"/>
          <p:nvPr/>
        </p:nvSpPr>
        <p:spPr>
          <a:xfrm>
            <a:off x="4434840" y="5257800"/>
            <a:ext cx="3429000" cy="777240"/>
          </a:xfrm>
          <a:prstGeom prst="rect">
            <a:avLst/>
          </a:prstGeom>
          <a:noFill/>
        </p:spPr>
        <p:txBody>
          <a:bodyPr wrap="square" lIns="0" rIns="0" tIns="0" bIns="0" anchor="t"/>
          <a:lstStyle/>
          <a:p>
            <a:pPr algn="l">
              <a:spcBef>
                <a:spcPts val="0"/>
              </a:spcBef>
              <a:spcAft>
                <a:spcPts val="0"/>
              </a:spcAft>
            </a:pPr>
            <a:r>
              <a:rPr sz="1300" b="0">
                <a:solidFill>
                  <a:srgbClr val="2A2430"/>
                </a:solidFill>
                <a:latin typeface="Calibri"/>
              </a:rPr>
              <a:t>Ni les projets, ni les comptes.</a:t>
            </a:r>
          </a:p>
        </p:txBody>
      </p:sp>
      <p:sp>
        <p:nvSpPr>
          <p:cNvPr id="23" name="TextBox 22"/>
          <p:cNvSpPr txBox="1"/>
          <p:nvPr/>
        </p:nvSpPr>
        <p:spPr>
          <a:xfrm>
            <a:off x="8183879" y="1005840"/>
            <a:ext cx="3703320" cy="320040"/>
          </a:xfrm>
          <a:prstGeom prst="rect">
            <a:avLst/>
          </a:prstGeom>
          <a:noFill/>
        </p:spPr>
        <p:txBody>
          <a:bodyPr wrap="square" lIns="0" rIns="0" tIns="0" bIns="0" anchor="t"/>
          <a:lstStyle/>
          <a:p>
            <a:pPr algn="ctr">
              <a:spcBef>
                <a:spcPts val="0"/>
              </a:spcBef>
              <a:spcAft>
                <a:spcPts val="0"/>
              </a:spcAft>
            </a:pPr>
            <a:r>
              <a:rPr sz="1800" b="1">
                <a:solidFill>
                  <a:srgbClr val="2A2430"/>
                </a:solidFill>
                <a:latin typeface="Calibri"/>
              </a:rPr>
              <a:t>Membre</a:t>
            </a:r>
          </a:p>
        </p:txBody>
      </p:sp>
      <p:pic>
        <p:nvPicPr>
          <p:cNvPr id="24" name="Picture 23" descr="my-tasks.png"/>
          <p:cNvPicPr>
            <a:picLocks noChangeAspect="1"/>
          </p:cNvPicPr>
          <p:nvPr/>
        </p:nvPicPr>
        <p:blipFill>
          <a:blip r:embed="rId5"/>
          <a:stretch>
            <a:fillRect/>
          </a:stretch>
        </p:blipFill>
        <p:spPr>
          <a:xfrm>
            <a:off x="8183879" y="1705356"/>
            <a:ext cx="3703320" cy="1481328"/>
          </a:xfrm>
          <a:prstGeom prst="rect">
            <a:avLst/>
          </a:prstGeom>
        </p:spPr>
      </p:pic>
      <p:sp>
        <p:nvSpPr>
          <p:cNvPr id="25" name="Rounded Rectangle 24"/>
          <p:cNvSpPr/>
          <p:nvPr/>
        </p:nvSpPr>
        <p:spPr>
          <a:xfrm>
            <a:off x="8183879" y="3657600"/>
            <a:ext cx="3703320" cy="1143000"/>
          </a:xfrm>
          <a:prstGeom prst="roundRect">
            <a:avLst>
              <a:gd name="adj" fmla="val 12000"/>
            </a:avLst>
          </a:prstGeom>
          <a:solidFill>
            <a:srgbClr val="F8E4EC"/>
          </a:solidFill>
          <a:ln w="15875">
            <a:solidFill>
              <a:srgbClr val="F8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3749039"/>
            <a:ext cx="3429000" cy="228600"/>
          </a:xfrm>
          <a:prstGeom prst="rect">
            <a:avLst/>
          </a:prstGeom>
          <a:noFill/>
        </p:spPr>
        <p:txBody>
          <a:bodyPr wrap="square" lIns="0" rIns="0" tIns="0" bIns="0" anchor="t"/>
          <a:lstStyle/>
          <a:p>
            <a:pPr algn="l">
              <a:spcBef>
                <a:spcPts val="0"/>
              </a:spcBef>
              <a:spcAft>
                <a:spcPts val="0"/>
              </a:spcAft>
            </a:pPr>
            <a:r>
              <a:rPr sz="1200" b="1">
                <a:solidFill>
                  <a:srgbClr val="A34564"/>
                </a:solidFill>
                <a:latin typeface="Calibri"/>
              </a:rPr>
              <a:t>Peut</a:t>
            </a:r>
          </a:p>
        </p:txBody>
      </p:sp>
      <p:sp>
        <p:nvSpPr>
          <p:cNvPr id="27" name="TextBox 26"/>
          <p:cNvSpPr txBox="1"/>
          <p:nvPr/>
        </p:nvSpPr>
        <p:spPr>
          <a:xfrm>
            <a:off x="8321040" y="4005072"/>
            <a:ext cx="3429000" cy="685800"/>
          </a:xfrm>
          <a:prstGeom prst="rect">
            <a:avLst/>
          </a:prstGeom>
          <a:noFill/>
        </p:spPr>
        <p:txBody>
          <a:bodyPr wrap="square" lIns="0" rIns="0" tIns="0" bIns="0" anchor="t"/>
          <a:lstStyle/>
          <a:p>
            <a:pPr algn="l">
              <a:spcBef>
                <a:spcPts val="0"/>
              </a:spcBef>
              <a:spcAft>
                <a:spcPts val="0"/>
              </a:spcAft>
            </a:pPr>
            <a:r>
              <a:rPr sz="1300" b="0">
                <a:solidFill>
                  <a:srgbClr val="2A2430"/>
                </a:solidFill>
                <a:latin typeface="Calibri"/>
              </a:rPr>
              <a:t>Ses tâches, son point, son historique.</a:t>
            </a:r>
          </a:p>
        </p:txBody>
      </p:sp>
      <p:sp>
        <p:nvSpPr>
          <p:cNvPr id="28" name="Rounded Rectangle 27"/>
          <p:cNvSpPr/>
          <p:nvPr/>
        </p:nvSpPr>
        <p:spPr>
          <a:xfrm>
            <a:off x="8183879" y="4892040"/>
            <a:ext cx="3703320" cy="128016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0" y="4983480"/>
            <a:ext cx="3429000" cy="228600"/>
          </a:xfrm>
          <a:prstGeom prst="rect">
            <a:avLst/>
          </a:prstGeom>
          <a:noFill/>
        </p:spPr>
        <p:txBody>
          <a:bodyPr wrap="square" lIns="0" rIns="0" tIns="0" bIns="0" anchor="t"/>
          <a:lstStyle/>
          <a:p>
            <a:pPr algn="l">
              <a:spcBef>
                <a:spcPts val="0"/>
              </a:spcBef>
              <a:spcAft>
                <a:spcPts val="0"/>
              </a:spcAft>
            </a:pPr>
            <a:r>
              <a:rPr sz="1200" b="1">
                <a:solidFill>
                  <a:srgbClr val="7A7380"/>
                </a:solidFill>
                <a:latin typeface="Calibri"/>
              </a:rPr>
              <a:t>Ne peut pas</a:t>
            </a:r>
          </a:p>
        </p:txBody>
      </p:sp>
      <p:sp>
        <p:nvSpPr>
          <p:cNvPr id="30" name="TextBox 29"/>
          <p:cNvSpPr txBox="1"/>
          <p:nvPr/>
        </p:nvSpPr>
        <p:spPr>
          <a:xfrm>
            <a:off x="8321040" y="5257800"/>
            <a:ext cx="3429000" cy="777240"/>
          </a:xfrm>
          <a:prstGeom prst="rect">
            <a:avLst/>
          </a:prstGeom>
          <a:noFill/>
        </p:spPr>
        <p:txBody>
          <a:bodyPr wrap="square" lIns="0" rIns="0" tIns="0" bIns="0" anchor="t"/>
          <a:lstStyle/>
          <a:p>
            <a:pPr algn="l">
              <a:spcBef>
                <a:spcPts val="0"/>
              </a:spcBef>
              <a:spcAft>
                <a:spcPts val="0"/>
              </a:spcAft>
            </a:pPr>
            <a:r>
              <a:rPr sz="1300" b="0">
                <a:solidFill>
                  <a:srgbClr val="2A2430"/>
                </a:solidFill>
                <a:latin typeface="Calibri"/>
              </a:rPr>
              <a:t>Seulement les tâches assignées.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Le parcours</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09</a:t>
            </a:r>
          </a:p>
        </p:txBody>
      </p:sp>
      <p:sp>
        <p:nvSpPr>
          <p:cNvPr id="7" name="Rounded Rectangle 6"/>
          <p:cNvSpPr/>
          <p:nvPr/>
        </p:nvSpPr>
        <p:spPr>
          <a:xfrm>
            <a:off x="411480" y="1051560"/>
            <a:ext cx="2743200" cy="132588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143000"/>
            <a:ext cx="365760" cy="320040"/>
          </a:xfrm>
          <a:prstGeom prst="rect">
            <a:avLst/>
          </a:prstGeom>
          <a:noFill/>
        </p:spPr>
        <p:txBody>
          <a:bodyPr wrap="square" lIns="0" rIns="0" tIns="0" bIns="0" anchor="t"/>
          <a:lstStyle/>
          <a:p>
            <a:pPr algn="l">
              <a:spcBef>
                <a:spcPts val="0"/>
              </a:spcBef>
              <a:spcAft>
                <a:spcPts val="0"/>
              </a:spcAft>
            </a:pPr>
            <a:r>
              <a:rPr sz="1600" b="1">
                <a:solidFill>
                  <a:srgbClr val="C45B7A"/>
                </a:solidFill>
                <a:latin typeface="Calibri"/>
              </a:rPr>
              <a:t>1</a:t>
            </a:r>
          </a:p>
        </p:txBody>
      </p:sp>
      <p:sp>
        <p:nvSpPr>
          <p:cNvPr id="9" name="TextBox 8"/>
          <p:cNvSpPr txBox="1"/>
          <p:nvPr/>
        </p:nvSpPr>
        <p:spPr>
          <a:xfrm>
            <a:off x="914400" y="1143000"/>
            <a:ext cx="2011680" cy="320040"/>
          </a:xfrm>
          <a:prstGeom prst="rect">
            <a:avLst/>
          </a:prstGeom>
          <a:noFill/>
        </p:spPr>
        <p:txBody>
          <a:bodyPr wrap="square" lIns="0" rIns="0" tIns="0" bIns="0" anchor="t"/>
          <a:lstStyle/>
          <a:p>
            <a:pPr algn="l">
              <a:spcBef>
                <a:spcPts val="0"/>
              </a:spcBef>
              <a:spcAft>
                <a:spcPts val="0"/>
              </a:spcAft>
            </a:pPr>
            <a:r>
              <a:rPr sz="1600" b="1">
                <a:solidFill>
                  <a:srgbClr val="2A2430"/>
                </a:solidFill>
                <a:latin typeface="Calibri"/>
              </a:rPr>
              <a:t>Admin</a:t>
            </a:r>
          </a:p>
        </p:txBody>
      </p:sp>
      <p:sp>
        <p:nvSpPr>
          <p:cNvPr id="10" name="TextBox 9"/>
          <p:cNvSpPr txBox="1"/>
          <p:nvPr/>
        </p:nvSpPr>
        <p:spPr>
          <a:xfrm>
            <a:off x="548640" y="1554480"/>
            <a:ext cx="2468880" cy="64008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Compte, équipe, projet.</a:t>
            </a:r>
          </a:p>
        </p:txBody>
      </p:sp>
      <p:sp>
        <p:nvSpPr>
          <p:cNvPr id="11" name="Rounded Rectangle 10"/>
          <p:cNvSpPr/>
          <p:nvPr/>
        </p:nvSpPr>
        <p:spPr>
          <a:xfrm>
            <a:off x="3337560" y="1051560"/>
            <a:ext cx="2743200" cy="132588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1143000"/>
            <a:ext cx="365760" cy="320040"/>
          </a:xfrm>
          <a:prstGeom prst="rect">
            <a:avLst/>
          </a:prstGeom>
          <a:noFill/>
        </p:spPr>
        <p:txBody>
          <a:bodyPr wrap="square" lIns="0" rIns="0" tIns="0" bIns="0" anchor="t"/>
          <a:lstStyle/>
          <a:p>
            <a:pPr algn="l">
              <a:spcBef>
                <a:spcPts val="0"/>
              </a:spcBef>
              <a:spcAft>
                <a:spcPts val="0"/>
              </a:spcAft>
            </a:pPr>
            <a:r>
              <a:rPr sz="1600" b="1">
                <a:solidFill>
                  <a:srgbClr val="C45B7A"/>
                </a:solidFill>
                <a:latin typeface="Calibri"/>
              </a:rPr>
              <a:t>2</a:t>
            </a:r>
          </a:p>
        </p:txBody>
      </p:sp>
      <p:sp>
        <p:nvSpPr>
          <p:cNvPr id="13" name="TextBox 12"/>
          <p:cNvSpPr txBox="1"/>
          <p:nvPr/>
        </p:nvSpPr>
        <p:spPr>
          <a:xfrm>
            <a:off x="3840480" y="1143000"/>
            <a:ext cx="2011680" cy="320040"/>
          </a:xfrm>
          <a:prstGeom prst="rect">
            <a:avLst/>
          </a:prstGeom>
          <a:noFill/>
        </p:spPr>
        <p:txBody>
          <a:bodyPr wrap="square" lIns="0" rIns="0" tIns="0" bIns="0" anchor="t"/>
          <a:lstStyle/>
          <a:p>
            <a:pPr algn="l">
              <a:spcBef>
                <a:spcPts val="0"/>
              </a:spcBef>
              <a:spcAft>
                <a:spcPts val="0"/>
              </a:spcAft>
            </a:pPr>
            <a:r>
              <a:rPr sz="1600" b="1">
                <a:solidFill>
                  <a:srgbClr val="2A2430"/>
                </a:solidFill>
                <a:latin typeface="Calibri"/>
              </a:rPr>
              <a:t>Chef</a:t>
            </a:r>
          </a:p>
        </p:txBody>
      </p:sp>
      <p:sp>
        <p:nvSpPr>
          <p:cNvPr id="14" name="TextBox 13"/>
          <p:cNvSpPr txBox="1"/>
          <p:nvPr/>
        </p:nvSpPr>
        <p:spPr>
          <a:xfrm>
            <a:off x="3474720" y="1554480"/>
            <a:ext cx="2468880" cy="64008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Il assigne la tâche.</a:t>
            </a:r>
          </a:p>
        </p:txBody>
      </p:sp>
      <p:sp>
        <p:nvSpPr>
          <p:cNvPr id="15" name="Rounded Rectangle 14"/>
          <p:cNvSpPr/>
          <p:nvPr/>
        </p:nvSpPr>
        <p:spPr>
          <a:xfrm>
            <a:off x="6263640" y="1051560"/>
            <a:ext cx="2743200" cy="132588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143000"/>
            <a:ext cx="365760" cy="320040"/>
          </a:xfrm>
          <a:prstGeom prst="rect">
            <a:avLst/>
          </a:prstGeom>
          <a:noFill/>
        </p:spPr>
        <p:txBody>
          <a:bodyPr wrap="square" lIns="0" rIns="0" tIns="0" bIns="0" anchor="t"/>
          <a:lstStyle/>
          <a:p>
            <a:pPr algn="l">
              <a:spcBef>
                <a:spcPts val="0"/>
              </a:spcBef>
              <a:spcAft>
                <a:spcPts val="0"/>
              </a:spcAft>
            </a:pPr>
            <a:r>
              <a:rPr sz="1600" b="1">
                <a:solidFill>
                  <a:srgbClr val="C45B7A"/>
                </a:solidFill>
                <a:latin typeface="Calibri"/>
              </a:rPr>
              <a:t>3</a:t>
            </a:r>
          </a:p>
        </p:txBody>
      </p:sp>
      <p:sp>
        <p:nvSpPr>
          <p:cNvPr id="17" name="TextBox 16"/>
          <p:cNvSpPr txBox="1"/>
          <p:nvPr/>
        </p:nvSpPr>
        <p:spPr>
          <a:xfrm>
            <a:off x="6766560" y="1143000"/>
            <a:ext cx="2011680" cy="320040"/>
          </a:xfrm>
          <a:prstGeom prst="rect">
            <a:avLst/>
          </a:prstGeom>
          <a:noFill/>
        </p:spPr>
        <p:txBody>
          <a:bodyPr wrap="square" lIns="0" rIns="0" tIns="0" bIns="0" anchor="t"/>
          <a:lstStyle/>
          <a:p>
            <a:pPr algn="l">
              <a:spcBef>
                <a:spcPts val="0"/>
              </a:spcBef>
              <a:spcAft>
                <a:spcPts val="0"/>
              </a:spcAft>
            </a:pPr>
            <a:r>
              <a:rPr sz="1600" b="1">
                <a:solidFill>
                  <a:srgbClr val="2A2430"/>
                </a:solidFill>
                <a:latin typeface="Calibri"/>
              </a:rPr>
              <a:t>Membre</a:t>
            </a:r>
          </a:p>
        </p:txBody>
      </p:sp>
      <p:sp>
        <p:nvSpPr>
          <p:cNvPr id="18" name="TextBox 17"/>
          <p:cNvSpPr txBox="1"/>
          <p:nvPr/>
        </p:nvSpPr>
        <p:spPr>
          <a:xfrm>
            <a:off x="6400800" y="1554480"/>
            <a:ext cx="2468880" cy="64008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Déjà fait, suite, blocage.</a:t>
            </a:r>
          </a:p>
        </p:txBody>
      </p:sp>
      <p:sp>
        <p:nvSpPr>
          <p:cNvPr id="19" name="Rounded Rectangle 18"/>
          <p:cNvSpPr/>
          <p:nvPr/>
        </p:nvSpPr>
        <p:spPr>
          <a:xfrm>
            <a:off x="9189720" y="1051560"/>
            <a:ext cx="2743200" cy="132588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1143000"/>
            <a:ext cx="365760" cy="320040"/>
          </a:xfrm>
          <a:prstGeom prst="rect">
            <a:avLst/>
          </a:prstGeom>
          <a:noFill/>
        </p:spPr>
        <p:txBody>
          <a:bodyPr wrap="square" lIns="0" rIns="0" tIns="0" bIns="0" anchor="t"/>
          <a:lstStyle/>
          <a:p>
            <a:pPr algn="l">
              <a:spcBef>
                <a:spcPts val="0"/>
              </a:spcBef>
              <a:spcAft>
                <a:spcPts val="0"/>
              </a:spcAft>
            </a:pPr>
            <a:r>
              <a:rPr sz="1600" b="1">
                <a:solidFill>
                  <a:srgbClr val="C45B7A"/>
                </a:solidFill>
                <a:latin typeface="Calibri"/>
              </a:rPr>
              <a:t>4</a:t>
            </a:r>
          </a:p>
        </p:txBody>
      </p:sp>
      <p:sp>
        <p:nvSpPr>
          <p:cNvPr id="21" name="TextBox 20"/>
          <p:cNvSpPr txBox="1"/>
          <p:nvPr/>
        </p:nvSpPr>
        <p:spPr>
          <a:xfrm>
            <a:off x="9692640" y="1143000"/>
            <a:ext cx="2011680" cy="320040"/>
          </a:xfrm>
          <a:prstGeom prst="rect">
            <a:avLst/>
          </a:prstGeom>
          <a:noFill/>
        </p:spPr>
        <p:txBody>
          <a:bodyPr wrap="square" lIns="0" rIns="0" tIns="0" bIns="0" anchor="t"/>
          <a:lstStyle/>
          <a:p>
            <a:pPr algn="l">
              <a:spcBef>
                <a:spcPts val="0"/>
              </a:spcBef>
              <a:spcAft>
                <a:spcPts val="0"/>
              </a:spcAft>
            </a:pPr>
            <a:r>
              <a:rPr sz="1600" b="1">
                <a:solidFill>
                  <a:srgbClr val="2A2430"/>
                </a:solidFill>
                <a:latin typeface="Calibri"/>
              </a:rPr>
              <a:t>Tableaux</a:t>
            </a:r>
          </a:p>
        </p:txBody>
      </p:sp>
      <p:sp>
        <p:nvSpPr>
          <p:cNvPr id="22" name="TextBox 21"/>
          <p:cNvSpPr txBox="1"/>
          <p:nvPr/>
        </p:nvSpPr>
        <p:spPr>
          <a:xfrm>
            <a:off x="9326880" y="1554480"/>
            <a:ext cx="2468880" cy="64008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Terminées sur le total.</a:t>
            </a:r>
          </a:p>
        </p:txBody>
      </p:sp>
      <p:sp>
        <p:nvSpPr>
          <p:cNvPr id="23" name="TextBox 22"/>
          <p:cNvSpPr txBox="1"/>
          <p:nvPr/>
        </p:nvSpPr>
        <p:spPr>
          <a:xfrm>
            <a:off x="457200" y="2468880"/>
            <a:ext cx="11247120" cy="292608"/>
          </a:xfrm>
          <a:prstGeom prst="rect">
            <a:avLst/>
          </a:prstGeom>
          <a:noFill/>
        </p:spPr>
        <p:txBody>
          <a:bodyPr wrap="square" lIns="0" rIns="0" tIns="0" bIns="0" anchor="t"/>
          <a:lstStyle/>
          <a:p>
            <a:pPr algn="l">
              <a:spcBef>
                <a:spcPts val="0"/>
              </a:spcBef>
              <a:spcAft>
                <a:spcPts val="0"/>
              </a:spcAft>
            </a:pPr>
            <a:r>
              <a:rPr sz="1400" b="1">
                <a:solidFill>
                  <a:srgbClr val="A34564"/>
                </a:solidFill>
                <a:latin typeface="Calibri"/>
              </a:rPr>
              <a:t>À faire 0    ·    En cours 60    ·    Bloqué 30    ·    Terminé 100</a:t>
            </a:r>
          </a:p>
        </p:txBody>
      </p:sp>
      <p:pic>
        <p:nvPicPr>
          <p:cNvPr id="24" name="Picture 23" descr="task-blocked.png"/>
          <p:cNvPicPr>
            <a:picLocks noChangeAspect="1"/>
          </p:cNvPicPr>
          <p:nvPr/>
        </p:nvPicPr>
        <p:blipFill>
          <a:blip r:embed="rId3"/>
          <a:stretch>
            <a:fillRect/>
          </a:stretch>
        </p:blipFill>
        <p:spPr>
          <a:xfrm>
            <a:off x="3579868" y="2834640"/>
            <a:ext cx="5001782" cy="3429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Cas d'utilisation</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10</a:t>
            </a:r>
          </a:p>
        </p:txBody>
      </p:sp>
      <p:sp>
        <p:nvSpPr>
          <p:cNvPr id="7" name="Rounded Rectangle 6"/>
          <p:cNvSpPr/>
          <p:nvPr/>
        </p:nvSpPr>
        <p:spPr>
          <a:xfrm>
            <a:off x="502920" y="1097280"/>
            <a:ext cx="11155680" cy="640080"/>
          </a:xfrm>
          <a:prstGeom prst="roundRect">
            <a:avLst>
              <a:gd name="adj" fmla="val 20000"/>
            </a:avLst>
          </a:prstGeom>
          <a:solidFill>
            <a:srgbClr val="F8E4EC"/>
          </a:solidFill>
          <a:ln w="15875">
            <a:solidFill>
              <a:srgbClr val="F8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7008"/>
            <a:ext cx="10881360" cy="411480"/>
          </a:xfrm>
          <a:prstGeom prst="rect">
            <a:avLst/>
          </a:prstGeom>
          <a:noFill/>
        </p:spPr>
        <p:txBody>
          <a:bodyPr wrap="square" lIns="0" rIns="0" tIns="0" bIns="0" anchor="ctr"/>
          <a:lstStyle/>
          <a:p>
            <a:pPr algn="ctr">
              <a:spcBef>
                <a:spcPts val="0"/>
              </a:spcBef>
              <a:spcAft>
                <a:spcPts val="0"/>
              </a:spcAft>
            </a:pPr>
            <a:r>
              <a:rPr sz="1600" b="1">
                <a:solidFill>
                  <a:srgbClr val="2A2430"/>
                </a:solidFill>
                <a:latin typeface="Calibri"/>
              </a:rPr>
              <a:t>Commun : se connecter. Pas d'inscription publique.</a:t>
            </a:r>
          </a:p>
        </p:txBody>
      </p:sp>
      <p:sp>
        <p:nvSpPr>
          <p:cNvPr id="9" name="TextBox 8"/>
          <p:cNvSpPr txBox="1"/>
          <p:nvPr/>
        </p:nvSpPr>
        <p:spPr>
          <a:xfrm>
            <a:off x="502920" y="1965960"/>
            <a:ext cx="3566160" cy="365760"/>
          </a:xfrm>
          <a:prstGeom prst="rect">
            <a:avLst/>
          </a:prstGeom>
          <a:noFill/>
        </p:spPr>
        <p:txBody>
          <a:bodyPr wrap="square" lIns="0" rIns="0" tIns="0" bIns="0" anchor="t"/>
          <a:lstStyle/>
          <a:p>
            <a:pPr algn="ctr">
              <a:spcBef>
                <a:spcPts val="0"/>
              </a:spcBef>
              <a:spcAft>
                <a:spcPts val="0"/>
              </a:spcAft>
            </a:pPr>
            <a:r>
              <a:rPr sz="1800" b="1">
                <a:solidFill>
                  <a:srgbClr val="A34564"/>
                </a:solidFill>
                <a:latin typeface="Calibri"/>
              </a:rPr>
              <a:t>Administrateur</a:t>
            </a:r>
          </a:p>
        </p:txBody>
      </p:sp>
      <p:sp>
        <p:nvSpPr>
          <p:cNvPr id="10" name="Oval 9"/>
          <p:cNvSpPr/>
          <p:nvPr/>
        </p:nvSpPr>
        <p:spPr>
          <a:xfrm>
            <a:off x="640080" y="2468880"/>
            <a:ext cx="3291840" cy="731520"/>
          </a:xfrm>
          <a:prstGeom prst="ellipse">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633472"/>
            <a:ext cx="3108960" cy="411480"/>
          </a:xfrm>
          <a:prstGeom prst="rect">
            <a:avLst/>
          </a:prstGeom>
          <a:noFill/>
        </p:spPr>
        <p:txBody>
          <a:bodyPr wrap="square" lIns="0" rIns="0" tIns="0" bIns="0" anchor="t"/>
          <a:lstStyle/>
          <a:p>
            <a:pPr algn="ctr">
              <a:spcBef>
                <a:spcPts val="0"/>
              </a:spcBef>
              <a:spcAft>
                <a:spcPts val="0"/>
              </a:spcAft>
            </a:pPr>
            <a:r>
              <a:rPr sz="1400" b="0">
                <a:solidFill>
                  <a:srgbClr val="2A2430"/>
                </a:solidFill>
                <a:latin typeface="Calibri"/>
              </a:rPr>
              <a:t>Gérer les comptes</a:t>
            </a:r>
          </a:p>
        </p:txBody>
      </p:sp>
      <p:sp>
        <p:nvSpPr>
          <p:cNvPr id="12" name="Oval 11"/>
          <p:cNvSpPr/>
          <p:nvPr/>
        </p:nvSpPr>
        <p:spPr>
          <a:xfrm>
            <a:off x="640080" y="3337560"/>
            <a:ext cx="3291840" cy="731520"/>
          </a:xfrm>
          <a:prstGeom prst="ellipse">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502152"/>
            <a:ext cx="3108960" cy="411480"/>
          </a:xfrm>
          <a:prstGeom prst="rect">
            <a:avLst/>
          </a:prstGeom>
          <a:noFill/>
        </p:spPr>
        <p:txBody>
          <a:bodyPr wrap="square" lIns="0" rIns="0" tIns="0" bIns="0" anchor="t"/>
          <a:lstStyle/>
          <a:p>
            <a:pPr algn="ctr">
              <a:spcBef>
                <a:spcPts val="0"/>
              </a:spcBef>
              <a:spcAft>
                <a:spcPts val="0"/>
              </a:spcAft>
            </a:pPr>
            <a:r>
              <a:rPr sz="1400" b="0">
                <a:solidFill>
                  <a:srgbClr val="2A2430"/>
                </a:solidFill>
                <a:latin typeface="Calibri"/>
              </a:rPr>
              <a:t>Gérer les équipes</a:t>
            </a:r>
          </a:p>
        </p:txBody>
      </p:sp>
      <p:sp>
        <p:nvSpPr>
          <p:cNvPr id="14" name="Oval 13"/>
          <p:cNvSpPr/>
          <p:nvPr/>
        </p:nvSpPr>
        <p:spPr>
          <a:xfrm>
            <a:off x="640080" y="4206240"/>
            <a:ext cx="3291840" cy="731520"/>
          </a:xfrm>
          <a:prstGeom prst="ellipse">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370831"/>
            <a:ext cx="3108960" cy="411480"/>
          </a:xfrm>
          <a:prstGeom prst="rect">
            <a:avLst/>
          </a:prstGeom>
          <a:noFill/>
        </p:spPr>
        <p:txBody>
          <a:bodyPr wrap="square" lIns="0" rIns="0" tIns="0" bIns="0" anchor="t"/>
          <a:lstStyle/>
          <a:p>
            <a:pPr algn="ctr">
              <a:spcBef>
                <a:spcPts val="0"/>
              </a:spcBef>
              <a:spcAft>
                <a:spcPts val="0"/>
              </a:spcAft>
            </a:pPr>
            <a:r>
              <a:rPr sz="1400" b="0">
                <a:solidFill>
                  <a:srgbClr val="2A2430"/>
                </a:solidFill>
                <a:latin typeface="Calibri"/>
              </a:rPr>
              <a:t>Gérer les projets</a:t>
            </a:r>
          </a:p>
        </p:txBody>
      </p:sp>
      <p:sp>
        <p:nvSpPr>
          <p:cNvPr id="16" name="Oval 15"/>
          <p:cNvSpPr/>
          <p:nvPr/>
        </p:nvSpPr>
        <p:spPr>
          <a:xfrm>
            <a:off x="640080" y="5074920"/>
            <a:ext cx="3291840" cy="731520"/>
          </a:xfrm>
          <a:prstGeom prst="ellipse">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239512"/>
            <a:ext cx="3108960" cy="411480"/>
          </a:xfrm>
          <a:prstGeom prst="rect">
            <a:avLst/>
          </a:prstGeom>
          <a:noFill/>
        </p:spPr>
        <p:txBody>
          <a:bodyPr wrap="square" lIns="0" rIns="0" tIns="0" bIns="0" anchor="t"/>
          <a:lstStyle/>
          <a:p>
            <a:pPr algn="ctr">
              <a:spcBef>
                <a:spcPts val="0"/>
              </a:spcBef>
              <a:spcAft>
                <a:spcPts val="0"/>
              </a:spcAft>
            </a:pPr>
            <a:r>
              <a:rPr sz="1400" b="0">
                <a:solidFill>
                  <a:srgbClr val="2A2430"/>
                </a:solidFill>
                <a:latin typeface="Calibri"/>
              </a:rPr>
              <a:t>Voir le tableau global</a:t>
            </a:r>
          </a:p>
        </p:txBody>
      </p:sp>
      <p:sp>
        <p:nvSpPr>
          <p:cNvPr id="18" name="TextBox 17"/>
          <p:cNvSpPr txBox="1"/>
          <p:nvPr/>
        </p:nvSpPr>
        <p:spPr>
          <a:xfrm>
            <a:off x="4343400" y="1965960"/>
            <a:ext cx="3566160" cy="365760"/>
          </a:xfrm>
          <a:prstGeom prst="rect">
            <a:avLst/>
          </a:prstGeom>
          <a:noFill/>
        </p:spPr>
        <p:txBody>
          <a:bodyPr wrap="square" lIns="0" rIns="0" tIns="0" bIns="0" anchor="t"/>
          <a:lstStyle/>
          <a:p>
            <a:pPr algn="ctr">
              <a:spcBef>
                <a:spcPts val="0"/>
              </a:spcBef>
              <a:spcAft>
                <a:spcPts val="0"/>
              </a:spcAft>
            </a:pPr>
            <a:r>
              <a:rPr sz="1800" b="1">
                <a:solidFill>
                  <a:srgbClr val="A34564"/>
                </a:solidFill>
                <a:latin typeface="Calibri"/>
              </a:rPr>
              <a:t>Chef d'équipe</a:t>
            </a:r>
          </a:p>
        </p:txBody>
      </p:sp>
      <p:sp>
        <p:nvSpPr>
          <p:cNvPr id="19" name="Oval 18"/>
          <p:cNvSpPr/>
          <p:nvPr/>
        </p:nvSpPr>
        <p:spPr>
          <a:xfrm>
            <a:off x="4480560" y="2468880"/>
            <a:ext cx="3291840" cy="731520"/>
          </a:xfrm>
          <a:prstGeom prst="ellipse">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2633472"/>
            <a:ext cx="3108960" cy="411480"/>
          </a:xfrm>
          <a:prstGeom prst="rect">
            <a:avLst/>
          </a:prstGeom>
          <a:noFill/>
        </p:spPr>
        <p:txBody>
          <a:bodyPr wrap="square" lIns="0" rIns="0" tIns="0" bIns="0" anchor="t"/>
          <a:lstStyle/>
          <a:p>
            <a:pPr algn="ctr">
              <a:spcBef>
                <a:spcPts val="0"/>
              </a:spcBef>
              <a:spcAft>
                <a:spcPts val="0"/>
              </a:spcAft>
            </a:pPr>
            <a:r>
              <a:rPr sz="1400" b="0">
                <a:solidFill>
                  <a:srgbClr val="2A2430"/>
                </a:solidFill>
                <a:latin typeface="Calibri"/>
              </a:rPr>
              <a:t>Créer une tâche</a:t>
            </a:r>
          </a:p>
        </p:txBody>
      </p:sp>
      <p:sp>
        <p:nvSpPr>
          <p:cNvPr id="21" name="Oval 20"/>
          <p:cNvSpPr/>
          <p:nvPr/>
        </p:nvSpPr>
        <p:spPr>
          <a:xfrm>
            <a:off x="4480560" y="3337560"/>
            <a:ext cx="3291840" cy="731520"/>
          </a:xfrm>
          <a:prstGeom prst="ellipse">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3502152"/>
            <a:ext cx="3108960" cy="411480"/>
          </a:xfrm>
          <a:prstGeom prst="rect">
            <a:avLst/>
          </a:prstGeom>
          <a:noFill/>
        </p:spPr>
        <p:txBody>
          <a:bodyPr wrap="square" lIns="0" rIns="0" tIns="0" bIns="0" anchor="t"/>
          <a:lstStyle/>
          <a:p>
            <a:pPr algn="ctr">
              <a:spcBef>
                <a:spcPts val="0"/>
              </a:spcBef>
              <a:spcAft>
                <a:spcPts val="0"/>
              </a:spcAft>
            </a:pPr>
            <a:r>
              <a:rPr sz="1400" b="0">
                <a:solidFill>
                  <a:srgbClr val="2A2430"/>
                </a:solidFill>
                <a:latin typeface="Calibri"/>
              </a:rPr>
              <a:t>Assigner un membre</a:t>
            </a:r>
          </a:p>
        </p:txBody>
      </p:sp>
      <p:sp>
        <p:nvSpPr>
          <p:cNvPr id="23" name="Oval 22"/>
          <p:cNvSpPr/>
          <p:nvPr/>
        </p:nvSpPr>
        <p:spPr>
          <a:xfrm>
            <a:off x="4480560" y="4206240"/>
            <a:ext cx="3291840" cy="731520"/>
          </a:xfrm>
          <a:prstGeom prst="ellipse">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4370831"/>
            <a:ext cx="3108960" cy="411480"/>
          </a:xfrm>
          <a:prstGeom prst="rect">
            <a:avLst/>
          </a:prstGeom>
          <a:noFill/>
        </p:spPr>
        <p:txBody>
          <a:bodyPr wrap="square" lIns="0" rIns="0" tIns="0" bIns="0" anchor="t"/>
          <a:lstStyle/>
          <a:p>
            <a:pPr algn="ctr">
              <a:spcBef>
                <a:spcPts val="0"/>
              </a:spcBef>
              <a:spcAft>
                <a:spcPts val="0"/>
              </a:spcAft>
            </a:pPr>
            <a:r>
              <a:rPr sz="1400" b="0">
                <a:solidFill>
                  <a:srgbClr val="2A2430"/>
                </a:solidFill>
                <a:latin typeface="Calibri"/>
              </a:rPr>
              <a:t>Filtrer les tâches</a:t>
            </a:r>
          </a:p>
        </p:txBody>
      </p:sp>
      <p:sp>
        <p:nvSpPr>
          <p:cNvPr id="25" name="Oval 24"/>
          <p:cNvSpPr/>
          <p:nvPr/>
        </p:nvSpPr>
        <p:spPr>
          <a:xfrm>
            <a:off x="4480560" y="5074920"/>
            <a:ext cx="3291840" cy="731520"/>
          </a:xfrm>
          <a:prstGeom prst="ellipse">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5239512"/>
            <a:ext cx="3108960" cy="411480"/>
          </a:xfrm>
          <a:prstGeom prst="rect">
            <a:avLst/>
          </a:prstGeom>
          <a:noFill/>
        </p:spPr>
        <p:txBody>
          <a:bodyPr wrap="square" lIns="0" rIns="0" tIns="0" bIns="0" anchor="t"/>
          <a:lstStyle/>
          <a:p>
            <a:pPr algn="ctr">
              <a:spcBef>
                <a:spcPts val="0"/>
              </a:spcBef>
              <a:spcAft>
                <a:spcPts val="0"/>
              </a:spcAft>
            </a:pPr>
            <a:r>
              <a:rPr sz="1400" b="0">
                <a:solidFill>
                  <a:srgbClr val="2A2430"/>
                </a:solidFill>
                <a:latin typeface="Calibri"/>
              </a:rPr>
              <a:t>Ouvrir une fiche</a:t>
            </a:r>
          </a:p>
        </p:txBody>
      </p:sp>
      <p:sp>
        <p:nvSpPr>
          <p:cNvPr id="27" name="TextBox 26"/>
          <p:cNvSpPr txBox="1"/>
          <p:nvPr/>
        </p:nvSpPr>
        <p:spPr>
          <a:xfrm>
            <a:off x="8183880" y="1965960"/>
            <a:ext cx="3566160" cy="365760"/>
          </a:xfrm>
          <a:prstGeom prst="rect">
            <a:avLst/>
          </a:prstGeom>
          <a:noFill/>
        </p:spPr>
        <p:txBody>
          <a:bodyPr wrap="square" lIns="0" rIns="0" tIns="0" bIns="0" anchor="t"/>
          <a:lstStyle/>
          <a:p>
            <a:pPr algn="ctr">
              <a:spcBef>
                <a:spcPts val="0"/>
              </a:spcBef>
              <a:spcAft>
                <a:spcPts val="0"/>
              </a:spcAft>
            </a:pPr>
            <a:r>
              <a:rPr sz="1800" b="1">
                <a:solidFill>
                  <a:srgbClr val="A34564"/>
                </a:solidFill>
                <a:latin typeface="Calibri"/>
              </a:rPr>
              <a:t>Membre</a:t>
            </a:r>
          </a:p>
        </p:txBody>
      </p:sp>
      <p:sp>
        <p:nvSpPr>
          <p:cNvPr id="28" name="Oval 27"/>
          <p:cNvSpPr/>
          <p:nvPr/>
        </p:nvSpPr>
        <p:spPr>
          <a:xfrm>
            <a:off x="8321040" y="2468880"/>
            <a:ext cx="3291840" cy="731520"/>
          </a:xfrm>
          <a:prstGeom prst="ellipse">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2633472"/>
            <a:ext cx="3108960" cy="411480"/>
          </a:xfrm>
          <a:prstGeom prst="rect">
            <a:avLst/>
          </a:prstGeom>
          <a:noFill/>
        </p:spPr>
        <p:txBody>
          <a:bodyPr wrap="square" lIns="0" rIns="0" tIns="0" bIns="0" anchor="t"/>
          <a:lstStyle/>
          <a:p>
            <a:pPr algn="ctr">
              <a:spcBef>
                <a:spcPts val="0"/>
              </a:spcBef>
              <a:spcAft>
                <a:spcPts val="0"/>
              </a:spcAft>
            </a:pPr>
            <a:r>
              <a:rPr sz="1400" b="0">
                <a:solidFill>
                  <a:srgbClr val="2A2430"/>
                </a:solidFill>
                <a:latin typeface="Calibri"/>
              </a:rPr>
              <a:t>Voir ses tâches</a:t>
            </a:r>
          </a:p>
        </p:txBody>
      </p:sp>
      <p:sp>
        <p:nvSpPr>
          <p:cNvPr id="30" name="Oval 29"/>
          <p:cNvSpPr/>
          <p:nvPr/>
        </p:nvSpPr>
        <p:spPr>
          <a:xfrm>
            <a:off x="8321040" y="3337560"/>
            <a:ext cx="3291840" cy="731520"/>
          </a:xfrm>
          <a:prstGeom prst="ellipse">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0" y="3502152"/>
            <a:ext cx="3108960" cy="411480"/>
          </a:xfrm>
          <a:prstGeom prst="rect">
            <a:avLst/>
          </a:prstGeom>
          <a:noFill/>
        </p:spPr>
        <p:txBody>
          <a:bodyPr wrap="square" lIns="0" rIns="0" tIns="0" bIns="0" anchor="t"/>
          <a:lstStyle/>
          <a:p>
            <a:pPr algn="ctr">
              <a:spcBef>
                <a:spcPts val="0"/>
              </a:spcBef>
              <a:spcAft>
                <a:spcPts val="0"/>
              </a:spcAft>
            </a:pPr>
            <a:r>
              <a:rPr sz="1400" b="0">
                <a:solidFill>
                  <a:srgbClr val="2A2430"/>
                </a:solidFill>
                <a:latin typeface="Calibri"/>
              </a:rPr>
              <a:t>Mettre à jour l'avancement</a:t>
            </a:r>
          </a:p>
        </p:txBody>
      </p:sp>
      <p:sp>
        <p:nvSpPr>
          <p:cNvPr id="32" name="Oval 31"/>
          <p:cNvSpPr/>
          <p:nvPr/>
        </p:nvSpPr>
        <p:spPr>
          <a:xfrm>
            <a:off x="8321040" y="4206240"/>
            <a:ext cx="3291840" cy="731520"/>
          </a:xfrm>
          <a:prstGeom prst="ellipse">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4370831"/>
            <a:ext cx="3108960" cy="411480"/>
          </a:xfrm>
          <a:prstGeom prst="rect">
            <a:avLst/>
          </a:prstGeom>
          <a:noFill/>
        </p:spPr>
        <p:txBody>
          <a:bodyPr wrap="square" lIns="0" rIns="0" tIns="0" bIns="0" anchor="t"/>
          <a:lstStyle/>
          <a:p>
            <a:pPr algn="ctr">
              <a:spcBef>
                <a:spcPts val="0"/>
              </a:spcBef>
              <a:spcAft>
                <a:spcPts val="0"/>
              </a:spcAft>
            </a:pPr>
            <a:r>
              <a:rPr sz="1400" b="0">
                <a:solidFill>
                  <a:srgbClr val="2A2430"/>
                </a:solidFill>
                <a:latin typeface="Calibri"/>
              </a:rPr>
              <a:t>Écrire le blocage</a:t>
            </a:r>
          </a:p>
        </p:txBody>
      </p:sp>
      <p:sp>
        <p:nvSpPr>
          <p:cNvPr id="34" name="Oval 33"/>
          <p:cNvSpPr/>
          <p:nvPr/>
        </p:nvSpPr>
        <p:spPr>
          <a:xfrm>
            <a:off x="8321040" y="5074920"/>
            <a:ext cx="3291840" cy="731520"/>
          </a:xfrm>
          <a:prstGeom prst="ellipse">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0" y="5239512"/>
            <a:ext cx="3108960" cy="411480"/>
          </a:xfrm>
          <a:prstGeom prst="rect">
            <a:avLst/>
          </a:prstGeom>
          <a:noFill/>
        </p:spPr>
        <p:txBody>
          <a:bodyPr wrap="square" lIns="0" rIns="0" tIns="0" bIns="0" anchor="t"/>
          <a:lstStyle/>
          <a:p>
            <a:pPr algn="ctr">
              <a:spcBef>
                <a:spcPts val="0"/>
              </a:spcBef>
              <a:spcAft>
                <a:spcPts val="0"/>
              </a:spcAft>
            </a:pPr>
            <a:r>
              <a:rPr sz="1400" b="0">
                <a:solidFill>
                  <a:srgbClr val="2A2430"/>
                </a:solidFill>
                <a:latin typeface="Calibri"/>
              </a:rPr>
              <a:t>Lire son historique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Un serveur, deux clients</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11</a:t>
            </a:r>
          </a:p>
        </p:txBody>
      </p:sp>
      <p:sp>
        <p:nvSpPr>
          <p:cNvPr id="7" name="Rounded Rectangle 6"/>
          <p:cNvSpPr/>
          <p:nvPr/>
        </p:nvSpPr>
        <p:spPr>
          <a:xfrm>
            <a:off x="640080" y="1234440"/>
            <a:ext cx="4846320" cy="1554480"/>
          </a:xfrm>
          <a:prstGeom prst="roundRect">
            <a:avLst>
              <a:gd name="adj" fmla="val 10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371600"/>
            <a:ext cx="4480560" cy="320040"/>
          </a:xfrm>
          <a:prstGeom prst="rect">
            <a:avLst/>
          </a:prstGeom>
          <a:noFill/>
        </p:spPr>
        <p:txBody>
          <a:bodyPr wrap="square" lIns="0" rIns="0" tIns="0" bIns="0" anchor="t"/>
          <a:lstStyle/>
          <a:p>
            <a:pPr algn="l">
              <a:spcBef>
                <a:spcPts val="0"/>
              </a:spcBef>
              <a:spcAft>
                <a:spcPts val="0"/>
              </a:spcAft>
            </a:pPr>
            <a:r>
              <a:rPr sz="1800" b="1">
                <a:solidFill>
                  <a:srgbClr val="2A2430"/>
                </a:solidFill>
                <a:latin typeface="Calibri"/>
              </a:rPr>
              <a:t>Navigateur</a:t>
            </a:r>
          </a:p>
        </p:txBody>
      </p:sp>
      <p:sp>
        <p:nvSpPr>
          <p:cNvPr id="9" name="TextBox 8"/>
          <p:cNvSpPr txBox="1"/>
          <p:nvPr/>
        </p:nvSpPr>
        <p:spPr>
          <a:xfrm>
            <a:off x="868680" y="1828800"/>
            <a:ext cx="4480560" cy="640080"/>
          </a:xfrm>
          <a:prstGeom prst="rect">
            <a:avLst/>
          </a:prstGeom>
          <a:noFill/>
        </p:spPr>
        <p:txBody>
          <a:bodyPr wrap="square" lIns="0" rIns="0" tIns="0" bIns="0" anchor="t"/>
          <a:lstStyle/>
          <a:p>
            <a:pPr algn="l">
              <a:spcBef>
                <a:spcPts val="0"/>
              </a:spcBef>
              <a:spcAft>
                <a:spcPts val="0"/>
              </a:spcAft>
            </a:pPr>
            <a:r>
              <a:rPr sz="1600" b="0">
                <a:solidFill>
                  <a:srgbClr val="6E6573"/>
                </a:solidFill>
                <a:latin typeface="Calibri"/>
              </a:rPr>
              <a:t>HTML, session Laravel</a:t>
            </a:r>
          </a:p>
        </p:txBody>
      </p:sp>
      <p:sp>
        <p:nvSpPr>
          <p:cNvPr id="10" name="Rounded Rectangle 9"/>
          <p:cNvSpPr/>
          <p:nvPr/>
        </p:nvSpPr>
        <p:spPr>
          <a:xfrm>
            <a:off x="6675120" y="1234440"/>
            <a:ext cx="4846320" cy="1554480"/>
          </a:xfrm>
          <a:prstGeom prst="roundRect">
            <a:avLst>
              <a:gd name="adj" fmla="val 10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0" y="1371600"/>
            <a:ext cx="4480560" cy="320040"/>
          </a:xfrm>
          <a:prstGeom prst="rect">
            <a:avLst/>
          </a:prstGeom>
          <a:noFill/>
        </p:spPr>
        <p:txBody>
          <a:bodyPr wrap="square" lIns="0" rIns="0" tIns="0" bIns="0" anchor="t"/>
          <a:lstStyle/>
          <a:p>
            <a:pPr algn="l">
              <a:spcBef>
                <a:spcPts val="0"/>
              </a:spcBef>
              <a:spcAft>
                <a:spcPts val="0"/>
              </a:spcAft>
            </a:pPr>
            <a:r>
              <a:rPr sz="1800" b="1">
                <a:solidFill>
                  <a:srgbClr val="2A2430"/>
                </a:solidFill>
                <a:latin typeface="Calibri"/>
              </a:rPr>
              <a:t>Application Flutter</a:t>
            </a:r>
          </a:p>
        </p:txBody>
      </p:sp>
      <p:sp>
        <p:nvSpPr>
          <p:cNvPr id="12" name="TextBox 11"/>
          <p:cNvSpPr txBox="1"/>
          <p:nvPr/>
        </p:nvSpPr>
        <p:spPr>
          <a:xfrm>
            <a:off x="6903720" y="1828800"/>
            <a:ext cx="4480560" cy="640080"/>
          </a:xfrm>
          <a:prstGeom prst="rect">
            <a:avLst/>
          </a:prstGeom>
          <a:noFill/>
        </p:spPr>
        <p:txBody>
          <a:bodyPr wrap="square" lIns="0" rIns="0" tIns="0" bIns="0" anchor="t"/>
          <a:lstStyle/>
          <a:p>
            <a:pPr algn="l">
              <a:spcBef>
                <a:spcPts val="0"/>
              </a:spcBef>
              <a:spcAft>
                <a:spcPts val="0"/>
              </a:spcAft>
            </a:pPr>
            <a:r>
              <a:rPr sz="1600" b="0">
                <a:solidFill>
                  <a:srgbClr val="6E6573"/>
                </a:solidFill>
                <a:latin typeface="Calibri"/>
              </a:rPr>
              <a:t>JSON, jeton Sanctum</a:t>
            </a:r>
          </a:p>
        </p:txBody>
      </p:sp>
      <p:sp>
        <p:nvSpPr>
          <p:cNvPr id="13" name="Down Arrow 12"/>
          <p:cNvSpPr/>
          <p:nvPr/>
        </p:nvSpPr>
        <p:spPr>
          <a:xfrm>
            <a:off x="5806440" y="2880360"/>
            <a:ext cx="548640" cy="365760"/>
          </a:xfrm>
          <a:prstGeom prst="downArrow">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645920" y="3337560"/>
            <a:ext cx="8869680" cy="1325880"/>
          </a:xfrm>
          <a:prstGeom prst="roundRect">
            <a:avLst>
              <a:gd name="adj" fmla="val 10000"/>
            </a:avLst>
          </a:prstGeom>
          <a:solidFill>
            <a:srgbClr val="F8E4EC"/>
          </a:solidFill>
          <a:ln w="15875">
            <a:solidFill>
              <a:srgbClr val="F8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74519" y="3474720"/>
            <a:ext cx="8412480" cy="365760"/>
          </a:xfrm>
          <a:prstGeom prst="rect">
            <a:avLst/>
          </a:prstGeom>
          <a:noFill/>
        </p:spPr>
        <p:txBody>
          <a:bodyPr wrap="square" lIns="0" rIns="0" tIns="0" bIns="0" anchor="t"/>
          <a:lstStyle/>
          <a:p>
            <a:pPr algn="ctr">
              <a:spcBef>
                <a:spcPts val="0"/>
              </a:spcBef>
              <a:spcAft>
                <a:spcPts val="0"/>
              </a:spcAft>
            </a:pPr>
            <a:r>
              <a:rPr sz="1800" b="1">
                <a:solidFill>
                  <a:srgbClr val="2A2430"/>
                </a:solidFill>
                <a:latin typeface="Calibri"/>
              </a:rPr>
              <a:t>Laravel</a:t>
            </a:r>
          </a:p>
        </p:txBody>
      </p:sp>
      <p:sp>
        <p:nvSpPr>
          <p:cNvPr id="16" name="TextBox 15"/>
          <p:cNvSpPr txBox="1"/>
          <p:nvPr/>
        </p:nvSpPr>
        <p:spPr>
          <a:xfrm>
            <a:off x="1874519" y="3886200"/>
            <a:ext cx="8412480" cy="502920"/>
          </a:xfrm>
          <a:prstGeom prst="rect">
            <a:avLst/>
          </a:prstGeom>
          <a:noFill/>
        </p:spPr>
        <p:txBody>
          <a:bodyPr wrap="square" lIns="0" rIns="0" tIns="0" bIns="0" anchor="t"/>
          <a:lstStyle/>
          <a:p>
            <a:pPr algn="ctr">
              <a:spcBef>
                <a:spcPts val="0"/>
              </a:spcBef>
              <a:spcAft>
                <a:spcPts val="0"/>
              </a:spcAft>
            </a:pPr>
            <a:r>
              <a:rPr sz="1600" b="0">
                <a:solidFill>
                  <a:srgbClr val="2A2430"/>
                </a:solidFill>
                <a:latin typeface="Calibri"/>
              </a:rPr>
              <a:t>routes/web.php    ·    respond() selon Accept: application/json</a:t>
            </a:r>
          </a:p>
        </p:txBody>
      </p:sp>
      <p:sp>
        <p:nvSpPr>
          <p:cNvPr id="17" name="Down Arrow 16"/>
          <p:cNvSpPr/>
          <p:nvPr/>
        </p:nvSpPr>
        <p:spPr>
          <a:xfrm>
            <a:off x="5806440" y="4754880"/>
            <a:ext cx="548640" cy="320040"/>
          </a:xfrm>
          <a:prstGeom prst="downArrow">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1840" y="5166360"/>
            <a:ext cx="5577840" cy="105156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0" y="5349240"/>
            <a:ext cx="5212080" cy="640080"/>
          </a:xfrm>
          <a:prstGeom prst="rect">
            <a:avLst/>
          </a:prstGeom>
          <a:noFill/>
        </p:spPr>
        <p:txBody>
          <a:bodyPr wrap="square" lIns="0" rIns="0" tIns="0" bIns="0" anchor="t"/>
          <a:lstStyle/>
          <a:p>
            <a:pPr algn="ctr">
              <a:spcBef>
                <a:spcPts val="0"/>
              </a:spcBef>
              <a:spcAft>
                <a:spcPts val="0"/>
              </a:spcAft>
            </a:pPr>
            <a:r>
              <a:rPr sz="1600" b="1">
                <a:solidFill>
                  <a:srgbClr val="2A2430"/>
                </a:solidFill>
                <a:latin typeface="Calibri"/>
              </a:rPr>
              <a:t>MySQL</a:t>
            </a:r>
          </a:p>
          <a:p>
            <a:pPr algn="ctr">
              <a:spcBef>
                <a:spcPts val="0"/>
              </a:spcBef>
              <a:spcAft>
                <a:spcPts val="0"/>
              </a:spcAft>
            </a:pPr>
            <a:r>
              <a:rPr sz="1600" b="1">
                <a:solidFill>
                  <a:srgbClr val="2A2430"/>
                </a:solidFill>
                <a:latin typeface="Calibri"/>
              </a:rPr>
              <a:t>Les clients n'y accèdent pas.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Les données</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12</a:t>
            </a:r>
          </a:p>
        </p:txBody>
      </p:sp>
      <p:sp>
        <p:nvSpPr>
          <p:cNvPr id="7" name="Rounded Rectangle 6"/>
          <p:cNvSpPr/>
          <p:nvPr/>
        </p:nvSpPr>
        <p:spPr>
          <a:xfrm>
            <a:off x="457200" y="1188720"/>
            <a:ext cx="3291840" cy="123444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89888"/>
            <a:ext cx="2926080" cy="411480"/>
          </a:xfrm>
          <a:prstGeom prst="rect">
            <a:avLst/>
          </a:prstGeom>
          <a:noFill/>
        </p:spPr>
        <p:txBody>
          <a:bodyPr wrap="square" lIns="0" rIns="0" tIns="0" bIns="0" anchor="t"/>
          <a:lstStyle/>
          <a:p>
            <a:pPr algn="l">
              <a:spcBef>
                <a:spcPts val="0"/>
              </a:spcBef>
              <a:spcAft>
                <a:spcPts val="0"/>
              </a:spcAft>
            </a:pPr>
            <a:r>
              <a:rPr sz="1800" b="1">
                <a:solidFill>
                  <a:srgbClr val="2A2430"/>
                </a:solidFill>
                <a:latin typeface="Calibri"/>
              </a:rPr>
              <a:t>users</a:t>
            </a:r>
          </a:p>
        </p:txBody>
      </p:sp>
      <p:sp>
        <p:nvSpPr>
          <p:cNvPr id="9" name="TextBox 8"/>
          <p:cNvSpPr txBox="1"/>
          <p:nvPr/>
        </p:nvSpPr>
        <p:spPr>
          <a:xfrm>
            <a:off x="640080" y="1847088"/>
            <a:ext cx="2926080" cy="36576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Le compte</a:t>
            </a:r>
          </a:p>
        </p:txBody>
      </p:sp>
      <p:sp>
        <p:nvSpPr>
          <p:cNvPr id="10" name="Rounded Rectangle 9"/>
          <p:cNvSpPr/>
          <p:nvPr/>
        </p:nvSpPr>
        <p:spPr>
          <a:xfrm>
            <a:off x="4297680" y="1188720"/>
            <a:ext cx="3291840" cy="123444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389888"/>
            <a:ext cx="2926080" cy="411480"/>
          </a:xfrm>
          <a:prstGeom prst="rect">
            <a:avLst/>
          </a:prstGeom>
          <a:noFill/>
        </p:spPr>
        <p:txBody>
          <a:bodyPr wrap="square" lIns="0" rIns="0" tIns="0" bIns="0" anchor="t"/>
          <a:lstStyle/>
          <a:p>
            <a:pPr algn="l">
              <a:spcBef>
                <a:spcPts val="0"/>
              </a:spcBef>
              <a:spcAft>
                <a:spcPts val="0"/>
              </a:spcAft>
            </a:pPr>
            <a:r>
              <a:rPr sz="1800" b="1">
                <a:solidFill>
                  <a:srgbClr val="2A2430"/>
                </a:solidFill>
                <a:latin typeface="Calibri"/>
              </a:rPr>
              <a:t>teams</a:t>
            </a:r>
          </a:p>
        </p:txBody>
      </p:sp>
      <p:sp>
        <p:nvSpPr>
          <p:cNvPr id="12" name="TextBox 11"/>
          <p:cNvSpPr txBox="1"/>
          <p:nvPr/>
        </p:nvSpPr>
        <p:spPr>
          <a:xfrm>
            <a:off x="4480560" y="1847088"/>
            <a:ext cx="2926080" cy="36576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L'équipe</a:t>
            </a:r>
          </a:p>
        </p:txBody>
      </p:sp>
      <p:sp>
        <p:nvSpPr>
          <p:cNvPr id="13" name="Rounded Rectangle 12"/>
          <p:cNvSpPr/>
          <p:nvPr/>
        </p:nvSpPr>
        <p:spPr>
          <a:xfrm>
            <a:off x="8138160" y="1188720"/>
            <a:ext cx="3291840" cy="123444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389888"/>
            <a:ext cx="2926080" cy="411480"/>
          </a:xfrm>
          <a:prstGeom prst="rect">
            <a:avLst/>
          </a:prstGeom>
          <a:noFill/>
        </p:spPr>
        <p:txBody>
          <a:bodyPr wrap="square" lIns="0" rIns="0" tIns="0" bIns="0" anchor="t"/>
          <a:lstStyle/>
          <a:p>
            <a:pPr algn="l">
              <a:spcBef>
                <a:spcPts val="0"/>
              </a:spcBef>
              <a:spcAft>
                <a:spcPts val="0"/>
              </a:spcAft>
            </a:pPr>
            <a:r>
              <a:rPr sz="1800" b="1">
                <a:solidFill>
                  <a:srgbClr val="2A2430"/>
                </a:solidFill>
                <a:latin typeface="Calibri"/>
              </a:rPr>
              <a:t>projects</a:t>
            </a:r>
          </a:p>
        </p:txBody>
      </p:sp>
      <p:sp>
        <p:nvSpPr>
          <p:cNvPr id="15" name="TextBox 14"/>
          <p:cNvSpPr txBox="1"/>
          <p:nvPr/>
        </p:nvSpPr>
        <p:spPr>
          <a:xfrm>
            <a:off x="8321040" y="1847088"/>
            <a:ext cx="2926080" cy="36576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Le projet</a:t>
            </a:r>
          </a:p>
        </p:txBody>
      </p:sp>
      <p:sp>
        <p:nvSpPr>
          <p:cNvPr id="16" name="Rounded Rectangle 15"/>
          <p:cNvSpPr/>
          <p:nvPr/>
        </p:nvSpPr>
        <p:spPr>
          <a:xfrm>
            <a:off x="2286000" y="3794760"/>
            <a:ext cx="3291840" cy="123444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3995928"/>
            <a:ext cx="2926080" cy="411480"/>
          </a:xfrm>
          <a:prstGeom prst="rect">
            <a:avLst/>
          </a:prstGeom>
          <a:noFill/>
        </p:spPr>
        <p:txBody>
          <a:bodyPr wrap="square" lIns="0" rIns="0" tIns="0" bIns="0" anchor="t"/>
          <a:lstStyle/>
          <a:p>
            <a:pPr algn="l">
              <a:spcBef>
                <a:spcPts val="0"/>
              </a:spcBef>
              <a:spcAft>
                <a:spcPts val="0"/>
              </a:spcAft>
            </a:pPr>
            <a:r>
              <a:rPr sz="1800" b="1">
                <a:solidFill>
                  <a:srgbClr val="2A2430"/>
                </a:solidFill>
                <a:latin typeface="Calibri"/>
              </a:rPr>
              <a:t>tasks</a:t>
            </a:r>
          </a:p>
        </p:txBody>
      </p:sp>
      <p:sp>
        <p:nvSpPr>
          <p:cNvPr id="18" name="TextBox 17"/>
          <p:cNvSpPr txBox="1"/>
          <p:nvPr/>
        </p:nvSpPr>
        <p:spPr>
          <a:xfrm>
            <a:off x="2468880" y="4453128"/>
            <a:ext cx="2926080" cy="36576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Projet + assigné</a:t>
            </a:r>
          </a:p>
        </p:txBody>
      </p:sp>
      <p:sp>
        <p:nvSpPr>
          <p:cNvPr id="19" name="Rounded Rectangle 18"/>
          <p:cNvSpPr/>
          <p:nvPr/>
        </p:nvSpPr>
        <p:spPr>
          <a:xfrm>
            <a:off x="6675120" y="3794760"/>
            <a:ext cx="3291840" cy="123444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3995928"/>
            <a:ext cx="2926080" cy="411480"/>
          </a:xfrm>
          <a:prstGeom prst="rect">
            <a:avLst/>
          </a:prstGeom>
          <a:noFill/>
        </p:spPr>
        <p:txBody>
          <a:bodyPr wrap="square" lIns="0" rIns="0" tIns="0" bIns="0" anchor="t"/>
          <a:lstStyle/>
          <a:p>
            <a:pPr algn="l">
              <a:spcBef>
                <a:spcPts val="0"/>
              </a:spcBef>
              <a:spcAft>
                <a:spcPts val="0"/>
              </a:spcAft>
            </a:pPr>
            <a:r>
              <a:rPr sz="1800" b="1">
                <a:solidFill>
                  <a:srgbClr val="2A2430"/>
                </a:solidFill>
                <a:latin typeface="Calibri"/>
              </a:rPr>
              <a:t>task_updates</a:t>
            </a:r>
          </a:p>
        </p:txBody>
      </p:sp>
      <p:sp>
        <p:nvSpPr>
          <p:cNvPr id="21" name="TextBox 20"/>
          <p:cNvSpPr txBox="1"/>
          <p:nvPr/>
        </p:nvSpPr>
        <p:spPr>
          <a:xfrm>
            <a:off x="6858000" y="4453128"/>
            <a:ext cx="2926080" cy="36576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L'historique</a:t>
            </a:r>
          </a:p>
        </p:txBody>
      </p:sp>
      <p:sp>
        <p:nvSpPr>
          <p:cNvPr id="22" name="Rounded Rectangle 21"/>
          <p:cNvSpPr/>
          <p:nvPr/>
        </p:nvSpPr>
        <p:spPr>
          <a:xfrm>
            <a:off x="4160520" y="2560320"/>
            <a:ext cx="3840480" cy="960120"/>
          </a:xfrm>
          <a:prstGeom prst="roundRect">
            <a:avLst>
              <a:gd name="adj" fmla="val 15000"/>
            </a:avLst>
          </a:prstGeom>
          <a:solidFill>
            <a:srgbClr val="F8E4EC"/>
          </a:solidFill>
          <a:ln w="15875">
            <a:solidFill>
              <a:srgbClr val="F8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80" y="2697480"/>
            <a:ext cx="3566160" cy="685800"/>
          </a:xfrm>
          <a:prstGeom prst="rect">
            <a:avLst/>
          </a:prstGeom>
          <a:noFill/>
        </p:spPr>
        <p:txBody>
          <a:bodyPr wrap="square" lIns="0" rIns="0" tIns="0" bIns="0" anchor="t"/>
          <a:lstStyle/>
          <a:p>
            <a:pPr algn="ctr">
              <a:spcBef>
                <a:spcPts val="0"/>
              </a:spcBef>
              <a:spcAft>
                <a:spcPts val="0"/>
              </a:spcAft>
            </a:pPr>
            <a:r>
              <a:rPr sz="1400" b="1">
                <a:solidFill>
                  <a:srgbClr val="A34564"/>
                </a:solidFill>
                <a:latin typeface="Calibri"/>
              </a:rPr>
              <a:t>team_user</a:t>
            </a:r>
          </a:p>
          <a:p>
            <a:pPr algn="ctr">
              <a:spcBef>
                <a:spcPts val="0"/>
              </a:spcBef>
              <a:spcAft>
                <a:spcPts val="0"/>
              </a:spcAft>
            </a:pPr>
            <a:r>
              <a:rPr sz="1400" b="1">
                <a:solidFill>
                  <a:srgbClr val="A34564"/>
                </a:solidFill>
                <a:latin typeface="Calibri"/>
              </a:rPr>
              <a:t>is_team_lead</a:t>
            </a:r>
          </a:p>
        </p:txBody>
      </p:sp>
      <p:sp>
        <p:nvSpPr>
          <p:cNvPr id="24" name="TextBox 23"/>
          <p:cNvSpPr txBox="1"/>
          <p:nvPr/>
        </p:nvSpPr>
        <p:spPr>
          <a:xfrm>
            <a:off x="502920" y="5257800"/>
            <a:ext cx="11155680" cy="914400"/>
          </a:xfrm>
          <a:prstGeom prst="rect">
            <a:avLst/>
          </a:prstGeom>
          <a:noFill/>
        </p:spPr>
        <p:txBody>
          <a:bodyPr wrap="square" lIns="0" rIns="0" tIns="0" bIns="0" anchor="t"/>
          <a:lstStyle/>
          <a:p>
            <a:pPr algn="l">
              <a:spcBef>
                <a:spcPts val="0"/>
              </a:spcBef>
              <a:spcAft>
                <a:spcPts val="0"/>
              </a:spcAft>
            </a:pPr>
            <a:r>
              <a:rPr sz="1600" b="0">
                <a:solidFill>
                  <a:srgbClr val="2A2430"/>
                </a:solidFill>
                <a:latin typeface="Calibri"/>
              </a:rPr>
              <a:t>project_team relie un projet à ses équipes.</a:t>
            </a:r>
          </a:p>
          <a:p>
            <a:pPr algn="l">
              <a:spcBef>
                <a:spcPts val="0"/>
              </a:spcBef>
              <a:spcAft>
                <a:spcPts val="0"/>
              </a:spcAft>
            </a:pPr>
            <a:r>
              <a:rPr sz="1600" b="0">
                <a:solidFill>
                  <a:srgbClr val="2A2430"/>
                </a:solidFill>
                <a:latin typeface="Calibri"/>
              </a:rPr>
              <a:t>Une tâche bloquée garde sa note. Chaque point d'avancement reste dans l'historique.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Technologies</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13</a:t>
            </a:r>
          </a:p>
        </p:txBody>
      </p:sp>
      <p:sp>
        <p:nvSpPr>
          <p:cNvPr id="7" name="Rounded Rectangle 6"/>
          <p:cNvSpPr/>
          <p:nvPr/>
        </p:nvSpPr>
        <p:spPr>
          <a:xfrm>
            <a:off x="457200" y="1143000"/>
            <a:ext cx="3657600" cy="2286000"/>
          </a:xfrm>
          <a:prstGeom prst="roundRect">
            <a:avLst>
              <a:gd name="adj" fmla="val 10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399032"/>
            <a:ext cx="566928" cy="566928"/>
          </a:xfrm>
          <a:prstGeom prst="ellipse">
            <a:avLst/>
          </a:prstGeom>
          <a:solidFill>
            <a:srgbClr val="F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08760"/>
            <a:ext cx="566928" cy="365760"/>
          </a:xfrm>
          <a:prstGeom prst="rect">
            <a:avLst/>
          </a:prstGeom>
          <a:noFill/>
        </p:spPr>
        <p:txBody>
          <a:bodyPr wrap="square" lIns="0" rIns="0" tIns="0" bIns="0" anchor="t"/>
          <a:lstStyle/>
          <a:p>
            <a:pPr algn="ctr">
              <a:spcBef>
                <a:spcPts val="0"/>
              </a:spcBef>
              <a:spcAft>
                <a:spcPts val="0"/>
              </a:spcAft>
            </a:pPr>
            <a:r>
              <a:rPr sz="1600" b="1">
                <a:solidFill>
                  <a:srgbClr val="C45B7A"/>
                </a:solidFill>
                <a:latin typeface="Calibri"/>
              </a:rPr>
              <a:t>L</a:t>
            </a:r>
          </a:p>
        </p:txBody>
      </p:sp>
      <p:sp>
        <p:nvSpPr>
          <p:cNvPr id="10" name="TextBox 9"/>
          <p:cNvSpPr txBox="1"/>
          <p:nvPr/>
        </p:nvSpPr>
        <p:spPr>
          <a:xfrm>
            <a:off x="1417320" y="1463040"/>
            <a:ext cx="2468880" cy="457200"/>
          </a:xfrm>
          <a:prstGeom prst="rect">
            <a:avLst/>
          </a:prstGeom>
          <a:noFill/>
        </p:spPr>
        <p:txBody>
          <a:bodyPr wrap="square" lIns="0" rIns="0" tIns="0" bIns="0" anchor="ctr"/>
          <a:lstStyle/>
          <a:p>
            <a:pPr algn="l">
              <a:spcBef>
                <a:spcPts val="0"/>
              </a:spcBef>
              <a:spcAft>
                <a:spcPts val="0"/>
              </a:spcAft>
            </a:pPr>
            <a:r>
              <a:rPr sz="1500" b="1">
                <a:solidFill>
                  <a:srgbClr val="2A2430"/>
                </a:solidFill>
                <a:latin typeface="Calibri"/>
              </a:rPr>
              <a:t>Laravel 13, PHP 8.5</a:t>
            </a:r>
          </a:p>
        </p:txBody>
      </p:sp>
      <p:sp>
        <p:nvSpPr>
          <p:cNvPr id="11" name="TextBox 10"/>
          <p:cNvSpPr txBox="1"/>
          <p:nvPr/>
        </p:nvSpPr>
        <p:spPr>
          <a:xfrm>
            <a:off x="685800" y="2194560"/>
            <a:ext cx="3200400" cy="365760"/>
          </a:xfrm>
          <a:prstGeom prst="rect">
            <a:avLst/>
          </a:prstGeom>
          <a:noFill/>
        </p:spPr>
        <p:txBody>
          <a:bodyPr wrap="square" lIns="0" rIns="0" tIns="0" bIns="0" anchor="t"/>
          <a:lstStyle/>
          <a:p>
            <a:pPr algn="l">
              <a:spcBef>
                <a:spcPts val="0"/>
              </a:spcBef>
              <a:spcAft>
                <a:spcPts val="0"/>
              </a:spcAft>
            </a:pPr>
            <a:r>
              <a:rPr sz="1400" b="1">
                <a:solidFill>
                  <a:srgbClr val="A34564"/>
                </a:solidFill>
                <a:latin typeface="Calibri"/>
              </a:rPr>
              <a:t>Le serveur</a:t>
            </a:r>
          </a:p>
        </p:txBody>
      </p:sp>
      <p:sp>
        <p:nvSpPr>
          <p:cNvPr id="12" name="TextBox 11"/>
          <p:cNvSpPr txBox="1"/>
          <p:nvPr/>
        </p:nvSpPr>
        <p:spPr>
          <a:xfrm>
            <a:off x="685800" y="2606040"/>
            <a:ext cx="3200400" cy="54864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Routes, validation, politiques.</a:t>
            </a:r>
          </a:p>
        </p:txBody>
      </p:sp>
      <p:sp>
        <p:nvSpPr>
          <p:cNvPr id="13" name="Rounded Rectangle 12"/>
          <p:cNvSpPr/>
          <p:nvPr/>
        </p:nvSpPr>
        <p:spPr>
          <a:xfrm>
            <a:off x="4297680" y="1143000"/>
            <a:ext cx="3657600" cy="2286000"/>
          </a:xfrm>
          <a:prstGeom prst="roundRect">
            <a:avLst>
              <a:gd name="adj" fmla="val 10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26280" y="1399032"/>
            <a:ext cx="566928" cy="566928"/>
          </a:xfrm>
          <a:prstGeom prst="ellipse">
            <a:avLst/>
          </a:prstGeom>
          <a:solidFill>
            <a:srgbClr val="F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08760"/>
            <a:ext cx="566928" cy="365760"/>
          </a:xfrm>
          <a:prstGeom prst="rect">
            <a:avLst/>
          </a:prstGeom>
          <a:noFill/>
        </p:spPr>
        <p:txBody>
          <a:bodyPr wrap="square" lIns="0" rIns="0" tIns="0" bIns="0" anchor="t"/>
          <a:lstStyle/>
          <a:p>
            <a:pPr algn="ctr">
              <a:spcBef>
                <a:spcPts val="0"/>
              </a:spcBef>
              <a:spcAft>
                <a:spcPts val="0"/>
              </a:spcAft>
            </a:pPr>
            <a:r>
              <a:rPr sz="1600" b="1">
                <a:solidFill>
                  <a:srgbClr val="C45B7A"/>
                </a:solidFill>
                <a:latin typeface="Calibri"/>
              </a:rPr>
              <a:t>B</a:t>
            </a:r>
          </a:p>
        </p:txBody>
      </p:sp>
      <p:sp>
        <p:nvSpPr>
          <p:cNvPr id="16" name="TextBox 15"/>
          <p:cNvSpPr txBox="1"/>
          <p:nvPr/>
        </p:nvSpPr>
        <p:spPr>
          <a:xfrm>
            <a:off x="5257800" y="1463040"/>
            <a:ext cx="2468880" cy="457200"/>
          </a:xfrm>
          <a:prstGeom prst="rect">
            <a:avLst/>
          </a:prstGeom>
          <a:noFill/>
        </p:spPr>
        <p:txBody>
          <a:bodyPr wrap="square" lIns="0" rIns="0" tIns="0" bIns="0" anchor="ctr"/>
          <a:lstStyle/>
          <a:p>
            <a:pPr algn="l">
              <a:spcBef>
                <a:spcPts val="0"/>
              </a:spcBef>
              <a:spcAft>
                <a:spcPts val="0"/>
              </a:spcAft>
            </a:pPr>
            <a:r>
              <a:rPr sz="1500" b="1">
                <a:solidFill>
                  <a:srgbClr val="2A2430"/>
                </a:solidFill>
                <a:latin typeface="Calibri"/>
              </a:rPr>
              <a:t>Blade, Bootstrap 5.3</a:t>
            </a:r>
          </a:p>
        </p:txBody>
      </p:sp>
      <p:sp>
        <p:nvSpPr>
          <p:cNvPr id="17" name="TextBox 16"/>
          <p:cNvSpPr txBox="1"/>
          <p:nvPr/>
        </p:nvSpPr>
        <p:spPr>
          <a:xfrm>
            <a:off x="4526280" y="2194560"/>
            <a:ext cx="3200400" cy="365760"/>
          </a:xfrm>
          <a:prstGeom prst="rect">
            <a:avLst/>
          </a:prstGeom>
          <a:noFill/>
        </p:spPr>
        <p:txBody>
          <a:bodyPr wrap="square" lIns="0" rIns="0" tIns="0" bIns="0" anchor="t"/>
          <a:lstStyle/>
          <a:p>
            <a:pPr algn="l">
              <a:spcBef>
                <a:spcPts val="0"/>
              </a:spcBef>
              <a:spcAft>
                <a:spcPts val="0"/>
              </a:spcAft>
            </a:pPr>
            <a:r>
              <a:rPr sz="1400" b="1">
                <a:solidFill>
                  <a:srgbClr val="A34564"/>
                </a:solidFill>
                <a:latin typeface="Calibri"/>
              </a:rPr>
              <a:t>Les écrans web</a:t>
            </a:r>
          </a:p>
        </p:txBody>
      </p:sp>
      <p:sp>
        <p:nvSpPr>
          <p:cNvPr id="18" name="TextBox 17"/>
          <p:cNvSpPr txBox="1"/>
          <p:nvPr/>
        </p:nvSpPr>
        <p:spPr>
          <a:xfrm>
            <a:off x="4526280" y="2606040"/>
            <a:ext cx="3200400" cy="54864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Sans chaîne npm.</a:t>
            </a:r>
          </a:p>
        </p:txBody>
      </p:sp>
      <p:sp>
        <p:nvSpPr>
          <p:cNvPr id="19" name="Rounded Rectangle 18"/>
          <p:cNvSpPr/>
          <p:nvPr/>
        </p:nvSpPr>
        <p:spPr>
          <a:xfrm>
            <a:off x="8138160" y="1143000"/>
            <a:ext cx="3657600" cy="2286000"/>
          </a:xfrm>
          <a:prstGeom prst="roundRect">
            <a:avLst>
              <a:gd name="adj" fmla="val 10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66760" y="1399032"/>
            <a:ext cx="566928" cy="566928"/>
          </a:xfrm>
          <a:prstGeom prst="ellipse">
            <a:avLst/>
          </a:prstGeom>
          <a:solidFill>
            <a:srgbClr val="F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508760"/>
            <a:ext cx="566928" cy="365760"/>
          </a:xfrm>
          <a:prstGeom prst="rect">
            <a:avLst/>
          </a:prstGeom>
          <a:noFill/>
        </p:spPr>
        <p:txBody>
          <a:bodyPr wrap="square" lIns="0" rIns="0" tIns="0" bIns="0" anchor="t"/>
          <a:lstStyle/>
          <a:p>
            <a:pPr algn="ctr">
              <a:spcBef>
                <a:spcPts val="0"/>
              </a:spcBef>
              <a:spcAft>
                <a:spcPts val="0"/>
              </a:spcAft>
            </a:pPr>
            <a:r>
              <a:rPr sz="1600" b="1">
                <a:solidFill>
                  <a:srgbClr val="C45B7A"/>
                </a:solidFill>
                <a:latin typeface="Calibri"/>
              </a:rPr>
              <a:t>M</a:t>
            </a:r>
          </a:p>
        </p:txBody>
      </p:sp>
      <p:sp>
        <p:nvSpPr>
          <p:cNvPr id="22" name="TextBox 21"/>
          <p:cNvSpPr txBox="1"/>
          <p:nvPr/>
        </p:nvSpPr>
        <p:spPr>
          <a:xfrm>
            <a:off x="9098280" y="1463040"/>
            <a:ext cx="2468880" cy="457200"/>
          </a:xfrm>
          <a:prstGeom prst="rect">
            <a:avLst/>
          </a:prstGeom>
          <a:noFill/>
        </p:spPr>
        <p:txBody>
          <a:bodyPr wrap="square" lIns="0" rIns="0" tIns="0" bIns="0" anchor="ctr"/>
          <a:lstStyle/>
          <a:p>
            <a:pPr algn="l">
              <a:spcBef>
                <a:spcPts val="0"/>
              </a:spcBef>
              <a:spcAft>
                <a:spcPts val="0"/>
              </a:spcAft>
            </a:pPr>
            <a:r>
              <a:rPr sz="1500" b="1">
                <a:solidFill>
                  <a:srgbClr val="2A2430"/>
                </a:solidFill>
                <a:latin typeface="Calibri"/>
              </a:rPr>
              <a:t>MySQL, MariaDB</a:t>
            </a:r>
          </a:p>
        </p:txBody>
      </p:sp>
      <p:sp>
        <p:nvSpPr>
          <p:cNvPr id="23" name="TextBox 22"/>
          <p:cNvSpPr txBox="1"/>
          <p:nvPr/>
        </p:nvSpPr>
        <p:spPr>
          <a:xfrm>
            <a:off x="8366760" y="2194560"/>
            <a:ext cx="3200400" cy="365760"/>
          </a:xfrm>
          <a:prstGeom prst="rect">
            <a:avLst/>
          </a:prstGeom>
          <a:noFill/>
        </p:spPr>
        <p:txBody>
          <a:bodyPr wrap="square" lIns="0" rIns="0" tIns="0" bIns="0" anchor="t"/>
          <a:lstStyle/>
          <a:p>
            <a:pPr algn="l">
              <a:spcBef>
                <a:spcPts val="0"/>
              </a:spcBef>
              <a:spcAft>
                <a:spcPts val="0"/>
              </a:spcAft>
            </a:pPr>
            <a:r>
              <a:rPr sz="1400" b="1">
                <a:solidFill>
                  <a:srgbClr val="A34564"/>
                </a:solidFill>
                <a:latin typeface="Calibri"/>
              </a:rPr>
              <a:t>Les données</a:t>
            </a:r>
          </a:p>
        </p:txBody>
      </p:sp>
      <p:sp>
        <p:nvSpPr>
          <p:cNvPr id="24" name="TextBox 23"/>
          <p:cNvSpPr txBox="1"/>
          <p:nvPr/>
        </p:nvSpPr>
        <p:spPr>
          <a:xfrm>
            <a:off x="8366760" y="2606040"/>
            <a:ext cx="3200400" cy="54864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MariaDB 11.4 en ligne.</a:t>
            </a:r>
          </a:p>
        </p:txBody>
      </p:sp>
      <p:sp>
        <p:nvSpPr>
          <p:cNvPr id="25" name="Rounded Rectangle 24"/>
          <p:cNvSpPr/>
          <p:nvPr/>
        </p:nvSpPr>
        <p:spPr>
          <a:xfrm>
            <a:off x="457200" y="3657600"/>
            <a:ext cx="3657600" cy="2286000"/>
          </a:xfrm>
          <a:prstGeom prst="roundRect">
            <a:avLst>
              <a:gd name="adj" fmla="val 10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3913632"/>
            <a:ext cx="566928" cy="566928"/>
          </a:xfrm>
          <a:prstGeom prst="ellipse">
            <a:avLst/>
          </a:prstGeom>
          <a:solidFill>
            <a:srgbClr val="F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023360"/>
            <a:ext cx="566928" cy="365760"/>
          </a:xfrm>
          <a:prstGeom prst="rect">
            <a:avLst/>
          </a:prstGeom>
          <a:noFill/>
        </p:spPr>
        <p:txBody>
          <a:bodyPr wrap="square" lIns="0" rIns="0" tIns="0" bIns="0" anchor="t"/>
          <a:lstStyle/>
          <a:p>
            <a:pPr algn="ctr">
              <a:spcBef>
                <a:spcPts val="0"/>
              </a:spcBef>
              <a:spcAft>
                <a:spcPts val="0"/>
              </a:spcAft>
            </a:pPr>
            <a:r>
              <a:rPr sz="1600" b="1">
                <a:solidFill>
                  <a:srgbClr val="C45B7A"/>
                </a:solidFill>
                <a:latin typeface="Calibri"/>
              </a:rPr>
              <a:t>F</a:t>
            </a:r>
          </a:p>
        </p:txBody>
      </p:sp>
      <p:sp>
        <p:nvSpPr>
          <p:cNvPr id="28" name="TextBox 27"/>
          <p:cNvSpPr txBox="1"/>
          <p:nvPr/>
        </p:nvSpPr>
        <p:spPr>
          <a:xfrm>
            <a:off x="1417320" y="3977639"/>
            <a:ext cx="2468880" cy="457200"/>
          </a:xfrm>
          <a:prstGeom prst="rect">
            <a:avLst/>
          </a:prstGeom>
          <a:noFill/>
        </p:spPr>
        <p:txBody>
          <a:bodyPr wrap="square" lIns="0" rIns="0" tIns="0" bIns="0" anchor="ctr"/>
          <a:lstStyle/>
          <a:p>
            <a:pPr algn="l">
              <a:spcBef>
                <a:spcPts val="0"/>
              </a:spcBef>
              <a:spcAft>
                <a:spcPts val="0"/>
              </a:spcAft>
            </a:pPr>
            <a:r>
              <a:rPr sz="1500" b="1">
                <a:solidFill>
                  <a:srgbClr val="2A2430"/>
                </a:solidFill>
                <a:latin typeface="Calibri"/>
              </a:rPr>
              <a:t>Flutter</a:t>
            </a:r>
          </a:p>
        </p:txBody>
      </p:sp>
      <p:sp>
        <p:nvSpPr>
          <p:cNvPr id="29" name="TextBox 28"/>
          <p:cNvSpPr txBox="1"/>
          <p:nvPr/>
        </p:nvSpPr>
        <p:spPr>
          <a:xfrm>
            <a:off x="685800" y="4709160"/>
            <a:ext cx="3200400" cy="365760"/>
          </a:xfrm>
          <a:prstGeom prst="rect">
            <a:avLst/>
          </a:prstGeom>
          <a:noFill/>
        </p:spPr>
        <p:txBody>
          <a:bodyPr wrap="square" lIns="0" rIns="0" tIns="0" bIns="0" anchor="t"/>
          <a:lstStyle/>
          <a:p>
            <a:pPr algn="l">
              <a:spcBef>
                <a:spcPts val="0"/>
              </a:spcBef>
              <a:spcAft>
                <a:spcPts val="0"/>
              </a:spcAft>
            </a:pPr>
            <a:r>
              <a:rPr sz="1400" b="1">
                <a:solidFill>
                  <a:srgbClr val="A34564"/>
                </a:solidFill>
                <a:latin typeface="Calibri"/>
              </a:rPr>
              <a:t>Le téléphone</a:t>
            </a:r>
          </a:p>
        </p:txBody>
      </p:sp>
      <p:sp>
        <p:nvSpPr>
          <p:cNvPr id="30" name="TextBox 29"/>
          <p:cNvSpPr txBox="1"/>
          <p:nvPr/>
        </p:nvSpPr>
        <p:spPr>
          <a:xfrm>
            <a:off x="685800" y="5120640"/>
            <a:ext cx="3200400" cy="54864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Les trois rôles sur iPhone.</a:t>
            </a:r>
          </a:p>
        </p:txBody>
      </p:sp>
      <p:sp>
        <p:nvSpPr>
          <p:cNvPr id="31" name="Rounded Rectangle 30"/>
          <p:cNvSpPr/>
          <p:nvPr/>
        </p:nvSpPr>
        <p:spPr>
          <a:xfrm>
            <a:off x="4297680" y="3657600"/>
            <a:ext cx="3657600" cy="2286000"/>
          </a:xfrm>
          <a:prstGeom prst="roundRect">
            <a:avLst>
              <a:gd name="adj" fmla="val 10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26280" y="3913632"/>
            <a:ext cx="566928" cy="566928"/>
          </a:xfrm>
          <a:prstGeom prst="ellipse">
            <a:avLst/>
          </a:prstGeom>
          <a:solidFill>
            <a:srgbClr val="F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26280" y="4023360"/>
            <a:ext cx="566928" cy="365760"/>
          </a:xfrm>
          <a:prstGeom prst="rect">
            <a:avLst/>
          </a:prstGeom>
          <a:noFill/>
        </p:spPr>
        <p:txBody>
          <a:bodyPr wrap="square" lIns="0" rIns="0" tIns="0" bIns="0" anchor="t"/>
          <a:lstStyle/>
          <a:p>
            <a:pPr algn="ctr">
              <a:spcBef>
                <a:spcPts val="0"/>
              </a:spcBef>
              <a:spcAft>
                <a:spcPts val="0"/>
              </a:spcAft>
            </a:pPr>
            <a:r>
              <a:rPr sz="1600" b="1">
                <a:solidFill>
                  <a:srgbClr val="C45B7A"/>
                </a:solidFill>
                <a:latin typeface="Calibri"/>
              </a:rPr>
              <a:t>S</a:t>
            </a:r>
          </a:p>
        </p:txBody>
      </p:sp>
      <p:sp>
        <p:nvSpPr>
          <p:cNvPr id="34" name="TextBox 33"/>
          <p:cNvSpPr txBox="1"/>
          <p:nvPr/>
        </p:nvSpPr>
        <p:spPr>
          <a:xfrm>
            <a:off x="5257800" y="3977639"/>
            <a:ext cx="2468880" cy="457200"/>
          </a:xfrm>
          <a:prstGeom prst="rect">
            <a:avLst/>
          </a:prstGeom>
          <a:noFill/>
        </p:spPr>
        <p:txBody>
          <a:bodyPr wrap="square" lIns="0" rIns="0" tIns="0" bIns="0" anchor="ctr"/>
          <a:lstStyle/>
          <a:p>
            <a:pPr algn="l">
              <a:spcBef>
                <a:spcPts val="0"/>
              </a:spcBef>
              <a:spcAft>
                <a:spcPts val="0"/>
              </a:spcAft>
            </a:pPr>
            <a:r>
              <a:rPr sz="1500" b="1">
                <a:solidFill>
                  <a:srgbClr val="2A2430"/>
                </a:solidFill>
                <a:latin typeface="Calibri"/>
              </a:rPr>
              <a:t>Sanctum</a:t>
            </a:r>
          </a:p>
        </p:txBody>
      </p:sp>
      <p:sp>
        <p:nvSpPr>
          <p:cNvPr id="35" name="TextBox 34"/>
          <p:cNvSpPr txBox="1"/>
          <p:nvPr/>
        </p:nvSpPr>
        <p:spPr>
          <a:xfrm>
            <a:off x="4526280" y="4709160"/>
            <a:ext cx="3200400" cy="365760"/>
          </a:xfrm>
          <a:prstGeom prst="rect">
            <a:avLst/>
          </a:prstGeom>
          <a:noFill/>
        </p:spPr>
        <p:txBody>
          <a:bodyPr wrap="square" lIns="0" rIns="0" tIns="0" bIns="0" anchor="t"/>
          <a:lstStyle/>
          <a:p>
            <a:pPr algn="l">
              <a:spcBef>
                <a:spcPts val="0"/>
              </a:spcBef>
              <a:spcAft>
                <a:spcPts val="0"/>
              </a:spcAft>
            </a:pPr>
            <a:r>
              <a:rPr sz="1400" b="1">
                <a:solidFill>
                  <a:srgbClr val="A34564"/>
                </a:solidFill>
                <a:latin typeface="Calibri"/>
              </a:rPr>
              <a:t>La connexion mobile</a:t>
            </a:r>
          </a:p>
        </p:txBody>
      </p:sp>
      <p:sp>
        <p:nvSpPr>
          <p:cNvPr id="36" name="TextBox 35"/>
          <p:cNvSpPr txBox="1"/>
          <p:nvPr/>
        </p:nvSpPr>
        <p:spPr>
          <a:xfrm>
            <a:off x="4526280" y="5120640"/>
            <a:ext cx="3200400" cy="54864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Un jeton. La session reste au web.</a:t>
            </a:r>
          </a:p>
        </p:txBody>
      </p:sp>
      <p:sp>
        <p:nvSpPr>
          <p:cNvPr id="37" name="Rounded Rectangle 36"/>
          <p:cNvSpPr/>
          <p:nvPr/>
        </p:nvSpPr>
        <p:spPr>
          <a:xfrm>
            <a:off x="8138160" y="3657600"/>
            <a:ext cx="3657600" cy="2286000"/>
          </a:xfrm>
          <a:prstGeom prst="roundRect">
            <a:avLst>
              <a:gd name="adj" fmla="val 10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366760" y="3913632"/>
            <a:ext cx="566928" cy="566928"/>
          </a:xfrm>
          <a:prstGeom prst="ellipse">
            <a:avLst/>
          </a:prstGeom>
          <a:solidFill>
            <a:srgbClr val="F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66760" y="4023360"/>
            <a:ext cx="566928" cy="365760"/>
          </a:xfrm>
          <a:prstGeom prst="rect">
            <a:avLst/>
          </a:prstGeom>
          <a:noFill/>
        </p:spPr>
        <p:txBody>
          <a:bodyPr wrap="square" lIns="0" rIns="0" tIns="0" bIns="0" anchor="t"/>
          <a:lstStyle/>
          <a:p>
            <a:pPr algn="ctr">
              <a:spcBef>
                <a:spcPts val="0"/>
              </a:spcBef>
              <a:spcAft>
                <a:spcPts val="0"/>
              </a:spcAft>
            </a:pPr>
            <a:r>
              <a:rPr sz="1600" b="1">
                <a:solidFill>
                  <a:srgbClr val="C45B7A"/>
                </a:solidFill>
                <a:latin typeface="Calibri"/>
              </a:rPr>
              <a:t>T</a:t>
            </a:r>
          </a:p>
        </p:txBody>
      </p:sp>
      <p:sp>
        <p:nvSpPr>
          <p:cNvPr id="40" name="TextBox 39"/>
          <p:cNvSpPr txBox="1"/>
          <p:nvPr/>
        </p:nvSpPr>
        <p:spPr>
          <a:xfrm>
            <a:off x="9098280" y="3977639"/>
            <a:ext cx="2468880" cy="457200"/>
          </a:xfrm>
          <a:prstGeom prst="rect">
            <a:avLst/>
          </a:prstGeom>
          <a:noFill/>
        </p:spPr>
        <p:txBody>
          <a:bodyPr wrap="square" lIns="0" rIns="0" tIns="0" bIns="0" anchor="ctr"/>
          <a:lstStyle/>
          <a:p>
            <a:pPr algn="l">
              <a:spcBef>
                <a:spcPts val="0"/>
              </a:spcBef>
              <a:spcAft>
                <a:spcPts val="0"/>
              </a:spcAft>
            </a:pPr>
            <a:r>
              <a:rPr sz="1500" b="1">
                <a:solidFill>
                  <a:srgbClr val="2A2430"/>
                </a:solidFill>
                <a:latin typeface="Calibri"/>
              </a:rPr>
              <a:t>PHPUnit, Actions</a:t>
            </a:r>
          </a:p>
        </p:txBody>
      </p:sp>
      <p:sp>
        <p:nvSpPr>
          <p:cNvPr id="41" name="TextBox 40"/>
          <p:cNvSpPr txBox="1"/>
          <p:nvPr/>
        </p:nvSpPr>
        <p:spPr>
          <a:xfrm>
            <a:off x="8366760" y="4709160"/>
            <a:ext cx="3200400" cy="365760"/>
          </a:xfrm>
          <a:prstGeom prst="rect">
            <a:avLst/>
          </a:prstGeom>
          <a:noFill/>
        </p:spPr>
        <p:txBody>
          <a:bodyPr wrap="square" lIns="0" rIns="0" tIns="0" bIns="0" anchor="t"/>
          <a:lstStyle/>
          <a:p>
            <a:pPr algn="l">
              <a:spcBef>
                <a:spcPts val="0"/>
              </a:spcBef>
              <a:spcAft>
                <a:spcPts val="0"/>
              </a:spcAft>
            </a:pPr>
            <a:r>
              <a:rPr sz="1400" b="1">
                <a:solidFill>
                  <a:srgbClr val="A34564"/>
                </a:solidFill>
                <a:latin typeface="Calibri"/>
              </a:rPr>
              <a:t>Les tests</a:t>
            </a:r>
          </a:p>
        </p:txBody>
      </p:sp>
      <p:sp>
        <p:nvSpPr>
          <p:cNvPr id="42" name="TextBox 41"/>
          <p:cNvSpPr txBox="1"/>
          <p:nvPr/>
        </p:nvSpPr>
        <p:spPr>
          <a:xfrm>
            <a:off x="8366760" y="5120640"/>
            <a:ext cx="3200400" cy="54864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Les refus d'accès, à chaque push.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Le point d'avancement</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14</a:t>
            </a:r>
          </a:p>
        </p:txBody>
      </p:sp>
      <p:sp>
        <p:nvSpPr>
          <p:cNvPr id="7" name="Rounded Rectangle 6"/>
          <p:cNvSpPr/>
          <p:nvPr/>
        </p:nvSpPr>
        <p:spPr>
          <a:xfrm>
            <a:off x="411480" y="1097280"/>
            <a:ext cx="5623560" cy="1508760"/>
          </a:xfrm>
          <a:prstGeom prst="roundRect">
            <a:avLst>
              <a:gd name="adj" fmla="val 10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5212080" cy="320040"/>
          </a:xfrm>
          <a:prstGeom prst="rect">
            <a:avLst/>
          </a:prstGeom>
          <a:noFill/>
        </p:spPr>
        <p:txBody>
          <a:bodyPr wrap="square" lIns="0" rIns="0" tIns="0" bIns="0" anchor="t"/>
          <a:lstStyle/>
          <a:p>
            <a:pPr algn="l">
              <a:spcBef>
                <a:spcPts val="0"/>
              </a:spcBef>
              <a:spcAft>
                <a:spcPts val="0"/>
              </a:spcAft>
            </a:pPr>
            <a:r>
              <a:rPr sz="1600" b="1">
                <a:solidFill>
                  <a:srgbClr val="A34564"/>
                </a:solidFill>
                <a:latin typeface="Calibri"/>
              </a:rPr>
              <a:t>Besoin</a:t>
            </a:r>
          </a:p>
        </p:txBody>
      </p:sp>
      <p:sp>
        <p:nvSpPr>
          <p:cNvPr id="9" name="TextBox 8"/>
          <p:cNvSpPr txBox="1"/>
          <p:nvPr/>
        </p:nvSpPr>
        <p:spPr>
          <a:xfrm>
            <a:off x="640080" y="1691640"/>
            <a:ext cx="5212080" cy="731520"/>
          </a:xfrm>
          <a:prstGeom prst="rect">
            <a:avLst/>
          </a:prstGeom>
          <a:noFill/>
        </p:spPr>
        <p:txBody>
          <a:bodyPr wrap="square" lIns="0" rIns="0" tIns="0" bIns="0" anchor="t"/>
          <a:lstStyle/>
          <a:p>
            <a:pPr algn="l">
              <a:spcBef>
                <a:spcPts val="0"/>
              </a:spcBef>
              <a:spcAft>
                <a:spcPts val="0"/>
              </a:spcAft>
            </a:pPr>
            <a:r>
              <a:rPr sz="1500" b="0">
                <a:solidFill>
                  <a:srgbClr val="2A2430"/>
                </a:solidFill>
                <a:latin typeface="Calibri"/>
              </a:rPr>
              <a:t>Le blocage doit être écrit, et rester sur la tâche.</a:t>
            </a:r>
          </a:p>
        </p:txBody>
      </p:sp>
      <p:sp>
        <p:nvSpPr>
          <p:cNvPr id="10" name="Rounded Rectangle 9"/>
          <p:cNvSpPr/>
          <p:nvPr/>
        </p:nvSpPr>
        <p:spPr>
          <a:xfrm>
            <a:off x="411480" y="2743200"/>
            <a:ext cx="5623560" cy="1508760"/>
          </a:xfrm>
          <a:prstGeom prst="roundRect">
            <a:avLst>
              <a:gd name="adj" fmla="val 10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926080"/>
            <a:ext cx="5212080" cy="320040"/>
          </a:xfrm>
          <a:prstGeom prst="rect">
            <a:avLst/>
          </a:prstGeom>
          <a:noFill/>
        </p:spPr>
        <p:txBody>
          <a:bodyPr wrap="square" lIns="0" rIns="0" tIns="0" bIns="0" anchor="t"/>
          <a:lstStyle/>
          <a:p>
            <a:pPr algn="l">
              <a:spcBef>
                <a:spcPts val="0"/>
              </a:spcBef>
              <a:spcAft>
                <a:spcPts val="0"/>
              </a:spcAft>
            </a:pPr>
            <a:r>
              <a:rPr sz="1600" b="1">
                <a:solidFill>
                  <a:srgbClr val="A34564"/>
                </a:solidFill>
                <a:latin typeface="Calibri"/>
              </a:rPr>
              <a:t>Solution</a:t>
            </a:r>
          </a:p>
        </p:txBody>
      </p:sp>
      <p:sp>
        <p:nvSpPr>
          <p:cNvPr id="12" name="TextBox 11"/>
          <p:cNvSpPr txBox="1"/>
          <p:nvPr/>
        </p:nvSpPr>
        <p:spPr>
          <a:xfrm>
            <a:off x="640080" y="3337560"/>
            <a:ext cx="5212080" cy="731520"/>
          </a:xfrm>
          <a:prstGeom prst="rect">
            <a:avLst/>
          </a:prstGeom>
          <a:noFill/>
        </p:spPr>
        <p:txBody>
          <a:bodyPr wrap="square" lIns="0" rIns="0" tIns="0" bIns="0" anchor="t"/>
          <a:lstStyle/>
          <a:p>
            <a:pPr algn="l">
              <a:spcBef>
                <a:spcPts val="0"/>
              </a:spcBef>
              <a:spcAft>
                <a:spcPts val="0"/>
              </a:spcAft>
            </a:pPr>
            <a:r>
              <a:rPr sz="1500" b="0">
                <a:solidFill>
                  <a:srgbClr val="2A2430"/>
                </a:solidFill>
                <a:latin typeface="Calibri"/>
              </a:rPr>
              <a:t>Note obligatoire si le statut est bloqué. Seul l'assigné met à jour.</a:t>
            </a:r>
          </a:p>
        </p:txBody>
      </p:sp>
      <p:sp>
        <p:nvSpPr>
          <p:cNvPr id="13" name="Rounded Rectangle 12"/>
          <p:cNvSpPr/>
          <p:nvPr/>
        </p:nvSpPr>
        <p:spPr>
          <a:xfrm>
            <a:off x="411480" y="4389120"/>
            <a:ext cx="5623560" cy="1508760"/>
          </a:xfrm>
          <a:prstGeom prst="roundRect">
            <a:avLst>
              <a:gd name="adj" fmla="val 10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572000"/>
            <a:ext cx="5212080" cy="320040"/>
          </a:xfrm>
          <a:prstGeom prst="rect">
            <a:avLst/>
          </a:prstGeom>
          <a:noFill/>
        </p:spPr>
        <p:txBody>
          <a:bodyPr wrap="square" lIns="0" rIns="0" tIns="0" bIns="0" anchor="t"/>
          <a:lstStyle/>
          <a:p>
            <a:pPr algn="l">
              <a:spcBef>
                <a:spcPts val="0"/>
              </a:spcBef>
              <a:spcAft>
                <a:spcPts val="0"/>
              </a:spcAft>
            </a:pPr>
            <a:r>
              <a:rPr sz="1600" b="1">
                <a:solidFill>
                  <a:srgbClr val="A34564"/>
                </a:solidFill>
                <a:latin typeface="Calibri"/>
              </a:rPr>
              <a:t>Résultat</a:t>
            </a:r>
          </a:p>
        </p:txBody>
      </p:sp>
      <p:sp>
        <p:nvSpPr>
          <p:cNvPr id="15" name="TextBox 14"/>
          <p:cNvSpPr txBox="1"/>
          <p:nvPr/>
        </p:nvSpPr>
        <p:spPr>
          <a:xfrm>
            <a:off x="640080" y="4983480"/>
            <a:ext cx="5212080" cy="731520"/>
          </a:xfrm>
          <a:prstGeom prst="rect">
            <a:avLst/>
          </a:prstGeom>
          <a:noFill/>
        </p:spPr>
        <p:txBody>
          <a:bodyPr wrap="square" lIns="0" rIns="0" tIns="0" bIns="0" anchor="t"/>
          <a:lstStyle/>
          <a:p>
            <a:pPr algn="l">
              <a:spcBef>
                <a:spcPts val="0"/>
              </a:spcBef>
              <a:spcAft>
                <a:spcPts val="0"/>
              </a:spcAft>
            </a:pPr>
            <a:r>
              <a:rPr sz="1500" b="0">
                <a:solidFill>
                  <a:srgbClr val="2A2430"/>
                </a:solidFill>
                <a:latin typeface="Calibri"/>
              </a:rPr>
              <a:t>Le chef voit les blocages. Le membre revoit l'historique.</a:t>
            </a:r>
          </a:p>
        </p:txBody>
      </p:sp>
      <p:pic>
        <p:nvPicPr>
          <p:cNvPr id="16" name="Picture 15" descr="code-blocker.png"/>
          <p:cNvPicPr>
            <a:picLocks noChangeAspect="1"/>
          </p:cNvPicPr>
          <p:nvPr/>
        </p:nvPicPr>
        <p:blipFill>
          <a:blip r:embed="rId3"/>
          <a:stretch>
            <a:fillRect/>
          </a:stretch>
        </p:blipFill>
        <p:spPr>
          <a:xfrm>
            <a:off x="6263640" y="1484966"/>
            <a:ext cx="5486400" cy="1556346"/>
          </a:xfrm>
          <a:prstGeom prst="rect">
            <a:avLst/>
          </a:prstGeom>
        </p:spPr>
      </p:pic>
      <p:pic>
        <p:nvPicPr>
          <p:cNvPr id="17" name="Picture 16" descr="task-blocked.png"/>
          <p:cNvPicPr>
            <a:picLocks noChangeAspect="1"/>
          </p:cNvPicPr>
          <p:nvPr/>
        </p:nvPicPr>
        <p:blipFill>
          <a:blip r:embed="rId4"/>
          <a:stretch>
            <a:fillRect/>
          </a:stretch>
        </p:blipFill>
        <p:spPr>
          <a:xfrm>
            <a:off x="7072817" y="3566160"/>
            <a:ext cx="3868045" cy="26517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L'application web</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15</a:t>
            </a:r>
          </a:p>
        </p:txBody>
      </p:sp>
      <p:pic>
        <p:nvPicPr>
          <p:cNvPr id="7" name="Picture 6" descr="dash-lead.png"/>
          <p:cNvPicPr>
            <a:picLocks noChangeAspect="1"/>
          </p:cNvPicPr>
          <p:nvPr/>
        </p:nvPicPr>
        <p:blipFill>
          <a:blip r:embed="rId3"/>
          <a:stretch>
            <a:fillRect/>
          </a:stretch>
        </p:blipFill>
        <p:spPr>
          <a:xfrm>
            <a:off x="365760" y="2083917"/>
            <a:ext cx="3749039" cy="2324404"/>
          </a:xfrm>
          <a:prstGeom prst="rect">
            <a:avLst/>
          </a:prstGeom>
        </p:spPr>
      </p:pic>
      <p:sp>
        <p:nvSpPr>
          <p:cNvPr id="8" name="TextBox 7"/>
          <p:cNvSpPr txBox="1"/>
          <p:nvPr/>
        </p:nvSpPr>
        <p:spPr>
          <a:xfrm>
            <a:off x="365760" y="5532120"/>
            <a:ext cx="3749039" cy="731520"/>
          </a:xfrm>
          <a:prstGeom prst="rect">
            <a:avLst/>
          </a:prstGeom>
          <a:noFill/>
        </p:spPr>
        <p:txBody>
          <a:bodyPr wrap="square" lIns="0" rIns="0" tIns="0" bIns="0" anchor="t"/>
          <a:lstStyle/>
          <a:p>
            <a:pPr algn="ctr">
              <a:spcBef>
                <a:spcPts val="0"/>
              </a:spcBef>
              <a:spcAft>
                <a:spcPts val="0"/>
              </a:spcAft>
            </a:pPr>
            <a:r>
              <a:rPr sz="1400" b="0">
                <a:solidFill>
                  <a:srgbClr val="2A2430"/>
                </a:solidFill>
                <a:latin typeface="Calibri"/>
              </a:rPr>
              <a:t>Chef : ce qui bloque, et le taux.</a:t>
            </a:r>
          </a:p>
        </p:txBody>
      </p:sp>
      <p:pic>
        <p:nvPicPr>
          <p:cNvPr id="9" name="Picture 8" descr="task-blocked.png"/>
          <p:cNvPicPr>
            <a:picLocks noChangeAspect="1"/>
          </p:cNvPicPr>
          <p:nvPr/>
        </p:nvPicPr>
        <p:blipFill>
          <a:blip r:embed="rId4"/>
          <a:stretch>
            <a:fillRect/>
          </a:stretch>
        </p:blipFill>
        <p:spPr>
          <a:xfrm>
            <a:off x="4279392" y="1961032"/>
            <a:ext cx="3749039" cy="2570175"/>
          </a:xfrm>
          <a:prstGeom prst="rect">
            <a:avLst/>
          </a:prstGeom>
        </p:spPr>
      </p:pic>
      <p:sp>
        <p:nvSpPr>
          <p:cNvPr id="10" name="TextBox 9"/>
          <p:cNvSpPr txBox="1"/>
          <p:nvPr/>
        </p:nvSpPr>
        <p:spPr>
          <a:xfrm>
            <a:off x="4279392" y="5532120"/>
            <a:ext cx="3749039" cy="731520"/>
          </a:xfrm>
          <a:prstGeom prst="rect">
            <a:avLst/>
          </a:prstGeom>
          <a:noFill/>
        </p:spPr>
        <p:txBody>
          <a:bodyPr wrap="square" lIns="0" rIns="0" tIns="0" bIns="0" anchor="t"/>
          <a:lstStyle/>
          <a:p>
            <a:pPr algn="ctr">
              <a:spcBef>
                <a:spcPts val="0"/>
              </a:spcBef>
              <a:spcAft>
                <a:spcPts val="0"/>
              </a:spcAft>
            </a:pPr>
            <a:r>
              <a:rPr sz="1400" b="0">
                <a:solidFill>
                  <a:srgbClr val="2A2430"/>
                </a:solidFill>
                <a:latin typeface="Calibri"/>
              </a:rPr>
              <a:t>Membre : déjà fait, suite, blocage.</a:t>
            </a:r>
          </a:p>
        </p:txBody>
      </p:sp>
      <p:pic>
        <p:nvPicPr>
          <p:cNvPr id="11" name="Picture 10" descr="dash-admin.png"/>
          <p:cNvPicPr>
            <a:picLocks noChangeAspect="1"/>
          </p:cNvPicPr>
          <p:nvPr/>
        </p:nvPicPr>
        <p:blipFill>
          <a:blip r:embed="rId5"/>
          <a:stretch>
            <a:fillRect/>
          </a:stretch>
        </p:blipFill>
        <p:spPr>
          <a:xfrm>
            <a:off x="8193024" y="1961032"/>
            <a:ext cx="3749039" cy="2570175"/>
          </a:xfrm>
          <a:prstGeom prst="rect">
            <a:avLst/>
          </a:prstGeom>
        </p:spPr>
      </p:pic>
      <p:sp>
        <p:nvSpPr>
          <p:cNvPr id="12" name="TextBox 11"/>
          <p:cNvSpPr txBox="1"/>
          <p:nvPr/>
        </p:nvSpPr>
        <p:spPr>
          <a:xfrm>
            <a:off x="8193024" y="5532120"/>
            <a:ext cx="3749039" cy="731520"/>
          </a:xfrm>
          <a:prstGeom prst="rect">
            <a:avLst/>
          </a:prstGeom>
          <a:noFill/>
        </p:spPr>
        <p:txBody>
          <a:bodyPr wrap="square" lIns="0" rIns="0" tIns="0" bIns="0" anchor="t"/>
          <a:lstStyle/>
          <a:p>
            <a:pPr algn="ctr">
              <a:spcBef>
                <a:spcPts val="0"/>
              </a:spcBef>
              <a:spcAft>
                <a:spcPts val="0"/>
              </a:spcAft>
            </a:pPr>
            <a:r>
              <a:rPr sz="1400" b="0">
                <a:solidFill>
                  <a:srgbClr val="2A2430"/>
                </a:solidFill>
                <a:latin typeface="Calibri"/>
              </a:rPr>
              <a:t>Admin : équipes, projets, taux global.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L'application mobile</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16</a:t>
            </a:r>
          </a:p>
        </p:txBody>
      </p:sp>
      <p:sp>
        <p:nvSpPr>
          <p:cNvPr id="7" name="Rounded Rectangle 6"/>
          <p:cNvSpPr/>
          <p:nvPr/>
        </p:nvSpPr>
        <p:spPr>
          <a:xfrm>
            <a:off x="777240" y="1097280"/>
            <a:ext cx="3017520" cy="443484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hone-dashboard.png"/>
          <p:cNvPicPr>
            <a:picLocks noChangeAspect="1"/>
          </p:cNvPicPr>
          <p:nvPr/>
        </p:nvPicPr>
        <p:blipFill>
          <a:blip r:embed="rId3"/>
          <a:stretch>
            <a:fillRect/>
          </a:stretch>
        </p:blipFill>
        <p:spPr>
          <a:xfrm>
            <a:off x="1204264" y="1234440"/>
            <a:ext cx="2163470" cy="4160520"/>
          </a:xfrm>
          <a:prstGeom prst="rect">
            <a:avLst/>
          </a:prstGeom>
        </p:spPr>
      </p:pic>
      <p:sp>
        <p:nvSpPr>
          <p:cNvPr id="9" name="TextBox 8"/>
          <p:cNvSpPr txBox="1"/>
          <p:nvPr/>
        </p:nvSpPr>
        <p:spPr>
          <a:xfrm>
            <a:off x="777240" y="5623560"/>
            <a:ext cx="3017520" cy="365760"/>
          </a:xfrm>
          <a:prstGeom prst="rect">
            <a:avLst/>
          </a:prstGeom>
          <a:noFill/>
        </p:spPr>
        <p:txBody>
          <a:bodyPr wrap="square" lIns="0" rIns="0" tIns="0" bIns="0" anchor="t"/>
          <a:lstStyle/>
          <a:p>
            <a:pPr algn="ctr">
              <a:spcBef>
                <a:spcPts val="0"/>
              </a:spcBef>
              <a:spcAft>
                <a:spcPts val="0"/>
              </a:spcAft>
            </a:pPr>
            <a:r>
              <a:rPr sz="1400" b="1">
                <a:solidFill>
                  <a:srgbClr val="2A2430"/>
                </a:solidFill>
                <a:latin typeface="Calibri"/>
              </a:rPr>
              <a:t>Tableau de bord</a:t>
            </a:r>
          </a:p>
        </p:txBody>
      </p:sp>
      <p:sp>
        <p:nvSpPr>
          <p:cNvPr id="10" name="Rounded Rectangle 9"/>
          <p:cNvSpPr/>
          <p:nvPr/>
        </p:nvSpPr>
        <p:spPr>
          <a:xfrm>
            <a:off x="4572000" y="1097280"/>
            <a:ext cx="3017520" cy="443484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hone-task.png"/>
          <p:cNvPicPr>
            <a:picLocks noChangeAspect="1"/>
          </p:cNvPicPr>
          <p:nvPr/>
        </p:nvPicPr>
        <p:blipFill>
          <a:blip r:embed="rId4"/>
          <a:stretch>
            <a:fillRect/>
          </a:stretch>
        </p:blipFill>
        <p:spPr>
          <a:xfrm>
            <a:off x="4999024" y="1234440"/>
            <a:ext cx="2163470" cy="4160520"/>
          </a:xfrm>
          <a:prstGeom prst="rect">
            <a:avLst/>
          </a:prstGeom>
        </p:spPr>
      </p:pic>
      <p:sp>
        <p:nvSpPr>
          <p:cNvPr id="12" name="TextBox 11"/>
          <p:cNvSpPr txBox="1"/>
          <p:nvPr/>
        </p:nvSpPr>
        <p:spPr>
          <a:xfrm>
            <a:off x="4572000" y="5623560"/>
            <a:ext cx="3017520" cy="365760"/>
          </a:xfrm>
          <a:prstGeom prst="rect">
            <a:avLst/>
          </a:prstGeom>
          <a:noFill/>
        </p:spPr>
        <p:txBody>
          <a:bodyPr wrap="square" lIns="0" rIns="0" tIns="0" bIns="0" anchor="t"/>
          <a:lstStyle/>
          <a:p>
            <a:pPr algn="ctr">
              <a:spcBef>
                <a:spcPts val="0"/>
              </a:spcBef>
              <a:spcAft>
                <a:spcPts val="0"/>
              </a:spcAft>
            </a:pPr>
            <a:r>
              <a:rPr sz="1400" b="1">
                <a:solidFill>
                  <a:srgbClr val="2A2430"/>
                </a:solidFill>
                <a:latin typeface="Calibri"/>
              </a:rPr>
              <a:t>La tâche</a:t>
            </a:r>
          </a:p>
        </p:txBody>
      </p:sp>
      <p:sp>
        <p:nvSpPr>
          <p:cNvPr id="13" name="Rounded Rectangle 12"/>
          <p:cNvSpPr/>
          <p:nvPr/>
        </p:nvSpPr>
        <p:spPr>
          <a:xfrm>
            <a:off x="8366760" y="1097280"/>
            <a:ext cx="3017520" cy="443484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hone-admin.png"/>
          <p:cNvPicPr>
            <a:picLocks noChangeAspect="1"/>
          </p:cNvPicPr>
          <p:nvPr/>
        </p:nvPicPr>
        <p:blipFill>
          <a:blip r:embed="rId5"/>
          <a:stretch>
            <a:fillRect/>
          </a:stretch>
        </p:blipFill>
        <p:spPr>
          <a:xfrm>
            <a:off x="8793784" y="1234440"/>
            <a:ext cx="2163470" cy="4160520"/>
          </a:xfrm>
          <a:prstGeom prst="rect">
            <a:avLst/>
          </a:prstGeom>
        </p:spPr>
      </p:pic>
      <p:sp>
        <p:nvSpPr>
          <p:cNvPr id="15" name="TextBox 14"/>
          <p:cNvSpPr txBox="1"/>
          <p:nvPr/>
        </p:nvSpPr>
        <p:spPr>
          <a:xfrm>
            <a:off x="8366760" y="5623560"/>
            <a:ext cx="3017520" cy="365760"/>
          </a:xfrm>
          <a:prstGeom prst="rect">
            <a:avLst/>
          </a:prstGeom>
          <a:noFill/>
        </p:spPr>
        <p:txBody>
          <a:bodyPr wrap="square" lIns="0" rIns="0" tIns="0" bIns="0" anchor="t"/>
          <a:lstStyle/>
          <a:p>
            <a:pPr algn="ctr">
              <a:spcBef>
                <a:spcPts val="0"/>
              </a:spcBef>
              <a:spcAft>
                <a:spcPts val="0"/>
              </a:spcAft>
            </a:pPr>
            <a:r>
              <a:rPr sz="1400" b="1">
                <a:solidFill>
                  <a:srgbClr val="2A2430"/>
                </a:solidFill>
                <a:latin typeface="Calibri"/>
              </a:rPr>
              <a:t>Administration</a:t>
            </a:r>
          </a:p>
        </p:txBody>
      </p:sp>
      <p:sp>
        <p:nvSpPr>
          <p:cNvPr id="16" name="TextBox 15"/>
          <p:cNvSpPr txBox="1"/>
          <p:nvPr/>
        </p:nvSpPr>
        <p:spPr>
          <a:xfrm>
            <a:off x="502920" y="5989320"/>
            <a:ext cx="11155680" cy="365760"/>
          </a:xfrm>
          <a:prstGeom prst="rect">
            <a:avLst/>
          </a:prstGeom>
          <a:noFill/>
        </p:spPr>
        <p:txBody>
          <a:bodyPr wrap="square" lIns="0" rIns="0" tIns="0" bIns="0" anchor="t"/>
          <a:lstStyle/>
          <a:p>
            <a:pPr algn="ctr">
              <a:spcBef>
                <a:spcPts val="0"/>
              </a:spcBef>
              <a:spcAft>
                <a:spcPts val="0"/>
              </a:spcAft>
            </a:pPr>
            <a:r>
              <a:rPr sz="1400" b="0">
                <a:solidFill>
                  <a:srgbClr val="A34564"/>
                </a:solidFill>
                <a:latin typeface="Calibri"/>
              </a:rPr>
              <a:t>Mêmes parcours dans l'application Flutter, sur iPhone, vers lamraoui.alwaysdata.net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Difficultés</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17</a:t>
            </a:r>
          </a:p>
        </p:txBody>
      </p:sp>
      <p:sp>
        <p:nvSpPr>
          <p:cNvPr id="7" name="Rounded Rectangle 6"/>
          <p:cNvSpPr/>
          <p:nvPr/>
        </p:nvSpPr>
        <p:spPr>
          <a:xfrm>
            <a:off x="365760" y="1097280"/>
            <a:ext cx="3749039" cy="507492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wo-clients.png"/>
          <p:cNvPicPr>
            <a:picLocks noChangeAspect="1"/>
          </p:cNvPicPr>
          <p:nvPr/>
        </p:nvPicPr>
        <p:blipFill>
          <a:blip r:embed="rId3"/>
          <a:stretch>
            <a:fillRect/>
          </a:stretch>
        </p:blipFill>
        <p:spPr>
          <a:xfrm>
            <a:off x="502920" y="1564277"/>
            <a:ext cx="3474720" cy="1489165"/>
          </a:xfrm>
          <a:prstGeom prst="rect">
            <a:avLst/>
          </a:prstGeom>
        </p:spPr>
      </p:pic>
      <p:sp>
        <p:nvSpPr>
          <p:cNvPr id="9" name="TextBox 8"/>
          <p:cNvSpPr txBox="1"/>
          <p:nvPr/>
        </p:nvSpPr>
        <p:spPr>
          <a:xfrm>
            <a:off x="548640" y="3474720"/>
            <a:ext cx="3383280" cy="411480"/>
          </a:xfrm>
          <a:prstGeom prst="rect">
            <a:avLst/>
          </a:prstGeom>
          <a:noFill/>
        </p:spPr>
        <p:txBody>
          <a:bodyPr wrap="square" lIns="0" rIns="0" tIns="0" bIns="0" anchor="t"/>
          <a:lstStyle/>
          <a:p>
            <a:pPr algn="l">
              <a:spcBef>
                <a:spcPts val="0"/>
              </a:spcBef>
              <a:spcAft>
                <a:spcPts val="0"/>
              </a:spcAft>
            </a:pPr>
            <a:r>
              <a:rPr sz="1600" b="1">
                <a:solidFill>
                  <a:srgbClr val="2A2430"/>
                </a:solidFill>
                <a:latin typeface="Calibri"/>
              </a:rPr>
              <a:t>Deux réponses</a:t>
            </a:r>
          </a:p>
        </p:txBody>
      </p:sp>
      <p:sp>
        <p:nvSpPr>
          <p:cNvPr id="10" name="TextBox 9"/>
          <p:cNvSpPr txBox="1"/>
          <p:nvPr/>
        </p:nvSpPr>
        <p:spPr>
          <a:xfrm>
            <a:off x="548640" y="3931920"/>
            <a:ext cx="3383280" cy="96012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Session web, jeton mobile. Un seul contrat HTTP.</a:t>
            </a:r>
          </a:p>
        </p:txBody>
      </p:sp>
      <p:sp>
        <p:nvSpPr>
          <p:cNvPr id="11" name="TextBox 10"/>
          <p:cNvSpPr txBox="1"/>
          <p:nvPr/>
        </p:nvSpPr>
        <p:spPr>
          <a:xfrm>
            <a:off x="548640" y="4983480"/>
            <a:ext cx="3383280" cy="914400"/>
          </a:xfrm>
          <a:prstGeom prst="rect">
            <a:avLst/>
          </a:prstGeom>
          <a:noFill/>
        </p:spPr>
        <p:txBody>
          <a:bodyPr wrap="square" lIns="0" rIns="0" tIns="0" bIns="0" anchor="t"/>
          <a:lstStyle/>
          <a:p>
            <a:pPr algn="l">
              <a:spcBef>
                <a:spcPts val="0"/>
              </a:spcBef>
              <a:spcAft>
                <a:spcPts val="0"/>
              </a:spcAft>
            </a:pPr>
            <a:r>
              <a:rPr sz="1400" b="1">
                <a:solidFill>
                  <a:srgbClr val="A34564"/>
                </a:solidFill>
                <a:latin typeface="Calibri"/>
              </a:rPr>
              <a:t>Je n'ai pas écrit deux backends.</a:t>
            </a:r>
          </a:p>
        </p:txBody>
      </p:sp>
      <p:sp>
        <p:nvSpPr>
          <p:cNvPr id="12" name="Rounded Rectangle 11"/>
          <p:cNvSpPr/>
          <p:nvPr/>
        </p:nvSpPr>
        <p:spPr>
          <a:xfrm>
            <a:off x="4279392" y="1097280"/>
            <a:ext cx="3749039" cy="507492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ode-policy.png"/>
          <p:cNvPicPr>
            <a:picLocks noChangeAspect="1"/>
          </p:cNvPicPr>
          <p:nvPr/>
        </p:nvPicPr>
        <p:blipFill>
          <a:blip r:embed="rId4"/>
          <a:stretch>
            <a:fillRect/>
          </a:stretch>
        </p:blipFill>
        <p:spPr>
          <a:xfrm>
            <a:off x="4416552" y="1911749"/>
            <a:ext cx="3474720" cy="794221"/>
          </a:xfrm>
          <a:prstGeom prst="rect">
            <a:avLst/>
          </a:prstGeom>
        </p:spPr>
      </p:pic>
      <p:sp>
        <p:nvSpPr>
          <p:cNvPr id="14" name="TextBox 13"/>
          <p:cNvSpPr txBox="1"/>
          <p:nvPr/>
        </p:nvSpPr>
        <p:spPr>
          <a:xfrm>
            <a:off x="4462272" y="3474720"/>
            <a:ext cx="3383280" cy="411480"/>
          </a:xfrm>
          <a:prstGeom prst="rect">
            <a:avLst/>
          </a:prstGeom>
          <a:noFill/>
        </p:spPr>
        <p:txBody>
          <a:bodyPr wrap="square" lIns="0" rIns="0" tIns="0" bIns="0" anchor="t"/>
          <a:lstStyle/>
          <a:p>
            <a:pPr algn="l">
              <a:spcBef>
                <a:spcPts val="0"/>
              </a:spcBef>
              <a:spcAft>
                <a:spcPts val="0"/>
              </a:spcAft>
            </a:pPr>
            <a:r>
              <a:rPr sz="1600" b="1">
                <a:solidFill>
                  <a:srgbClr val="2A2430"/>
                </a:solidFill>
                <a:latin typeface="Calibri"/>
              </a:rPr>
              <a:t>Le droit du chef</a:t>
            </a:r>
          </a:p>
        </p:txBody>
      </p:sp>
      <p:sp>
        <p:nvSpPr>
          <p:cNvPr id="15" name="TextBox 14"/>
          <p:cNvSpPr txBox="1"/>
          <p:nvPr/>
        </p:nvSpPr>
        <p:spPr>
          <a:xfrm>
            <a:off x="4462272" y="3931920"/>
            <a:ext cx="3383280" cy="96012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Le drapeau sur l'équipe, puis la politique sur le projet.</a:t>
            </a:r>
          </a:p>
        </p:txBody>
      </p:sp>
      <p:sp>
        <p:nvSpPr>
          <p:cNvPr id="16" name="TextBox 15"/>
          <p:cNvSpPr txBox="1"/>
          <p:nvPr/>
        </p:nvSpPr>
        <p:spPr>
          <a:xfrm>
            <a:off x="4462272" y="4983480"/>
            <a:ext cx="3383280" cy="914400"/>
          </a:xfrm>
          <a:prstGeom prst="rect">
            <a:avLst/>
          </a:prstGeom>
          <a:noFill/>
        </p:spPr>
        <p:txBody>
          <a:bodyPr wrap="square" lIns="0" rIns="0" tIns="0" bIns="0" anchor="t"/>
          <a:lstStyle/>
          <a:p>
            <a:pPr algn="l">
              <a:spcBef>
                <a:spcPts val="0"/>
              </a:spcBef>
              <a:spcAft>
                <a:spcPts val="0"/>
              </a:spcAft>
            </a:pPr>
            <a:r>
              <a:rPr sz="1400" b="1">
                <a:solidFill>
                  <a:srgbClr val="A34564"/>
                </a:solidFill>
                <a:latin typeface="Calibri"/>
              </a:rPr>
              <a:t>Le droit se teste sur la ressource.</a:t>
            </a:r>
          </a:p>
        </p:txBody>
      </p:sp>
      <p:sp>
        <p:nvSpPr>
          <p:cNvPr id="17" name="Rounded Rectangle 16"/>
          <p:cNvSpPr/>
          <p:nvPr/>
        </p:nvSpPr>
        <p:spPr>
          <a:xfrm>
            <a:off x="8193024" y="1097280"/>
            <a:ext cx="3749039" cy="507492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hone-admin.png"/>
          <p:cNvPicPr>
            <a:picLocks noChangeAspect="1"/>
          </p:cNvPicPr>
          <p:nvPr/>
        </p:nvPicPr>
        <p:blipFill>
          <a:blip r:embed="rId5"/>
          <a:stretch>
            <a:fillRect/>
          </a:stretch>
        </p:blipFill>
        <p:spPr>
          <a:xfrm>
            <a:off x="9508845" y="1234440"/>
            <a:ext cx="1117396" cy="2148840"/>
          </a:xfrm>
          <a:prstGeom prst="rect">
            <a:avLst/>
          </a:prstGeom>
        </p:spPr>
      </p:pic>
      <p:sp>
        <p:nvSpPr>
          <p:cNvPr id="19" name="TextBox 18"/>
          <p:cNvSpPr txBox="1"/>
          <p:nvPr/>
        </p:nvSpPr>
        <p:spPr>
          <a:xfrm>
            <a:off x="8375904" y="3474720"/>
            <a:ext cx="3383280" cy="411480"/>
          </a:xfrm>
          <a:prstGeom prst="rect">
            <a:avLst/>
          </a:prstGeom>
          <a:noFill/>
        </p:spPr>
        <p:txBody>
          <a:bodyPr wrap="square" lIns="0" rIns="0" tIns="0" bIns="0" anchor="t"/>
          <a:lstStyle/>
          <a:p>
            <a:pPr algn="l">
              <a:spcBef>
                <a:spcPts val="0"/>
              </a:spcBef>
              <a:spcAft>
                <a:spcPts val="0"/>
              </a:spcAft>
            </a:pPr>
            <a:r>
              <a:rPr sz="1600" b="1">
                <a:solidFill>
                  <a:srgbClr val="2A2430"/>
                </a:solidFill>
                <a:latin typeface="Calibri"/>
              </a:rPr>
              <a:t>La mise en ligne</a:t>
            </a:r>
          </a:p>
        </p:txBody>
      </p:sp>
      <p:sp>
        <p:nvSpPr>
          <p:cNvPr id="20" name="TextBox 19"/>
          <p:cNvSpPr txBox="1"/>
          <p:nvPr/>
        </p:nvSpPr>
        <p:spPr>
          <a:xfrm>
            <a:off x="8375904" y="3931920"/>
            <a:ext cx="3383280" cy="960120"/>
          </a:xfrm>
          <a:prstGeom prst="rect">
            <a:avLst/>
          </a:prstGeom>
          <a:noFill/>
        </p:spPr>
        <p:txBody>
          <a:bodyPr wrap="square" lIns="0" rIns="0" tIns="0" bIns="0" anchor="t"/>
          <a:lstStyle/>
          <a:p>
            <a:pPr algn="l">
              <a:spcBef>
                <a:spcPts val="0"/>
              </a:spcBef>
              <a:spcAft>
                <a:spcPts val="0"/>
              </a:spcAft>
            </a:pPr>
            <a:r>
              <a:rPr sz="1400" b="0">
                <a:solidFill>
                  <a:srgbClr val="6E6573"/>
                </a:solidFill>
                <a:latin typeface="Calibri"/>
              </a:rPr>
              <a:t>HTTPS, migrations, iPhone. Pas de comptes de démo.</a:t>
            </a:r>
          </a:p>
        </p:txBody>
      </p:sp>
      <p:sp>
        <p:nvSpPr>
          <p:cNvPr id="21" name="TextBox 20"/>
          <p:cNvSpPr txBox="1"/>
          <p:nvPr/>
        </p:nvSpPr>
        <p:spPr>
          <a:xfrm>
            <a:off x="8375904" y="4983480"/>
            <a:ext cx="3383280" cy="914400"/>
          </a:xfrm>
          <a:prstGeom prst="rect">
            <a:avLst/>
          </a:prstGeom>
          <a:noFill/>
        </p:spPr>
        <p:txBody>
          <a:bodyPr wrap="square" lIns="0" rIns="0" tIns="0" bIns="0" anchor="t"/>
          <a:lstStyle/>
          <a:p>
            <a:pPr algn="l">
              <a:spcBef>
                <a:spcPts val="0"/>
              </a:spcBef>
              <a:spcAft>
                <a:spcPts val="0"/>
              </a:spcAft>
            </a:pPr>
            <a:r>
              <a:rPr sz="1400" b="1">
                <a:solidFill>
                  <a:srgbClr val="A34564"/>
                </a:solidFill>
                <a:latin typeface="Calibri"/>
              </a:rPr>
              <a:t>Le téléphone doit joindre le serveur.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Déroulé</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18</a:t>
            </a:r>
          </a:p>
        </p:txBody>
      </p:sp>
      <p:sp>
        <p:nvSpPr>
          <p:cNvPr id="7" name="Rounded Rectangle 6"/>
          <p:cNvSpPr/>
          <p:nvPr/>
        </p:nvSpPr>
        <p:spPr>
          <a:xfrm>
            <a:off x="365760" y="1143000"/>
            <a:ext cx="2103120" cy="178308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280160"/>
            <a:ext cx="1874519" cy="320040"/>
          </a:xfrm>
          <a:prstGeom prst="rect">
            <a:avLst/>
          </a:prstGeom>
          <a:noFill/>
        </p:spPr>
        <p:txBody>
          <a:bodyPr wrap="square" lIns="0" rIns="0" tIns="0" bIns="0" anchor="t"/>
          <a:lstStyle/>
          <a:p>
            <a:pPr algn="l">
              <a:spcBef>
                <a:spcPts val="0"/>
              </a:spcBef>
              <a:spcAft>
                <a:spcPts val="0"/>
              </a:spcAft>
            </a:pPr>
            <a:r>
              <a:rPr sz="1600" b="1">
                <a:solidFill>
                  <a:srgbClr val="A34564"/>
                </a:solidFill>
                <a:latin typeface="Calibri"/>
              </a:rPr>
              <a:t>S1</a:t>
            </a:r>
          </a:p>
        </p:txBody>
      </p:sp>
      <p:sp>
        <p:nvSpPr>
          <p:cNvPr id="9" name="TextBox 8"/>
          <p:cNvSpPr txBox="1"/>
          <p:nvPr/>
        </p:nvSpPr>
        <p:spPr>
          <a:xfrm>
            <a:off x="475488" y="1645920"/>
            <a:ext cx="1874519" cy="502920"/>
          </a:xfrm>
          <a:prstGeom prst="rect">
            <a:avLst/>
          </a:prstGeom>
          <a:noFill/>
        </p:spPr>
        <p:txBody>
          <a:bodyPr wrap="square" lIns="0" rIns="0" tIns="0" bIns="0" anchor="t"/>
          <a:lstStyle/>
          <a:p>
            <a:pPr algn="l">
              <a:spcBef>
                <a:spcPts val="0"/>
              </a:spcBef>
              <a:spcAft>
                <a:spcPts val="0"/>
              </a:spcAft>
            </a:pPr>
            <a:r>
              <a:rPr sz="1200" b="0">
                <a:solidFill>
                  <a:srgbClr val="6E6573"/>
                </a:solidFill>
                <a:latin typeface="Calibri"/>
              </a:rPr>
              <a:t>2 au 22 fév</a:t>
            </a:r>
          </a:p>
        </p:txBody>
      </p:sp>
      <p:sp>
        <p:nvSpPr>
          <p:cNvPr id="10" name="TextBox 9"/>
          <p:cNvSpPr txBox="1"/>
          <p:nvPr/>
        </p:nvSpPr>
        <p:spPr>
          <a:xfrm>
            <a:off x="475488" y="2194560"/>
            <a:ext cx="1874519" cy="548640"/>
          </a:xfrm>
          <a:prstGeom prst="rect">
            <a:avLst/>
          </a:prstGeom>
          <a:noFill/>
        </p:spPr>
        <p:txBody>
          <a:bodyPr wrap="square" lIns="0" rIns="0" tIns="0" bIns="0" anchor="t"/>
          <a:lstStyle/>
          <a:p>
            <a:pPr algn="l">
              <a:spcBef>
                <a:spcPts val="0"/>
              </a:spcBef>
              <a:spcAft>
                <a:spcPts val="0"/>
              </a:spcAft>
            </a:pPr>
            <a:r>
              <a:rPr sz="1300" b="0">
                <a:solidFill>
                  <a:srgbClr val="2A2430"/>
                </a:solidFill>
                <a:latin typeface="Calibri"/>
              </a:rPr>
              <a:t>Connexion, profil, langue</a:t>
            </a:r>
          </a:p>
        </p:txBody>
      </p:sp>
      <p:sp>
        <p:nvSpPr>
          <p:cNvPr id="11" name="Rounded Rectangle 10"/>
          <p:cNvSpPr/>
          <p:nvPr/>
        </p:nvSpPr>
        <p:spPr>
          <a:xfrm>
            <a:off x="2606040" y="1143000"/>
            <a:ext cx="2103120" cy="178308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15768" y="1280160"/>
            <a:ext cx="1874519" cy="320040"/>
          </a:xfrm>
          <a:prstGeom prst="rect">
            <a:avLst/>
          </a:prstGeom>
          <a:noFill/>
        </p:spPr>
        <p:txBody>
          <a:bodyPr wrap="square" lIns="0" rIns="0" tIns="0" bIns="0" anchor="t"/>
          <a:lstStyle/>
          <a:p>
            <a:pPr algn="l">
              <a:spcBef>
                <a:spcPts val="0"/>
              </a:spcBef>
              <a:spcAft>
                <a:spcPts val="0"/>
              </a:spcAft>
            </a:pPr>
            <a:r>
              <a:rPr sz="1600" b="1">
                <a:solidFill>
                  <a:srgbClr val="A34564"/>
                </a:solidFill>
                <a:latin typeface="Calibri"/>
              </a:rPr>
              <a:t>S2</a:t>
            </a:r>
          </a:p>
        </p:txBody>
      </p:sp>
      <p:sp>
        <p:nvSpPr>
          <p:cNvPr id="13" name="TextBox 12"/>
          <p:cNvSpPr txBox="1"/>
          <p:nvPr/>
        </p:nvSpPr>
        <p:spPr>
          <a:xfrm>
            <a:off x="2715768" y="1645920"/>
            <a:ext cx="1874519" cy="502920"/>
          </a:xfrm>
          <a:prstGeom prst="rect">
            <a:avLst/>
          </a:prstGeom>
          <a:noFill/>
        </p:spPr>
        <p:txBody>
          <a:bodyPr wrap="square" lIns="0" rIns="0" tIns="0" bIns="0" anchor="t"/>
          <a:lstStyle/>
          <a:p>
            <a:pPr algn="l">
              <a:spcBef>
                <a:spcPts val="0"/>
              </a:spcBef>
              <a:spcAft>
                <a:spcPts val="0"/>
              </a:spcAft>
            </a:pPr>
            <a:r>
              <a:rPr sz="1200" b="0">
                <a:solidFill>
                  <a:srgbClr val="6E6573"/>
                </a:solidFill>
                <a:latin typeface="Calibri"/>
              </a:rPr>
              <a:t>23 fév au 15 mars</a:t>
            </a:r>
          </a:p>
        </p:txBody>
      </p:sp>
      <p:sp>
        <p:nvSpPr>
          <p:cNvPr id="14" name="TextBox 13"/>
          <p:cNvSpPr txBox="1"/>
          <p:nvPr/>
        </p:nvSpPr>
        <p:spPr>
          <a:xfrm>
            <a:off x="2715768" y="2194560"/>
            <a:ext cx="1874519" cy="548640"/>
          </a:xfrm>
          <a:prstGeom prst="rect">
            <a:avLst/>
          </a:prstGeom>
          <a:noFill/>
        </p:spPr>
        <p:txBody>
          <a:bodyPr wrap="square" lIns="0" rIns="0" tIns="0" bIns="0" anchor="t"/>
          <a:lstStyle/>
          <a:p>
            <a:pPr algn="l">
              <a:spcBef>
                <a:spcPts val="0"/>
              </a:spcBef>
              <a:spcAft>
                <a:spcPts val="0"/>
              </a:spcAft>
            </a:pPr>
            <a:r>
              <a:rPr sz="1300" b="0">
                <a:solidFill>
                  <a:srgbClr val="2A2430"/>
                </a:solidFill>
                <a:latin typeface="Calibri"/>
              </a:rPr>
              <a:t>Espace membre</a:t>
            </a:r>
          </a:p>
        </p:txBody>
      </p:sp>
      <p:sp>
        <p:nvSpPr>
          <p:cNvPr id="15" name="Rounded Rectangle 14"/>
          <p:cNvSpPr/>
          <p:nvPr/>
        </p:nvSpPr>
        <p:spPr>
          <a:xfrm>
            <a:off x="4846320" y="1143000"/>
            <a:ext cx="2103120" cy="178308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56048" y="1280160"/>
            <a:ext cx="1874519" cy="320040"/>
          </a:xfrm>
          <a:prstGeom prst="rect">
            <a:avLst/>
          </a:prstGeom>
          <a:noFill/>
        </p:spPr>
        <p:txBody>
          <a:bodyPr wrap="square" lIns="0" rIns="0" tIns="0" bIns="0" anchor="t"/>
          <a:lstStyle/>
          <a:p>
            <a:pPr algn="l">
              <a:spcBef>
                <a:spcPts val="0"/>
              </a:spcBef>
              <a:spcAft>
                <a:spcPts val="0"/>
              </a:spcAft>
            </a:pPr>
            <a:r>
              <a:rPr sz="1600" b="1">
                <a:solidFill>
                  <a:srgbClr val="A34564"/>
                </a:solidFill>
                <a:latin typeface="Calibri"/>
              </a:rPr>
              <a:t>S3</a:t>
            </a:r>
          </a:p>
        </p:txBody>
      </p:sp>
      <p:sp>
        <p:nvSpPr>
          <p:cNvPr id="17" name="TextBox 16"/>
          <p:cNvSpPr txBox="1"/>
          <p:nvPr/>
        </p:nvSpPr>
        <p:spPr>
          <a:xfrm>
            <a:off x="4956048" y="1645920"/>
            <a:ext cx="1874519" cy="502920"/>
          </a:xfrm>
          <a:prstGeom prst="rect">
            <a:avLst/>
          </a:prstGeom>
          <a:noFill/>
        </p:spPr>
        <p:txBody>
          <a:bodyPr wrap="square" lIns="0" rIns="0" tIns="0" bIns="0" anchor="t"/>
          <a:lstStyle/>
          <a:p>
            <a:pPr algn="l">
              <a:spcBef>
                <a:spcPts val="0"/>
              </a:spcBef>
              <a:spcAft>
                <a:spcPts val="0"/>
              </a:spcAft>
            </a:pPr>
            <a:r>
              <a:rPr sz="1200" b="0">
                <a:solidFill>
                  <a:srgbClr val="6E6573"/>
                </a:solidFill>
                <a:latin typeface="Calibri"/>
              </a:rPr>
              <a:t>16 mars au 5 avr</a:t>
            </a:r>
          </a:p>
        </p:txBody>
      </p:sp>
      <p:sp>
        <p:nvSpPr>
          <p:cNvPr id="18" name="TextBox 17"/>
          <p:cNvSpPr txBox="1"/>
          <p:nvPr/>
        </p:nvSpPr>
        <p:spPr>
          <a:xfrm>
            <a:off x="4956048" y="2194560"/>
            <a:ext cx="1874519" cy="548640"/>
          </a:xfrm>
          <a:prstGeom prst="rect">
            <a:avLst/>
          </a:prstGeom>
          <a:noFill/>
        </p:spPr>
        <p:txBody>
          <a:bodyPr wrap="square" lIns="0" rIns="0" tIns="0" bIns="0" anchor="t"/>
          <a:lstStyle/>
          <a:p>
            <a:pPr algn="l">
              <a:spcBef>
                <a:spcPts val="0"/>
              </a:spcBef>
              <a:spcAft>
                <a:spcPts val="0"/>
              </a:spcAft>
            </a:pPr>
            <a:r>
              <a:rPr sz="1300" b="0">
                <a:solidFill>
                  <a:srgbClr val="2A2430"/>
                </a:solidFill>
                <a:latin typeface="Calibri"/>
              </a:rPr>
              <a:t>Espace chef</a:t>
            </a:r>
          </a:p>
        </p:txBody>
      </p:sp>
      <p:sp>
        <p:nvSpPr>
          <p:cNvPr id="19" name="Rounded Rectangle 18"/>
          <p:cNvSpPr/>
          <p:nvPr/>
        </p:nvSpPr>
        <p:spPr>
          <a:xfrm>
            <a:off x="7086600" y="1143000"/>
            <a:ext cx="2103120" cy="178308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6328" y="1280160"/>
            <a:ext cx="1874519" cy="320040"/>
          </a:xfrm>
          <a:prstGeom prst="rect">
            <a:avLst/>
          </a:prstGeom>
          <a:noFill/>
        </p:spPr>
        <p:txBody>
          <a:bodyPr wrap="square" lIns="0" rIns="0" tIns="0" bIns="0" anchor="t"/>
          <a:lstStyle/>
          <a:p>
            <a:pPr algn="l">
              <a:spcBef>
                <a:spcPts val="0"/>
              </a:spcBef>
              <a:spcAft>
                <a:spcPts val="0"/>
              </a:spcAft>
            </a:pPr>
            <a:r>
              <a:rPr sz="1600" b="1">
                <a:solidFill>
                  <a:srgbClr val="A34564"/>
                </a:solidFill>
                <a:latin typeface="Calibri"/>
              </a:rPr>
              <a:t>S4</a:t>
            </a:r>
          </a:p>
        </p:txBody>
      </p:sp>
      <p:sp>
        <p:nvSpPr>
          <p:cNvPr id="21" name="TextBox 20"/>
          <p:cNvSpPr txBox="1"/>
          <p:nvPr/>
        </p:nvSpPr>
        <p:spPr>
          <a:xfrm>
            <a:off x="7196328" y="1645920"/>
            <a:ext cx="1874519" cy="502920"/>
          </a:xfrm>
          <a:prstGeom prst="rect">
            <a:avLst/>
          </a:prstGeom>
          <a:noFill/>
        </p:spPr>
        <p:txBody>
          <a:bodyPr wrap="square" lIns="0" rIns="0" tIns="0" bIns="0" anchor="t"/>
          <a:lstStyle/>
          <a:p>
            <a:pPr algn="l">
              <a:spcBef>
                <a:spcPts val="0"/>
              </a:spcBef>
              <a:spcAft>
                <a:spcPts val="0"/>
              </a:spcAft>
            </a:pPr>
            <a:r>
              <a:rPr sz="1200" b="0">
                <a:solidFill>
                  <a:srgbClr val="6E6573"/>
                </a:solidFill>
                <a:latin typeface="Calibri"/>
              </a:rPr>
              <a:t>6 au 26 avr</a:t>
            </a:r>
          </a:p>
        </p:txBody>
      </p:sp>
      <p:sp>
        <p:nvSpPr>
          <p:cNvPr id="22" name="TextBox 21"/>
          <p:cNvSpPr txBox="1"/>
          <p:nvPr/>
        </p:nvSpPr>
        <p:spPr>
          <a:xfrm>
            <a:off x="7196328" y="2194560"/>
            <a:ext cx="1874519" cy="548640"/>
          </a:xfrm>
          <a:prstGeom prst="rect">
            <a:avLst/>
          </a:prstGeom>
          <a:noFill/>
        </p:spPr>
        <p:txBody>
          <a:bodyPr wrap="square" lIns="0" rIns="0" tIns="0" bIns="0" anchor="t"/>
          <a:lstStyle/>
          <a:p>
            <a:pPr algn="l">
              <a:spcBef>
                <a:spcPts val="0"/>
              </a:spcBef>
              <a:spcAft>
                <a:spcPts val="0"/>
              </a:spcAft>
            </a:pPr>
            <a:r>
              <a:rPr sz="1300" b="0">
                <a:solidFill>
                  <a:srgbClr val="2A2430"/>
                </a:solidFill>
                <a:latin typeface="Calibri"/>
              </a:rPr>
              <a:t>Administration</a:t>
            </a:r>
          </a:p>
        </p:txBody>
      </p:sp>
      <p:sp>
        <p:nvSpPr>
          <p:cNvPr id="23" name="Rounded Rectangle 22"/>
          <p:cNvSpPr/>
          <p:nvPr/>
        </p:nvSpPr>
        <p:spPr>
          <a:xfrm>
            <a:off x="365760" y="3108960"/>
            <a:ext cx="2103120" cy="178308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 y="3246120"/>
            <a:ext cx="1874519" cy="320040"/>
          </a:xfrm>
          <a:prstGeom prst="rect">
            <a:avLst/>
          </a:prstGeom>
          <a:noFill/>
        </p:spPr>
        <p:txBody>
          <a:bodyPr wrap="square" lIns="0" rIns="0" tIns="0" bIns="0" anchor="t"/>
          <a:lstStyle/>
          <a:p>
            <a:pPr algn="l">
              <a:spcBef>
                <a:spcPts val="0"/>
              </a:spcBef>
              <a:spcAft>
                <a:spcPts val="0"/>
              </a:spcAft>
            </a:pPr>
            <a:r>
              <a:rPr sz="1600" b="1">
                <a:solidFill>
                  <a:srgbClr val="A34564"/>
                </a:solidFill>
                <a:latin typeface="Calibri"/>
              </a:rPr>
              <a:t>S5</a:t>
            </a:r>
          </a:p>
        </p:txBody>
      </p:sp>
      <p:sp>
        <p:nvSpPr>
          <p:cNvPr id="25" name="TextBox 24"/>
          <p:cNvSpPr txBox="1"/>
          <p:nvPr/>
        </p:nvSpPr>
        <p:spPr>
          <a:xfrm>
            <a:off x="475488" y="3611880"/>
            <a:ext cx="1874519" cy="502920"/>
          </a:xfrm>
          <a:prstGeom prst="rect">
            <a:avLst/>
          </a:prstGeom>
          <a:noFill/>
        </p:spPr>
        <p:txBody>
          <a:bodyPr wrap="square" lIns="0" rIns="0" tIns="0" bIns="0" anchor="t"/>
          <a:lstStyle/>
          <a:p>
            <a:pPr algn="l">
              <a:spcBef>
                <a:spcPts val="0"/>
              </a:spcBef>
              <a:spcAft>
                <a:spcPts val="0"/>
              </a:spcAft>
            </a:pPr>
            <a:r>
              <a:rPr sz="1200" b="0">
                <a:solidFill>
                  <a:srgbClr val="6E6573"/>
                </a:solidFill>
                <a:latin typeface="Calibri"/>
              </a:rPr>
              <a:t>27 avr au 25 juil</a:t>
            </a:r>
          </a:p>
        </p:txBody>
      </p:sp>
      <p:sp>
        <p:nvSpPr>
          <p:cNvPr id="26" name="TextBox 25"/>
          <p:cNvSpPr txBox="1"/>
          <p:nvPr/>
        </p:nvSpPr>
        <p:spPr>
          <a:xfrm>
            <a:off x="475488" y="4160520"/>
            <a:ext cx="1874519" cy="548640"/>
          </a:xfrm>
          <a:prstGeom prst="rect">
            <a:avLst/>
          </a:prstGeom>
          <a:noFill/>
        </p:spPr>
        <p:txBody>
          <a:bodyPr wrap="square" lIns="0" rIns="0" tIns="0" bIns="0" anchor="t"/>
          <a:lstStyle/>
          <a:p>
            <a:pPr algn="l">
              <a:spcBef>
                <a:spcPts val="0"/>
              </a:spcBef>
              <a:spcAft>
                <a:spcPts val="0"/>
              </a:spcAft>
            </a:pPr>
            <a:r>
              <a:rPr sz="1300" b="0">
                <a:solidFill>
                  <a:srgbClr val="2A2430"/>
                </a:solidFill>
                <a:latin typeface="Calibri"/>
              </a:rPr>
              <a:t>Tests, sécurité, CI</a:t>
            </a:r>
          </a:p>
        </p:txBody>
      </p:sp>
      <p:sp>
        <p:nvSpPr>
          <p:cNvPr id="27" name="Rounded Rectangle 26"/>
          <p:cNvSpPr/>
          <p:nvPr/>
        </p:nvSpPr>
        <p:spPr>
          <a:xfrm>
            <a:off x="2606040" y="3108960"/>
            <a:ext cx="2103120" cy="1783080"/>
          </a:xfrm>
          <a:prstGeom prst="roundRect">
            <a:avLst>
              <a:gd name="adj" fmla="val 12000"/>
            </a:avLst>
          </a:prstGeom>
          <a:solidFill>
            <a:srgbClr val="F8E4EC"/>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15768" y="3246120"/>
            <a:ext cx="1874519" cy="320040"/>
          </a:xfrm>
          <a:prstGeom prst="rect">
            <a:avLst/>
          </a:prstGeom>
          <a:noFill/>
        </p:spPr>
        <p:txBody>
          <a:bodyPr wrap="square" lIns="0" rIns="0" tIns="0" bIns="0" anchor="t"/>
          <a:lstStyle/>
          <a:p>
            <a:pPr algn="l">
              <a:spcBef>
                <a:spcPts val="0"/>
              </a:spcBef>
              <a:spcAft>
                <a:spcPts val="0"/>
              </a:spcAft>
            </a:pPr>
            <a:r>
              <a:rPr sz="1600" b="1">
                <a:solidFill>
                  <a:srgbClr val="A34564"/>
                </a:solidFill>
                <a:latin typeface="Calibri"/>
              </a:rPr>
              <a:t>Été</a:t>
            </a:r>
          </a:p>
        </p:txBody>
      </p:sp>
      <p:sp>
        <p:nvSpPr>
          <p:cNvPr id="29" name="TextBox 28"/>
          <p:cNvSpPr txBox="1"/>
          <p:nvPr/>
        </p:nvSpPr>
        <p:spPr>
          <a:xfrm>
            <a:off x="2715768" y="3611880"/>
            <a:ext cx="1874519" cy="502920"/>
          </a:xfrm>
          <a:prstGeom prst="rect">
            <a:avLst/>
          </a:prstGeom>
          <a:noFill/>
        </p:spPr>
        <p:txBody>
          <a:bodyPr wrap="square" lIns="0" rIns="0" tIns="0" bIns="0" anchor="t"/>
          <a:lstStyle/>
          <a:p>
            <a:pPr algn="l">
              <a:spcBef>
                <a:spcPts val="0"/>
              </a:spcBef>
              <a:spcAft>
                <a:spcPts val="0"/>
              </a:spcAft>
            </a:pPr>
            <a:r>
              <a:rPr sz="1200" b="0">
                <a:solidFill>
                  <a:srgbClr val="6E6573"/>
                </a:solidFill>
                <a:latin typeface="Calibri"/>
              </a:rPr>
              <a:t>Pas de sprint</a:t>
            </a:r>
          </a:p>
        </p:txBody>
      </p:sp>
      <p:sp>
        <p:nvSpPr>
          <p:cNvPr id="30" name="TextBox 29"/>
          <p:cNvSpPr txBox="1"/>
          <p:nvPr/>
        </p:nvSpPr>
        <p:spPr>
          <a:xfrm>
            <a:off x="2715768" y="4160520"/>
            <a:ext cx="1874519" cy="548640"/>
          </a:xfrm>
          <a:prstGeom prst="rect">
            <a:avLst/>
          </a:prstGeom>
          <a:noFill/>
        </p:spPr>
        <p:txBody>
          <a:bodyPr wrap="square" lIns="0" rIns="0" tIns="0" bIns="0" anchor="t"/>
          <a:lstStyle/>
          <a:p>
            <a:pPr algn="l">
              <a:spcBef>
                <a:spcPts val="0"/>
              </a:spcBef>
              <a:spcAft>
                <a:spcPts val="0"/>
              </a:spcAft>
            </a:pPr>
            <a:r>
              <a:rPr sz="1300" b="0">
                <a:solidFill>
                  <a:srgbClr val="2A2430"/>
                </a:solidFill>
                <a:latin typeface="Calibri"/>
              </a:rPr>
              <a:t>Reprise en septembre</a:t>
            </a:r>
          </a:p>
        </p:txBody>
      </p:sp>
      <p:sp>
        <p:nvSpPr>
          <p:cNvPr id="31" name="Rounded Rectangle 30"/>
          <p:cNvSpPr/>
          <p:nvPr/>
        </p:nvSpPr>
        <p:spPr>
          <a:xfrm>
            <a:off x="4846320" y="3108960"/>
            <a:ext cx="2103120" cy="1783080"/>
          </a:xfrm>
          <a:prstGeom prst="roundRect">
            <a:avLst>
              <a:gd name="adj" fmla="val 12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56048" y="3246120"/>
            <a:ext cx="1874519" cy="320040"/>
          </a:xfrm>
          <a:prstGeom prst="rect">
            <a:avLst/>
          </a:prstGeom>
          <a:noFill/>
        </p:spPr>
        <p:txBody>
          <a:bodyPr wrap="square" lIns="0" rIns="0" tIns="0" bIns="0" anchor="t"/>
          <a:lstStyle/>
          <a:p>
            <a:pPr algn="l">
              <a:spcBef>
                <a:spcPts val="0"/>
              </a:spcBef>
              <a:spcAft>
                <a:spcPts val="0"/>
              </a:spcAft>
            </a:pPr>
            <a:r>
              <a:rPr sz="1600" b="1">
                <a:solidFill>
                  <a:srgbClr val="A34564"/>
                </a:solidFill>
                <a:latin typeface="Calibri"/>
              </a:rPr>
              <a:t>S6</a:t>
            </a:r>
          </a:p>
        </p:txBody>
      </p:sp>
      <p:sp>
        <p:nvSpPr>
          <p:cNvPr id="33" name="TextBox 32"/>
          <p:cNvSpPr txBox="1"/>
          <p:nvPr/>
        </p:nvSpPr>
        <p:spPr>
          <a:xfrm>
            <a:off x="4956048" y="3611880"/>
            <a:ext cx="1874519" cy="502920"/>
          </a:xfrm>
          <a:prstGeom prst="rect">
            <a:avLst/>
          </a:prstGeom>
          <a:noFill/>
        </p:spPr>
        <p:txBody>
          <a:bodyPr wrap="square" lIns="0" rIns="0" tIns="0" bIns="0" anchor="t"/>
          <a:lstStyle/>
          <a:p>
            <a:pPr algn="l">
              <a:spcBef>
                <a:spcPts val="0"/>
              </a:spcBef>
              <a:spcAft>
                <a:spcPts val="0"/>
              </a:spcAft>
            </a:pPr>
            <a:r>
              <a:rPr sz="1200" b="0">
                <a:solidFill>
                  <a:srgbClr val="6E6573"/>
                </a:solidFill>
                <a:latin typeface="Calibri"/>
              </a:rPr>
              <a:t>1er sept au 10 oct</a:t>
            </a:r>
          </a:p>
        </p:txBody>
      </p:sp>
      <p:sp>
        <p:nvSpPr>
          <p:cNvPr id="34" name="TextBox 33"/>
          <p:cNvSpPr txBox="1"/>
          <p:nvPr/>
        </p:nvSpPr>
        <p:spPr>
          <a:xfrm>
            <a:off x="4956048" y="4160520"/>
            <a:ext cx="1874519" cy="548640"/>
          </a:xfrm>
          <a:prstGeom prst="rect">
            <a:avLst/>
          </a:prstGeom>
          <a:noFill/>
        </p:spPr>
        <p:txBody>
          <a:bodyPr wrap="square" lIns="0" rIns="0" tIns="0" bIns="0" anchor="t"/>
          <a:lstStyle/>
          <a:p>
            <a:pPr algn="l">
              <a:spcBef>
                <a:spcPts val="0"/>
              </a:spcBef>
              <a:spcAft>
                <a:spcPts val="0"/>
              </a:spcAft>
            </a:pPr>
            <a:r>
              <a:rPr sz="1300" b="0">
                <a:solidFill>
                  <a:srgbClr val="2A2430"/>
                </a:solidFill>
                <a:latin typeface="Calibri"/>
              </a:rPr>
              <a:t>Flutter, mise en ligne</a:t>
            </a:r>
          </a:p>
        </p:txBody>
      </p:sp>
      <p:sp>
        <p:nvSpPr>
          <p:cNvPr id="35" name="Rounded Rectangle 34"/>
          <p:cNvSpPr/>
          <p:nvPr/>
        </p:nvSpPr>
        <p:spPr>
          <a:xfrm>
            <a:off x="7086600" y="3108960"/>
            <a:ext cx="2103120" cy="1783080"/>
          </a:xfrm>
          <a:prstGeom prst="roundRect">
            <a:avLst>
              <a:gd name="adj" fmla="val 12000"/>
            </a:avLst>
          </a:prstGeom>
          <a:solidFill>
            <a:srgbClr val="F8E4EC"/>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96328" y="3246120"/>
            <a:ext cx="1874519" cy="320040"/>
          </a:xfrm>
          <a:prstGeom prst="rect">
            <a:avLst/>
          </a:prstGeom>
          <a:noFill/>
        </p:spPr>
        <p:txBody>
          <a:bodyPr wrap="square" lIns="0" rIns="0" tIns="0" bIns="0" anchor="t"/>
          <a:lstStyle/>
          <a:p>
            <a:pPr algn="l">
              <a:spcBef>
                <a:spcPts val="0"/>
              </a:spcBef>
              <a:spcAft>
                <a:spcPts val="0"/>
              </a:spcAft>
            </a:pPr>
            <a:r>
              <a:rPr sz="1600" b="1">
                <a:solidFill>
                  <a:srgbClr val="A34564"/>
                </a:solidFill>
                <a:latin typeface="Calibri"/>
              </a:rPr>
              <a:t>Jury</a:t>
            </a:r>
          </a:p>
        </p:txBody>
      </p:sp>
      <p:sp>
        <p:nvSpPr>
          <p:cNvPr id="37" name="TextBox 36"/>
          <p:cNvSpPr txBox="1"/>
          <p:nvPr/>
        </p:nvSpPr>
        <p:spPr>
          <a:xfrm>
            <a:off x="7196328" y="3611880"/>
            <a:ext cx="1874519" cy="502920"/>
          </a:xfrm>
          <a:prstGeom prst="rect">
            <a:avLst/>
          </a:prstGeom>
          <a:noFill/>
        </p:spPr>
        <p:txBody>
          <a:bodyPr wrap="square" lIns="0" rIns="0" tIns="0" bIns="0" anchor="t"/>
          <a:lstStyle/>
          <a:p>
            <a:pPr algn="l">
              <a:spcBef>
                <a:spcPts val="0"/>
              </a:spcBef>
              <a:spcAft>
                <a:spcPts val="0"/>
              </a:spcAft>
            </a:pPr>
            <a:r>
              <a:rPr sz="1200" b="0">
                <a:solidFill>
                  <a:srgbClr val="6E6573"/>
                </a:solidFill>
                <a:latin typeface="Calibri"/>
              </a:rPr>
              <a:t>27 octobre 2026</a:t>
            </a:r>
          </a:p>
        </p:txBody>
      </p:sp>
      <p:sp>
        <p:nvSpPr>
          <p:cNvPr id="38" name="TextBox 37"/>
          <p:cNvSpPr txBox="1"/>
          <p:nvPr/>
        </p:nvSpPr>
        <p:spPr>
          <a:xfrm>
            <a:off x="7196328" y="4160520"/>
            <a:ext cx="1874519" cy="548640"/>
          </a:xfrm>
          <a:prstGeom prst="rect">
            <a:avLst/>
          </a:prstGeom>
          <a:noFill/>
        </p:spPr>
        <p:txBody>
          <a:bodyPr wrap="square" lIns="0" rIns="0" tIns="0" bIns="0" anchor="t"/>
          <a:lstStyle/>
          <a:p>
            <a:pPr algn="l">
              <a:spcBef>
                <a:spcPts val="0"/>
              </a:spcBef>
              <a:spcAft>
                <a:spcPts val="0"/>
              </a:spcAft>
            </a:pPr>
            <a:r>
              <a:rPr sz="1300" b="0">
                <a:solidFill>
                  <a:srgbClr val="2A2430"/>
                </a:solidFill>
                <a:latin typeface="Calibri"/>
              </a:rPr>
              <a:t>Soutenance</a:t>
            </a:r>
          </a:p>
        </p:txBody>
      </p:sp>
      <p:sp>
        <p:nvSpPr>
          <p:cNvPr id="39" name="Rounded Rectangle 38"/>
          <p:cNvSpPr/>
          <p:nvPr/>
        </p:nvSpPr>
        <p:spPr>
          <a:xfrm>
            <a:off x="9372600" y="1143000"/>
            <a:ext cx="2377440" cy="470916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09760" y="1325880"/>
            <a:ext cx="2103120" cy="640080"/>
          </a:xfrm>
          <a:prstGeom prst="rect">
            <a:avLst/>
          </a:prstGeom>
          <a:noFill/>
        </p:spPr>
        <p:txBody>
          <a:bodyPr wrap="square" lIns="0" rIns="0" tIns="0" bIns="0" anchor="t"/>
          <a:lstStyle/>
          <a:p>
            <a:pPr algn="l">
              <a:spcBef>
                <a:spcPts val="0"/>
              </a:spcBef>
              <a:spcAft>
                <a:spcPts val="0"/>
              </a:spcAft>
            </a:pPr>
            <a:r>
              <a:rPr sz="1600" b="1">
                <a:solidFill>
                  <a:srgbClr val="2A2430"/>
                </a:solidFill>
                <a:latin typeface="Calibri"/>
              </a:rPr>
              <a:t>Cycle</a:t>
            </a:r>
          </a:p>
          <a:p>
            <a:pPr algn="l">
              <a:spcBef>
                <a:spcPts val="0"/>
              </a:spcBef>
              <a:spcAft>
                <a:spcPts val="0"/>
              </a:spcAft>
            </a:pPr>
            <a:r>
              <a:rPr sz="1600" b="1">
                <a:solidFill>
                  <a:srgbClr val="2A2430"/>
                </a:solidFill>
                <a:latin typeface="Calibri"/>
              </a:rPr>
              <a:t>Scrum</a:t>
            </a:r>
          </a:p>
        </p:txBody>
      </p:sp>
      <p:sp>
        <p:nvSpPr>
          <p:cNvPr id="41" name="Oval 40"/>
          <p:cNvSpPr/>
          <p:nvPr/>
        </p:nvSpPr>
        <p:spPr>
          <a:xfrm>
            <a:off x="9601200" y="2194560"/>
            <a:ext cx="384048" cy="384048"/>
          </a:xfrm>
          <a:prstGeom prst="ellipse">
            <a:avLst/>
          </a:prstGeom>
          <a:solidFill>
            <a:srgbClr val="F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01200" y="2240279"/>
            <a:ext cx="384048" cy="292608"/>
          </a:xfrm>
          <a:prstGeom prst="rect">
            <a:avLst/>
          </a:prstGeom>
          <a:noFill/>
        </p:spPr>
        <p:txBody>
          <a:bodyPr wrap="square" lIns="0" rIns="0" tIns="0" bIns="0" anchor="t"/>
          <a:lstStyle/>
          <a:p>
            <a:pPr algn="ctr">
              <a:spcBef>
                <a:spcPts val="0"/>
              </a:spcBef>
              <a:spcAft>
                <a:spcPts val="0"/>
              </a:spcAft>
            </a:pPr>
            <a:r>
              <a:rPr sz="1200" b="1">
                <a:solidFill>
                  <a:srgbClr val="C45B7A"/>
                </a:solidFill>
                <a:latin typeface="Calibri"/>
              </a:rPr>
              <a:t>1</a:t>
            </a:r>
          </a:p>
        </p:txBody>
      </p:sp>
      <p:sp>
        <p:nvSpPr>
          <p:cNvPr id="43" name="TextBox 42"/>
          <p:cNvSpPr txBox="1"/>
          <p:nvPr/>
        </p:nvSpPr>
        <p:spPr>
          <a:xfrm>
            <a:off x="10104120" y="2240279"/>
            <a:ext cx="1463040" cy="320040"/>
          </a:xfrm>
          <a:prstGeom prst="rect">
            <a:avLst/>
          </a:prstGeom>
          <a:noFill/>
        </p:spPr>
        <p:txBody>
          <a:bodyPr wrap="square" lIns="0" rIns="0" tIns="0" bIns="0" anchor="t"/>
          <a:lstStyle/>
          <a:p>
            <a:pPr algn="l">
              <a:spcBef>
                <a:spcPts val="0"/>
              </a:spcBef>
              <a:spcAft>
                <a:spcPts val="0"/>
              </a:spcAft>
            </a:pPr>
            <a:r>
              <a:rPr sz="1400" b="0">
                <a:solidFill>
                  <a:srgbClr val="2A2430"/>
                </a:solidFill>
                <a:latin typeface="Calibri"/>
              </a:rPr>
              <a:t>Planifier</a:t>
            </a:r>
          </a:p>
        </p:txBody>
      </p:sp>
      <p:sp>
        <p:nvSpPr>
          <p:cNvPr id="44" name="Oval 43"/>
          <p:cNvSpPr/>
          <p:nvPr/>
        </p:nvSpPr>
        <p:spPr>
          <a:xfrm>
            <a:off x="9601200" y="3017520"/>
            <a:ext cx="384048" cy="384048"/>
          </a:xfrm>
          <a:prstGeom prst="ellipse">
            <a:avLst/>
          </a:prstGeom>
          <a:solidFill>
            <a:srgbClr val="F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601200" y="3063239"/>
            <a:ext cx="384048" cy="292608"/>
          </a:xfrm>
          <a:prstGeom prst="rect">
            <a:avLst/>
          </a:prstGeom>
          <a:noFill/>
        </p:spPr>
        <p:txBody>
          <a:bodyPr wrap="square" lIns="0" rIns="0" tIns="0" bIns="0" anchor="t"/>
          <a:lstStyle/>
          <a:p>
            <a:pPr algn="ctr">
              <a:spcBef>
                <a:spcPts val="0"/>
              </a:spcBef>
              <a:spcAft>
                <a:spcPts val="0"/>
              </a:spcAft>
            </a:pPr>
            <a:r>
              <a:rPr sz="1200" b="1">
                <a:solidFill>
                  <a:srgbClr val="C45B7A"/>
                </a:solidFill>
                <a:latin typeface="Calibri"/>
              </a:rPr>
              <a:t>2</a:t>
            </a:r>
          </a:p>
        </p:txBody>
      </p:sp>
      <p:sp>
        <p:nvSpPr>
          <p:cNvPr id="46" name="TextBox 45"/>
          <p:cNvSpPr txBox="1"/>
          <p:nvPr/>
        </p:nvSpPr>
        <p:spPr>
          <a:xfrm>
            <a:off x="10104120" y="3063239"/>
            <a:ext cx="1463040" cy="320040"/>
          </a:xfrm>
          <a:prstGeom prst="rect">
            <a:avLst/>
          </a:prstGeom>
          <a:noFill/>
        </p:spPr>
        <p:txBody>
          <a:bodyPr wrap="square" lIns="0" rIns="0" tIns="0" bIns="0" anchor="t"/>
          <a:lstStyle/>
          <a:p>
            <a:pPr algn="l">
              <a:spcBef>
                <a:spcPts val="0"/>
              </a:spcBef>
              <a:spcAft>
                <a:spcPts val="0"/>
              </a:spcAft>
            </a:pPr>
            <a:r>
              <a:rPr sz="1400" b="0">
                <a:solidFill>
                  <a:srgbClr val="2A2430"/>
                </a:solidFill>
                <a:latin typeface="Calibri"/>
              </a:rPr>
              <a:t>Réaliser</a:t>
            </a:r>
          </a:p>
        </p:txBody>
      </p:sp>
      <p:sp>
        <p:nvSpPr>
          <p:cNvPr id="47" name="Oval 46"/>
          <p:cNvSpPr/>
          <p:nvPr/>
        </p:nvSpPr>
        <p:spPr>
          <a:xfrm>
            <a:off x="9601200" y="3840480"/>
            <a:ext cx="384048" cy="384048"/>
          </a:xfrm>
          <a:prstGeom prst="ellipse">
            <a:avLst/>
          </a:prstGeom>
          <a:solidFill>
            <a:srgbClr val="F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601200" y="3886200"/>
            <a:ext cx="384048" cy="292608"/>
          </a:xfrm>
          <a:prstGeom prst="rect">
            <a:avLst/>
          </a:prstGeom>
          <a:noFill/>
        </p:spPr>
        <p:txBody>
          <a:bodyPr wrap="square" lIns="0" rIns="0" tIns="0" bIns="0" anchor="t"/>
          <a:lstStyle/>
          <a:p>
            <a:pPr algn="ctr">
              <a:spcBef>
                <a:spcPts val="0"/>
              </a:spcBef>
              <a:spcAft>
                <a:spcPts val="0"/>
              </a:spcAft>
            </a:pPr>
            <a:r>
              <a:rPr sz="1200" b="1">
                <a:solidFill>
                  <a:srgbClr val="C45B7A"/>
                </a:solidFill>
                <a:latin typeface="Calibri"/>
              </a:rPr>
              <a:t>3</a:t>
            </a:r>
          </a:p>
        </p:txBody>
      </p:sp>
      <p:sp>
        <p:nvSpPr>
          <p:cNvPr id="49" name="TextBox 48"/>
          <p:cNvSpPr txBox="1"/>
          <p:nvPr/>
        </p:nvSpPr>
        <p:spPr>
          <a:xfrm>
            <a:off x="10104120" y="3886200"/>
            <a:ext cx="1463040" cy="320040"/>
          </a:xfrm>
          <a:prstGeom prst="rect">
            <a:avLst/>
          </a:prstGeom>
          <a:noFill/>
        </p:spPr>
        <p:txBody>
          <a:bodyPr wrap="square" lIns="0" rIns="0" tIns="0" bIns="0" anchor="t"/>
          <a:lstStyle/>
          <a:p>
            <a:pPr algn="l">
              <a:spcBef>
                <a:spcPts val="0"/>
              </a:spcBef>
              <a:spcAft>
                <a:spcPts val="0"/>
              </a:spcAft>
            </a:pPr>
            <a:r>
              <a:rPr sz="1400" b="0">
                <a:solidFill>
                  <a:srgbClr val="2A2430"/>
                </a:solidFill>
                <a:latin typeface="Calibri"/>
              </a:rPr>
              <a:t>Inspecter</a:t>
            </a:r>
          </a:p>
        </p:txBody>
      </p:sp>
      <p:sp>
        <p:nvSpPr>
          <p:cNvPr id="50" name="Oval 49"/>
          <p:cNvSpPr/>
          <p:nvPr/>
        </p:nvSpPr>
        <p:spPr>
          <a:xfrm>
            <a:off x="9601200" y="4663440"/>
            <a:ext cx="384048" cy="384048"/>
          </a:xfrm>
          <a:prstGeom prst="ellipse">
            <a:avLst/>
          </a:prstGeom>
          <a:solidFill>
            <a:srgbClr val="F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01200" y="4709159"/>
            <a:ext cx="384048" cy="292608"/>
          </a:xfrm>
          <a:prstGeom prst="rect">
            <a:avLst/>
          </a:prstGeom>
          <a:noFill/>
        </p:spPr>
        <p:txBody>
          <a:bodyPr wrap="square" lIns="0" rIns="0" tIns="0" bIns="0" anchor="t"/>
          <a:lstStyle/>
          <a:p>
            <a:pPr algn="ctr">
              <a:spcBef>
                <a:spcPts val="0"/>
              </a:spcBef>
              <a:spcAft>
                <a:spcPts val="0"/>
              </a:spcAft>
            </a:pPr>
            <a:r>
              <a:rPr sz="1200" b="1">
                <a:solidFill>
                  <a:srgbClr val="C45B7A"/>
                </a:solidFill>
                <a:latin typeface="Calibri"/>
              </a:rPr>
              <a:t>4</a:t>
            </a:r>
          </a:p>
        </p:txBody>
      </p:sp>
      <p:sp>
        <p:nvSpPr>
          <p:cNvPr id="52" name="TextBox 51"/>
          <p:cNvSpPr txBox="1"/>
          <p:nvPr/>
        </p:nvSpPr>
        <p:spPr>
          <a:xfrm>
            <a:off x="10104120" y="4709159"/>
            <a:ext cx="1463040" cy="320040"/>
          </a:xfrm>
          <a:prstGeom prst="rect">
            <a:avLst/>
          </a:prstGeom>
          <a:noFill/>
        </p:spPr>
        <p:txBody>
          <a:bodyPr wrap="square" lIns="0" rIns="0" tIns="0" bIns="0" anchor="t"/>
          <a:lstStyle/>
          <a:p>
            <a:pPr algn="l">
              <a:spcBef>
                <a:spcPts val="0"/>
              </a:spcBef>
              <a:spcAft>
                <a:spcPts val="0"/>
              </a:spcAft>
            </a:pPr>
            <a:r>
              <a:rPr sz="1400" b="0">
                <a:solidFill>
                  <a:srgbClr val="2A2430"/>
                </a:solidFill>
                <a:latin typeface="Calibri"/>
              </a:rPr>
              <a:t>Adapter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438912"/>
          </a:xfrm>
          <a:prstGeom prst="rect">
            <a:avLst/>
          </a:prstGeom>
          <a:noFill/>
        </p:spPr>
        <p:txBody>
          <a:bodyPr wrap="square" lIns="0" rIns="0" tIns="0" bIns="0" anchor="t"/>
          <a:lstStyle/>
          <a:p>
            <a:pPr algn="l">
              <a:spcBef>
                <a:spcPts val="0"/>
              </a:spcBef>
              <a:spcAft>
                <a:spcPts val="0"/>
              </a:spcAft>
            </a:pPr>
            <a:r>
              <a:rPr sz="2800" b="1">
                <a:solidFill>
                  <a:srgbClr val="2A2430"/>
                </a:solidFill>
                <a:latin typeface="Calibri"/>
              </a:rPr>
              <a:t>Bilan</a:t>
            </a:r>
          </a:p>
        </p:txBody>
      </p:sp>
      <p:sp>
        <p:nvSpPr>
          <p:cNvPr id="4" name="Rectangle 3"/>
          <p:cNvSpPr/>
          <p:nvPr/>
        </p:nvSpPr>
        <p:spPr>
          <a:xfrm>
            <a:off x="502920" y="768096"/>
            <a:ext cx="658368" cy="41148"/>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473952"/>
            <a:ext cx="11183112" cy="10972"/>
          </a:xfrm>
          <a:prstGeom prst="rect">
            <a:avLst/>
          </a:prstGeom>
          <a:solidFill>
            <a:srgbClr val="F0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528816"/>
            <a:ext cx="1280160" cy="256032"/>
          </a:xfrm>
          <a:prstGeom prst="rect">
            <a:avLst/>
          </a:prstGeom>
          <a:noFill/>
        </p:spPr>
        <p:txBody>
          <a:bodyPr wrap="square" lIns="0" rIns="0" tIns="0" bIns="0" anchor="t"/>
          <a:lstStyle/>
          <a:p>
            <a:pPr algn="r">
              <a:spcBef>
                <a:spcPts val="0"/>
              </a:spcBef>
              <a:spcAft>
                <a:spcPts val="0"/>
              </a:spcAft>
            </a:pPr>
            <a:r>
              <a:rPr sz="1200" b="1">
                <a:solidFill>
                  <a:srgbClr val="C45B7A"/>
                </a:solidFill>
                <a:latin typeface="Calibri"/>
              </a:rPr>
              <a:t>19</a:t>
            </a:r>
          </a:p>
        </p:txBody>
      </p:sp>
      <p:sp>
        <p:nvSpPr>
          <p:cNvPr id="7" name="Rounded Rectangle 6"/>
          <p:cNvSpPr/>
          <p:nvPr/>
        </p:nvSpPr>
        <p:spPr>
          <a:xfrm>
            <a:off x="411480" y="1097280"/>
            <a:ext cx="5943600" cy="3017520"/>
          </a:xfrm>
          <a:prstGeom prst="roundRect">
            <a:avLst>
              <a:gd name="adj" fmla="val 8000"/>
            </a:avLst>
          </a:prstGeom>
          <a:solidFill>
            <a:srgbClr val="FFFFFF"/>
          </a:solidFill>
          <a:ln w="15875">
            <a:solidFill>
              <a:srgbClr val="F0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5486400" cy="365760"/>
          </a:xfrm>
          <a:prstGeom prst="rect">
            <a:avLst/>
          </a:prstGeom>
          <a:noFill/>
        </p:spPr>
        <p:txBody>
          <a:bodyPr wrap="square" lIns="0" rIns="0" tIns="0" bIns="0" anchor="t"/>
          <a:lstStyle/>
          <a:p>
            <a:pPr algn="l">
              <a:spcBef>
                <a:spcPts val="0"/>
              </a:spcBef>
              <a:spcAft>
                <a:spcPts val="0"/>
              </a:spcAft>
            </a:pPr>
            <a:r>
              <a:rPr sz="1600" b="1">
                <a:solidFill>
                  <a:srgbClr val="A34564"/>
                </a:solidFill>
                <a:latin typeface="Calibri"/>
              </a:rPr>
              <a:t>Ce que Briefly fait</a:t>
            </a:r>
          </a:p>
        </p:txBody>
      </p:sp>
      <p:sp>
        <p:nvSpPr>
          <p:cNvPr id="9" name="TextBox 8"/>
          <p:cNvSpPr txBox="1"/>
          <p:nvPr/>
        </p:nvSpPr>
        <p:spPr>
          <a:xfrm>
            <a:off x="640080" y="1783080"/>
            <a:ext cx="5486400" cy="2011680"/>
          </a:xfrm>
          <a:prstGeom prst="rect">
            <a:avLst/>
          </a:prstGeom>
          <a:noFill/>
        </p:spPr>
        <p:txBody>
          <a:bodyPr wrap="square" lIns="0" rIns="0" tIns="0" bIns="0" anchor="t"/>
          <a:lstStyle/>
          <a:p>
            <a:pPr algn="l">
              <a:spcBef>
                <a:spcPts val="0"/>
              </a:spcBef>
              <a:spcAft>
                <a:spcPts val="0"/>
              </a:spcAft>
            </a:pPr>
            <a:r>
              <a:rPr sz="1600" b="0">
                <a:solidFill>
                  <a:srgbClr val="2A2430"/>
                </a:solidFill>
                <a:latin typeface="Calibri"/>
              </a:rPr>
              <a:t>Pas d'inscription publique.</a:t>
            </a:r>
          </a:p>
          <a:p>
            <a:pPr algn="l">
              <a:spcBef>
                <a:spcPts val="0"/>
              </a:spcBef>
              <a:spcAft>
                <a:spcPts val="0"/>
              </a:spcAft>
            </a:pPr>
            <a:r>
              <a:rPr sz="1600" b="0">
                <a:solidFill>
                  <a:srgbClr val="2A2430"/>
                </a:solidFill>
                <a:latin typeface="Calibri"/>
              </a:rPr>
              <a:t>L'avancement est collé à la tâche.</a:t>
            </a:r>
          </a:p>
          <a:p>
            <a:pPr algn="l">
              <a:spcBef>
                <a:spcPts val="0"/>
              </a:spcBef>
              <a:spcAft>
                <a:spcPts val="0"/>
              </a:spcAft>
            </a:pPr>
            <a:r>
              <a:rPr sz="1600" b="0">
                <a:solidFill>
                  <a:srgbClr val="2A2430"/>
                </a:solidFill>
                <a:latin typeface="Calibri"/>
              </a:rPr>
              <a:t>Les mêmes règles sur le web et le mobile.</a:t>
            </a:r>
          </a:p>
          <a:p>
            <a:pPr algn="l">
              <a:spcBef>
                <a:spcPts val="0"/>
              </a:spcBef>
              <a:spcAft>
                <a:spcPts val="0"/>
              </a:spcAft>
            </a:pPr>
            <a:r>
              <a:rPr sz="1600" b="0">
                <a:solidFill>
                  <a:srgbClr val="2A2430"/>
                </a:solidFill>
                <a:latin typeface="Calibri"/>
              </a:rPr>
              <a:t>Un tableau de bord pour chaque rôle.</a:t>
            </a:r>
          </a:p>
        </p:txBody>
      </p:sp>
      <p:pic>
        <p:nvPicPr>
          <p:cNvPr id="10" name="Picture 9" descr="dash-lead.png"/>
          <p:cNvPicPr>
            <a:picLocks noChangeAspect="1"/>
          </p:cNvPicPr>
          <p:nvPr/>
        </p:nvPicPr>
        <p:blipFill>
          <a:blip r:embed="rId3"/>
          <a:stretch>
            <a:fillRect/>
          </a:stretch>
        </p:blipFill>
        <p:spPr>
          <a:xfrm>
            <a:off x="6537960" y="1783994"/>
            <a:ext cx="2651760" cy="1644091"/>
          </a:xfrm>
          <a:prstGeom prst="rect">
            <a:avLst/>
          </a:prstGeom>
        </p:spPr>
      </p:pic>
      <p:pic>
        <p:nvPicPr>
          <p:cNvPr id="11" name="Picture 10" descr="phone-dashboard.png"/>
          <p:cNvPicPr>
            <a:picLocks noChangeAspect="1"/>
          </p:cNvPicPr>
          <p:nvPr/>
        </p:nvPicPr>
        <p:blipFill>
          <a:blip r:embed="rId4"/>
          <a:stretch>
            <a:fillRect/>
          </a:stretch>
        </p:blipFill>
        <p:spPr>
          <a:xfrm>
            <a:off x="9731044" y="1097280"/>
            <a:ext cx="1569110" cy="3017520"/>
          </a:xfrm>
          <a:prstGeom prst="rect">
            <a:avLst/>
          </a:prstGeom>
        </p:spPr>
      </p:pic>
      <p:sp>
        <p:nvSpPr>
          <p:cNvPr id="12" name="TextBox 11"/>
          <p:cNvSpPr txBox="1"/>
          <p:nvPr/>
        </p:nvSpPr>
        <p:spPr>
          <a:xfrm>
            <a:off x="457200" y="4251960"/>
            <a:ext cx="11155680" cy="320040"/>
          </a:xfrm>
          <a:prstGeom prst="rect">
            <a:avLst/>
          </a:prstGeom>
          <a:noFill/>
        </p:spPr>
        <p:txBody>
          <a:bodyPr wrap="square" lIns="0" rIns="0" tIns="0" bIns="0" anchor="t"/>
          <a:lstStyle/>
          <a:p>
            <a:pPr algn="l">
              <a:spcBef>
                <a:spcPts val="0"/>
              </a:spcBef>
              <a:spcAft>
                <a:spcPts val="0"/>
              </a:spcAft>
            </a:pPr>
            <a:r>
              <a:rPr sz="1400" b="1">
                <a:solidFill>
                  <a:srgbClr val="7A7380"/>
                </a:solidFill>
                <a:latin typeface="Calibri"/>
              </a:rPr>
              <a:t>Plus tard, pas dans cette version</a:t>
            </a:r>
          </a:p>
        </p:txBody>
      </p:sp>
      <p:sp>
        <p:nvSpPr>
          <p:cNvPr id="13" name="Rounded Rectangle 12"/>
          <p:cNvSpPr/>
          <p:nvPr/>
        </p:nvSpPr>
        <p:spPr>
          <a:xfrm>
            <a:off x="411480" y="4709160"/>
            <a:ext cx="2788920" cy="1325880"/>
          </a:xfrm>
          <a:prstGeom prst="roundRect">
            <a:avLst>
              <a:gd name="adj" fmla="val 14000"/>
            </a:avLst>
          </a:prstGeom>
          <a:solidFill>
            <a:srgbClr val="F4F1F3"/>
          </a:solidFill>
          <a:ln w="15875">
            <a:solidFill>
              <a:srgbClr val="F4F1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937760"/>
            <a:ext cx="2514600" cy="914400"/>
          </a:xfrm>
          <a:prstGeom prst="rect">
            <a:avLst/>
          </a:prstGeom>
          <a:noFill/>
        </p:spPr>
        <p:txBody>
          <a:bodyPr wrap="square" lIns="0" rIns="0" tIns="0" bIns="0" anchor="ctr"/>
          <a:lstStyle/>
          <a:p>
            <a:pPr algn="l">
              <a:spcBef>
                <a:spcPts val="0"/>
              </a:spcBef>
              <a:spcAft>
                <a:spcPts val="0"/>
              </a:spcAft>
            </a:pPr>
            <a:r>
              <a:rPr sz="1400" b="0">
                <a:solidFill>
                  <a:srgbClr val="7A7380"/>
                </a:solidFill>
                <a:latin typeface="Calibri"/>
              </a:rPr>
              <a:t>Notification si une tâche bloque</a:t>
            </a:r>
          </a:p>
        </p:txBody>
      </p:sp>
      <p:sp>
        <p:nvSpPr>
          <p:cNvPr id="15" name="Rounded Rectangle 14"/>
          <p:cNvSpPr/>
          <p:nvPr/>
        </p:nvSpPr>
        <p:spPr>
          <a:xfrm>
            <a:off x="3337560" y="4709160"/>
            <a:ext cx="2788920" cy="1325880"/>
          </a:xfrm>
          <a:prstGeom prst="roundRect">
            <a:avLst>
              <a:gd name="adj" fmla="val 14000"/>
            </a:avLst>
          </a:prstGeom>
          <a:solidFill>
            <a:srgbClr val="F4F1F3"/>
          </a:solidFill>
          <a:ln w="15875">
            <a:solidFill>
              <a:srgbClr val="F4F1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4937760"/>
            <a:ext cx="2514600" cy="914400"/>
          </a:xfrm>
          <a:prstGeom prst="rect">
            <a:avLst/>
          </a:prstGeom>
          <a:noFill/>
        </p:spPr>
        <p:txBody>
          <a:bodyPr wrap="square" lIns="0" rIns="0" tIns="0" bIns="0" anchor="ctr"/>
          <a:lstStyle/>
          <a:p>
            <a:pPr algn="l">
              <a:spcBef>
                <a:spcPts val="0"/>
              </a:spcBef>
              <a:spcAft>
                <a:spcPts val="0"/>
              </a:spcAft>
            </a:pPr>
            <a:r>
              <a:rPr sz="1400" b="0">
                <a:solidFill>
                  <a:srgbClr val="7A7380"/>
                </a:solidFill>
                <a:latin typeface="Calibri"/>
              </a:rPr>
              <a:t>Brief du jour, depuis l'historique</a:t>
            </a:r>
          </a:p>
        </p:txBody>
      </p:sp>
      <p:sp>
        <p:nvSpPr>
          <p:cNvPr id="17" name="Rounded Rectangle 16"/>
          <p:cNvSpPr/>
          <p:nvPr/>
        </p:nvSpPr>
        <p:spPr>
          <a:xfrm>
            <a:off x="6263640" y="4709160"/>
            <a:ext cx="2788920" cy="1325880"/>
          </a:xfrm>
          <a:prstGeom prst="roundRect">
            <a:avLst>
              <a:gd name="adj" fmla="val 14000"/>
            </a:avLst>
          </a:prstGeom>
          <a:solidFill>
            <a:srgbClr val="F4F1F3"/>
          </a:solidFill>
          <a:ln w="15875">
            <a:solidFill>
              <a:srgbClr val="F4F1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937760"/>
            <a:ext cx="2514600" cy="914400"/>
          </a:xfrm>
          <a:prstGeom prst="rect">
            <a:avLst/>
          </a:prstGeom>
          <a:noFill/>
        </p:spPr>
        <p:txBody>
          <a:bodyPr wrap="square" lIns="0" rIns="0" tIns="0" bIns="0" anchor="ctr"/>
          <a:lstStyle/>
          <a:p>
            <a:pPr algn="l">
              <a:spcBef>
                <a:spcPts val="0"/>
              </a:spcBef>
              <a:spcAft>
                <a:spcPts val="0"/>
              </a:spcAft>
            </a:pPr>
            <a:r>
              <a:rPr sz="1400" b="0">
                <a:solidFill>
                  <a:srgbClr val="7A7380"/>
                </a:solidFill>
                <a:latin typeface="Calibri"/>
              </a:rPr>
              <a:t>Export PDF</a:t>
            </a:r>
          </a:p>
        </p:txBody>
      </p:sp>
      <p:sp>
        <p:nvSpPr>
          <p:cNvPr id="19" name="Rounded Rectangle 18"/>
          <p:cNvSpPr/>
          <p:nvPr/>
        </p:nvSpPr>
        <p:spPr>
          <a:xfrm>
            <a:off x="9189720" y="4709160"/>
            <a:ext cx="2788920" cy="1325880"/>
          </a:xfrm>
          <a:prstGeom prst="roundRect">
            <a:avLst>
              <a:gd name="adj" fmla="val 14000"/>
            </a:avLst>
          </a:prstGeom>
          <a:solidFill>
            <a:srgbClr val="F4F1F3"/>
          </a:solidFill>
          <a:ln w="15875">
            <a:solidFill>
              <a:srgbClr val="F4F1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4937760"/>
            <a:ext cx="2514600" cy="914400"/>
          </a:xfrm>
          <a:prstGeom prst="rect">
            <a:avLst/>
          </a:prstGeom>
          <a:noFill/>
        </p:spPr>
        <p:txBody>
          <a:bodyPr wrap="square" lIns="0" rIns="0" tIns="0" bIns="0" anchor="ctr"/>
          <a:lstStyle/>
          <a:p>
            <a:pPr algn="l">
              <a:spcBef>
                <a:spcPts val="0"/>
              </a:spcBef>
              <a:spcAft>
                <a:spcPts val="0"/>
              </a:spcAft>
            </a:pPr>
            <a:r>
              <a:rPr sz="1400" b="0">
                <a:solidFill>
                  <a:srgbClr val="7A7380"/>
                </a:solidFill>
                <a:latin typeface="Calibri"/>
              </a:rPr>
              <a:t>Expiration des jetons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23360" y="2788920"/>
            <a:ext cx="4114800" cy="13716"/>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971800"/>
            <a:ext cx="9601200" cy="1188720"/>
          </a:xfrm>
          <a:prstGeom prst="rect">
            <a:avLst/>
          </a:prstGeom>
          <a:noFill/>
        </p:spPr>
        <p:txBody>
          <a:bodyPr wrap="square" lIns="0" rIns="0" tIns="0" bIns="0" anchor="t"/>
          <a:lstStyle/>
          <a:p>
            <a:pPr algn="ctr">
              <a:spcBef>
                <a:spcPts val="0"/>
              </a:spcBef>
              <a:spcAft>
                <a:spcPts val="0"/>
              </a:spcAft>
            </a:pPr>
            <a:r>
              <a:rPr sz="2800" b="1">
                <a:solidFill>
                  <a:srgbClr val="2A2430"/>
                </a:solidFill>
                <a:latin typeface="Calibri"/>
              </a:rPr>
              <a:t>Merci pour votre attention.</a:t>
            </a:r>
          </a:p>
          <a:p>
            <a:pPr algn="ctr">
              <a:spcBef>
                <a:spcPts val="0"/>
              </a:spcBef>
              <a:spcAft>
                <a:spcPts val="0"/>
              </a:spcAft>
            </a:pPr>
            <a:r>
              <a:rPr sz="2800" b="1">
                <a:solidFill>
                  <a:srgbClr val="2A2430"/>
                </a:solidFill>
                <a:latin typeface="Calibri"/>
              </a:rPr>
              <a:t>Je suis à votre disposition pour répondre à vos questions.</a:t>
            </a:r>
          </a:p>
        </p:txBody>
      </p:sp>
      <p:sp>
        <p:nvSpPr>
          <p:cNvPr id="5" name="Rectangle 4"/>
          <p:cNvSpPr/>
          <p:nvPr/>
        </p:nvSpPr>
        <p:spPr>
          <a:xfrm>
            <a:off x="4023360" y="4297680"/>
            <a:ext cx="4114800" cy="13716"/>
          </a:xfrm>
          <a:prstGeom prst="rect">
            <a:avLst/>
          </a:prstGeom>
          <a:solidFill>
            <a:srgbClr val="C45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5943600"/>
            <a:ext cx="9601200" cy="320040"/>
          </a:xfrm>
          <a:prstGeom prst="rect">
            <a:avLst/>
          </a:prstGeom>
          <a:noFill/>
        </p:spPr>
        <p:txBody>
          <a:bodyPr wrap="square" lIns="0" rIns="0" tIns="0" bIns="0" anchor="t"/>
          <a:lstStyle/>
          <a:p>
            <a:pPr algn="ctr">
              <a:spcBef>
                <a:spcPts val="0"/>
              </a:spcBef>
              <a:spcAft>
                <a:spcPts val="0"/>
              </a:spcAft>
            </a:pPr>
            <a:r>
              <a:rPr sz="1400" b="0">
                <a:solidFill>
                  <a:srgbClr val="6E6573"/>
                </a:solidFill>
                <a:latin typeface="Calibri"/>
              </a:rPr>
              <a:t>Chiraz Lamraoui   ·   Briefly   ·   27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Conception et développement de Briefly</dc:title>
  <dc:subject>Soutenance CDA, 27 octobre 2026</dc:subject>
  <dc:creator>Chiraz Lamraoui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Soutenance</cp:category>
</cp:coreProperties>
</file>