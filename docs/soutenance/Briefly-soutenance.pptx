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m'appelle Chiraz Lamraoui. Je présente Briefly, mon projet de fin d'études du bachelor concepteur développeur d'applications. L'alternance est chez Drif Consult, avec Yasser El Habib Drif comme tuteur. L'enseignant du mémoire est Anis Benammar. La soutenance a lieu le 27 octobre 2026. Je parle environ quarante minutes. Je pars du cadre professionnel, puis du problème que j'ai choisi de traiter. Ensuite je montre comment j'ai conçu et développé l'application, comment je l'ai sécurisée, et ce que les tests vérifient. Je termine par une démonstration, puis je reste pour vos questions.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fil, et le temps que je me donne. Dix minutes pour le contexte : l'entreprise, mon rôle, et la question. Huit minutes pour l'analyse, les rôles, les cas d'utilisation et Scrum. Huit minutes pour la conception : le cas métier, la séquence, les données, l'architecture et les technologies. Huit minutes pour la sécurité et sept cas de test. Six minutes pour la démonstration, le déploiement et le bilan. Si je prends du retard, je raccourcis les cas de test, pas la démonstration. Environ quarante secondes.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titre se lit en trois activités, et je m'en sers comme fil. D'abord développer une application sécurisée : l'environnement, les interfaces web et mobile, les composants métier, et la gestion de projet. Ensuite concevoir en couches : les besoins, l'architecture, la base relationnelle, et l'accès aux données. Enfin préparer le déploiement : les plans de tests, une mise en ligne documentée, et le même contrat pour le navigateur et le téléphone. Je ne vais pas cocher les onze compétences une par une. Chaque partie de l'oral en montre au moins une, et le pied de page rappelle celle qui est en jeu.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L'entreprise d'accueil inscrite au mémoire est Drif Consult. Mon maître d'apprentissage est Yasser El Habib Drif. Au quotidien, j'ai été accueillie sur Roman.ai. C'est un coworker pour Slack. Je ne détaille pas le produit, et je ne raconte pas l'historique de la société. Je le situe seulement, pour que Briefly arrive après un cadre professionnel réel. Le campus est celui de Paris, chez ADG Education, dans le cursus CDA.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entreprise, deux missions, dites au niveau général. Le front-end : les interfaces du produit, et le soin de les garder cohérentes. Le parrainage : relier un utilisateur aux personnes qu'il invite. Je ne déroule pas le journal semaine par semaine. Ce travail m'a mise dans une équipe produit, avec des écrans, des rôles, et un usage quotidien. Le mémoire, lui, est un autre livrable. Briefly n'est pas une fonction de Roman.ai. Le besoin vient de ce que j'ai observé sur le suivi d'équipe. L'application, je l'ai conçue pour le diplôme.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domaine, c'est le suivi quotidien d'une équipe, pas la gestion complète d'un projet. Le point du matin se fait souvent dans Slack ou dans Teams. Chacun dit ce qu'il a fait, ce qu'il fait, et ce qui le bloque. Le message n'est pas relié à une tâche. Le lendemain, le blocage a disparu dans le fil. Le chef n'a pas un tableau stable. Je n'ai pas créé un objet brief à part. Dans Briefly, c'est la tâche qui porte l'avancement. Environ une minute quarante.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lis la question, puis je la découpe en quatre bouts, parce que la suite de l'oral y répond. Organisation fermée : pas d'inscription publique, l'administrateur crée les comptes. Suivi attaché aux tâches : le point du matin ne flotte pas dans un message. Web et mobile : les deux clients, avec les mêmes règles. Rôles clairs : administrateur, chef d'équipe, membre, et surtout les interdits. Si une de ces quatre réponses manque à la fin, le projet n'a pas répondu. Environ une minute quinze.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regardé trois familles d'outils, pas un catalogue. La messagerie, Slack ou Teams, est immédiate. Rien ne reste accroché à la tâche. Un tableau léger, comme Trello, montre des cartes. Il n'a pas les rôles de mon métier, et il n'oblige pas la note quand une carte est bloquée. Une forge, Jira ou Linear, sait tracer des tickets. Elle est lourde pour un point du matin. Aucun de ces outils ne réunit, d'origine, une organisation fermée, trois rôles, une note de blocage obligatoire, et le web avec le mobile sur les mêmes règles.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est donc une application interne, web et mobile. Quatre gestes, et seulement ceux-là. Organiser : les équipes, les projets, les tâches. Rendre compte : déjà fait, la suite, le blocage. Sécuriser : trois rôles, et des politiques sur la ressource. Suivre : un taux par membre, par équipe et par projet. Je n'annonce pas de réunions, de fichiers, ni de notifications. Ce n'est pas dans l'application livrée.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acteurs, et je lis aussi ce qu'ils ne peuvent pas faire. L'administrateur crée les comptes, les équipes et les projets, et il voit le tableau global. Il n'a pas de tâches personnelles : un middleware le renvoie hors des écrans d'exécution. Le chef suit les tâches de ses équipes, il filtre, il ouvre une fiche membre. Il ne crée ni les projets ni les comptes. Chef, ce n'est pas seulement un libellé de rôle. C'est le drapeau is_team_lead sur le lien entre l'utilisateur et l'équipe. Une personne peut donc mener plusieurs équipes. Le membre met à jour seulement les tâches qui lui sont assignées. Environ une minute dix.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sur les fonctions qui existent. Tout le monde se connecte par courriel, change son nom, son mot de passe, la langue et le thème. Le membre voit son tableau, ses tâches, et il enregistre l'avancement. Si le statut est bloqué, la note est obligatoire. L'historique est paginé. Le chef crée une tâche dans un projet de ses équipes, il l'assigne, il filtre. L'administrateur gère la structure et lit les taux. Deux pourcentages, et je les distingue. Le pourcentage d'un statut est fixe : à faire zéro, en cours soixante, bloqué trente, terminé cent. Le taux du tableau, lui, c'est le nombre de tâches terminées divisé par le total.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contraintes, toutes tenues dans le code. L'application est fermée : pas de formulaire d'inscription. Une seule logique : le téléphone ne réécrit pas les règles, il appelle le serveur. Les droits se vérifient sur la ressource, pas seulement sur le libellé du rôle. L'interface est en français et en anglais. L'historique est paginé, et les tableaux calculent des agrégats, pour que l'écran reste lisible quand les tâches s'accumulent. Environ cinquante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commente pas chaque ovale. Le cas commun, c'est se connecter. Il n'y a pas de cas s'inscrire. L'administrateur gère les comptes, les équipes, les projets, et il ouvre le tableau global. Le chef crée une tâche, assigne un membre de son périmètre, filtre, et ouvre une fiche. Le membre voit ses tâches, met à jour l'avancement, écrit le blocage, et lit son historique. Le diagramme complet est dans le mémoire. Je peux y revenir si vous le souhaitez.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Scrum plutôt qu'un cycle en V, parce que les écrans et les rôles se jugent sur un incrément utilisable. Je distingue les mots, même si je les ai portés seule, comme c'est le cas dans un mémoire. Le product backlog, c'est la liste priorisée. Le sprint, c'est un cycle court qui livre un bout cohérent. La user story, c'est le besoin dit depuis un rôle. L'incrément, c'est une partie que l'on peut essayer, pas une maquette seule. Je fais attention à un mot. Le stand-up de la méthode organise mon travail. Le stand-up que l'application outille, c'est le besoin métier. Ce n'est pas le même objet. Environ une minute 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sprints, dans l'ordre des dépendances, avec les dates du mémoire. Du 2 au 15 février : la connexion, le profil, la langue, le thème. Du 16 février au 1er mars : l'espace membre. Du 2 au 15 mars : le chef d'équipe. Du 16 au 29 mars : l'administration. Le sprint 5 est un peu plus long, trois semaines, du 30 mars au 19 avril, pour le client Flutter. Je ne lis pas chaque date devant vous. L'ordre suffit : d'abord l'accès, puis le membre, puis le chef, puis l'admin, puis le mobile, parce que le téléphone consomme des parcours qui existent déjà.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prends un seul cas, celui qui justifie l'application. Le membre ouvre une tâche qui lui est assignée. Il choisit le statut. Il écrit ce qui est déjà fait, et la suite. Si le statut est bloqué, la note est obligatoire, et le serveur refuse l'enregistrement quand elle manque. TaskService écrit la tâche et une ligne d'historique. Le chef retrouve ensuite la tâche dans les bloquées, et le taux se recalcule. Sur l'écran, les champs s'appellent Déjà fait, En cours, et Blocage. La capture est le site, sur la tâche d'Olivia Brooks, bloquée par un problème de pipeline.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lis la séquence de gauche à droite, pour ce même point d'avancement. Le membre envoie le formulaire au contrôleur. Le contrôleur demande à la politique si cet utilisateur est bien l'assigné. La form request vérifie la note lorsque le statut est bloqué. Le service enregistre la tâche et une ligne d'historique. La réponse est une page HTML si l'appel vient du navigateur, ou du JSON si l'appel vient du téléphone. Le refus n'est pas silencieux : c'est une erreur de validation, et rien n'est écrit.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projette pas le diagramme de classes complet, il est trop dense pour quarante secondes de lecture. Six idées. users et teams sont reliés par team_user. C'est sur cette table de liaison qu'est le drapeau de chef. projects est relié aux équipes par project_team, donc un projet peut concerner plusieurs équipes. Une tâche appartient à un projet et à un assigné. Chaque point d'avancement est une ligne de task_updates. La note de blocage reste sur la tâche, pour l'écran courant, et elle est recopiée dans l'historique, pour ne pas perdre le motif. Environ une minute vingt.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navigateur et le téléphone appellent les mêmes adresses. Elles sont toutes dans routes/web.php. Je n'ai pas ouvert un second fichier d'API. Si la requête annonce du JSON, la méthode respond renvoie du JSON. Sinon, Laravel renvoie la page Blade. Le web garde une session. Le mobile reçoit un jeton Sanctum. MySQL est derrière ces deux clients, et ils n'y accèdent jamais. J'ai fait ce choix pour écrire la validation, les politiques et le métier une seule fois. Le téléphone ne peut donc pas assouplir une règle. Environ une minute quarante.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lis pas un mur de logos. Je dis pourquoi chaque brique est là. Laravel porte les routes, la validation et les politiques, pour que les règles restent sur le serveur. Blade et Bootstrap font les écrans web. Il n'y a pas de chaîne npm à builder. MySQL range les relations, les drapeaux de chef et l'historique. Flutter porte les trois rôles sur le téléphone. Sanctum donne le jeton mobile, la session reste au navigateur. PHPUnit rejoue les refus d'accès, pour que je ne les revérifie pas seulement à la main. Environ une minute dix.</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qui est en place. Les mots de passe sont hachés, et ils ne sont jamais renvoyés. La session est régénérée à la connexion. Le mobile reçoit un jeton Sanctum, et la déconnexion supprime le jeton courant. Le CSRF protège les formulaires web. Il est levé pour un appel qui porte le jeton Bearer, sinon le téléphone ne passe pas. Un middleware vérifie le rôle, puis une politique vérifie la ressource. La validation a lieu avant l'écriture. Blade échappe l'affichage. Deux limites, et je les dis moi-même, parce qu'elles ne sont pas livrées. La route de connexion ne bloque pas les tentatives. Les jetons n'ont pas de date d'expiration. Environ une minute trente.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cas. La démarche : ouvrir le tableau de bord sans être connecté. Le résultat attendu, et obtenu : l'invité est renvoyé vers la page de connexion. La racine du site redirige aussi vers le login. La conclusion est conforme. Les tests PHPUnit qui couvrent ça vérifient la redirection de l'invité, et la redirection de la racine. Sans session, on n'entre pas dans l'application.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cas, côté mobile. La démarche : envoyer une connexion JSON avec un mauvais mot de passe. Le serveur refuse. La réponse est une erreur de validation, le code 422. Aucun jeton n'est émis. C'est conforme. Un mot de passe faux ne donne donc pas un accès partiel.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Troisième cas, le cœur métier. La démarche : passer une tâche au statut bloqué sans écrire la note. La validation refuse l'enregistrement. La même règle vaut pour le formulaire web et pour l'appel JSON. C'est conforme. Le téléphone ne peut pas contourner l'obligation, parce que la règle n'est pas recopiée dans Flutter. Elle est sur le serveur.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Quatrième cas. La démarche : avec un compte membre, tenter de mettre à jour une tâche assignée à quelqu'un d'autre. La politique updateStatus refuse. Seul l'assigné enregistre l'avancement. C'est conforme. Le droit ne se décide pas seulement avec le rôle membre. Il se décide sur la tâche.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Cinquième cas. La démarche : avec un compte membre, ouvrir le tableau de bord administrateur. L'accès est refusé. Le même compte ne peut pas créer un utilisateur. C'est conforme. L'administration est derrière le middleware admin. Le menu du membre ne suffit pas : l'adresse directe est refusée aussi.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Sixième cas. La démarche : avec un compte chef d'équipe, tenter de créer un projet. La création reste à l'administrateur, et le test vérifie le refus. Le chef peut, lui, créer une tâche dans un projet de ses équipes. C'est conforme. Il organise le travail de son périmètre. Il ne crée pas le référentiel.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Septième cas. La démarche : appeler le tableau de bord en JSON sans envoyer le jeton Sanctum. La réponse est 401. Avec un jeton valide, le membre lit son tableau et peut enregistrer un point. La déconnexion révoque le jeton courant. C'est conforme. Le mobile n'a pas de session magique : sans jeton, pas de données. Environ quarante-cinq secondes.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quitte cette slide et j'ouvre l'application. Comptez environ quatre minutes. D'abord un chef d'équipe : les tâches de l'équipe, les bloquées, le taux. Ensuite un membre : la tâche, les champs Déjà fait, En cours et Blocage, puis l'historique. Enfin l'administrateur : les équipes, les projets, le taux global. S'il reste un peu de temps, je montre le français et l'anglais. Les captures derrière moi sont le site réel, y compris en largeur de téléphone. L'application Flutter reprend les mêmes parcours, en JSON, avec le jeton. En local, je peux utiliser sophie.laurent, emma.nguyen et admin, à briefly.test. Le mot de passe de démonstration est password. Ces comptes ne sont pas créés quand l'environnement n'est pas local.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mise en ligne reprend le même backend. PHP, avec la racine web sur le dossier public. Une base MySQL ou MariaDB. Les migrations créent le schéma. Le seeder des comptes de démonstration s'arrête dès que l'environnement n'est pas local, donc ces comptes ne partent pas en production. Le téléphone parle en HTTPS au même serveur, avec le jeton. L'adresse utilisée pour les essais est lamraoui.alwaysdata.net. Environ cinquante secondes.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reviens à la question. Organisation fermée : oui, pas d'inscription publique. Avancement collé à la tâche, avec la note obligatoire si c'est bloqué : oui. Web et mobile sur les mêmes règles : oui. Trois rôles, avec les interdits : oui. Côté technique, j'ai porté l'analyse, Scrum, le modèle, Laravel, Flutter, les politiques et les tests. Côté professionnel, j'ai tenu un produit de bout en bout, à côté du front-end et du parrainage en entreprise. La ligne du bas n'est pas livrée. Notification, brief du jour, export, expiration des jetons : ce sont des suites, pas des fonctions de la soutenance. Environ une minute.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pour votre attention. Je suis à votre disposition pour répondre à vos questions. Environ vingt secondes.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051560"/>
            <a:ext cx="54864" cy="3931920"/>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188720"/>
            <a:ext cx="10058400" cy="320040"/>
          </a:xfrm>
          <a:prstGeom prst="rect">
            <a:avLst/>
          </a:prstGeom>
          <a:noFill/>
        </p:spPr>
        <p:txBody>
          <a:bodyPr wrap="square" lIns="0" rIns="0" tIns="0" bIns="0" anchor="t"/>
          <a:lstStyle/>
          <a:p>
            <a:pPr algn="l">
              <a:spcBef>
                <a:spcPts val="0"/>
              </a:spcBef>
              <a:spcAft>
                <a:spcPts val="200"/>
              </a:spcAft>
            </a:pPr>
            <a:r>
              <a:rPr sz="1600" b="0">
                <a:solidFill>
                  <a:srgbClr val="D5E4F0"/>
                </a:solidFill>
                <a:latin typeface="Calibri"/>
              </a:rPr>
              <a:t>Projet de fin d'études  •  Bachelor Concepteur développeur d'applications</a:t>
            </a:r>
          </a:p>
        </p:txBody>
      </p:sp>
      <p:sp>
        <p:nvSpPr>
          <p:cNvPr id="5" name="TextBox 4"/>
          <p:cNvSpPr txBox="1"/>
          <p:nvPr/>
        </p:nvSpPr>
        <p:spPr>
          <a:xfrm>
            <a:off x="960120" y="1737360"/>
            <a:ext cx="10058400" cy="1188720"/>
          </a:xfrm>
          <a:prstGeom prst="rect">
            <a:avLst/>
          </a:prstGeom>
          <a:noFill/>
        </p:spPr>
        <p:txBody>
          <a:bodyPr wrap="square" lIns="0" rIns="0" tIns="0" bIns="0" anchor="t"/>
          <a:lstStyle/>
          <a:p>
            <a:pPr algn="l">
              <a:spcBef>
                <a:spcPts val="0"/>
              </a:spcBef>
              <a:spcAft>
                <a:spcPts val="200"/>
              </a:spcAft>
            </a:pPr>
            <a:r>
              <a:rPr sz="6000" b="1">
                <a:solidFill>
                  <a:srgbClr val="FFFFFF"/>
                </a:solidFill>
                <a:latin typeface="Calibri"/>
              </a:rPr>
              <a:t>BRIEFLY</a:t>
            </a:r>
          </a:p>
        </p:txBody>
      </p:sp>
      <p:sp>
        <p:nvSpPr>
          <p:cNvPr id="6" name="TextBox 5"/>
          <p:cNvSpPr txBox="1"/>
          <p:nvPr/>
        </p:nvSpPr>
        <p:spPr>
          <a:xfrm>
            <a:off x="960120" y="3017520"/>
            <a:ext cx="10058400" cy="731520"/>
          </a:xfrm>
          <a:prstGeom prst="rect">
            <a:avLst/>
          </a:prstGeom>
          <a:noFill/>
        </p:spPr>
        <p:txBody>
          <a:bodyPr wrap="square" lIns="0" rIns="0" tIns="0" bIns="0" anchor="t"/>
          <a:lstStyle/>
          <a:p>
            <a:pPr algn="l">
              <a:spcBef>
                <a:spcPts val="0"/>
              </a:spcBef>
              <a:spcAft>
                <a:spcPts val="200"/>
              </a:spcAft>
            </a:pPr>
            <a:r>
              <a:rPr sz="2400" b="0">
                <a:solidFill>
                  <a:srgbClr val="FFFFFF"/>
                </a:solidFill>
                <a:latin typeface="Calibri"/>
              </a:rPr>
              <a:t>Application web et mobile de suivi</a:t>
            </a:r>
          </a:p>
          <a:p>
            <a:pPr algn="l">
              <a:spcBef>
                <a:spcPts val="0"/>
              </a:spcBef>
              <a:spcAft>
                <a:spcPts val="200"/>
              </a:spcAft>
            </a:pPr>
            <a:r>
              <a:rPr sz="2400" b="0">
                <a:solidFill>
                  <a:srgbClr val="FFFFFF"/>
                </a:solidFill>
                <a:latin typeface="Calibri"/>
              </a:rPr>
              <a:t>de l'avancement des équipes</a:t>
            </a:r>
          </a:p>
        </p:txBody>
      </p:sp>
      <p:sp>
        <p:nvSpPr>
          <p:cNvPr id="7" name="TextBox 6"/>
          <p:cNvSpPr txBox="1"/>
          <p:nvPr/>
        </p:nvSpPr>
        <p:spPr>
          <a:xfrm>
            <a:off x="960120" y="4114800"/>
            <a:ext cx="10058400" cy="1005840"/>
          </a:xfrm>
          <a:prstGeom prst="rect">
            <a:avLst/>
          </a:prstGeom>
          <a:noFill/>
        </p:spPr>
        <p:txBody>
          <a:bodyPr wrap="square" lIns="0" rIns="0" tIns="0" bIns="0" anchor="t"/>
          <a:lstStyle/>
          <a:p>
            <a:pPr algn="l">
              <a:spcBef>
                <a:spcPts val="0"/>
              </a:spcBef>
              <a:spcAft>
                <a:spcPts val="200"/>
              </a:spcAft>
            </a:pPr>
            <a:r>
              <a:rPr sz="1600" b="0">
                <a:solidFill>
                  <a:srgbClr val="D5E4F0"/>
                </a:solidFill>
                <a:latin typeface="Calibri"/>
              </a:rPr>
              <a:t>Chiraz Lamraoui</a:t>
            </a:r>
          </a:p>
          <a:p>
            <a:pPr algn="l">
              <a:spcBef>
                <a:spcPts val="0"/>
              </a:spcBef>
              <a:spcAft>
                <a:spcPts val="200"/>
              </a:spcAft>
            </a:pPr>
            <a:r>
              <a:rPr sz="1600" b="0">
                <a:solidFill>
                  <a:srgbClr val="D5E4F0"/>
                </a:solidFill>
                <a:latin typeface="Calibri"/>
              </a:rPr>
              <a:t>Drif Consult  •  Tuteur : Yasser El Habib Drif</a:t>
            </a:r>
          </a:p>
          <a:p>
            <a:pPr algn="l">
              <a:spcBef>
                <a:spcPts val="0"/>
              </a:spcBef>
              <a:spcAft>
                <a:spcPts val="200"/>
              </a:spcAft>
            </a:pPr>
            <a:r>
              <a:rPr sz="1600" b="0">
                <a:solidFill>
                  <a:srgbClr val="D5E4F0"/>
                </a:solidFill>
                <a:latin typeface="Calibri"/>
              </a:rPr>
              <a:t>Enseignant : Anis Benammar  •  Soutenance du 27 octobre 2026</a:t>
            </a:r>
          </a:p>
        </p:txBody>
      </p:sp>
      <p:sp>
        <p:nvSpPr>
          <p:cNvPr id="8" name="TextBox 7"/>
          <p:cNvSpPr txBox="1"/>
          <p:nvPr/>
        </p:nvSpPr>
        <p:spPr>
          <a:xfrm>
            <a:off x="960120" y="5852160"/>
            <a:ext cx="10058400" cy="320040"/>
          </a:xfrm>
          <a:prstGeom prst="rect">
            <a:avLst/>
          </a:prstGeom>
          <a:noFill/>
        </p:spPr>
        <p:txBody>
          <a:bodyPr wrap="square" lIns="0" rIns="0" tIns="0" bIns="0" anchor="t"/>
          <a:lstStyle/>
          <a:p>
            <a:pPr algn="l">
              <a:spcBef>
                <a:spcPts val="0"/>
              </a:spcBef>
              <a:spcAft>
                <a:spcPts val="200"/>
              </a:spcAft>
            </a:pPr>
            <a:r>
              <a:rPr sz="1400" b="0">
                <a:solidFill>
                  <a:srgbClr val="9BB6CC"/>
                </a:solidFill>
                <a:latin typeface="Calibri"/>
              </a:rPr>
              <a:t>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Plan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Soutenance d'environ 40 minutes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a:t>
            </a:r>
          </a:p>
        </p:txBody>
      </p:sp>
      <p:sp>
        <p:nvSpPr>
          <p:cNvPr id="9" name="Oval 8"/>
          <p:cNvSpPr/>
          <p:nvPr/>
        </p:nvSpPr>
        <p:spPr>
          <a:xfrm>
            <a:off x="640080" y="1280160"/>
            <a:ext cx="566928" cy="566928"/>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08176"/>
            <a:ext cx="566928"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01</a:t>
            </a:r>
          </a:p>
        </p:txBody>
      </p:sp>
      <p:sp>
        <p:nvSpPr>
          <p:cNvPr id="11" name="TextBox 10"/>
          <p:cNvSpPr txBox="1"/>
          <p:nvPr/>
        </p:nvSpPr>
        <p:spPr>
          <a:xfrm>
            <a:off x="1417319" y="1298448"/>
            <a:ext cx="4206240" cy="32004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Contexte de l'étude</a:t>
            </a:r>
          </a:p>
        </p:txBody>
      </p:sp>
      <p:sp>
        <p:nvSpPr>
          <p:cNvPr id="12" name="TextBox 11"/>
          <p:cNvSpPr txBox="1"/>
          <p:nvPr/>
        </p:nvSpPr>
        <p:spPr>
          <a:xfrm>
            <a:off x="1417319" y="1645919"/>
            <a:ext cx="4206240" cy="274320"/>
          </a:xfrm>
          <a:prstGeom prst="rect">
            <a:avLst/>
          </a:prstGeom>
          <a:noFill/>
        </p:spPr>
        <p:txBody>
          <a:bodyPr wrap="square" lIns="0" rIns="0" tIns="0" bIns="0" anchor="t"/>
          <a:lstStyle/>
          <a:p>
            <a:pPr algn="l">
              <a:spcBef>
                <a:spcPts val="0"/>
              </a:spcBef>
              <a:spcAft>
                <a:spcPts val="200"/>
              </a:spcAft>
            </a:pPr>
            <a:r>
              <a:rPr sz="1400" b="0">
                <a:solidFill>
                  <a:srgbClr val="2E6B9A"/>
                </a:solidFill>
                <a:latin typeface="Calibri"/>
              </a:rPr>
              <a:t>10 min</a:t>
            </a:r>
          </a:p>
        </p:txBody>
      </p:sp>
      <p:sp>
        <p:nvSpPr>
          <p:cNvPr id="13" name="Rectangle 12"/>
          <p:cNvSpPr/>
          <p:nvPr/>
        </p:nvSpPr>
        <p:spPr>
          <a:xfrm>
            <a:off x="1417319" y="2057400"/>
            <a:ext cx="43891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0" y="1280160"/>
            <a:ext cx="566928" cy="566928"/>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408176"/>
            <a:ext cx="566928"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02</a:t>
            </a:r>
          </a:p>
        </p:txBody>
      </p:sp>
      <p:sp>
        <p:nvSpPr>
          <p:cNvPr id="16" name="TextBox 15"/>
          <p:cNvSpPr txBox="1"/>
          <p:nvPr/>
        </p:nvSpPr>
        <p:spPr>
          <a:xfrm>
            <a:off x="7178040" y="1298448"/>
            <a:ext cx="4206240" cy="32004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Analyse et méthodologie</a:t>
            </a:r>
          </a:p>
        </p:txBody>
      </p:sp>
      <p:sp>
        <p:nvSpPr>
          <p:cNvPr id="17" name="TextBox 16"/>
          <p:cNvSpPr txBox="1"/>
          <p:nvPr/>
        </p:nvSpPr>
        <p:spPr>
          <a:xfrm>
            <a:off x="7178040" y="1645919"/>
            <a:ext cx="4206240" cy="274320"/>
          </a:xfrm>
          <a:prstGeom prst="rect">
            <a:avLst/>
          </a:prstGeom>
          <a:noFill/>
        </p:spPr>
        <p:txBody>
          <a:bodyPr wrap="square" lIns="0" rIns="0" tIns="0" bIns="0" anchor="t"/>
          <a:lstStyle/>
          <a:p>
            <a:pPr algn="l">
              <a:spcBef>
                <a:spcPts val="0"/>
              </a:spcBef>
              <a:spcAft>
                <a:spcPts val="200"/>
              </a:spcAft>
            </a:pPr>
            <a:r>
              <a:rPr sz="1400" b="0">
                <a:solidFill>
                  <a:srgbClr val="2E6B9A"/>
                </a:solidFill>
                <a:latin typeface="Calibri"/>
              </a:rPr>
              <a:t>8 min</a:t>
            </a:r>
          </a:p>
        </p:txBody>
      </p:sp>
      <p:sp>
        <p:nvSpPr>
          <p:cNvPr id="18" name="Rectangle 17"/>
          <p:cNvSpPr/>
          <p:nvPr/>
        </p:nvSpPr>
        <p:spPr>
          <a:xfrm>
            <a:off x="7178040" y="2057400"/>
            <a:ext cx="43891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2697480"/>
            <a:ext cx="566928" cy="566928"/>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2825496"/>
            <a:ext cx="566928"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03</a:t>
            </a:r>
          </a:p>
        </p:txBody>
      </p:sp>
      <p:sp>
        <p:nvSpPr>
          <p:cNvPr id="21" name="TextBox 20"/>
          <p:cNvSpPr txBox="1"/>
          <p:nvPr/>
        </p:nvSpPr>
        <p:spPr>
          <a:xfrm>
            <a:off x="1417319" y="2715768"/>
            <a:ext cx="4206240" cy="32004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Conception</a:t>
            </a:r>
          </a:p>
        </p:txBody>
      </p:sp>
      <p:sp>
        <p:nvSpPr>
          <p:cNvPr id="22" name="TextBox 21"/>
          <p:cNvSpPr txBox="1"/>
          <p:nvPr/>
        </p:nvSpPr>
        <p:spPr>
          <a:xfrm>
            <a:off x="1417319" y="3063240"/>
            <a:ext cx="4206240" cy="274320"/>
          </a:xfrm>
          <a:prstGeom prst="rect">
            <a:avLst/>
          </a:prstGeom>
          <a:noFill/>
        </p:spPr>
        <p:txBody>
          <a:bodyPr wrap="square" lIns="0" rIns="0" tIns="0" bIns="0" anchor="t"/>
          <a:lstStyle/>
          <a:p>
            <a:pPr algn="l">
              <a:spcBef>
                <a:spcPts val="0"/>
              </a:spcBef>
              <a:spcAft>
                <a:spcPts val="200"/>
              </a:spcAft>
            </a:pPr>
            <a:r>
              <a:rPr sz="1400" b="0">
                <a:solidFill>
                  <a:srgbClr val="2E6B9A"/>
                </a:solidFill>
                <a:latin typeface="Calibri"/>
              </a:rPr>
              <a:t>8 min</a:t>
            </a:r>
          </a:p>
        </p:txBody>
      </p:sp>
      <p:sp>
        <p:nvSpPr>
          <p:cNvPr id="23" name="Rectangle 22"/>
          <p:cNvSpPr/>
          <p:nvPr/>
        </p:nvSpPr>
        <p:spPr>
          <a:xfrm>
            <a:off x="1417319" y="3474720"/>
            <a:ext cx="43891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00800" y="2697480"/>
            <a:ext cx="566928" cy="566928"/>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2825496"/>
            <a:ext cx="566928"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04</a:t>
            </a:r>
          </a:p>
        </p:txBody>
      </p:sp>
      <p:sp>
        <p:nvSpPr>
          <p:cNvPr id="26" name="TextBox 25"/>
          <p:cNvSpPr txBox="1"/>
          <p:nvPr/>
        </p:nvSpPr>
        <p:spPr>
          <a:xfrm>
            <a:off x="7178040" y="2715768"/>
            <a:ext cx="4206240" cy="32004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Sécurité et tests</a:t>
            </a:r>
          </a:p>
        </p:txBody>
      </p:sp>
      <p:sp>
        <p:nvSpPr>
          <p:cNvPr id="27" name="TextBox 26"/>
          <p:cNvSpPr txBox="1"/>
          <p:nvPr/>
        </p:nvSpPr>
        <p:spPr>
          <a:xfrm>
            <a:off x="7178040" y="3063240"/>
            <a:ext cx="4206240" cy="274320"/>
          </a:xfrm>
          <a:prstGeom prst="rect">
            <a:avLst/>
          </a:prstGeom>
          <a:noFill/>
        </p:spPr>
        <p:txBody>
          <a:bodyPr wrap="square" lIns="0" rIns="0" tIns="0" bIns="0" anchor="t"/>
          <a:lstStyle/>
          <a:p>
            <a:pPr algn="l">
              <a:spcBef>
                <a:spcPts val="0"/>
              </a:spcBef>
              <a:spcAft>
                <a:spcPts val="200"/>
              </a:spcAft>
            </a:pPr>
            <a:r>
              <a:rPr sz="1400" b="0">
                <a:solidFill>
                  <a:srgbClr val="2E6B9A"/>
                </a:solidFill>
                <a:latin typeface="Calibri"/>
              </a:rPr>
              <a:t>8 min</a:t>
            </a:r>
          </a:p>
        </p:txBody>
      </p:sp>
      <p:sp>
        <p:nvSpPr>
          <p:cNvPr id="28" name="Rectangle 27"/>
          <p:cNvSpPr/>
          <p:nvPr/>
        </p:nvSpPr>
        <p:spPr>
          <a:xfrm>
            <a:off x="7178040" y="3474720"/>
            <a:ext cx="43891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0080" y="4114800"/>
            <a:ext cx="566928" cy="566928"/>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242816"/>
            <a:ext cx="566928"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05</a:t>
            </a:r>
          </a:p>
        </p:txBody>
      </p:sp>
      <p:sp>
        <p:nvSpPr>
          <p:cNvPr id="31" name="TextBox 30"/>
          <p:cNvSpPr txBox="1"/>
          <p:nvPr/>
        </p:nvSpPr>
        <p:spPr>
          <a:xfrm>
            <a:off x="1417319" y="4133087"/>
            <a:ext cx="4206240" cy="32004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Démonstration et bilan</a:t>
            </a:r>
          </a:p>
        </p:txBody>
      </p:sp>
      <p:sp>
        <p:nvSpPr>
          <p:cNvPr id="32" name="TextBox 31"/>
          <p:cNvSpPr txBox="1"/>
          <p:nvPr/>
        </p:nvSpPr>
        <p:spPr>
          <a:xfrm>
            <a:off x="1417319" y="4480560"/>
            <a:ext cx="4206240" cy="274320"/>
          </a:xfrm>
          <a:prstGeom prst="rect">
            <a:avLst/>
          </a:prstGeom>
          <a:noFill/>
        </p:spPr>
        <p:txBody>
          <a:bodyPr wrap="square" lIns="0" rIns="0" tIns="0" bIns="0" anchor="t"/>
          <a:lstStyle/>
          <a:p>
            <a:pPr algn="l">
              <a:spcBef>
                <a:spcPts val="0"/>
              </a:spcBef>
              <a:spcAft>
                <a:spcPts val="200"/>
              </a:spcAft>
            </a:pPr>
            <a:r>
              <a:rPr sz="1400" b="0">
                <a:solidFill>
                  <a:srgbClr val="2E6B9A"/>
                </a:solidFill>
                <a:latin typeface="Calibri"/>
              </a:rPr>
              <a:t>6 min</a:t>
            </a:r>
          </a:p>
        </p:txBody>
      </p:sp>
      <p:sp>
        <p:nvSpPr>
          <p:cNvPr id="33" name="Rectangle 32"/>
          <p:cNvSpPr/>
          <p:nvPr/>
        </p:nvSpPr>
        <p:spPr>
          <a:xfrm>
            <a:off x="1417319" y="4892040"/>
            <a:ext cx="43891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Référentiel professionnel CDA</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RNCP 37873  •  onze compétences, trois activités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3</a:t>
            </a:r>
          </a:p>
        </p:txBody>
      </p:sp>
      <p:sp>
        <p:nvSpPr>
          <p:cNvPr id="9" name="Rounded Rectangle 8"/>
          <p:cNvSpPr/>
          <p:nvPr/>
        </p:nvSpPr>
        <p:spPr>
          <a:xfrm>
            <a:off x="411480" y="1143000"/>
            <a:ext cx="3703320" cy="461772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143000"/>
            <a:ext cx="370332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371600"/>
            <a:ext cx="3246120" cy="6400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1. Développer</a:t>
            </a:r>
          </a:p>
        </p:txBody>
      </p:sp>
      <p:sp>
        <p:nvSpPr>
          <p:cNvPr id="12" name="Oval 11"/>
          <p:cNvSpPr/>
          <p:nvPr/>
        </p:nvSpPr>
        <p:spPr>
          <a:xfrm>
            <a:off x="640080" y="219456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23113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1</a:t>
            </a:r>
          </a:p>
        </p:txBody>
      </p:sp>
      <p:sp>
        <p:nvSpPr>
          <p:cNvPr id="14" name="TextBox 13"/>
          <p:cNvSpPr txBox="1"/>
          <p:nvPr/>
        </p:nvSpPr>
        <p:spPr>
          <a:xfrm>
            <a:off x="1143000" y="219456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Environnement de travail</a:t>
            </a:r>
          </a:p>
        </p:txBody>
      </p:sp>
      <p:sp>
        <p:nvSpPr>
          <p:cNvPr id="15" name="Oval 14"/>
          <p:cNvSpPr/>
          <p:nvPr/>
        </p:nvSpPr>
        <p:spPr>
          <a:xfrm>
            <a:off x="640080" y="297180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00837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2</a:t>
            </a:r>
          </a:p>
        </p:txBody>
      </p:sp>
      <p:sp>
        <p:nvSpPr>
          <p:cNvPr id="17" name="TextBox 16"/>
          <p:cNvSpPr txBox="1"/>
          <p:nvPr/>
        </p:nvSpPr>
        <p:spPr>
          <a:xfrm>
            <a:off x="1143000" y="297180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Interfaces web et mobile</a:t>
            </a:r>
          </a:p>
        </p:txBody>
      </p:sp>
      <p:sp>
        <p:nvSpPr>
          <p:cNvPr id="18" name="Oval 17"/>
          <p:cNvSpPr/>
          <p:nvPr/>
        </p:nvSpPr>
        <p:spPr>
          <a:xfrm>
            <a:off x="640080" y="374903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78561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3</a:t>
            </a:r>
          </a:p>
        </p:txBody>
      </p:sp>
      <p:sp>
        <p:nvSpPr>
          <p:cNvPr id="20" name="TextBox 19"/>
          <p:cNvSpPr txBox="1"/>
          <p:nvPr/>
        </p:nvSpPr>
        <p:spPr>
          <a:xfrm>
            <a:off x="1143000" y="374903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Composants métier</a:t>
            </a:r>
          </a:p>
        </p:txBody>
      </p:sp>
      <p:sp>
        <p:nvSpPr>
          <p:cNvPr id="21" name="Oval 20"/>
          <p:cNvSpPr/>
          <p:nvPr/>
        </p:nvSpPr>
        <p:spPr>
          <a:xfrm>
            <a:off x="640080" y="452627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56285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4</a:t>
            </a:r>
          </a:p>
        </p:txBody>
      </p:sp>
      <p:sp>
        <p:nvSpPr>
          <p:cNvPr id="23" name="TextBox 22"/>
          <p:cNvSpPr txBox="1"/>
          <p:nvPr/>
        </p:nvSpPr>
        <p:spPr>
          <a:xfrm>
            <a:off x="1143000" y="452627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Gestion de projet, Scrum</a:t>
            </a:r>
          </a:p>
        </p:txBody>
      </p:sp>
      <p:sp>
        <p:nvSpPr>
          <p:cNvPr id="24" name="Rounded Rectangle 23"/>
          <p:cNvSpPr/>
          <p:nvPr/>
        </p:nvSpPr>
        <p:spPr>
          <a:xfrm>
            <a:off x="4297680" y="1143000"/>
            <a:ext cx="3703320" cy="461772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1143000"/>
            <a:ext cx="370332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80" y="1371600"/>
            <a:ext cx="3246120" cy="6400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2. Concevoir</a:t>
            </a:r>
          </a:p>
        </p:txBody>
      </p:sp>
      <p:sp>
        <p:nvSpPr>
          <p:cNvPr id="27" name="Oval 26"/>
          <p:cNvSpPr/>
          <p:nvPr/>
        </p:nvSpPr>
        <p:spPr>
          <a:xfrm>
            <a:off x="4526280" y="219456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26280" y="223113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1</a:t>
            </a:r>
          </a:p>
        </p:txBody>
      </p:sp>
      <p:sp>
        <p:nvSpPr>
          <p:cNvPr id="29" name="TextBox 28"/>
          <p:cNvSpPr txBox="1"/>
          <p:nvPr/>
        </p:nvSpPr>
        <p:spPr>
          <a:xfrm>
            <a:off x="5029200" y="219456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Besoins et maquettes</a:t>
            </a:r>
          </a:p>
        </p:txBody>
      </p:sp>
      <p:sp>
        <p:nvSpPr>
          <p:cNvPr id="30" name="Oval 29"/>
          <p:cNvSpPr/>
          <p:nvPr/>
        </p:nvSpPr>
        <p:spPr>
          <a:xfrm>
            <a:off x="4526280" y="297180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300837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2</a:t>
            </a:r>
          </a:p>
        </p:txBody>
      </p:sp>
      <p:sp>
        <p:nvSpPr>
          <p:cNvPr id="32" name="TextBox 31"/>
          <p:cNvSpPr txBox="1"/>
          <p:nvPr/>
        </p:nvSpPr>
        <p:spPr>
          <a:xfrm>
            <a:off x="5029200" y="297180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Architecture en couches</a:t>
            </a:r>
          </a:p>
        </p:txBody>
      </p:sp>
      <p:sp>
        <p:nvSpPr>
          <p:cNvPr id="33" name="Oval 32"/>
          <p:cNvSpPr/>
          <p:nvPr/>
        </p:nvSpPr>
        <p:spPr>
          <a:xfrm>
            <a:off x="4526280" y="374903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26280" y="378561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3</a:t>
            </a:r>
          </a:p>
        </p:txBody>
      </p:sp>
      <p:sp>
        <p:nvSpPr>
          <p:cNvPr id="35" name="TextBox 34"/>
          <p:cNvSpPr txBox="1"/>
          <p:nvPr/>
        </p:nvSpPr>
        <p:spPr>
          <a:xfrm>
            <a:off x="5029200" y="374903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Base relationnelle</a:t>
            </a:r>
          </a:p>
        </p:txBody>
      </p:sp>
      <p:sp>
        <p:nvSpPr>
          <p:cNvPr id="36" name="Oval 35"/>
          <p:cNvSpPr/>
          <p:nvPr/>
        </p:nvSpPr>
        <p:spPr>
          <a:xfrm>
            <a:off x="4526280" y="452627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456285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4</a:t>
            </a:r>
          </a:p>
        </p:txBody>
      </p:sp>
      <p:sp>
        <p:nvSpPr>
          <p:cNvPr id="38" name="TextBox 37"/>
          <p:cNvSpPr txBox="1"/>
          <p:nvPr/>
        </p:nvSpPr>
        <p:spPr>
          <a:xfrm>
            <a:off x="5029200" y="452627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Accès aux données, Eloquent</a:t>
            </a:r>
          </a:p>
        </p:txBody>
      </p:sp>
      <p:sp>
        <p:nvSpPr>
          <p:cNvPr id="39" name="Rounded Rectangle 38"/>
          <p:cNvSpPr/>
          <p:nvPr/>
        </p:nvSpPr>
        <p:spPr>
          <a:xfrm>
            <a:off x="8183879" y="1143000"/>
            <a:ext cx="3703320" cy="461772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83879" y="1143000"/>
            <a:ext cx="370332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412480" y="1371600"/>
            <a:ext cx="3246120" cy="6400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3. Déployer</a:t>
            </a:r>
          </a:p>
        </p:txBody>
      </p:sp>
      <p:sp>
        <p:nvSpPr>
          <p:cNvPr id="42" name="Oval 41"/>
          <p:cNvSpPr/>
          <p:nvPr/>
        </p:nvSpPr>
        <p:spPr>
          <a:xfrm>
            <a:off x="8412480" y="219456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12480" y="223113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1</a:t>
            </a:r>
          </a:p>
        </p:txBody>
      </p:sp>
      <p:sp>
        <p:nvSpPr>
          <p:cNvPr id="44" name="TextBox 43"/>
          <p:cNvSpPr txBox="1"/>
          <p:nvPr/>
        </p:nvSpPr>
        <p:spPr>
          <a:xfrm>
            <a:off x="8915400" y="219456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Plans de tests</a:t>
            </a:r>
          </a:p>
        </p:txBody>
      </p:sp>
      <p:sp>
        <p:nvSpPr>
          <p:cNvPr id="45" name="Oval 44"/>
          <p:cNvSpPr/>
          <p:nvPr/>
        </p:nvSpPr>
        <p:spPr>
          <a:xfrm>
            <a:off x="8412480" y="2971800"/>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3008376"/>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2</a:t>
            </a:r>
          </a:p>
        </p:txBody>
      </p:sp>
      <p:sp>
        <p:nvSpPr>
          <p:cNvPr id="47" name="TextBox 46"/>
          <p:cNvSpPr txBox="1"/>
          <p:nvPr/>
        </p:nvSpPr>
        <p:spPr>
          <a:xfrm>
            <a:off x="8915400" y="2971800"/>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Mise en ligne documentée</a:t>
            </a:r>
          </a:p>
        </p:txBody>
      </p:sp>
      <p:sp>
        <p:nvSpPr>
          <p:cNvPr id="48" name="Oval 47"/>
          <p:cNvSpPr/>
          <p:nvPr/>
        </p:nvSpPr>
        <p:spPr>
          <a:xfrm>
            <a:off x="8412480" y="374903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378561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3</a:t>
            </a:r>
          </a:p>
        </p:txBody>
      </p:sp>
      <p:sp>
        <p:nvSpPr>
          <p:cNvPr id="50" name="TextBox 49"/>
          <p:cNvSpPr txBox="1"/>
          <p:nvPr/>
        </p:nvSpPr>
        <p:spPr>
          <a:xfrm>
            <a:off x="8915400" y="374903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Même contrat web et mobile</a:t>
            </a:r>
          </a:p>
        </p:txBody>
      </p:sp>
      <p:sp>
        <p:nvSpPr>
          <p:cNvPr id="51" name="Oval 50"/>
          <p:cNvSpPr/>
          <p:nvPr/>
        </p:nvSpPr>
        <p:spPr>
          <a:xfrm>
            <a:off x="8412480" y="4526279"/>
            <a:ext cx="347472" cy="34747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4562855"/>
            <a:ext cx="347472" cy="274320"/>
          </a:xfrm>
          <a:prstGeom prst="rect">
            <a:avLst/>
          </a:prstGeom>
          <a:noFill/>
        </p:spPr>
        <p:txBody>
          <a:bodyPr wrap="square" lIns="0" rIns="0" tIns="0" bIns="0" anchor="t"/>
          <a:lstStyle/>
          <a:p>
            <a:pPr algn="ctr">
              <a:spcBef>
                <a:spcPts val="0"/>
              </a:spcBef>
              <a:spcAft>
                <a:spcPts val="200"/>
              </a:spcAft>
            </a:pPr>
            <a:r>
              <a:rPr sz="1200" b="1">
                <a:solidFill>
                  <a:srgbClr val="FFFFFF"/>
                </a:solidFill>
                <a:latin typeface="Calibri"/>
              </a:rPr>
              <a:t>4</a:t>
            </a:r>
          </a:p>
        </p:txBody>
      </p:sp>
      <p:sp>
        <p:nvSpPr>
          <p:cNvPr id="53" name="TextBox 52"/>
          <p:cNvSpPr txBox="1"/>
          <p:nvPr/>
        </p:nvSpPr>
        <p:spPr>
          <a:xfrm>
            <a:off x="8915400" y="4526279"/>
            <a:ext cx="2697480" cy="50292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Règles rejouées par PHPUnit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Présentation de l'organisme de stage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Alternance 2025-2026</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4</a:t>
            </a:r>
          </a:p>
        </p:txBody>
      </p:sp>
      <p:sp>
        <p:nvSpPr>
          <p:cNvPr id="9" name="TextBox 8"/>
          <p:cNvSpPr txBox="1"/>
          <p:nvPr/>
        </p:nvSpPr>
        <p:spPr>
          <a:xfrm>
            <a:off x="548640" y="1234440"/>
            <a:ext cx="2377440" cy="640080"/>
          </a:xfrm>
          <a:prstGeom prst="rect">
            <a:avLst/>
          </a:prstGeom>
          <a:noFill/>
        </p:spPr>
        <p:txBody>
          <a:bodyPr wrap="square" lIns="0" rIns="0" tIns="0" bIns="0" anchor="ctr"/>
          <a:lstStyle/>
          <a:p>
            <a:pPr algn="l">
              <a:spcBef>
                <a:spcPts val="0"/>
              </a:spcBef>
              <a:spcAft>
                <a:spcPts val="200"/>
              </a:spcAft>
            </a:pPr>
            <a:r>
              <a:rPr sz="1400" b="1">
                <a:solidFill>
                  <a:srgbClr val="2E6B9A"/>
                </a:solidFill>
                <a:latin typeface="Calibri"/>
              </a:rPr>
              <a:t>ENTREPRISE</a:t>
            </a:r>
          </a:p>
        </p:txBody>
      </p:sp>
      <p:sp>
        <p:nvSpPr>
          <p:cNvPr id="10" name="Rectangle 9"/>
          <p:cNvSpPr/>
          <p:nvPr/>
        </p:nvSpPr>
        <p:spPr>
          <a:xfrm>
            <a:off x="3017520" y="1490472"/>
            <a:ext cx="80467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0" y="1234440"/>
            <a:ext cx="7772400" cy="640080"/>
          </a:xfrm>
          <a:prstGeom prst="rect">
            <a:avLst/>
          </a:prstGeom>
          <a:noFill/>
        </p:spPr>
        <p:txBody>
          <a:bodyPr wrap="square" lIns="0" rIns="0" tIns="0" bIns="0" anchor="ctr"/>
          <a:lstStyle/>
          <a:p>
            <a:pPr algn="l">
              <a:spcBef>
                <a:spcPts val="0"/>
              </a:spcBef>
              <a:spcAft>
                <a:spcPts val="200"/>
              </a:spcAft>
            </a:pPr>
            <a:r>
              <a:rPr sz="2000" b="0">
                <a:solidFill>
                  <a:srgbClr val="143252"/>
                </a:solidFill>
                <a:latin typeface="Calibri"/>
              </a:rPr>
              <a:t>Drif Consult</a:t>
            </a:r>
          </a:p>
        </p:txBody>
      </p:sp>
      <p:sp>
        <p:nvSpPr>
          <p:cNvPr id="12" name="TextBox 11"/>
          <p:cNvSpPr txBox="1"/>
          <p:nvPr/>
        </p:nvSpPr>
        <p:spPr>
          <a:xfrm>
            <a:off x="548640" y="2331720"/>
            <a:ext cx="2377440" cy="640080"/>
          </a:xfrm>
          <a:prstGeom prst="rect">
            <a:avLst/>
          </a:prstGeom>
          <a:noFill/>
        </p:spPr>
        <p:txBody>
          <a:bodyPr wrap="square" lIns="0" rIns="0" tIns="0" bIns="0" anchor="ctr"/>
          <a:lstStyle/>
          <a:p>
            <a:pPr algn="l">
              <a:spcBef>
                <a:spcPts val="0"/>
              </a:spcBef>
              <a:spcAft>
                <a:spcPts val="200"/>
              </a:spcAft>
            </a:pPr>
            <a:r>
              <a:rPr sz="1400" b="1">
                <a:solidFill>
                  <a:srgbClr val="2E6B9A"/>
                </a:solidFill>
                <a:latin typeface="Calibri"/>
              </a:rPr>
              <a:t>TUTEUR</a:t>
            </a:r>
          </a:p>
        </p:txBody>
      </p:sp>
      <p:sp>
        <p:nvSpPr>
          <p:cNvPr id="13" name="Rectangle 12"/>
          <p:cNvSpPr/>
          <p:nvPr/>
        </p:nvSpPr>
        <p:spPr>
          <a:xfrm>
            <a:off x="3017520" y="2587752"/>
            <a:ext cx="80467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0" y="2331720"/>
            <a:ext cx="7772400" cy="640080"/>
          </a:xfrm>
          <a:prstGeom prst="rect">
            <a:avLst/>
          </a:prstGeom>
          <a:noFill/>
        </p:spPr>
        <p:txBody>
          <a:bodyPr wrap="square" lIns="0" rIns="0" tIns="0" bIns="0" anchor="ctr"/>
          <a:lstStyle/>
          <a:p>
            <a:pPr algn="l">
              <a:spcBef>
                <a:spcPts val="0"/>
              </a:spcBef>
              <a:spcAft>
                <a:spcPts val="200"/>
              </a:spcAft>
            </a:pPr>
            <a:r>
              <a:rPr sz="2000" b="0">
                <a:solidFill>
                  <a:srgbClr val="143252"/>
                </a:solidFill>
                <a:latin typeface="Calibri"/>
              </a:rPr>
              <a:t>Yasser El Habib Drif</a:t>
            </a:r>
          </a:p>
        </p:txBody>
      </p:sp>
      <p:sp>
        <p:nvSpPr>
          <p:cNvPr id="15" name="TextBox 14"/>
          <p:cNvSpPr txBox="1"/>
          <p:nvPr/>
        </p:nvSpPr>
        <p:spPr>
          <a:xfrm>
            <a:off x="548640" y="3429000"/>
            <a:ext cx="2377440" cy="640080"/>
          </a:xfrm>
          <a:prstGeom prst="rect">
            <a:avLst/>
          </a:prstGeom>
          <a:noFill/>
        </p:spPr>
        <p:txBody>
          <a:bodyPr wrap="square" lIns="0" rIns="0" tIns="0" bIns="0" anchor="ctr"/>
          <a:lstStyle/>
          <a:p>
            <a:pPr algn="l">
              <a:spcBef>
                <a:spcPts val="0"/>
              </a:spcBef>
              <a:spcAft>
                <a:spcPts val="200"/>
              </a:spcAft>
            </a:pPr>
            <a:r>
              <a:rPr sz="1400" b="1">
                <a:solidFill>
                  <a:srgbClr val="2E6B9A"/>
                </a:solidFill>
                <a:latin typeface="Calibri"/>
              </a:rPr>
              <a:t>PRODUIT</a:t>
            </a:r>
          </a:p>
        </p:txBody>
      </p:sp>
      <p:sp>
        <p:nvSpPr>
          <p:cNvPr id="16" name="Rectangle 15"/>
          <p:cNvSpPr/>
          <p:nvPr/>
        </p:nvSpPr>
        <p:spPr>
          <a:xfrm>
            <a:off x="3017520" y="3685032"/>
            <a:ext cx="80467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0" y="3429000"/>
            <a:ext cx="7772400" cy="640080"/>
          </a:xfrm>
          <a:prstGeom prst="rect">
            <a:avLst/>
          </a:prstGeom>
          <a:noFill/>
        </p:spPr>
        <p:txBody>
          <a:bodyPr wrap="square" lIns="0" rIns="0" tIns="0" bIns="0" anchor="ctr"/>
          <a:lstStyle/>
          <a:p>
            <a:pPr algn="l">
              <a:spcBef>
                <a:spcPts val="0"/>
              </a:spcBef>
              <a:spcAft>
                <a:spcPts val="200"/>
              </a:spcAft>
            </a:pPr>
            <a:r>
              <a:rPr sz="2000" b="0">
                <a:solidFill>
                  <a:srgbClr val="143252"/>
                </a:solidFill>
                <a:latin typeface="Calibri"/>
              </a:rPr>
              <a:t>Roman.ai, coworker pour Slack</a:t>
            </a:r>
          </a:p>
        </p:txBody>
      </p:sp>
      <p:sp>
        <p:nvSpPr>
          <p:cNvPr id="18" name="TextBox 17"/>
          <p:cNvSpPr txBox="1"/>
          <p:nvPr/>
        </p:nvSpPr>
        <p:spPr>
          <a:xfrm>
            <a:off x="548640" y="4526279"/>
            <a:ext cx="2377440" cy="640080"/>
          </a:xfrm>
          <a:prstGeom prst="rect">
            <a:avLst/>
          </a:prstGeom>
          <a:noFill/>
        </p:spPr>
        <p:txBody>
          <a:bodyPr wrap="square" lIns="0" rIns="0" tIns="0" bIns="0" anchor="ctr"/>
          <a:lstStyle/>
          <a:p>
            <a:pPr algn="l">
              <a:spcBef>
                <a:spcPts val="0"/>
              </a:spcBef>
              <a:spcAft>
                <a:spcPts val="200"/>
              </a:spcAft>
            </a:pPr>
            <a:r>
              <a:rPr sz="1400" b="1">
                <a:solidFill>
                  <a:srgbClr val="2E6B9A"/>
                </a:solidFill>
                <a:latin typeface="Calibri"/>
              </a:rPr>
              <a:t>CADRE</a:t>
            </a:r>
          </a:p>
        </p:txBody>
      </p:sp>
      <p:sp>
        <p:nvSpPr>
          <p:cNvPr id="19" name="Rectangle 18"/>
          <p:cNvSpPr/>
          <p:nvPr/>
        </p:nvSpPr>
        <p:spPr>
          <a:xfrm>
            <a:off x="3017520" y="4782312"/>
            <a:ext cx="8046720" cy="13716"/>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4526279"/>
            <a:ext cx="7772400" cy="640080"/>
          </a:xfrm>
          <a:prstGeom prst="rect">
            <a:avLst/>
          </a:prstGeom>
          <a:noFill/>
        </p:spPr>
        <p:txBody>
          <a:bodyPr wrap="square" lIns="0" rIns="0" tIns="0" bIns="0" anchor="ctr"/>
          <a:lstStyle/>
          <a:p>
            <a:pPr algn="l">
              <a:spcBef>
                <a:spcPts val="0"/>
              </a:spcBef>
              <a:spcAft>
                <a:spcPts val="200"/>
              </a:spcAft>
            </a:pPr>
            <a:r>
              <a:rPr sz="2000" b="0">
                <a:solidFill>
                  <a:srgbClr val="143252"/>
                </a:solidFill>
                <a:latin typeface="Calibri"/>
              </a:rPr>
              <a:t>Alternance CDA, campus Paris, ADG Education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Ce que j'y ai fait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Missions générales, sans le détail du journal</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5</a:t>
            </a:r>
          </a:p>
        </p:txBody>
      </p:sp>
      <p:sp>
        <p:nvSpPr>
          <p:cNvPr id="9" name="Rounded Rectangle 8"/>
          <p:cNvSpPr/>
          <p:nvPr/>
        </p:nvSpPr>
        <p:spPr>
          <a:xfrm>
            <a:off x="457200" y="1188720"/>
            <a:ext cx="5486400" cy="3291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17320"/>
            <a:ext cx="4937760" cy="365760"/>
          </a:xfrm>
          <a:prstGeom prst="rect">
            <a:avLst/>
          </a:prstGeom>
          <a:noFill/>
        </p:spPr>
        <p:txBody>
          <a:bodyPr wrap="square" lIns="0" rIns="0" tIns="0" bIns="0" anchor="t"/>
          <a:lstStyle/>
          <a:p>
            <a:pPr algn="l">
              <a:spcBef>
                <a:spcPts val="0"/>
              </a:spcBef>
              <a:spcAft>
                <a:spcPts val="200"/>
              </a:spcAft>
            </a:pPr>
            <a:r>
              <a:rPr sz="2200" b="1">
                <a:solidFill>
                  <a:srgbClr val="143252"/>
                </a:solidFill>
                <a:latin typeface="Calibri"/>
              </a:rPr>
              <a:t>Front-end</a:t>
            </a:r>
          </a:p>
        </p:txBody>
      </p:sp>
      <p:sp>
        <p:nvSpPr>
          <p:cNvPr id="11" name="TextBox 10"/>
          <p:cNvSpPr txBox="1"/>
          <p:nvPr/>
        </p:nvSpPr>
        <p:spPr>
          <a:xfrm>
            <a:off x="731520" y="2011680"/>
            <a:ext cx="4937760" cy="1371600"/>
          </a:xfrm>
          <a:prstGeom prst="rect">
            <a:avLst/>
          </a:prstGeom>
          <a:noFill/>
        </p:spPr>
        <p:txBody>
          <a:bodyPr wrap="square" lIns="0" rIns="0" tIns="0" bIns="0" anchor="t"/>
          <a:lstStyle/>
          <a:p>
            <a:pPr algn="l">
              <a:spcBef>
                <a:spcPts val="0"/>
              </a:spcBef>
              <a:spcAft>
                <a:spcPts val="200"/>
              </a:spcAft>
            </a:pPr>
            <a:r>
              <a:rPr sz="1800" b="0">
                <a:solidFill>
                  <a:srgbClr val="5C6B7A"/>
                </a:solidFill>
                <a:latin typeface="Calibri"/>
              </a:rPr>
              <a:t>Interfaces du produit.</a:t>
            </a:r>
          </a:p>
          <a:p>
            <a:pPr algn="l">
              <a:spcBef>
                <a:spcPts val="0"/>
              </a:spcBef>
              <a:spcAft>
                <a:spcPts val="200"/>
              </a:spcAft>
            </a:pPr>
            <a:r>
              <a:rPr sz="1800" b="0">
                <a:solidFill>
                  <a:srgbClr val="5C6B7A"/>
                </a:solidFill>
                <a:latin typeface="Calibri"/>
              </a:rPr>
              <a:t>Cohérence visuelle des écrans.</a:t>
            </a:r>
          </a:p>
        </p:txBody>
      </p:sp>
      <p:sp>
        <p:nvSpPr>
          <p:cNvPr id="12" name="Rounded Rectangle 11"/>
          <p:cNvSpPr/>
          <p:nvPr/>
        </p:nvSpPr>
        <p:spPr>
          <a:xfrm>
            <a:off x="6217920" y="1188720"/>
            <a:ext cx="5486400" cy="3291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417320"/>
            <a:ext cx="4937760" cy="365760"/>
          </a:xfrm>
          <a:prstGeom prst="rect">
            <a:avLst/>
          </a:prstGeom>
          <a:noFill/>
        </p:spPr>
        <p:txBody>
          <a:bodyPr wrap="square" lIns="0" rIns="0" tIns="0" bIns="0" anchor="t"/>
          <a:lstStyle/>
          <a:p>
            <a:pPr algn="l">
              <a:spcBef>
                <a:spcPts val="0"/>
              </a:spcBef>
              <a:spcAft>
                <a:spcPts val="200"/>
              </a:spcAft>
            </a:pPr>
            <a:r>
              <a:rPr sz="2200" b="1">
                <a:solidFill>
                  <a:srgbClr val="143252"/>
                </a:solidFill>
                <a:latin typeface="Calibri"/>
              </a:rPr>
              <a:t>Parrainage</a:t>
            </a:r>
          </a:p>
        </p:txBody>
      </p:sp>
      <p:sp>
        <p:nvSpPr>
          <p:cNvPr id="14" name="TextBox 13"/>
          <p:cNvSpPr txBox="1"/>
          <p:nvPr/>
        </p:nvSpPr>
        <p:spPr>
          <a:xfrm>
            <a:off x="6492240" y="2011680"/>
            <a:ext cx="4937760" cy="1371600"/>
          </a:xfrm>
          <a:prstGeom prst="rect">
            <a:avLst/>
          </a:prstGeom>
          <a:noFill/>
        </p:spPr>
        <p:txBody>
          <a:bodyPr wrap="square" lIns="0" rIns="0" tIns="0" bIns="0" anchor="t"/>
          <a:lstStyle/>
          <a:p>
            <a:pPr algn="l">
              <a:spcBef>
                <a:spcPts val="0"/>
              </a:spcBef>
              <a:spcAft>
                <a:spcPts val="200"/>
              </a:spcAft>
            </a:pPr>
            <a:r>
              <a:rPr sz="1800" b="0">
                <a:solidFill>
                  <a:srgbClr val="5C6B7A"/>
                </a:solidFill>
                <a:latin typeface="Calibri"/>
              </a:rPr>
              <a:t>Relier un utilisateur</a:t>
            </a:r>
          </a:p>
          <a:p>
            <a:pPr algn="l">
              <a:spcBef>
                <a:spcPts val="0"/>
              </a:spcBef>
              <a:spcAft>
                <a:spcPts val="200"/>
              </a:spcAft>
            </a:pPr>
            <a:r>
              <a:rPr sz="1800" b="0">
                <a:solidFill>
                  <a:srgbClr val="5C6B7A"/>
                </a:solidFill>
                <a:latin typeface="Calibri"/>
              </a:rPr>
              <a:t>à ceux qu'il invite.</a:t>
            </a:r>
          </a:p>
        </p:txBody>
      </p:sp>
      <p:sp>
        <p:nvSpPr>
          <p:cNvPr id="15" name="Rounded Rectangle 14"/>
          <p:cNvSpPr/>
          <p:nvPr/>
        </p:nvSpPr>
        <p:spPr>
          <a:xfrm>
            <a:off x="457200" y="4663440"/>
            <a:ext cx="11247120" cy="114300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892040"/>
            <a:ext cx="10698480" cy="731520"/>
          </a:xfrm>
          <a:prstGeom prst="rect">
            <a:avLst/>
          </a:prstGeom>
          <a:noFill/>
        </p:spPr>
        <p:txBody>
          <a:bodyPr wrap="square" lIns="0" rIns="0" tIns="0" bIns="0" anchor="ctr"/>
          <a:lstStyle/>
          <a:p>
            <a:pPr algn="l">
              <a:spcBef>
                <a:spcPts val="0"/>
              </a:spcBef>
              <a:spcAft>
                <a:spcPts val="200"/>
              </a:spcAft>
            </a:pPr>
            <a:r>
              <a:rPr sz="1800" b="1">
                <a:solidFill>
                  <a:srgbClr val="143252"/>
                </a:solidFill>
                <a:latin typeface="Calibri"/>
              </a:rPr>
              <a:t>Ce cadre m'a menée au mémoire. Briefly n'est pas une brique de Roman.ai.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Contexte de l'étude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6</a:t>
            </a:r>
          </a:p>
        </p:txBody>
      </p:sp>
      <p:sp>
        <p:nvSpPr>
          <p:cNvPr id="9" name="Rounded Rectangle 8"/>
          <p:cNvSpPr/>
          <p:nvPr/>
        </p:nvSpPr>
        <p:spPr>
          <a:xfrm>
            <a:off x="457200" y="1143000"/>
            <a:ext cx="6675120" cy="9601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1399032"/>
            <a:ext cx="438912" cy="43891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472184"/>
            <a:ext cx="438912" cy="292608"/>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1</a:t>
            </a:r>
          </a:p>
        </p:txBody>
      </p:sp>
      <p:sp>
        <p:nvSpPr>
          <p:cNvPr id="12" name="TextBox 11"/>
          <p:cNvSpPr txBox="1"/>
          <p:nvPr/>
        </p:nvSpPr>
        <p:spPr>
          <a:xfrm>
            <a:off x="1280160" y="1399032"/>
            <a:ext cx="5577840" cy="45720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Domaine : le suivi quotidien d'une équipe</a:t>
            </a:r>
          </a:p>
        </p:txBody>
      </p:sp>
      <p:sp>
        <p:nvSpPr>
          <p:cNvPr id="13" name="Rounded Rectangle 12"/>
          <p:cNvSpPr/>
          <p:nvPr/>
        </p:nvSpPr>
        <p:spPr>
          <a:xfrm>
            <a:off x="457200" y="2240280"/>
            <a:ext cx="6675120" cy="9601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080" y="2496312"/>
            <a:ext cx="438912" cy="43891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569464"/>
            <a:ext cx="438912" cy="292608"/>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2</a:t>
            </a:r>
          </a:p>
        </p:txBody>
      </p:sp>
      <p:sp>
        <p:nvSpPr>
          <p:cNvPr id="16" name="TextBox 15"/>
          <p:cNvSpPr txBox="1"/>
          <p:nvPr/>
        </p:nvSpPr>
        <p:spPr>
          <a:xfrm>
            <a:off x="1280160" y="2496312"/>
            <a:ext cx="5577840" cy="45720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Le point du matin vit dans la messagerie</a:t>
            </a:r>
          </a:p>
        </p:txBody>
      </p:sp>
      <p:sp>
        <p:nvSpPr>
          <p:cNvPr id="17" name="Rounded Rectangle 16"/>
          <p:cNvSpPr/>
          <p:nvPr/>
        </p:nvSpPr>
        <p:spPr>
          <a:xfrm>
            <a:off x="457200" y="3337560"/>
            <a:ext cx="6675120" cy="9601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3593591"/>
            <a:ext cx="438912" cy="43891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66744"/>
            <a:ext cx="438912" cy="292608"/>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3</a:t>
            </a:r>
          </a:p>
        </p:txBody>
      </p:sp>
      <p:sp>
        <p:nvSpPr>
          <p:cNvPr id="20" name="TextBox 19"/>
          <p:cNvSpPr txBox="1"/>
          <p:nvPr/>
        </p:nvSpPr>
        <p:spPr>
          <a:xfrm>
            <a:off x="1280160" y="3593591"/>
            <a:ext cx="5577840" cy="45720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Il n'est pas relié à une tâche</a:t>
            </a:r>
          </a:p>
        </p:txBody>
      </p:sp>
      <p:sp>
        <p:nvSpPr>
          <p:cNvPr id="21" name="Rounded Rectangle 20"/>
          <p:cNvSpPr/>
          <p:nvPr/>
        </p:nvSpPr>
        <p:spPr>
          <a:xfrm>
            <a:off x="457200" y="4434840"/>
            <a:ext cx="6675120" cy="9601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0080" y="4690872"/>
            <a:ext cx="438912" cy="438912"/>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764024"/>
            <a:ext cx="438912" cy="292608"/>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4</a:t>
            </a:r>
          </a:p>
        </p:txBody>
      </p:sp>
      <p:sp>
        <p:nvSpPr>
          <p:cNvPr id="24" name="TextBox 23"/>
          <p:cNvSpPr txBox="1"/>
          <p:nvPr/>
        </p:nvSpPr>
        <p:spPr>
          <a:xfrm>
            <a:off x="1280160" y="4690872"/>
            <a:ext cx="5577840" cy="45720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Un blocage disparaît dans le fil</a:t>
            </a:r>
          </a:p>
        </p:txBody>
      </p:sp>
      <p:sp>
        <p:nvSpPr>
          <p:cNvPr id="25" name="Rounded Rectangle 24"/>
          <p:cNvSpPr/>
          <p:nvPr/>
        </p:nvSpPr>
        <p:spPr>
          <a:xfrm>
            <a:off x="7360920" y="1143000"/>
            <a:ext cx="4343400" cy="443484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1371600"/>
            <a:ext cx="3931920" cy="365760"/>
          </a:xfrm>
          <a:prstGeom prst="rect">
            <a:avLst/>
          </a:prstGeom>
          <a:noFill/>
        </p:spPr>
        <p:txBody>
          <a:bodyPr wrap="square" lIns="0" rIns="0" tIns="0" bIns="0" anchor="t"/>
          <a:lstStyle/>
          <a:p>
            <a:pPr algn="l">
              <a:spcBef>
                <a:spcPts val="0"/>
              </a:spcBef>
              <a:spcAft>
                <a:spcPts val="200"/>
              </a:spcAft>
            </a:pPr>
            <a:r>
              <a:rPr sz="1600" b="1">
                <a:solidFill>
                  <a:srgbClr val="2E6B9A"/>
                </a:solidFill>
                <a:latin typeface="Calibri"/>
              </a:rPr>
              <a:t>Problème observé</a:t>
            </a:r>
          </a:p>
        </p:txBody>
      </p:sp>
      <p:sp>
        <p:nvSpPr>
          <p:cNvPr id="27" name="TextBox 26"/>
          <p:cNvSpPr txBox="1"/>
          <p:nvPr/>
        </p:nvSpPr>
        <p:spPr>
          <a:xfrm>
            <a:off x="7589520" y="1965960"/>
            <a:ext cx="3931920" cy="310896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Les outils du marché</a:t>
            </a:r>
          </a:p>
          <a:p>
            <a:pPr algn="l">
              <a:spcBef>
                <a:spcPts val="0"/>
              </a:spcBef>
              <a:spcAft>
                <a:spcPts val="200"/>
              </a:spcAft>
            </a:pPr>
            <a:r>
              <a:rPr sz="1600" b="0">
                <a:solidFill>
                  <a:srgbClr val="1E2A36"/>
                </a:solidFill>
                <a:latin typeface="Calibri"/>
              </a:rPr>
              <a:t>tracent des tickets</a:t>
            </a:r>
          </a:p>
          <a:p>
            <a:pPr algn="l">
              <a:spcBef>
                <a:spcPts val="0"/>
              </a:spcBef>
              <a:spcAft>
                <a:spcPts val="200"/>
              </a:spcAft>
            </a:pPr>
            <a:r>
              <a:rPr sz="1600" b="0">
                <a:solidFill>
                  <a:srgbClr val="1E2A36"/>
                </a:solidFill>
                <a:latin typeface="Calibri"/>
              </a:rPr>
              <a:t>ou laissent le rituel</a:t>
            </a:r>
          </a:p>
          <a:p>
            <a:pPr algn="l">
              <a:spcBef>
                <a:spcPts val="0"/>
              </a:spcBef>
              <a:spcAft>
                <a:spcPts val="200"/>
              </a:spcAft>
            </a:pPr>
            <a:r>
              <a:rPr sz="1600" b="0">
                <a:solidFill>
                  <a:srgbClr val="1E2A36"/>
                </a:solidFill>
                <a:latin typeface="Calibri"/>
              </a:rPr>
              <a:t>dans le chat.</a:t>
            </a:r>
          </a:p>
          <a:p>
            <a:pPr algn="l">
              <a:spcBef>
                <a:spcPts val="0"/>
              </a:spcBef>
              <a:spcAft>
                <a:spcPts val="200"/>
              </a:spcAft>
            </a:pPr>
            <a:r>
              <a:rPr sz="1600" b="0">
                <a:solidFill>
                  <a:srgbClr val="1E2A36"/>
                </a:solidFill>
                <a:latin typeface="Calibri"/>
              </a:rPr>
              <a:t/>
            </a:r>
          </a:p>
          <a:p>
            <a:pPr algn="l">
              <a:spcBef>
                <a:spcPts val="0"/>
              </a:spcBef>
              <a:spcAft>
                <a:spcPts val="200"/>
              </a:spcAft>
            </a:pPr>
            <a:r>
              <a:rPr sz="1600" b="0">
                <a:solidFill>
                  <a:srgbClr val="1E2A36"/>
                </a:solidFill>
                <a:latin typeface="Calibri"/>
              </a:rPr>
              <a:t>Il manque un suivi</a:t>
            </a:r>
          </a:p>
          <a:p>
            <a:pPr algn="l">
              <a:spcBef>
                <a:spcPts val="0"/>
              </a:spcBef>
              <a:spcAft>
                <a:spcPts val="200"/>
              </a:spcAft>
            </a:pPr>
            <a:r>
              <a:rPr sz="1600" b="0">
                <a:solidFill>
                  <a:srgbClr val="1E2A36"/>
                </a:solidFill>
                <a:latin typeface="Calibri"/>
              </a:rPr>
              <a:t>court, relié au travail,</a:t>
            </a:r>
          </a:p>
          <a:p>
            <a:pPr algn="l">
              <a:spcBef>
                <a:spcPts val="0"/>
              </a:spcBef>
              <a:spcAft>
                <a:spcPts val="200"/>
              </a:spcAft>
            </a:pPr>
            <a:r>
              <a:rPr sz="1600" b="0">
                <a:solidFill>
                  <a:srgbClr val="1E2A36"/>
                </a:solidFill>
                <a:latin typeface="Calibri"/>
              </a:rPr>
              <a:t>avec des rôles nets.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Problématique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7</a:t>
            </a:r>
          </a:p>
        </p:txBody>
      </p:sp>
      <p:sp>
        <p:nvSpPr>
          <p:cNvPr id="9" name="Rounded Rectangle 8"/>
          <p:cNvSpPr/>
          <p:nvPr/>
        </p:nvSpPr>
        <p:spPr>
          <a:xfrm>
            <a:off x="548640" y="1325880"/>
            <a:ext cx="11064240" cy="301752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645920"/>
            <a:ext cx="10332720" cy="2377440"/>
          </a:xfrm>
          <a:prstGeom prst="rect">
            <a:avLst/>
          </a:prstGeom>
          <a:noFill/>
        </p:spPr>
        <p:txBody>
          <a:bodyPr wrap="square" lIns="0" rIns="0" tIns="0" bIns="0" anchor="ctr"/>
          <a:lstStyle/>
          <a:p>
            <a:pPr algn="l">
              <a:spcBef>
                <a:spcPts val="0"/>
              </a:spcBef>
              <a:spcAft>
                <a:spcPts val="200"/>
              </a:spcAft>
            </a:pPr>
            <a:r>
              <a:rPr sz="2800" b="1">
                <a:solidFill>
                  <a:srgbClr val="143252"/>
                </a:solidFill>
                <a:latin typeface="Calibri"/>
              </a:rPr>
              <a:t>Comment donner à une organisation fermée un suivi quotidien, attaché aux tâches, sur le web et sur mobile, avec des rôles clairs ?</a:t>
            </a:r>
          </a:p>
        </p:txBody>
      </p:sp>
      <p:sp>
        <p:nvSpPr>
          <p:cNvPr id="11" name="Rounded Rectangle 10"/>
          <p:cNvSpPr/>
          <p:nvPr/>
        </p:nvSpPr>
        <p:spPr>
          <a:xfrm>
            <a:off x="548640" y="4572000"/>
            <a:ext cx="2743200" cy="11887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800600"/>
            <a:ext cx="2560320" cy="731520"/>
          </a:xfrm>
          <a:prstGeom prst="rect">
            <a:avLst/>
          </a:prstGeom>
          <a:noFill/>
        </p:spPr>
        <p:txBody>
          <a:bodyPr wrap="square" lIns="0" rIns="0" tIns="0" bIns="0" anchor="ctr"/>
          <a:lstStyle/>
          <a:p>
            <a:pPr algn="ctr">
              <a:spcBef>
                <a:spcPts val="0"/>
              </a:spcBef>
              <a:spcAft>
                <a:spcPts val="200"/>
              </a:spcAft>
            </a:pPr>
            <a:r>
              <a:rPr sz="1400" b="1">
                <a:solidFill>
                  <a:srgbClr val="2E6B9A"/>
                </a:solidFill>
                <a:latin typeface="Calibri"/>
              </a:rPr>
              <a:t>Organisation fermée</a:t>
            </a:r>
          </a:p>
        </p:txBody>
      </p:sp>
      <p:sp>
        <p:nvSpPr>
          <p:cNvPr id="13" name="Rounded Rectangle 12"/>
          <p:cNvSpPr/>
          <p:nvPr/>
        </p:nvSpPr>
        <p:spPr>
          <a:xfrm>
            <a:off x="3429000" y="4572000"/>
            <a:ext cx="2743200" cy="11887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4800600"/>
            <a:ext cx="2560320" cy="731520"/>
          </a:xfrm>
          <a:prstGeom prst="rect">
            <a:avLst/>
          </a:prstGeom>
          <a:noFill/>
        </p:spPr>
        <p:txBody>
          <a:bodyPr wrap="square" lIns="0" rIns="0" tIns="0" bIns="0" anchor="ctr"/>
          <a:lstStyle/>
          <a:p>
            <a:pPr algn="ctr">
              <a:spcBef>
                <a:spcPts val="0"/>
              </a:spcBef>
              <a:spcAft>
                <a:spcPts val="200"/>
              </a:spcAft>
            </a:pPr>
            <a:r>
              <a:rPr sz="1400" b="1">
                <a:solidFill>
                  <a:srgbClr val="2E6B9A"/>
                </a:solidFill>
                <a:latin typeface="Calibri"/>
              </a:rPr>
              <a:t>Attaché aux tâches</a:t>
            </a:r>
          </a:p>
        </p:txBody>
      </p:sp>
      <p:sp>
        <p:nvSpPr>
          <p:cNvPr id="15" name="Rounded Rectangle 14"/>
          <p:cNvSpPr/>
          <p:nvPr/>
        </p:nvSpPr>
        <p:spPr>
          <a:xfrm>
            <a:off x="6309359" y="4572000"/>
            <a:ext cx="2743200" cy="11887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799" y="4800600"/>
            <a:ext cx="2560320" cy="731520"/>
          </a:xfrm>
          <a:prstGeom prst="rect">
            <a:avLst/>
          </a:prstGeom>
          <a:noFill/>
        </p:spPr>
        <p:txBody>
          <a:bodyPr wrap="square" lIns="0" rIns="0" tIns="0" bIns="0" anchor="ctr"/>
          <a:lstStyle/>
          <a:p>
            <a:pPr algn="ctr">
              <a:spcBef>
                <a:spcPts val="0"/>
              </a:spcBef>
              <a:spcAft>
                <a:spcPts val="200"/>
              </a:spcAft>
            </a:pPr>
            <a:r>
              <a:rPr sz="1400" b="1">
                <a:solidFill>
                  <a:srgbClr val="2E6B9A"/>
                </a:solidFill>
                <a:latin typeface="Calibri"/>
              </a:rPr>
              <a:t>Web et mobile</a:t>
            </a:r>
          </a:p>
        </p:txBody>
      </p:sp>
      <p:sp>
        <p:nvSpPr>
          <p:cNvPr id="17" name="Rounded Rectangle 16"/>
          <p:cNvSpPr/>
          <p:nvPr/>
        </p:nvSpPr>
        <p:spPr>
          <a:xfrm>
            <a:off x="9189719" y="4572000"/>
            <a:ext cx="2743200" cy="11887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81159" y="4800600"/>
            <a:ext cx="2560320" cy="731520"/>
          </a:xfrm>
          <a:prstGeom prst="rect">
            <a:avLst/>
          </a:prstGeom>
          <a:noFill/>
        </p:spPr>
        <p:txBody>
          <a:bodyPr wrap="square" lIns="0" rIns="0" tIns="0" bIns="0" anchor="ctr"/>
          <a:lstStyle/>
          <a:p>
            <a:pPr algn="ctr">
              <a:spcBef>
                <a:spcPts val="0"/>
              </a:spcBef>
              <a:spcAft>
                <a:spcPts val="200"/>
              </a:spcAft>
            </a:pPr>
            <a:r>
              <a:rPr sz="1400" b="1">
                <a:solidFill>
                  <a:srgbClr val="2E6B9A"/>
                </a:solidFill>
                <a:latin typeface="Calibri"/>
              </a:rPr>
              <a:t>Rôles clairs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Ce que les outils du marché ne font pas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8</a:t>
            </a:r>
          </a:p>
        </p:txBody>
      </p:sp>
      <p:sp>
        <p:nvSpPr>
          <p:cNvPr id="9" name="Rounded Rectangle 8"/>
          <p:cNvSpPr/>
          <p:nvPr/>
        </p:nvSpPr>
        <p:spPr>
          <a:xfrm>
            <a:off x="411480" y="1097280"/>
            <a:ext cx="3703320" cy="36576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9768" y="1325880"/>
            <a:ext cx="64008" cy="3200400"/>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325880"/>
            <a:ext cx="32004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Messagerie</a:t>
            </a:r>
          </a:p>
        </p:txBody>
      </p:sp>
      <p:sp>
        <p:nvSpPr>
          <p:cNvPr id="12" name="TextBox 11"/>
          <p:cNvSpPr txBox="1"/>
          <p:nvPr/>
        </p:nvSpPr>
        <p:spPr>
          <a:xfrm>
            <a:off x="685800" y="1828800"/>
            <a:ext cx="3200400" cy="36576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Slack, Teams</a:t>
            </a:r>
          </a:p>
        </p:txBody>
      </p:sp>
      <p:sp>
        <p:nvSpPr>
          <p:cNvPr id="13" name="TextBox 12"/>
          <p:cNvSpPr txBox="1"/>
          <p:nvPr/>
        </p:nvSpPr>
        <p:spPr>
          <a:xfrm>
            <a:off x="685800" y="2468880"/>
            <a:ext cx="3200400" cy="16459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Immédiat.</a:t>
            </a:r>
          </a:p>
          <a:p>
            <a:pPr algn="l">
              <a:spcBef>
                <a:spcPts val="0"/>
              </a:spcBef>
              <a:spcAft>
                <a:spcPts val="200"/>
              </a:spcAft>
            </a:pPr>
            <a:r>
              <a:rPr sz="1600" b="0">
                <a:solidFill>
                  <a:srgbClr val="1E2A36"/>
                </a:solidFill>
                <a:latin typeface="Calibri"/>
              </a:rPr>
              <a:t>Rien ne reste sur la tâche.</a:t>
            </a:r>
          </a:p>
        </p:txBody>
      </p:sp>
      <p:sp>
        <p:nvSpPr>
          <p:cNvPr id="14" name="Rounded Rectangle 13"/>
          <p:cNvSpPr/>
          <p:nvPr/>
        </p:nvSpPr>
        <p:spPr>
          <a:xfrm>
            <a:off x="4297680" y="1097280"/>
            <a:ext cx="3703320" cy="36576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325880"/>
            <a:ext cx="64008" cy="3200400"/>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1325880"/>
            <a:ext cx="32004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Tableau léger</a:t>
            </a:r>
          </a:p>
        </p:txBody>
      </p:sp>
      <p:sp>
        <p:nvSpPr>
          <p:cNvPr id="17" name="TextBox 16"/>
          <p:cNvSpPr txBox="1"/>
          <p:nvPr/>
        </p:nvSpPr>
        <p:spPr>
          <a:xfrm>
            <a:off x="4572000" y="1828800"/>
            <a:ext cx="3200400" cy="36576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Trello</a:t>
            </a:r>
          </a:p>
        </p:txBody>
      </p:sp>
      <p:sp>
        <p:nvSpPr>
          <p:cNvPr id="18" name="TextBox 17"/>
          <p:cNvSpPr txBox="1"/>
          <p:nvPr/>
        </p:nvSpPr>
        <p:spPr>
          <a:xfrm>
            <a:off x="4572000" y="2468880"/>
            <a:ext cx="3200400" cy="16459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Des cartes.</a:t>
            </a:r>
          </a:p>
          <a:p>
            <a:pPr algn="l">
              <a:spcBef>
                <a:spcPts val="0"/>
              </a:spcBef>
              <a:spcAft>
                <a:spcPts val="200"/>
              </a:spcAft>
            </a:pPr>
            <a:r>
              <a:rPr sz="1600" b="0">
                <a:solidFill>
                  <a:srgbClr val="1E2A36"/>
                </a:solidFill>
                <a:latin typeface="Calibri"/>
              </a:rPr>
              <a:t>Pas de rôles, pas de note obligatoire.</a:t>
            </a:r>
          </a:p>
        </p:txBody>
      </p:sp>
      <p:sp>
        <p:nvSpPr>
          <p:cNvPr id="19" name="Rounded Rectangle 18"/>
          <p:cNvSpPr/>
          <p:nvPr/>
        </p:nvSpPr>
        <p:spPr>
          <a:xfrm>
            <a:off x="8183879" y="1097280"/>
            <a:ext cx="3703320" cy="36576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02167" y="1325880"/>
            <a:ext cx="64008" cy="3200400"/>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58200" y="1325880"/>
            <a:ext cx="32004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Forge</a:t>
            </a:r>
          </a:p>
        </p:txBody>
      </p:sp>
      <p:sp>
        <p:nvSpPr>
          <p:cNvPr id="22" name="TextBox 21"/>
          <p:cNvSpPr txBox="1"/>
          <p:nvPr/>
        </p:nvSpPr>
        <p:spPr>
          <a:xfrm>
            <a:off x="8458200" y="1828800"/>
            <a:ext cx="3200400" cy="36576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Jira, Linear</a:t>
            </a:r>
          </a:p>
        </p:txBody>
      </p:sp>
      <p:sp>
        <p:nvSpPr>
          <p:cNvPr id="23" name="TextBox 22"/>
          <p:cNvSpPr txBox="1"/>
          <p:nvPr/>
        </p:nvSpPr>
        <p:spPr>
          <a:xfrm>
            <a:off x="8458200" y="2468880"/>
            <a:ext cx="3200400" cy="16459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Des tickets.</a:t>
            </a:r>
          </a:p>
          <a:p>
            <a:pPr algn="l">
              <a:spcBef>
                <a:spcPts val="0"/>
              </a:spcBef>
              <a:spcAft>
                <a:spcPts val="200"/>
              </a:spcAft>
            </a:pPr>
            <a:r>
              <a:rPr sz="1600" b="0">
                <a:solidFill>
                  <a:srgbClr val="1E2A36"/>
                </a:solidFill>
                <a:latin typeface="Calibri"/>
              </a:rPr>
              <a:t>Trop lourd pour le point du matin.</a:t>
            </a:r>
          </a:p>
        </p:txBody>
      </p:sp>
      <p:sp>
        <p:nvSpPr>
          <p:cNvPr id="24" name="Rounded Rectangle 23"/>
          <p:cNvSpPr/>
          <p:nvPr/>
        </p:nvSpPr>
        <p:spPr>
          <a:xfrm>
            <a:off x="411480" y="4937760"/>
            <a:ext cx="11338560" cy="91440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074920"/>
            <a:ext cx="10972800" cy="640080"/>
          </a:xfrm>
          <a:prstGeom prst="rect">
            <a:avLst/>
          </a:prstGeom>
          <a:noFill/>
        </p:spPr>
        <p:txBody>
          <a:bodyPr wrap="square" lIns="0" rIns="0" tIns="0" bIns="0" anchor="ctr"/>
          <a:lstStyle/>
          <a:p>
            <a:pPr algn="ctr">
              <a:spcBef>
                <a:spcPts val="0"/>
              </a:spcBef>
              <a:spcAft>
                <a:spcPts val="200"/>
              </a:spcAft>
            </a:pPr>
            <a:r>
              <a:rPr sz="1600" b="1">
                <a:solidFill>
                  <a:srgbClr val="143252"/>
                </a:solidFill>
                <a:latin typeface="Calibri"/>
              </a:rPr>
              <a:t>Aucun ne réunit les trois rôles, le blocage obligatoire, et les deux clients sur les mêmes règles.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Solution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 et maquetter une application</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9</a:t>
            </a:r>
          </a:p>
        </p:txBody>
      </p:sp>
      <p:sp>
        <p:nvSpPr>
          <p:cNvPr id="9" name="Rounded Rectangle 8"/>
          <p:cNvSpPr/>
          <p:nvPr/>
        </p:nvSpPr>
        <p:spPr>
          <a:xfrm>
            <a:off x="457200" y="1051560"/>
            <a:ext cx="11247120" cy="123444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188720"/>
            <a:ext cx="10789920" cy="960120"/>
          </a:xfrm>
          <a:prstGeom prst="rect">
            <a:avLst/>
          </a:prstGeom>
          <a:noFill/>
        </p:spPr>
        <p:txBody>
          <a:bodyPr wrap="square" lIns="0" rIns="0" tIns="0" bIns="0" anchor="ctr"/>
          <a:lstStyle/>
          <a:p>
            <a:pPr algn="l">
              <a:spcBef>
                <a:spcPts val="0"/>
              </a:spcBef>
              <a:spcAft>
                <a:spcPts val="200"/>
              </a:spcAft>
            </a:pPr>
            <a:r>
              <a:rPr sz="1800" b="1">
                <a:solidFill>
                  <a:srgbClr val="143252"/>
                </a:solidFill>
                <a:latin typeface="Calibri"/>
              </a:rPr>
              <a:t>Une application interne qui relie le point du matin à la tâche, avec des droits adaptés à chaque rôle.</a:t>
            </a:r>
          </a:p>
        </p:txBody>
      </p:sp>
      <p:sp>
        <p:nvSpPr>
          <p:cNvPr id="11" name="Rounded Rectangle 10"/>
          <p:cNvSpPr/>
          <p:nvPr/>
        </p:nvSpPr>
        <p:spPr>
          <a:xfrm>
            <a:off x="457200" y="2514600"/>
            <a:ext cx="2743200" cy="3108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514600"/>
            <a:ext cx="274320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880360"/>
            <a:ext cx="2377440" cy="73152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Organiser</a:t>
            </a:r>
          </a:p>
        </p:txBody>
      </p:sp>
      <p:sp>
        <p:nvSpPr>
          <p:cNvPr id="14" name="TextBox 13"/>
          <p:cNvSpPr txBox="1"/>
          <p:nvPr/>
        </p:nvSpPr>
        <p:spPr>
          <a:xfrm>
            <a:off x="640080" y="3749039"/>
            <a:ext cx="2377440" cy="128016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Équipes, projets, tâches</a:t>
            </a:r>
          </a:p>
        </p:txBody>
      </p:sp>
      <p:sp>
        <p:nvSpPr>
          <p:cNvPr id="15" name="Rounded Rectangle 14"/>
          <p:cNvSpPr/>
          <p:nvPr/>
        </p:nvSpPr>
        <p:spPr>
          <a:xfrm>
            <a:off x="3383280" y="2514600"/>
            <a:ext cx="2743200" cy="3108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274320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2880360"/>
            <a:ext cx="2377440" cy="73152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Rendre compte</a:t>
            </a:r>
          </a:p>
        </p:txBody>
      </p:sp>
      <p:sp>
        <p:nvSpPr>
          <p:cNvPr id="18" name="TextBox 17"/>
          <p:cNvSpPr txBox="1"/>
          <p:nvPr/>
        </p:nvSpPr>
        <p:spPr>
          <a:xfrm>
            <a:off x="3566160" y="3749039"/>
            <a:ext cx="2377440" cy="128016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Déjà fait, suite, blocage</a:t>
            </a:r>
          </a:p>
        </p:txBody>
      </p:sp>
      <p:sp>
        <p:nvSpPr>
          <p:cNvPr id="19" name="Rounded Rectangle 18"/>
          <p:cNvSpPr/>
          <p:nvPr/>
        </p:nvSpPr>
        <p:spPr>
          <a:xfrm>
            <a:off x="6309360" y="2514600"/>
            <a:ext cx="2743200" cy="3108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514600"/>
            <a:ext cx="274320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2880360"/>
            <a:ext cx="2377440" cy="73152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Sécuriser</a:t>
            </a:r>
          </a:p>
        </p:txBody>
      </p:sp>
      <p:sp>
        <p:nvSpPr>
          <p:cNvPr id="22" name="TextBox 21"/>
          <p:cNvSpPr txBox="1"/>
          <p:nvPr/>
        </p:nvSpPr>
        <p:spPr>
          <a:xfrm>
            <a:off x="6492240" y="3749039"/>
            <a:ext cx="2377440" cy="128016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Trois rôles, politiques</a:t>
            </a:r>
          </a:p>
        </p:txBody>
      </p:sp>
      <p:sp>
        <p:nvSpPr>
          <p:cNvPr id="23" name="Rounded Rectangle 22"/>
          <p:cNvSpPr/>
          <p:nvPr/>
        </p:nvSpPr>
        <p:spPr>
          <a:xfrm>
            <a:off x="9235440" y="2514600"/>
            <a:ext cx="2743200" cy="3108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35440" y="2514600"/>
            <a:ext cx="2743200" cy="73152"/>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0" y="2880360"/>
            <a:ext cx="2377440" cy="73152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Suivre</a:t>
            </a:r>
          </a:p>
        </p:txBody>
      </p:sp>
      <p:sp>
        <p:nvSpPr>
          <p:cNvPr id="26" name="TextBox 25"/>
          <p:cNvSpPr txBox="1"/>
          <p:nvPr/>
        </p:nvSpPr>
        <p:spPr>
          <a:xfrm>
            <a:off x="9418320" y="3749039"/>
            <a:ext cx="2377440" cy="128016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Taux par membre, équipe, projet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Spécifications préliminaires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10</a:t>
            </a:r>
          </a:p>
        </p:txBody>
      </p:sp>
      <p:sp>
        <p:nvSpPr>
          <p:cNvPr id="9" name="Rounded Rectangle 8"/>
          <p:cNvSpPr/>
          <p:nvPr/>
        </p:nvSpPr>
        <p:spPr>
          <a:xfrm>
            <a:off x="411480" y="1097280"/>
            <a:ext cx="3703320" cy="46634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097280"/>
            <a:ext cx="3703320" cy="6400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207008"/>
            <a:ext cx="3429000" cy="438912"/>
          </a:xfrm>
          <a:prstGeom prst="rect">
            <a:avLst/>
          </a:prstGeom>
          <a:noFill/>
        </p:spPr>
        <p:txBody>
          <a:bodyPr wrap="square" lIns="0" rIns="0" tIns="0" bIns="0" anchor="ctr"/>
          <a:lstStyle/>
          <a:p>
            <a:pPr algn="ctr">
              <a:spcBef>
                <a:spcPts val="0"/>
              </a:spcBef>
              <a:spcAft>
                <a:spcPts val="200"/>
              </a:spcAft>
            </a:pPr>
            <a:r>
              <a:rPr sz="1600" b="1">
                <a:solidFill>
                  <a:srgbClr val="FFFFFF"/>
                </a:solidFill>
                <a:latin typeface="Calibri"/>
              </a:rPr>
              <a:t>Administrateur</a:t>
            </a:r>
          </a:p>
        </p:txBody>
      </p:sp>
      <p:sp>
        <p:nvSpPr>
          <p:cNvPr id="12" name="TextBox 11"/>
          <p:cNvSpPr txBox="1"/>
          <p:nvPr/>
        </p:nvSpPr>
        <p:spPr>
          <a:xfrm>
            <a:off x="640080" y="1965960"/>
            <a:ext cx="3246120" cy="32004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Peut</a:t>
            </a:r>
          </a:p>
        </p:txBody>
      </p:sp>
      <p:sp>
        <p:nvSpPr>
          <p:cNvPr id="13" name="TextBox 12"/>
          <p:cNvSpPr txBox="1"/>
          <p:nvPr/>
        </p:nvSpPr>
        <p:spPr>
          <a:xfrm>
            <a:off x="640080" y="2331720"/>
            <a:ext cx="3246120" cy="128016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Comptes, équipes, projets, vue globale.</a:t>
            </a:r>
          </a:p>
        </p:txBody>
      </p:sp>
      <p:sp>
        <p:nvSpPr>
          <p:cNvPr id="14" name="TextBox 13"/>
          <p:cNvSpPr txBox="1"/>
          <p:nvPr/>
        </p:nvSpPr>
        <p:spPr>
          <a:xfrm>
            <a:off x="640080" y="3794760"/>
            <a:ext cx="3246120" cy="320040"/>
          </a:xfrm>
          <a:prstGeom prst="rect">
            <a:avLst/>
          </a:prstGeom>
          <a:noFill/>
        </p:spPr>
        <p:txBody>
          <a:bodyPr wrap="square" lIns="0" rIns="0" tIns="0" bIns="0" anchor="t"/>
          <a:lstStyle/>
          <a:p>
            <a:pPr algn="l">
              <a:spcBef>
                <a:spcPts val="0"/>
              </a:spcBef>
              <a:spcAft>
                <a:spcPts val="200"/>
              </a:spcAft>
            </a:pPr>
            <a:r>
              <a:rPr sz="1300" b="1">
                <a:solidFill>
                  <a:srgbClr val="8C3A4A"/>
                </a:solidFill>
                <a:latin typeface="Calibri"/>
              </a:rPr>
              <a:t>Ne peut pas</a:t>
            </a:r>
          </a:p>
        </p:txBody>
      </p:sp>
      <p:sp>
        <p:nvSpPr>
          <p:cNvPr id="15" name="TextBox 14"/>
          <p:cNvSpPr txBox="1"/>
          <p:nvPr/>
        </p:nvSpPr>
        <p:spPr>
          <a:xfrm>
            <a:off x="640080" y="4160520"/>
            <a:ext cx="3246120" cy="10972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Pas de tâches personnelles.</a:t>
            </a:r>
          </a:p>
        </p:txBody>
      </p:sp>
      <p:sp>
        <p:nvSpPr>
          <p:cNvPr id="16" name="Rounded Rectangle 15"/>
          <p:cNvSpPr/>
          <p:nvPr/>
        </p:nvSpPr>
        <p:spPr>
          <a:xfrm>
            <a:off x="4297680" y="1097280"/>
            <a:ext cx="3703320" cy="46634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097280"/>
            <a:ext cx="3703320" cy="6400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207008"/>
            <a:ext cx="3429000" cy="438912"/>
          </a:xfrm>
          <a:prstGeom prst="rect">
            <a:avLst/>
          </a:prstGeom>
          <a:noFill/>
        </p:spPr>
        <p:txBody>
          <a:bodyPr wrap="square" lIns="0" rIns="0" tIns="0" bIns="0" anchor="ctr"/>
          <a:lstStyle/>
          <a:p>
            <a:pPr algn="ctr">
              <a:spcBef>
                <a:spcPts val="0"/>
              </a:spcBef>
              <a:spcAft>
                <a:spcPts val="200"/>
              </a:spcAft>
            </a:pPr>
            <a:r>
              <a:rPr sz="1600" b="1">
                <a:solidFill>
                  <a:srgbClr val="FFFFFF"/>
                </a:solidFill>
                <a:latin typeface="Calibri"/>
              </a:rPr>
              <a:t>Chef d'équipe</a:t>
            </a:r>
          </a:p>
        </p:txBody>
      </p:sp>
      <p:sp>
        <p:nvSpPr>
          <p:cNvPr id="19" name="TextBox 18"/>
          <p:cNvSpPr txBox="1"/>
          <p:nvPr/>
        </p:nvSpPr>
        <p:spPr>
          <a:xfrm>
            <a:off x="4526280" y="1965960"/>
            <a:ext cx="3246120" cy="32004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Peut</a:t>
            </a:r>
          </a:p>
        </p:txBody>
      </p:sp>
      <p:sp>
        <p:nvSpPr>
          <p:cNvPr id="20" name="TextBox 19"/>
          <p:cNvSpPr txBox="1"/>
          <p:nvPr/>
        </p:nvSpPr>
        <p:spPr>
          <a:xfrm>
            <a:off x="4526280" y="2331720"/>
            <a:ext cx="3246120" cy="128016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Tâches de ses équipes, filtre, fiche membre.</a:t>
            </a:r>
          </a:p>
        </p:txBody>
      </p:sp>
      <p:sp>
        <p:nvSpPr>
          <p:cNvPr id="21" name="TextBox 20"/>
          <p:cNvSpPr txBox="1"/>
          <p:nvPr/>
        </p:nvSpPr>
        <p:spPr>
          <a:xfrm>
            <a:off x="4526280" y="3794760"/>
            <a:ext cx="3246120" cy="320040"/>
          </a:xfrm>
          <a:prstGeom prst="rect">
            <a:avLst/>
          </a:prstGeom>
          <a:noFill/>
        </p:spPr>
        <p:txBody>
          <a:bodyPr wrap="square" lIns="0" rIns="0" tIns="0" bIns="0" anchor="t"/>
          <a:lstStyle/>
          <a:p>
            <a:pPr algn="l">
              <a:spcBef>
                <a:spcPts val="0"/>
              </a:spcBef>
              <a:spcAft>
                <a:spcPts val="200"/>
              </a:spcAft>
            </a:pPr>
            <a:r>
              <a:rPr sz="1300" b="1">
                <a:solidFill>
                  <a:srgbClr val="8C3A4A"/>
                </a:solidFill>
                <a:latin typeface="Calibri"/>
              </a:rPr>
              <a:t>Ne peut pas</a:t>
            </a:r>
          </a:p>
        </p:txBody>
      </p:sp>
      <p:sp>
        <p:nvSpPr>
          <p:cNvPr id="22" name="TextBox 21"/>
          <p:cNvSpPr txBox="1"/>
          <p:nvPr/>
        </p:nvSpPr>
        <p:spPr>
          <a:xfrm>
            <a:off x="4526280" y="4160520"/>
            <a:ext cx="3246120" cy="10972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Ni les projets, ni les comptes.</a:t>
            </a:r>
          </a:p>
        </p:txBody>
      </p:sp>
      <p:sp>
        <p:nvSpPr>
          <p:cNvPr id="23" name="Rounded Rectangle 22"/>
          <p:cNvSpPr/>
          <p:nvPr/>
        </p:nvSpPr>
        <p:spPr>
          <a:xfrm>
            <a:off x="8183879" y="1097280"/>
            <a:ext cx="3703320" cy="46634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097280"/>
            <a:ext cx="3703320" cy="6400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1040" y="1207008"/>
            <a:ext cx="3429000" cy="438912"/>
          </a:xfrm>
          <a:prstGeom prst="rect">
            <a:avLst/>
          </a:prstGeom>
          <a:noFill/>
        </p:spPr>
        <p:txBody>
          <a:bodyPr wrap="square" lIns="0" rIns="0" tIns="0" bIns="0" anchor="ctr"/>
          <a:lstStyle/>
          <a:p>
            <a:pPr algn="ctr">
              <a:spcBef>
                <a:spcPts val="0"/>
              </a:spcBef>
              <a:spcAft>
                <a:spcPts val="200"/>
              </a:spcAft>
            </a:pPr>
            <a:r>
              <a:rPr sz="1600" b="1">
                <a:solidFill>
                  <a:srgbClr val="FFFFFF"/>
                </a:solidFill>
                <a:latin typeface="Calibri"/>
              </a:rPr>
              <a:t>Membre</a:t>
            </a:r>
          </a:p>
        </p:txBody>
      </p:sp>
      <p:sp>
        <p:nvSpPr>
          <p:cNvPr id="26" name="TextBox 25"/>
          <p:cNvSpPr txBox="1"/>
          <p:nvPr/>
        </p:nvSpPr>
        <p:spPr>
          <a:xfrm>
            <a:off x="8412480" y="1965960"/>
            <a:ext cx="3246120" cy="32004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Peut</a:t>
            </a:r>
          </a:p>
        </p:txBody>
      </p:sp>
      <p:sp>
        <p:nvSpPr>
          <p:cNvPr id="27" name="TextBox 26"/>
          <p:cNvSpPr txBox="1"/>
          <p:nvPr/>
        </p:nvSpPr>
        <p:spPr>
          <a:xfrm>
            <a:off x="8412480" y="2331720"/>
            <a:ext cx="3246120" cy="128016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Ses tâches, son point, son historique.</a:t>
            </a:r>
          </a:p>
        </p:txBody>
      </p:sp>
      <p:sp>
        <p:nvSpPr>
          <p:cNvPr id="28" name="TextBox 27"/>
          <p:cNvSpPr txBox="1"/>
          <p:nvPr/>
        </p:nvSpPr>
        <p:spPr>
          <a:xfrm>
            <a:off x="8412480" y="3794760"/>
            <a:ext cx="3246120" cy="320040"/>
          </a:xfrm>
          <a:prstGeom prst="rect">
            <a:avLst/>
          </a:prstGeom>
          <a:noFill/>
        </p:spPr>
        <p:txBody>
          <a:bodyPr wrap="square" lIns="0" rIns="0" tIns="0" bIns="0" anchor="t"/>
          <a:lstStyle/>
          <a:p>
            <a:pPr algn="l">
              <a:spcBef>
                <a:spcPts val="0"/>
              </a:spcBef>
              <a:spcAft>
                <a:spcPts val="200"/>
              </a:spcAft>
            </a:pPr>
            <a:r>
              <a:rPr sz="1300" b="1">
                <a:solidFill>
                  <a:srgbClr val="8C3A4A"/>
                </a:solidFill>
                <a:latin typeface="Calibri"/>
              </a:rPr>
              <a:t>Ne peut pas</a:t>
            </a:r>
          </a:p>
        </p:txBody>
      </p:sp>
      <p:sp>
        <p:nvSpPr>
          <p:cNvPr id="29" name="TextBox 28"/>
          <p:cNvSpPr txBox="1"/>
          <p:nvPr/>
        </p:nvSpPr>
        <p:spPr>
          <a:xfrm>
            <a:off x="8412480" y="4160520"/>
            <a:ext cx="3246120" cy="10972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Seulement ce qui lui est assigné.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Fonctions par rôle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11</a:t>
            </a:r>
          </a:p>
        </p:txBody>
      </p:sp>
      <p:sp>
        <p:nvSpPr>
          <p:cNvPr id="9" name="TextBox 8"/>
          <p:cNvSpPr txBox="1"/>
          <p:nvPr/>
        </p:nvSpPr>
        <p:spPr>
          <a:xfrm>
            <a:off x="411480" y="1051560"/>
            <a:ext cx="36576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Commun</a:t>
            </a:r>
          </a:p>
        </p:txBody>
      </p:sp>
      <p:sp>
        <p:nvSpPr>
          <p:cNvPr id="10" name="Rounded Rectangle 9"/>
          <p:cNvSpPr/>
          <p:nvPr/>
        </p:nvSpPr>
        <p:spPr>
          <a:xfrm>
            <a:off x="411480" y="155448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75564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Connexion par courriel</a:t>
            </a:r>
          </a:p>
        </p:txBody>
      </p:sp>
      <p:sp>
        <p:nvSpPr>
          <p:cNvPr id="12" name="Rounded Rectangle 11"/>
          <p:cNvSpPr/>
          <p:nvPr/>
        </p:nvSpPr>
        <p:spPr>
          <a:xfrm>
            <a:off x="411480" y="256032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76148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Profil et mot de passe</a:t>
            </a:r>
          </a:p>
        </p:txBody>
      </p:sp>
      <p:sp>
        <p:nvSpPr>
          <p:cNvPr id="14" name="Rounded Rectangle 13"/>
          <p:cNvSpPr/>
          <p:nvPr/>
        </p:nvSpPr>
        <p:spPr>
          <a:xfrm>
            <a:off x="411480" y="356616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76732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Français ou anglais</a:t>
            </a:r>
          </a:p>
        </p:txBody>
      </p:sp>
      <p:sp>
        <p:nvSpPr>
          <p:cNvPr id="16" name="Rounded Rectangle 15"/>
          <p:cNvSpPr/>
          <p:nvPr/>
        </p:nvSpPr>
        <p:spPr>
          <a:xfrm>
            <a:off x="411480" y="457200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77316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Thème clair ou sombre</a:t>
            </a:r>
          </a:p>
        </p:txBody>
      </p:sp>
      <p:sp>
        <p:nvSpPr>
          <p:cNvPr id="18" name="TextBox 17"/>
          <p:cNvSpPr txBox="1"/>
          <p:nvPr/>
        </p:nvSpPr>
        <p:spPr>
          <a:xfrm>
            <a:off x="4297680" y="1051560"/>
            <a:ext cx="36576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Membre et chef</a:t>
            </a:r>
          </a:p>
        </p:txBody>
      </p:sp>
      <p:sp>
        <p:nvSpPr>
          <p:cNvPr id="19" name="Rounded Rectangle 18"/>
          <p:cNvSpPr/>
          <p:nvPr/>
        </p:nvSpPr>
        <p:spPr>
          <a:xfrm>
            <a:off x="4297680" y="155448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175564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Tableau de bord</a:t>
            </a:r>
          </a:p>
        </p:txBody>
      </p:sp>
      <p:sp>
        <p:nvSpPr>
          <p:cNvPr id="21" name="Rounded Rectangle 20"/>
          <p:cNvSpPr/>
          <p:nvPr/>
        </p:nvSpPr>
        <p:spPr>
          <a:xfrm>
            <a:off x="4297680" y="256032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276148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Point d'avancement</a:t>
            </a:r>
          </a:p>
        </p:txBody>
      </p:sp>
      <p:sp>
        <p:nvSpPr>
          <p:cNvPr id="23" name="Rounded Rectangle 22"/>
          <p:cNvSpPr/>
          <p:nvPr/>
        </p:nvSpPr>
        <p:spPr>
          <a:xfrm>
            <a:off x="4297680" y="356616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76732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Note obligatoire si bloqué</a:t>
            </a:r>
          </a:p>
        </p:txBody>
      </p:sp>
      <p:sp>
        <p:nvSpPr>
          <p:cNvPr id="25" name="Rounded Rectangle 24"/>
          <p:cNvSpPr/>
          <p:nvPr/>
        </p:nvSpPr>
        <p:spPr>
          <a:xfrm>
            <a:off x="4297680" y="457200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0560" y="477316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Historique paginé</a:t>
            </a:r>
          </a:p>
        </p:txBody>
      </p:sp>
      <p:sp>
        <p:nvSpPr>
          <p:cNvPr id="27" name="TextBox 26"/>
          <p:cNvSpPr txBox="1"/>
          <p:nvPr/>
        </p:nvSpPr>
        <p:spPr>
          <a:xfrm>
            <a:off x="8183879" y="1051560"/>
            <a:ext cx="365760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Administrateur</a:t>
            </a:r>
          </a:p>
        </p:txBody>
      </p:sp>
      <p:sp>
        <p:nvSpPr>
          <p:cNvPr id="28" name="Rounded Rectangle 27"/>
          <p:cNvSpPr/>
          <p:nvPr/>
        </p:nvSpPr>
        <p:spPr>
          <a:xfrm>
            <a:off x="8183879" y="155448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66759" y="175564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Comptes et équipes</a:t>
            </a:r>
          </a:p>
        </p:txBody>
      </p:sp>
      <p:sp>
        <p:nvSpPr>
          <p:cNvPr id="30" name="Rounded Rectangle 29"/>
          <p:cNvSpPr/>
          <p:nvPr/>
        </p:nvSpPr>
        <p:spPr>
          <a:xfrm>
            <a:off x="8183879" y="256032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66759" y="276148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Projets rattachés</a:t>
            </a:r>
          </a:p>
        </p:txBody>
      </p:sp>
      <p:sp>
        <p:nvSpPr>
          <p:cNvPr id="32" name="Rounded Rectangle 31"/>
          <p:cNvSpPr/>
          <p:nvPr/>
        </p:nvSpPr>
        <p:spPr>
          <a:xfrm>
            <a:off x="8183879" y="356616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59" y="376732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Taux global</a:t>
            </a:r>
          </a:p>
        </p:txBody>
      </p:sp>
      <p:sp>
        <p:nvSpPr>
          <p:cNvPr id="34" name="Rounded Rectangle 33"/>
          <p:cNvSpPr/>
          <p:nvPr/>
        </p:nvSpPr>
        <p:spPr>
          <a:xfrm>
            <a:off x="8183879" y="4572000"/>
            <a:ext cx="3703320" cy="8686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66759" y="4773168"/>
            <a:ext cx="3337560" cy="457200"/>
          </a:xfrm>
          <a:prstGeom prst="rect">
            <a:avLst/>
          </a:prstGeom>
          <a:noFill/>
        </p:spPr>
        <p:txBody>
          <a:bodyPr wrap="square" lIns="0" rIns="0" tIns="0" bIns="0" anchor="ctr"/>
          <a:lstStyle/>
          <a:p>
            <a:pPr algn="l">
              <a:spcBef>
                <a:spcPts val="0"/>
              </a:spcBef>
              <a:spcAft>
                <a:spcPts val="200"/>
              </a:spcAft>
            </a:pPr>
            <a:r>
              <a:rPr sz="1500" b="0">
                <a:solidFill>
                  <a:srgbClr val="1E2A36"/>
                </a:solidFill>
                <a:latin typeface="Calibri"/>
              </a:rPr>
              <a:t>Taux par équipe et projet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Exigences non fonctionnelles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C6 • Définir l'architecture logicielle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12</a:t>
            </a:r>
          </a:p>
        </p:txBody>
      </p:sp>
      <p:sp>
        <p:nvSpPr>
          <p:cNvPr id="9" name="Oval 8"/>
          <p:cNvSpPr/>
          <p:nvPr/>
        </p:nvSpPr>
        <p:spPr>
          <a:xfrm>
            <a:off x="548640" y="1097280"/>
            <a:ext cx="502920" cy="502920"/>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188720"/>
            <a:ext cx="502920"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1</a:t>
            </a:r>
          </a:p>
        </p:txBody>
      </p:sp>
      <p:sp>
        <p:nvSpPr>
          <p:cNvPr id="11" name="TextBox 10"/>
          <p:cNvSpPr txBox="1"/>
          <p:nvPr/>
        </p:nvSpPr>
        <p:spPr>
          <a:xfrm>
            <a:off x="1280160" y="1097280"/>
            <a:ext cx="2926080" cy="50292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Fermée</a:t>
            </a:r>
          </a:p>
        </p:txBody>
      </p:sp>
      <p:sp>
        <p:nvSpPr>
          <p:cNvPr id="12" name="TextBox 11"/>
          <p:cNvSpPr txBox="1"/>
          <p:nvPr/>
        </p:nvSpPr>
        <p:spPr>
          <a:xfrm>
            <a:off x="4389120" y="1097280"/>
            <a:ext cx="6858000" cy="50292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Pas d'inscription publique.</a:t>
            </a:r>
          </a:p>
        </p:txBody>
      </p:sp>
      <p:sp>
        <p:nvSpPr>
          <p:cNvPr id="13" name="Oval 12"/>
          <p:cNvSpPr/>
          <p:nvPr/>
        </p:nvSpPr>
        <p:spPr>
          <a:xfrm>
            <a:off x="548640" y="2011680"/>
            <a:ext cx="502920" cy="502920"/>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103120"/>
            <a:ext cx="502920"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2</a:t>
            </a:r>
          </a:p>
        </p:txBody>
      </p:sp>
      <p:sp>
        <p:nvSpPr>
          <p:cNvPr id="15" name="TextBox 14"/>
          <p:cNvSpPr txBox="1"/>
          <p:nvPr/>
        </p:nvSpPr>
        <p:spPr>
          <a:xfrm>
            <a:off x="1280160" y="2011680"/>
            <a:ext cx="2926080" cy="50292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Une seule logique</a:t>
            </a:r>
          </a:p>
        </p:txBody>
      </p:sp>
      <p:sp>
        <p:nvSpPr>
          <p:cNvPr id="16" name="TextBox 15"/>
          <p:cNvSpPr txBox="1"/>
          <p:nvPr/>
        </p:nvSpPr>
        <p:spPr>
          <a:xfrm>
            <a:off x="4389120" y="2011680"/>
            <a:ext cx="6858000" cy="50292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Web et mobile, mêmes règles.</a:t>
            </a:r>
          </a:p>
        </p:txBody>
      </p:sp>
      <p:sp>
        <p:nvSpPr>
          <p:cNvPr id="17" name="Oval 16"/>
          <p:cNvSpPr/>
          <p:nvPr/>
        </p:nvSpPr>
        <p:spPr>
          <a:xfrm>
            <a:off x="548640" y="2926080"/>
            <a:ext cx="502920" cy="502920"/>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017520"/>
            <a:ext cx="502920"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3</a:t>
            </a:r>
          </a:p>
        </p:txBody>
      </p:sp>
      <p:sp>
        <p:nvSpPr>
          <p:cNvPr id="19" name="TextBox 18"/>
          <p:cNvSpPr txBox="1"/>
          <p:nvPr/>
        </p:nvSpPr>
        <p:spPr>
          <a:xfrm>
            <a:off x="1280160" y="2926080"/>
            <a:ext cx="2926080" cy="50292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Droits fins</a:t>
            </a:r>
          </a:p>
        </p:txBody>
      </p:sp>
      <p:sp>
        <p:nvSpPr>
          <p:cNvPr id="20" name="TextBox 19"/>
          <p:cNvSpPr txBox="1"/>
          <p:nvPr/>
        </p:nvSpPr>
        <p:spPr>
          <a:xfrm>
            <a:off x="4389120" y="2926080"/>
            <a:ext cx="6858000" cy="50292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Politique sur la ressource.</a:t>
            </a:r>
          </a:p>
        </p:txBody>
      </p:sp>
      <p:sp>
        <p:nvSpPr>
          <p:cNvPr id="21" name="Oval 20"/>
          <p:cNvSpPr/>
          <p:nvPr/>
        </p:nvSpPr>
        <p:spPr>
          <a:xfrm>
            <a:off x="548640" y="3840480"/>
            <a:ext cx="502920" cy="502920"/>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931920"/>
            <a:ext cx="502920"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4</a:t>
            </a:r>
          </a:p>
        </p:txBody>
      </p:sp>
      <p:sp>
        <p:nvSpPr>
          <p:cNvPr id="23" name="TextBox 22"/>
          <p:cNvSpPr txBox="1"/>
          <p:nvPr/>
        </p:nvSpPr>
        <p:spPr>
          <a:xfrm>
            <a:off x="1280160" y="3840480"/>
            <a:ext cx="2926080" cy="50292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Deux langues</a:t>
            </a:r>
          </a:p>
        </p:txBody>
      </p:sp>
      <p:sp>
        <p:nvSpPr>
          <p:cNvPr id="24" name="TextBox 23"/>
          <p:cNvSpPr txBox="1"/>
          <p:nvPr/>
        </p:nvSpPr>
        <p:spPr>
          <a:xfrm>
            <a:off x="4389120" y="3840480"/>
            <a:ext cx="6858000" cy="50292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Français et anglais.</a:t>
            </a:r>
          </a:p>
        </p:txBody>
      </p:sp>
      <p:sp>
        <p:nvSpPr>
          <p:cNvPr id="25" name="Oval 24"/>
          <p:cNvSpPr/>
          <p:nvPr/>
        </p:nvSpPr>
        <p:spPr>
          <a:xfrm>
            <a:off x="548640" y="4754880"/>
            <a:ext cx="502920" cy="502920"/>
          </a:xfrm>
          <a:prstGeom prst="ellipse">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846320"/>
            <a:ext cx="502920" cy="320040"/>
          </a:xfrm>
          <a:prstGeom prst="rect">
            <a:avLst/>
          </a:prstGeom>
          <a:noFill/>
        </p:spPr>
        <p:txBody>
          <a:bodyPr wrap="square" lIns="0" rIns="0" tIns="0" bIns="0" anchor="t"/>
          <a:lstStyle/>
          <a:p>
            <a:pPr algn="ctr">
              <a:spcBef>
                <a:spcPts val="0"/>
              </a:spcBef>
              <a:spcAft>
                <a:spcPts val="200"/>
              </a:spcAft>
            </a:pPr>
            <a:r>
              <a:rPr sz="1400" b="1">
                <a:solidFill>
                  <a:srgbClr val="FFFFFF"/>
                </a:solidFill>
                <a:latin typeface="Calibri"/>
              </a:rPr>
              <a:t>5</a:t>
            </a:r>
          </a:p>
        </p:txBody>
      </p:sp>
      <p:sp>
        <p:nvSpPr>
          <p:cNvPr id="27" name="TextBox 26"/>
          <p:cNvSpPr txBox="1"/>
          <p:nvPr/>
        </p:nvSpPr>
        <p:spPr>
          <a:xfrm>
            <a:off x="1280160" y="4754880"/>
            <a:ext cx="2926080" cy="50292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Lisible</a:t>
            </a:r>
          </a:p>
        </p:txBody>
      </p:sp>
      <p:sp>
        <p:nvSpPr>
          <p:cNvPr id="28" name="TextBox 27"/>
          <p:cNvSpPr txBox="1"/>
          <p:nvPr/>
        </p:nvSpPr>
        <p:spPr>
          <a:xfrm>
            <a:off x="4389120" y="4754880"/>
            <a:ext cx="6858000" cy="502920"/>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Historique paginé, taux calculés.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d'utilisation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13</a:t>
            </a:r>
          </a:p>
        </p:txBody>
      </p:sp>
      <p:sp>
        <p:nvSpPr>
          <p:cNvPr id="9" name="Rounded Rectangle 8"/>
          <p:cNvSpPr/>
          <p:nvPr/>
        </p:nvSpPr>
        <p:spPr>
          <a:xfrm>
            <a:off x="457200" y="1051560"/>
            <a:ext cx="11247120" cy="6400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143000"/>
            <a:ext cx="10881360" cy="457200"/>
          </a:xfrm>
          <a:prstGeom prst="rect">
            <a:avLst/>
          </a:prstGeom>
          <a:noFill/>
        </p:spPr>
        <p:txBody>
          <a:bodyPr wrap="square" lIns="0" rIns="0" tIns="0" bIns="0" anchor="ctr"/>
          <a:lstStyle/>
          <a:p>
            <a:pPr algn="ctr">
              <a:spcBef>
                <a:spcPts val="0"/>
              </a:spcBef>
              <a:spcAft>
                <a:spcPts val="200"/>
              </a:spcAft>
            </a:pPr>
            <a:r>
              <a:rPr sz="1600" b="1">
                <a:solidFill>
                  <a:srgbClr val="143252"/>
                </a:solidFill>
                <a:latin typeface="Calibri"/>
              </a:rPr>
              <a:t>Commun : se connecter. Pas d'inscription publique.</a:t>
            </a:r>
          </a:p>
        </p:txBody>
      </p:sp>
      <p:sp>
        <p:nvSpPr>
          <p:cNvPr id="11" name="TextBox 10"/>
          <p:cNvSpPr txBox="1"/>
          <p:nvPr/>
        </p:nvSpPr>
        <p:spPr>
          <a:xfrm>
            <a:off x="457200" y="1874519"/>
            <a:ext cx="3657600" cy="365760"/>
          </a:xfrm>
          <a:prstGeom prst="rect">
            <a:avLst/>
          </a:prstGeom>
          <a:noFill/>
        </p:spPr>
        <p:txBody>
          <a:bodyPr wrap="square" lIns="0" rIns="0" tIns="0" bIns="0" anchor="t"/>
          <a:lstStyle/>
          <a:p>
            <a:pPr algn="ctr">
              <a:spcBef>
                <a:spcPts val="0"/>
              </a:spcBef>
              <a:spcAft>
                <a:spcPts val="200"/>
              </a:spcAft>
            </a:pPr>
            <a:r>
              <a:rPr sz="1600" b="1">
                <a:solidFill>
                  <a:srgbClr val="2E6B9A"/>
                </a:solidFill>
                <a:latin typeface="Calibri"/>
              </a:rPr>
              <a:t>Administrateur</a:t>
            </a:r>
          </a:p>
        </p:txBody>
      </p:sp>
      <p:sp>
        <p:nvSpPr>
          <p:cNvPr id="12" name="Oval 11"/>
          <p:cNvSpPr/>
          <p:nvPr/>
        </p:nvSpPr>
        <p:spPr>
          <a:xfrm>
            <a:off x="594360" y="233172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49631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Gérer les comptes</a:t>
            </a:r>
          </a:p>
        </p:txBody>
      </p:sp>
      <p:sp>
        <p:nvSpPr>
          <p:cNvPr id="14" name="Oval 13"/>
          <p:cNvSpPr/>
          <p:nvPr/>
        </p:nvSpPr>
        <p:spPr>
          <a:xfrm>
            <a:off x="594360" y="315467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31927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Gérer les équipes</a:t>
            </a:r>
          </a:p>
        </p:txBody>
      </p:sp>
      <p:sp>
        <p:nvSpPr>
          <p:cNvPr id="16" name="Oval 15"/>
          <p:cNvSpPr/>
          <p:nvPr/>
        </p:nvSpPr>
        <p:spPr>
          <a:xfrm>
            <a:off x="594360" y="397763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142231"/>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Gérer les projets</a:t>
            </a:r>
          </a:p>
        </p:txBody>
      </p:sp>
      <p:sp>
        <p:nvSpPr>
          <p:cNvPr id="18" name="Oval 17"/>
          <p:cNvSpPr/>
          <p:nvPr/>
        </p:nvSpPr>
        <p:spPr>
          <a:xfrm>
            <a:off x="594360" y="480060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6519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Voir le tableau global</a:t>
            </a:r>
          </a:p>
        </p:txBody>
      </p:sp>
      <p:sp>
        <p:nvSpPr>
          <p:cNvPr id="20" name="TextBox 19"/>
          <p:cNvSpPr txBox="1"/>
          <p:nvPr/>
        </p:nvSpPr>
        <p:spPr>
          <a:xfrm>
            <a:off x="4343400" y="1874519"/>
            <a:ext cx="3657600" cy="365760"/>
          </a:xfrm>
          <a:prstGeom prst="rect">
            <a:avLst/>
          </a:prstGeom>
          <a:noFill/>
        </p:spPr>
        <p:txBody>
          <a:bodyPr wrap="square" lIns="0" rIns="0" tIns="0" bIns="0" anchor="t"/>
          <a:lstStyle/>
          <a:p>
            <a:pPr algn="ctr">
              <a:spcBef>
                <a:spcPts val="0"/>
              </a:spcBef>
              <a:spcAft>
                <a:spcPts val="200"/>
              </a:spcAft>
            </a:pPr>
            <a:r>
              <a:rPr sz="1600" b="1">
                <a:solidFill>
                  <a:srgbClr val="2E6B9A"/>
                </a:solidFill>
                <a:latin typeface="Calibri"/>
              </a:rPr>
              <a:t>Chef d'équipe</a:t>
            </a:r>
          </a:p>
        </p:txBody>
      </p:sp>
      <p:sp>
        <p:nvSpPr>
          <p:cNvPr id="21" name="Oval 20"/>
          <p:cNvSpPr/>
          <p:nvPr/>
        </p:nvSpPr>
        <p:spPr>
          <a:xfrm>
            <a:off x="4480560" y="233172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249631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Créer une tâche</a:t>
            </a:r>
          </a:p>
        </p:txBody>
      </p:sp>
      <p:sp>
        <p:nvSpPr>
          <p:cNvPr id="23" name="Oval 22"/>
          <p:cNvSpPr/>
          <p:nvPr/>
        </p:nvSpPr>
        <p:spPr>
          <a:xfrm>
            <a:off x="4480560" y="315467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927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Assigner un membre</a:t>
            </a:r>
          </a:p>
        </p:txBody>
      </p:sp>
      <p:sp>
        <p:nvSpPr>
          <p:cNvPr id="25" name="Oval 24"/>
          <p:cNvSpPr/>
          <p:nvPr/>
        </p:nvSpPr>
        <p:spPr>
          <a:xfrm>
            <a:off x="4480560" y="397763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0" y="4142231"/>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Filtrer les tâches</a:t>
            </a:r>
          </a:p>
        </p:txBody>
      </p:sp>
      <p:sp>
        <p:nvSpPr>
          <p:cNvPr id="27" name="Oval 26"/>
          <p:cNvSpPr/>
          <p:nvPr/>
        </p:nvSpPr>
        <p:spPr>
          <a:xfrm>
            <a:off x="4480560" y="480060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0" y="496519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Ouvrir une fiche</a:t>
            </a:r>
          </a:p>
        </p:txBody>
      </p:sp>
      <p:sp>
        <p:nvSpPr>
          <p:cNvPr id="29" name="TextBox 28"/>
          <p:cNvSpPr txBox="1"/>
          <p:nvPr/>
        </p:nvSpPr>
        <p:spPr>
          <a:xfrm>
            <a:off x="8229600" y="1874519"/>
            <a:ext cx="3657600" cy="365760"/>
          </a:xfrm>
          <a:prstGeom prst="rect">
            <a:avLst/>
          </a:prstGeom>
          <a:noFill/>
        </p:spPr>
        <p:txBody>
          <a:bodyPr wrap="square" lIns="0" rIns="0" tIns="0" bIns="0" anchor="t"/>
          <a:lstStyle/>
          <a:p>
            <a:pPr algn="ctr">
              <a:spcBef>
                <a:spcPts val="0"/>
              </a:spcBef>
              <a:spcAft>
                <a:spcPts val="200"/>
              </a:spcAft>
            </a:pPr>
            <a:r>
              <a:rPr sz="1600" b="1">
                <a:solidFill>
                  <a:srgbClr val="2E6B9A"/>
                </a:solidFill>
                <a:latin typeface="Calibri"/>
              </a:rPr>
              <a:t>Membre</a:t>
            </a:r>
          </a:p>
        </p:txBody>
      </p:sp>
      <p:sp>
        <p:nvSpPr>
          <p:cNvPr id="30" name="Oval 29"/>
          <p:cNvSpPr/>
          <p:nvPr/>
        </p:nvSpPr>
        <p:spPr>
          <a:xfrm>
            <a:off x="8366760" y="233172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58200" y="249631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Voir ses tâches</a:t>
            </a:r>
          </a:p>
        </p:txBody>
      </p:sp>
      <p:sp>
        <p:nvSpPr>
          <p:cNvPr id="32" name="Oval 31"/>
          <p:cNvSpPr/>
          <p:nvPr/>
        </p:nvSpPr>
        <p:spPr>
          <a:xfrm>
            <a:off x="8366760" y="315467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58200" y="331927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Mettre à jour l'avancement</a:t>
            </a:r>
          </a:p>
        </p:txBody>
      </p:sp>
      <p:sp>
        <p:nvSpPr>
          <p:cNvPr id="34" name="Oval 33"/>
          <p:cNvSpPr/>
          <p:nvPr/>
        </p:nvSpPr>
        <p:spPr>
          <a:xfrm>
            <a:off x="8366760" y="3977639"/>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58200" y="4142231"/>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Écrire le blocage</a:t>
            </a:r>
          </a:p>
        </p:txBody>
      </p:sp>
      <p:sp>
        <p:nvSpPr>
          <p:cNvPr id="36" name="Oval 35"/>
          <p:cNvSpPr/>
          <p:nvPr/>
        </p:nvSpPr>
        <p:spPr>
          <a:xfrm>
            <a:off x="8366760" y="4800600"/>
            <a:ext cx="3429000" cy="685800"/>
          </a:xfrm>
          <a:prstGeom prst="ellipse">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58200" y="4965192"/>
            <a:ext cx="3246120" cy="365760"/>
          </a:xfrm>
          <a:prstGeom prst="rect">
            <a:avLst/>
          </a:prstGeom>
          <a:noFill/>
        </p:spPr>
        <p:txBody>
          <a:bodyPr wrap="square" lIns="0" rIns="0" tIns="0" bIns="0" anchor="t"/>
          <a:lstStyle/>
          <a:p>
            <a:pPr algn="ctr">
              <a:spcBef>
                <a:spcPts val="0"/>
              </a:spcBef>
              <a:spcAft>
                <a:spcPts val="200"/>
              </a:spcAft>
            </a:pPr>
            <a:r>
              <a:rPr sz="1400" b="0">
                <a:solidFill>
                  <a:srgbClr val="1E2A36"/>
                </a:solidFill>
                <a:latin typeface="Calibri"/>
              </a:rPr>
              <a:t>Lire son historique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Méthodologie de développement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C4 • Contribuer à la gestion d'un projet informatique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14</a:t>
            </a:r>
          </a:p>
        </p:txBody>
      </p:sp>
      <p:sp>
        <p:nvSpPr>
          <p:cNvPr id="9" name="Rounded Rectangle 8"/>
          <p:cNvSpPr/>
          <p:nvPr/>
        </p:nvSpPr>
        <p:spPr>
          <a:xfrm>
            <a:off x="457200" y="1188720"/>
            <a:ext cx="5577840" cy="1965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463040"/>
            <a:ext cx="5029200" cy="457200"/>
          </a:xfrm>
          <a:prstGeom prst="rect">
            <a:avLst/>
          </a:prstGeom>
          <a:noFill/>
        </p:spPr>
        <p:txBody>
          <a:bodyPr wrap="square" lIns="0" rIns="0" tIns="0" bIns="0" anchor="t"/>
          <a:lstStyle/>
          <a:p>
            <a:pPr algn="l">
              <a:spcBef>
                <a:spcPts val="0"/>
              </a:spcBef>
              <a:spcAft>
                <a:spcPts val="200"/>
              </a:spcAft>
            </a:pPr>
            <a:r>
              <a:rPr sz="2000" b="1">
                <a:solidFill>
                  <a:srgbClr val="143252"/>
                </a:solidFill>
                <a:latin typeface="Calibri"/>
              </a:rPr>
              <a:t>Product backlog</a:t>
            </a:r>
          </a:p>
        </p:txBody>
      </p:sp>
      <p:sp>
        <p:nvSpPr>
          <p:cNvPr id="11" name="TextBox 10"/>
          <p:cNvSpPr txBox="1"/>
          <p:nvPr/>
        </p:nvSpPr>
        <p:spPr>
          <a:xfrm>
            <a:off x="731520" y="2103120"/>
            <a:ext cx="5029200" cy="73152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La liste priorisée de ce qu'il faut livrer.</a:t>
            </a:r>
          </a:p>
        </p:txBody>
      </p:sp>
      <p:sp>
        <p:nvSpPr>
          <p:cNvPr id="12" name="Rounded Rectangle 11"/>
          <p:cNvSpPr/>
          <p:nvPr/>
        </p:nvSpPr>
        <p:spPr>
          <a:xfrm>
            <a:off x="6309360" y="1188720"/>
            <a:ext cx="5577840" cy="1965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463040"/>
            <a:ext cx="5029200" cy="457200"/>
          </a:xfrm>
          <a:prstGeom prst="rect">
            <a:avLst/>
          </a:prstGeom>
          <a:noFill/>
        </p:spPr>
        <p:txBody>
          <a:bodyPr wrap="square" lIns="0" rIns="0" tIns="0" bIns="0" anchor="t"/>
          <a:lstStyle/>
          <a:p>
            <a:pPr algn="l">
              <a:spcBef>
                <a:spcPts val="0"/>
              </a:spcBef>
              <a:spcAft>
                <a:spcPts val="200"/>
              </a:spcAft>
            </a:pPr>
            <a:r>
              <a:rPr sz="2000" b="1">
                <a:solidFill>
                  <a:srgbClr val="143252"/>
                </a:solidFill>
                <a:latin typeface="Calibri"/>
              </a:rPr>
              <a:t>Sprint</a:t>
            </a:r>
          </a:p>
        </p:txBody>
      </p:sp>
      <p:sp>
        <p:nvSpPr>
          <p:cNvPr id="14" name="TextBox 13"/>
          <p:cNvSpPr txBox="1"/>
          <p:nvPr/>
        </p:nvSpPr>
        <p:spPr>
          <a:xfrm>
            <a:off x="6583680" y="2103120"/>
            <a:ext cx="5029200" cy="73152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Un cycle court, un incrément cohérent.</a:t>
            </a:r>
          </a:p>
        </p:txBody>
      </p:sp>
      <p:sp>
        <p:nvSpPr>
          <p:cNvPr id="15" name="Rounded Rectangle 14"/>
          <p:cNvSpPr/>
          <p:nvPr/>
        </p:nvSpPr>
        <p:spPr>
          <a:xfrm>
            <a:off x="457200" y="3383280"/>
            <a:ext cx="5577840" cy="1965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657600"/>
            <a:ext cx="5029200" cy="457200"/>
          </a:xfrm>
          <a:prstGeom prst="rect">
            <a:avLst/>
          </a:prstGeom>
          <a:noFill/>
        </p:spPr>
        <p:txBody>
          <a:bodyPr wrap="square" lIns="0" rIns="0" tIns="0" bIns="0" anchor="t"/>
          <a:lstStyle/>
          <a:p>
            <a:pPr algn="l">
              <a:spcBef>
                <a:spcPts val="0"/>
              </a:spcBef>
              <a:spcAft>
                <a:spcPts val="200"/>
              </a:spcAft>
            </a:pPr>
            <a:r>
              <a:rPr sz="2000" b="1">
                <a:solidFill>
                  <a:srgbClr val="143252"/>
                </a:solidFill>
                <a:latin typeface="Calibri"/>
              </a:rPr>
              <a:t>User story</a:t>
            </a:r>
          </a:p>
        </p:txBody>
      </p:sp>
      <p:sp>
        <p:nvSpPr>
          <p:cNvPr id="17" name="TextBox 16"/>
          <p:cNvSpPr txBox="1"/>
          <p:nvPr/>
        </p:nvSpPr>
        <p:spPr>
          <a:xfrm>
            <a:off x="731520" y="4297680"/>
            <a:ext cx="5029200" cy="73152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Le besoin, dit depuis un rôle.</a:t>
            </a:r>
          </a:p>
        </p:txBody>
      </p:sp>
      <p:sp>
        <p:nvSpPr>
          <p:cNvPr id="18" name="Rounded Rectangle 17"/>
          <p:cNvSpPr/>
          <p:nvPr/>
        </p:nvSpPr>
        <p:spPr>
          <a:xfrm>
            <a:off x="6309360" y="3383280"/>
            <a:ext cx="5577840" cy="196596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657600"/>
            <a:ext cx="5029200" cy="457200"/>
          </a:xfrm>
          <a:prstGeom prst="rect">
            <a:avLst/>
          </a:prstGeom>
          <a:noFill/>
        </p:spPr>
        <p:txBody>
          <a:bodyPr wrap="square" lIns="0" rIns="0" tIns="0" bIns="0" anchor="t"/>
          <a:lstStyle/>
          <a:p>
            <a:pPr algn="l">
              <a:spcBef>
                <a:spcPts val="0"/>
              </a:spcBef>
              <a:spcAft>
                <a:spcPts val="200"/>
              </a:spcAft>
            </a:pPr>
            <a:r>
              <a:rPr sz="2000" b="1">
                <a:solidFill>
                  <a:srgbClr val="143252"/>
                </a:solidFill>
                <a:latin typeface="Calibri"/>
              </a:rPr>
              <a:t>Incrément</a:t>
            </a:r>
          </a:p>
        </p:txBody>
      </p:sp>
      <p:sp>
        <p:nvSpPr>
          <p:cNvPr id="20" name="TextBox 19"/>
          <p:cNvSpPr txBox="1"/>
          <p:nvPr/>
        </p:nvSpPr>
        <p:spPr>
          <a:xfrm>
            <a:off x="6583680" y="4297680"/>
            <a:ext cx="5029200" cy="73152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Une partie utilisable, pas une maquette seule.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Backlog et sprints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C4 • Contribuer à la gestion d'un projet  |  C5 • Analyser les besoins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15</a:t>
            </a:r>
          </a:p>
        </p:txBody>
      </p:sp>
      <p:sp>
        <p:nvSpPr>
          <p:cNvPr id="9" name="Rounded Rectangle 8"/>
          <p:cNvSpPr/>
          <p:nvPr/>
        </p:nvSpPr>
        <p:spPr>
          <a:xfrm>
            <a:off x="457200" y="1051560"/>
            <a:ext cx="11247120" cy="841248"/>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52728"/>
            <a:ext cx="731520" cy="457200"/>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S1</a:t>
            </a:r>
          </a:p>
        </p:txBody>
      </p:sp>
      <p:sp>
        <p:nvSpPr>
          <p:cNvPr id="11" name="TextBox 10"/>
          <p:cNvSpPr txBox="1"/>
          <p:nvPr/>
        </p:nvSpPr>
        <p:spPr>
          <a:xfrm>
            <a:off x="1554480" y="1252728"/>
            <a:ext cx="3931920" cy="457200"/>
          </a:xfrm>
          <a:prstGeom prst="rect">
            <a:avLst/>
          </a:prstGeom>
          <a:noFill/>
        </p:spPr>
        <p:txBody>
          <a:bodyPr wrap="square" lIns="0" rIns="0" tIns="0" bIns="0" anchor="ctr"/>
          <a:lstStyle/>
          <a:p>
            <a:pPr algn="l">
              <a:spcBef>
                <a:spcPts val="0"/>
              </a:spcBef>
              <a:spcAft>
                <a:spcPts val="200"/>
              </a:spcAft>
            </a:pPr>
            <a:r>
              <a:rPr sz="1500" b="0">
                <a:solidFill>
                  <a:srgbClr val="5C6B7A"/>
                </a:solidFill>
                <a:latin typeface="Calibri"/>
              </a:rPr>
              <a:t>2 au 15 février</a:t>
            </a:r>
          </a:p>
        </p:txBody>
      </p:sp>
      <p:sp>
        <p:nvSpPr>
          <p:cNvPr id="12" name="TextBox 11"/>
          <p:cNvSpPr txBox="1"/>
          <p:nvPr/>
        </p:nvSpPr>
        <p:spPr>
          <a:xfrm>
            <a:off x="5577840" y="1252728"/>
            <a:ext cx="57607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Connexion, profil, langue, thème</a:t>
            </a:r>
          </a:p>
        </p:txBody>
      </p:sp>
      <p:sp>
        <p:nvSpPr>
          <p:cNvPr id="13" name="Rounded Rectangle 12"/>
          <p:cNvSpPr/>
          <p:nvPr/>
        </p:nvSpPr>
        <p:spPr>
          <a:xfrm>
            <a:off x="457200" y="1984248"/>
            <a:ext cx="11247120" cy="841248"/>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185416"/>
            <a:ext cx="731520" cy="457200"/>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S2</a:t>
            </a:r>
          </a:p>
        </p:txBody>
      </p:sp>
      <p:sp>
        <p:nvSpPr>
          <p:cNvPr id="15" name="TextBox 14"/>
          <p:cNvSpPr txBox="1"/>
          <p:nvPr/>
        </p:nvSpPr>
        <p:spPr>
          <a:xfrm>
            <a:off x="1554480" y="2185416"/>
            <a:ext cx="3931920" cy="457200"/>
          </a:xfrm>
          <a:prstGeom prst="rect">
            <a:avLst/>
          </a:prstGeom>
          <a:noFill/>
        </p:spPr>
        <p:txBody>
          <a:bodyPr wrap="square" lIns="0" rIns="0" tIns="0" bIns="0" anchor="ctr"/>
          <a:lstStyle/>
          <a:p>
            <a:pPr algn="l">
              <a:spcBef>
                <a:spcPts val="0"/>
              </a:spcBef>
              <a:spcAft>
                <a:spcPts val="200"/>
              </a:spcAft>
            </a:pPr>
            <a:r>
              <a:rPr sz="1500" b="0">
                <a:solidFill>
                  <a:srgbClr val="5C6B7A"/>
                </a:solidFill>
                <a:latin typeface="Calibri"/>
              </a:rPr>
              <a:t>16 février au 1er mars</a:t>
            </a:r>
          </a:p>
        </p:txBody>
      </p:sp>
      <p:sp>
        <p:nvSpPr>
          <p:cNvPr id="16" name="TextBox 15"/>
          <p:cNvSpPr txBox="1"/>
          <p:nvPr/>
        </p:nvSpPr>
        <p:spPr>
          <a:xfrm>
            <a:off x="5577840" y="2185416"/>
            <a:ext cx="57607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Espace membre</a:t>
            </a:r>
          </a:p>
        </p:txBody>
      </p:sp>
      <p:sp>
        <p:nvSpPr>
          <p:cNvPr id="17" name="Rounded Rectangle 16"/>
          <p:cNvSpPr/>
          <p:nvPr/>
        </p:nvSpPr>
        <p:spPr>
          <a:xfrm>
            <a:off x="457200" y="2916936"/>
            <a:ext cx="11247120" cy="841248"/>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118104"/>
            <a:ext cx="731520" cy="457200"/>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S3</a:t>
            </a:r>
          </a:p>
        </p:txBody>
      </p:sp>
      <p:sp>
        <p:nvSpPr>
          <p:cNvPr id="19" name="TextBox 18"/>
          <p:cNvSpPr txBox="1"/>
          <p:nvPr/>
        </p:nvSpPr>
        <p:spPr>
          <a:xfrm>
            <a:off x="1554480" y="3118104"/>
            <a:ext cx="3931920" cy="457200"/>
          </a:xfrm>
          <a:prstGeom prst="rect">
            <a:avLst/>
          </a:prstGeom>
          <a:noFill/>
        </p:spPr>
        <p:txBody>
          <a:bodyPr wrap="square" lIns="0" rIns="0" tIns="0" bIns="0" anchor="ctr"/>
          <a:lstStyle/>
          <a:p>
            <a:pPr algn="l">
              <a:spcBef>
                <a:spcPts val="0"/>
              </a:spcBef>
              <a:spcAft>
                <a:spcPts val="200"/>
              </a:spcAft>
            </a:pPr>
            <a:r>
              <a:rPr sz="1500" b="0">
                <a:solidFill>
                  <a:srgbClr val="5C6B7A"/>
                </a:solidFill>
                <a:latin typeface="Calibri"/>
              </a:rPr>
              <a:t>2 au 15 mars</a:t>
            </a:r>
          </a:p>
        </p:txBody>
      </p:sp>
      <p:sp>
        <p:nvSpPr>
          <p:cNvPr id="20" name="TextBox 19"/>
          <p:cNvSpPr txBox="1"/>
          <p:nvPr/>
        </p:nvSpPr>
        <p:spPr>
          <a:xfrm>
            <a:off x="5577840" y="3118104"/>
            <a:ext cx="57607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Espace chef d'équipe</a:t>
            </a:r>
          </a:p>
        </p:txBody>
      </p:sp>
      <p:sp>
        <p:nvSpPr>
          <p:cNvPr id="21" name="Rounded Rectangle 20"/>
          <p:cNvSpPr/>
          <p:nvPr/>
        </p:nvSpPr>
        <p:spPr>
          <a:xfrm>
            <a:off x="457200" y="3849624"/>
            <a:ext cx="11247120" cy="841248"/>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50791"/>
            <a:ext cx="731520" cy="457200"/>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S4</a:t>
            </a:r>
          </a:p>
        </p:txBody>
      </p:sp>
      <p:sp>
        <p:nvSpPr>
          <p:cNvPr id="23" name="TextBox 22"/>
          <p:cNvSpPr txBox="1"/>
          <p:nvPr/>
        </p:nvSpPr>
        <p:spPr>
          <a:xfrm>
            <a:off x="1554480" y="4050791"/>
            <a:ext cx="3931920" cy="457200"/>
          </a:xfrm>
          <a:prstGeom prst="rect">
            <a:avLst/>
          </a:prstGeom>
          <a:noFill/>
        </p:spPr>
        <p:txBody>
          <a:bodyPr wrap="square" lIns="0" rIns="0" tIns="0" bIns="0" anchor="ctr"/>
          <a:lstStyle/>
          <a:p>
            <a:pPr algn="l">
              <a:spcBef>
                <a:spcPts val="0"/>
              </a:spcBef>
              <a:spcAft>
                <a:spcPts val="200"/>
              </a:spcAft>
            </a:pPr>
            <a:r>
              <a:rPr sz="1500" b="0">
                <a:solidFill>
                  <a:srgbClr val="5C6B7A"/>
                </a:solidFill>
                <a:latin typeface="Calibri"/>
              </a:rPr>
              <a:t>16 au 29 mars</a:t>
            </a:r>
          </a:p>
        </p:txBody>
      </p:sp>
      <p:sp>
        <p:nvSpPr>
          <p:cNvPr id="24" name="TextBox 23"/>
          <p:cNvSpPr txBox="1"/>
          <p:nvPr/>
        </p:nvSpPr>
        <p:spPr>
          <a:xfrm>
            <a:off x="5577840" y="4050791"/>
            <a:ext cx="57607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Administration</a:t>
            </a:r>
          </a:p>
        </p:txBody>
      </p:sp>
      <p:sp>
        <p:nvSpPr>
          <p:cNvPr id="25" name="Rounded Rectangle 24"/>
          <p:cNvSpPr/>
          <p:nvPr/>
        </p:nvSpPr>
        <p:spPr>
          <a:xfrm>
            <a:off x="457200" y="4782312"/>
            <a:ext cx="11247120" cy="841248"/>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983480"/>
            <a:ext cx="731520" cy="457200"/>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S5</a:t>
            </a:r>
          </a:p>
        </p:txBody>
      </p:sp>
      <p:sp>
        <p:nvSpPr>
          <p:cNvPr id="27" name="TextBox 26"/>
          <p:cNvSpPr txBox="1"/>
          <p:nvPr/>
        </p:nvSpPr>
        <p:spPr>
          <a:xfrm>
            <a:off x="1554480" y="4983480"/>
            <a:ext cx="3931920" cy="457200"/>
          </a:xfrm>
          <a:prstGeom prst="rect">
            <a:avLst/>
          </a:prstGeom>
          <a:noFill/>
        </p:spPr>
        <p:txBody>
          <a:bodyPr wrap="square" lIns="0" rIns="0" tIns="0" bIns="0" anchor="ctr"/>
          <a:lstStyle/>
          <a:p>
            <a:pPr algn="l">
              <a:spcBef>
                <a:spcPts val="0"/>
              </a:spcBef>
              <a:spcAft>
                <a:spcPts val="200"/>
              </a:spcAft>
            </a:pPr>
            <a:r>
              <a:rPr sz="1500" b="0">
                <a:solidFill>
                  <a:srgbClr val="5C6B7A"/>
                </a:solidFill>
                <a:latin typeface="Calibri"/>
              </a:rPr>
              <a:t>30 mars au 19 avril</a:t>
            </a:r>
          </a:p>
        </p:txBody>
      </p:sp>
      <p:sp>
        <p:nvSpPr>
          <p:cNvPr id="28" name="TextBox 27"/>
          <p:cNvSpPr txBox="1"/>
          <p:nvPr/>
        </p:nvSpPr>
        <p:spPr>
          <a:xfrm>
            <a:off x="5577840" y="4983480"/>
            <a:ext cx="57607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Application Flutter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 mettre à jour l'avancement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C3 • Développer des composants métier</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16</a:t>
            </a:r>
          </a:p>
        </p:txBody>
      </p:sp>
      <p:sp>
        <p:nvSpPr>
          <p:cNvPr id="9" name="Rounded Rectangle 8"/>
          <p:cNvSpPr/>
          <p:nvPr/>
        </p:nvSpPr>
        <p:spPr>
          <a:xfrm>
            <a:off x="365760" y="1051560"/>
            <a:ext cx="2788920" cy="132588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170432"/>
            <a:ext cx="365760" cy="320040"/>
          </a:xfrm>
          <a:prstGeom prst="rect">
            <a:avLst/>
          </a:prstGeom>
          <a:noFill/>
        </p:spPr>
        <p:txBody>
          <a:bodyPr wrap="square" lIns="0" rIns="0" tIns="0" bIns="0" anchor="t"/>
          <a:lstStyle/>
          <a:p>
            <a:pPr algn="l">
              <a:spcBef>
                <a:spcPts val="0"/>
              </a:spcBef>
              <a:spcAft>
                <a:spcPts val="200"/>
              </a:spcAft>
            </a:pPr>
            <a:r>
              <a:rPr sz="1600" b="1">
                <a:solidFill>
                  <a:srgbClr val="2E6B9A"/>
                </a:solidFill>
                <a:latin typeface="Calibri"/>
              </a:rPr>
              <a:t>1</a:t>
            </a:r>
          </a:p>
        </p:txBody>
      </p:sp>
      <p:sp>
        <p:nvSpPr>
          <p:cNvPr id="11" name="TextBox 10"/>
          <p:cNvSpPr txBox="1"/>
          <p:nvPr/>
        </p:nvSpPr>
        <p:spPr>
          <a:xfrm>
            <a:off x="502920" y="1554480"/>
            <a:ext cx="2514600" cy="640080"/>
          </a:xfrm>
          <a:prstGeom prst="rect">
            <a:avLst/>
          </a:prstGeom>
          <a:noFill/>
        </p:spPr>
        <p:txBody>
          <a:bodyPr wrap="square" lIns="0" rIns="0" tIns="0" bIns="0" anchor="t"/>
          <a:lstStyle/>
          <a:p>
            <a:pPr algn="l">
              <a:spcBef>
                <a:spcPts val="0"/>
              </a:spcBef>
              <a:spcAft>
                <a:spcPts val="200"/>
              </a:spcAft>
            </a:pPr>
            <a:r>
              <a:rPr sz="1400" b="0">
                <a:solidFill>
                  <a:srgbClr val="1E2A36"/>
                </a:solidFill>
                <a:latin typeface="Calibri"/>
              </a:rPr>
              <a:t>Ouvrir la tâche assignée</a:t>
            </a:r>
          </a:p>
        </p:txBody>
      </p:sp>
      <p:sp>
        <p:nvSpPr>
          <p:cNvPr id="12" name="Rounded Rectangle 11"/>
          <p:cNvSpPr/>
          <p:nvPr/>
        </p:nvSpPr>
        <p:spPr>
          <a:xfrm>
            <a:off x="3291840" y="1051560"/>
            <a:ext cx="2788920" cy="132588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29000" y="1170432"/>
            <a:ext cx="365760" cy="320040"/>
          </a:xfrm>
          <a:prstGeom prst="rect">
            <a:avLst/>
          </a:prstGeom>
          <a:noFill/>
        </p:spPr>
        <p:txBody>
          <a:bodyPr wrap="square" lIns="0" rIns="0" tIns="0" bIns="0" anchor="t"/>
          <a:lstStyle/>
          <a:p>
            <a:pPr algn="l">
              <a:spcBef>
                <a:spcPts val="0"/>
              </a:spcBef>
              <a:spcAft>
                <a:spcPts val="200"/>
              </a:spcAft>
            </a:pPr>
            <a:r>
              <a:rPr sz="1600" b="1">
                <a:solidFill>
                  <a:srgbClr val="2E6B9A"/>
                </a:solidFill>
                <a:latin typeface="Calibri"/>
              </a:rPr>
              <a:t>2</a:t>
            </a:r>
          </a:p>
        </p:txBody>
      </p:sp>
      <p:sp>
        <p:nvSpPr>
          <p:cNvPr id="14" name="TextBox 13"/>
          <p:cNvSpPr txBox="1"/>
          <p:nvPr/>
        </p:nvSpPr>
        <p:spPr>
          <a:xfrm>
            <a:off x="3429000" y="1554480"/>
            <a:ext cx="2514600" cy="640080"/>
          </a:xfrm>
          <a:prstGeom prst="rect">
            <a:avLst/>
          </a:prstGeom>
          <a:noFill/>
        </p:spPr>
        <p:txBody>
          <a:bodyPr wrap="square" lIns="0" rIns="0" tIns="0" bIns="0" anchor="t"/>
          <a:lstStyle/>
          <a:p>
            <a:pPr algn="l">
              <a:spcBef>
                <a:spcPts val="0"/>
              </a:spcBef>
              <a:spcAft>
                <a:spcPts val="200"/>
              </a:spcAft>
            </a:pPr>
            <a:r>
              <a:rPr sz="1400" b="0">
                <a:solidFill>
                  <a:srgbClr val="1E2A36"/>
                </a:solidFill>
                <a:latin typeface="Calibri"/>
              </a:rPr>
              <a:t>Choisir le statut</a:t>
            </a:r>
          </a:p>
        </p:txBody>
      </p:sp>
      <p:sp>
        <p:nvSpPr>
          <p:cNvPr id="15" name="Rounded Rectangle 14"/>
          <p:cNvSpPr/>
          <p:nvPr/>
        </p:nvSpPr>
        <p:spPr>
          <a:xfrm>
            <a:off x="6217920" y="1051560"/>
            <a:ext cx="2788920" cy="132588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80" y="1170432"/>
            <a:ext cx="365760" cy="320040"/>
          </a:xfrm>
          <a:prstGeom prst="rect">
            <a:avLst/>
          </a:prstGeom>
          <a:noFill/>
        </p:spPr>
        <p:txBody>
          <a:bodyPr wrap="square" lIns="0" rIns="0" tIns="0" bIns="0" anchor="t"/>
          <a:lstStyle/>
          <a:p>
            <a:pPr algn="l">
              <a:spcBef>
                <a:spcPts val="0"/>
              </a:spcBef>
              <a:spcAft>
                <a:spcPts val="200"/>
              </a:spcAft>
            </a:pPr>
            <a:r>
              <a:rPr sz="1600" b="1">
                <a:solidFill>
                  <a:srgbClr val="2E6B9A"/>
                </a:solidFill>
                <a:latin typeface="Calibri"/>
              </a:rPr>
              <a:t>3</a:t>
            </a:r>
          </a:p>
        </p:txBody>
      </p:sp>
      <p:sp>
        <p:nvSpPr>
          <p:cNvPr id="17" name="TextBox 16"/>
          <p:cNvSpPr txBox="1"/>
          <p:nvPr/>
        </p:nvSpPr>
        <p:spPr>
          <a:xfrm>
            <a:off x="6355080" y="1554480"/>
            <a:ext cx="2514600" cy="640080"/>
          </a:xfrm>
          <a:prstGeom prst="rect">
            <a:avLst/>
          </a:prstGeom>
          <a:noFill/>
        </p:spPr>
        <p:txBody>
          <a:bodyPr wrap="square" lIns="0" rIns="0" tIns="0" bIns="0" anchor="t"/>
          <a:lstStyle/>
          <a:p>
            <a:pPr algn="l">
              <a:spcBef>
                <a:spcPts val="0"/>
              </a:spcBef>
              <a:spcAft>
                <a:spcPts val="200"/>
              </a:spcAft>
            </a:pPr>
            <a:r>
              <a:rPr sz="1400" b="0">
                <a:solidFill>
                  <a:srgbClr val="1E2A36"/>
                </a:solidFill>
                <a:latin typeface="Calibri"/>
              </a:rPr>
              <a:t>Écrire déjà fait et la suite</a:t>
            </a:r>
          </a:p>
        </p:txBody>
      </p:sp>
      <p:sp>
        <p:nvSpPr>
          <p:cNvPr id="18" name="Rounded Rectangle 17"/>
          <p:cNvSpPr/>
          <p:nvPr/>
        </p:nvSpPr>
        <p:spPr>
          <a:xfrm>
            <a:off x="9144000" y="1051560"/>
            <a:ext cx="2788920" cy="132588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170432"/>
            <a:ext cx="365760" cy="320040"/>
          </a:xfrm>
          <a:prstGeom prst="rect">
            <a:avLst/>
          </a:prstGeom>
          <a:noFill/>
        </p:spPr>
        <p:txBody>
          <a:bodyPr wrap="square" lIns="0" rIns="0" tIns="0" bIns="0" anchor="t"/>
          <a:lstStyle/>
          <a:p>
            <a:pPr algn="l">
              <a:spcBef>
                <a:spcPts val="0"/>
              </a:spcBef>
              <a:spcAft>
                <a:spcPts val="200"/>
              </a:spcAft>
            </a:pPr>
            <a:r>
              <a:rPr sz="1600" b="1">
                <a:solidFill>
                  <a:srgbClr val="2E6B9A"/>
                </a:solidFill>
                <a:latin typeface="Calibri"/>
              </a:rPr>
              <a:t>4</a:t>
            </a:r>
          </a:p>
        </p:txBody>
      </p:sp>
      <p:sp>
        <p:nvSpPr>
          <p:cNvPr id="20" name="TextBox 19"/>
          <p:cNvSpPr txBox="1"/>
          <p:nvPr/>
        </p:nvSpPr>
        <p:spPr>
          <a:xfrm>
            <a:off x="9281160" y="1554480"/>
            <a:ext cx="2514600" cy="640080"/>
          </a:xfrm>
          <a:prstGeom prst="rect">
            <a:avLst/>
          </a:prstGeom>
          <a:noFill/>
        </p:spPr>
        <p:txBody>
          <a:bodyPr wrap="square" lIns="0" rIns="0" tIns="0" bIns="0" anchor="t"/>
          <a:lstStyle/>
          <a:p>
            <a:pPr algn="l">
              <a:spcBef>
                <a:spcPts val="0"/>
              </a:spcBef>
              <a:spcAft>
                <a:spcPts val="200"/>
              </a:spcAft>
            </a:pPr>
            <a:r>
              <a:rPr sz="1400" b="0">
                <a:solidFill>
                  <a:srgbClr val="1E2A36"/>
                </a:solidFill>
                <a:latin typeface="Calibri"/>
              </a:rPr>
              <a:t>Si bloqué, la note est obligatoire</a:t>
            </a:r>
          </a:p>
        </p:txBody>
      </p:sp>
      <p:pic>
        <p:nvPicPr>
          <p:cNvPr id="21" name="Picture 20" descr="blocked.png"/>
          <p:cNvPicPr>
            <a:picLocks noChangeAspect="1"/>
          </p:cNvPicPr>
          <p:nvPr/>
        </p:nvPicPr>
        <p:blipFill>
          <a:blip r:embed="rId3"/>
          <a:stretch>
            <a:fillRect/>
          </a:stretch>
        </p:blipFill>
        <p:spPr>
          <a:xfrm>
            <a:off x="3663380" y="2514600"/>
            <a:ext cx="4834758" cy="31546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Diagramme de séquence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C6 • Définir l'architecture logicielle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17</a:t>
            </a:r>
          </a:p>
        </p:txBody>
      </p:sp>
      <p:sp>
        <p:nvSpPr>
          <p:cNvPr id="9" name="Rounded Rectangle 8"/>
          <p:cNvSpPr/>
          <p:nvPr/>
        </p:nvSpPr>
        <p:spPr>
          <a:xfrm>
            <a:off x="274320" y="1051560"/>
            <a:ext cx="1920240" cy="530352"/>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1133856"/>
            <a:ext cx="1920240" cy="365760"/>
          </a:xfrm>
          <a:prstGeom prst="rect">
            <a:avLst/>
          </a:prstGeom>
          <a:noFill/>
        </p:spPr>
        <p:txBody>
          <a:bodyPr wrap="square" lIns="0" rIns="0" tIns="0" bIns="0" anchor="ctr"/>
          <a:lstStyle/>
          <a:p>
            <a:pPr algn="ctr">
              <a:spcBef>
                <a:spcPts val="0"/>
              </a:spcBef>
              <a:spcAft>
                <a:spcPts val="200"/>
              </a:spcAft>
            </a:pPr>
            <a:r>
              <a:rPr sz="1300" b="1">
                <a:solidFill>
                  <a:srgbClr val="FFFFFF"/>
                </a:solidFill>
                <a:latin typeface="Calibri"/>
              </a:rPr>
              <a:t>Membre</a:t>
            </a:r>
          </a:p>
        </p:txBody>
      </p:sp>
      <p:sp>
        <p:nvSpPr>
          <p:cNvPr id="11" name="Rectangle 10"/>
          <p:cNvSpPr/>
          <p:nvPr/>
        </p:nvSpPr>
        <p:spPr>
          <a:xfrm>
            <a:off x="1225296" y="1627632"/>
            <a:ext cx="18288" cy="3977639"/>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651760" y="1051560"/>
            <a:ext cx="1920240" cy="530352"/>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51760" y="1133856"/>
            <a:ext cx="1920240" cy="365760"/>
          </a:xfrm>
          <a:prstGeom prst="rect">
            <a:avLst/>
          </a:prstGeom>
          <a:noFill/>
        </p:spPr>
        <p:txBody>
          <a:bodyPr wrap="square" lIns="0" rIns="0" tIns="0" bIns="0" anchor="ctr"/>
          <a:lstStyle/>
          <a:p>
            <a:pPr algn="ctr">
              <a:spcBef>
                <a:spcPts val="0"/>
              </a:spcBef>
              <a:spcAft>
                <a:spcPts val="200"/>
              </a:spcAft>
            </a:pPr>
            <a:r>
              <a:rPr sz="1300" b="1">
                <a:solidFill>
                  <a:srgbClr val="FFFFFF"/>
                </a:solidFill>
                <a:latin typeface="Calibri"/>
              </a:rPr>
              <a:t>Contrôleur</a:t>
            </a:r>
          </a:p>
        </p:txBody>
      </p:sp>
      <p:sp>
        <p:nvSpPr>
          <p:cNvPr id="14" name="Rectangle 13"/>
          <p:cNvSpPr/>
          <p:nvPr/>
        </p:nvSpPr>
        <p:spPr>
          <a:xfrm>
            <a:off x="3602736" y="1627632"/>
            <a:ext cx="18288" cy="3977639"/>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29200" y="1051560"/>
            <a:ext cx="1920240" cy="530352"/>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1133856"/>
            <a:ext cx="1920240" cy="365760"/>
          </a:xfrm>
          <a:prstGeom prst="rect">
            <a:avLst/>
          </a:prstGeom>
          <a:noFill/>
        </p:spPr>
        <p:txBody>
          <a:bodyPr wrap="square" lIns="0" rIns="0" tIns="0" bIns="0" anchor="ctr"/>
          <a:lstStyle/>
          <a:p>
            <a:pPr algn="ctr">
              <a:spcBef>
                <a:spcPts val="0"/>
              </a:spcBef>
              <a:spcAft>
                <a:spcPts val="200"/>
              </a:spcAft>
            </a:pPr>
            <a:r>
              <a:rPr sz="1300" b="1">
                <a:solidFill>
                  <a:srgbClr val="FFFFFF"/>
                </a:solidFill>
                <a:latin typeface="Calibri"/>
              </a:rPr>
              <a:t>Politique</a:t>
            </a:r>
          </a:p>
        </p:txBody>
      </p:sp>
      <p:sp>
        <p:nvSpPr>
          <p:cNvPr id="17" name="Rectangle 16"/>
          <p:cNvSpPr/>
          <p:nvPr/>
        </p:nvSpPr>
        <p:spPr>
          <a:xfrm>
            <a:off x="5980176" y="1627632"/>
            <a:ext cx="18288" cy="3977639"/>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406640" y="1051560"/>
            <a:ext cx="1920240" cy="530352"/>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133856"/>
            <a:ext cx="1920240" cy="365760"/>
          </a:xfrm>
          <a:prstGeom prst="rect">
            <a:avLst/>
          </a:prstGeom>
          <a:noFill/>
        </p:spPr>
        <p:txBody>
          <a:bodyPr wrap="square" lIns="0" rIns="0" tIns="0" bIns="0" anchor="ctr"/>
          <a:lstStyle/>
          <a:p>
            <a:pPr algn="ctr">
              <a:spcBef>
                <a:spcPts val="0"/>
              </a:spcBef>
              <a:spcAft>
                <a:spcPts val="200"/>
              </a:spcAft>
            </a:pPr>
            <a:r>
              <a:rPr sz="1300" b="1">
                <a:solidFill>
                  <a:srgbClr val="FFFFFF"/>
                </a:solidFill>
                <a:latin typeface="Calibri"/>
              </a:rPr>
              <a:t>Form request</a:t>
            </a:r>
          </a:p>
        </p:txBody>
      </p:sp>
      <p:sp>
        <p:nvSpPr>
          <p:cNvPr id="20" name="Rectangle 19"/>
          <p:cNvSpPr/>
          <p:nvPr/>
        </p:nvSpPr>
        <p:spPr>
          <a:xfrm>
            <a:off x="8357616" y="1627632"/>
            <a:ext cx="18288" cy="3977639"/>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784080" y="1051560"/>
            <a:ext cx="1920240" cy="530352"/>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0" y="1133856"/>
            <a:ext cx="1920240" cy="365760"/>
          </a:xfrm>
          <a:prstGeom prst="rect">
            <a:avLst/>
          </a:prstGeom>
          <a:noFill/>
        </p:spPr>
        <p:txBody>
          <a:bodyPr wrap="square" lIns="0" rIns="0" tIns="0" bIns="0" anchor="ctr"/>
          <a:lstStyle/>
          <a:p>
            <a:pPr algn="ctr">
              <a:spcBef>
                <a:spcPts val="0"/>
              </a:spcBef>
              <a:spcAft>
                <a:spcPts val="200"/>
              </a:spcAft>
            </a:pPr>
            <a:r>
              <a:rPr sz="1300" b="1">
                <a:solidFill>
                  <a:srgbClr val="FFFFFF"/>
                </a:solidFill>
                <a:latin typeface="Calibri"/>
              </a:rPr>
              <a:t>Service</a:t>
            </a:r>
          </a:p>
        </p:txBody>
      </p:sp>
      <p:sp>
        <p:nvSpPr>
          <p:cNvPr id="23" name="Rectangle 22"/>
          <p:cNvSpPr/>
          <p:nvPr/>
        </p:nvSpPr>
        <p:spPr>
          <a:xfrm>
            <a:off x="10735056" y="1627632"/>
            <a:ext cx="18288" cy="3977639"/>
          </a:xfrm>
          <a:prstGeom prst="rect">
            <a:avLst/>
          </a:prstGeom>
          <a:solidFill>
            <a:srgbClr val="D5E0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34440" y="1837944"/>
            <a:ext cx="2377440" cy="274320"/>
          </a:xfrm>
          <a:prstGeom prst="rect">
            <a:avLst/>
          </a:prstGeom>
          <a:noFill/>
        </p:spPr>
        <p:txBody>
          <a:bodyPr wrap="square" lIns="0" rIns="0" tIns="0" bIns="0" anchor="t"/>
          <a:lstStyle/>
          <a:p>
            <a:pPr algn="ctr">
              <a:spcBef>
                <a:spcPts val="0"/>
              </a:spcBef>
              <a:spcAft>
                <a:spcPts val="200"/>
              </a:spcAft>
            </a:pPr>
            <a:r>
              <a:rPr sz="1300" b="1">
                <a:solidFill>
                  <a:srgbClr val="143252"/>
                </a:solidFill>
                <a:latin typeface="Calibri"/>
              </a:rPr>
              <a:t>1  Envoie le point</a:t>
            </a:r>
          </a:p>
        </p:txBody>
      </p:sp>
      <p:sp>
        <p:nvSpPr>
          <p:cNvPr id="25" name="Rectangle 24"/>
          <p:cNvSpPr/>
          <p:nvPr/>
        </p:nvSpPr>
        <p:spPr>
          <a:xfrm>
            <a:off x="1234440" y="2148840"/>
            <a:ext cx="2231136" cy="32004"/>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3410712" y="2075688"/>
            <a:ext cx="237744" cy="182880"/>
          </a:xfrm>
          <a:prstGeom prst="right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11880" y="2660904"/>
            <a:ext cx="2377439" cy="274320"/>
          </a:xfrm>
          <a:prstGeom prst="rect">
            <a:avLst/>
          </a:prstGeom>
          <a:noFill/>
        </p:spPr>
        <p:txBody>
          <a:bodyPr wrap="square" lIns="0" rIns="0" tIns="0" bIns="0" anchor="t"/>
          <a:lstStyle/>
          <a:p>
            <a:pPr algn="ctr">
              <a:spcBef>
                <a:spcPts val="0"/>
              </a:spcBef>
              <a:spcAft>
                <a:spcPts val="200"/>
              </a:spcAft>
            </a:pPr>
            <a:r>
              <a:rPr sz="1300" b="1">
                <a:solidFill>
                  <a:srgbClr val="143252"/>
                </a:solidFill>
                <a:latin typeface="Calibri"/>
              </a:rPr>
              <a:t>2  Assigné ?</a:t>
            </a:r>
          </a:p>
        </p:txBody>
      </p:sp>
      <p:sp>
        <p:nvSpPr>
          <p:cNvPr id="28" name="Rectangle 27"/>
          <p:cNvSpPr/>
          <p:nvPr/>
        </p:nvSpPr>
        <p:spPr>
          <a:xfrm>
            <a:off x="3611880" y="2971800"/>
            <a:ext cx="2231135" cy="32004"/>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5788152" y="2898648"/>
            <a:ext cx="237744" cy="182880"/>
          </a:xfrm>
          <a:prstGeom prst="right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11880" y="3483864"/>
            <a:ext cx="4754880" cy="274320"/>
          </a:xfrm>
          <a:prstGeom prst="rect">
            <a:avLst/>
          </a:prstGeom>
          <a:noFill/>
        </p:spPr>
        <p:txBody>
          <a:bodyPr wrap="square" lIns="0" rIns="0" tIns="0" bIns="0" anchor="t"/>
          <a:lstStyle/>
          <a:p>
            <a:pPr algn="ctr">
              <a:spcBef>
                <a:spcPts val="0"/>
              </a:spcBef>
              <a:spcAft>
                <a:spcPts val="200"/>
              </a:spcAft>
            </a:pPr>
            <a:r>
              <a:rPr sz="1300" b="1">
                <a:solidFill>
                  <a:srgbClr val="143252"/>
                </a:solidFill>
                <a:latin typeface="Calibri"/>
              </a:rPr>
              <a:t>3  Note si bloqué</a:t>
            </a:r>
          </a:p>
        </p:txBody>
      </p:sp>
      <p:sp>
        <p:nvSpPr>
          <p:cNvPr id="31" name="Rectangle 30"/>
          <p:cNvSpPr/>
          <p:nvPr/>
        </p:nvSpPr>
        <p:spPr>
          <a:xfrm>
            <a:off x="3611880" y="3794760"/>
            <a:ext cx="4608576" cy="32004"/>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8165592" y="3721608"/>
            <a:ext cx="237744" cy="182880"/>
          </a:xfrm>
          <a:prstGeom prst="right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66760" y="4306824"/>
            <a:ext cx="2377439" cy="274320"/>
          </a:xfrm>
          <a:prstGeom prst="rect">
            <a:avLst/>
          </a:prstGeom>
          <a:noFill/>
        </p:spPr>
        <p:txBody>
          <a:bodyPr wrap="square" lIns="0" rIns="0" tIns="0" bIns="0" anchor="t"/>
          <a:lstStyle/>
          <a:p>
            <a:pPr algn="ctr">
              <a:spcBef>
                <a:spcPts val="0"/>
              </a:spcBef>
              <a:spcAft>
                <a:spcPts val="200"/>
              </a:spcAft>
            </a:pPr>
            <a:r>
              <a:rPr sz="1300" b="1">
                <a:solidFill>
                  <a:srgbClr val="143252"/>
                </a:solidFill>
                <a:latin typeface="Calibri"/>
              </a:rPr>
              <a:t>4  Enregistre</a:t>
            </a:r>
          </a:p>
        </p:txBody>
      </p:sp>
      <p:sp>
        <p:nvSpPr>
          <p:cNvPr id="34" name="Rectangle 33"/>
          <p:cNvSpPr/>
          <p:nvPr/>
        </p:nvSpPr>
        <p:spPr>
          <a:xfrm>
            <a:off x="8366760" y="4617720"/>
            <a:ext cx="2231135" cy="32004"/>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ght Arrow 34"/>
          <p:cNvSpPr/>
          <p:nvPr/>
        </p:nvSpPr>
        <p:spPr>
          <a:xfrm>
            <a:off x="10543032" y="4544568"/>
            <a:ext cx="237744" cy="182880"/>
          </a:xfrm>
          <a:prstGeom prst="right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Modèle de données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C7 • Concevoir une base de données relationnelle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18</a:t>
            </a:r>
          </a:p>
        </p:txBody>
      </p:sp>
      <p:sp>
        <p:nvSpPr>
          <p:cNvPr id="9" name="Rounded Rectangle 8"/>
          <p:cNvSpPr/>
          <p:nvPr/>
        </p:nvSpPr>
        <p:spPr>
          <a:xfrm>
            <a:off x="411480" y="1097280"/>
            <a:ext cx="3200400" cy="11430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261872"/>
            <a:ext cx="2834640" cy="4114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users</a:t>
            </a:r>
          </a:p>
        </p:txBody>
      </p:sp>
      <p:sp>
        <p:nvSpPr>
          <p:cNvPr id="11" name="TextBox 10"/>
          <p:cNvSpPr txBox="1"/>
          <p:nvPr/>
        </p:nvSpPr>
        <p:spPr>
          <a:xfrm>
            <a:off x="594360" y="1719072"/>
            <a:ext cx="2834640" cy="365760"/>
          </a:xfrm>
          <a:prstGeom prst="rect">
            <a:avLst/>
          </a:prstGeom>
          <a:noFill/>
        </p:spPr>
        <p:txBody>
          <a:bodyPr wrap="square" lIns="0" rIns="0" tIns="0" bIns="0" anchor="t"/>
          <a:lstStyle/>
          <a:p>
            <a:pPr algn="l">
              <a:spcBef>
                <a:spcPts val="0"/>
              </a:spcBef>
              <a:spcAft>
                <a:spcPts val="200"/>
              </a:spcAft>
            </a:pPr>
            <a:r>
              <a:rPr sz="1400" b="0">
                <a:solidFill>
                  <a:srgbClr val="5C6B7A"/>
                </a:solidFill>
                <a:latin typeface="Calibri"/>
              </a:rPr>
              <a:t>Le compte</a:t>
            </a:r>
          </a:p>
        </p:txBody>
      </p:sp>
      <p:sp>
        <p:nvSpPr>
          <p:cNvPr id="12" name="Rounded Rectangle 11"/>
          <p:cNvSpPr/>
          <p:nvPr/>
        </p:nvSpPr>
        <p:spPr>
          <a:xfrm>
            <a:off x="4297680" y="1097280"/>
            <a:ext cx="3200400" cy="11430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261872"/>
            <a:ext cx="2834640" cy="4114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teams</a:t>
            </a:r>
          </a:p>
        </p:txBody>
      </p:sp>
      <p:sp>
        <p:nvSpPr>
          <p:cNvPr id="14" name="TextBox 13"/>
          <p:cNvSpPr txBox="1"/>
          <p:nvPr/>
        </p:nvSpPr>
        <p:spPr>
          <a:xfrm>
            <a:off x="4480560" y="1719072"/>
            <a:ext cx="2834640" cy="365760"/>
          </a:xfrm>
          <a:prstGeom prst="rect">
            <a:avLst/>
          </a:prstGeom>
          <a:noFill/>
        </p:spPr>
        <p:txBody>
          <a:bodyPr wrap="square" lIns="0" rIns="0" tIns="0" bIns="0" anchor="t"/>
          <a:lstStyle/>
          <a:p>
            <a:pPr algn="l">
              <a:spcBef>
                <a:spcPts val="0"/>
              </a:spcBef>
              <a:spcAft>
                <a:spcPts val="200"/>
              </a:spcAft>
            </a:pPr>
            <a:r>
              <a:rPr sz="1400" b="0">
                <a:solidFill>
                  <a:srgbClr val="5C6B7A"/>
                </a:solidFill>
                <a:latin typeface="Calibri"/>
              </a:rPr>
              <a:t>L'équipe</a:t>
            </a:r>
          </a:p>
        </p:txBody>
      </p:sp>
      <p:sp>
        <p:nvSpPr>
          <p:cNvPr id="15" name="Rounded Rectangle 14"/>
          <p:cNvSpPr/>
          <p:nvPr/>
        </p:nvSpPr>
        <p:spPr>
          <a:xfrm>
            <a:off x="8183879" y="1097280"/>
            <a:ext cx="3200400" cy="11430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59" y="1261872"/>
            <a:ext cx="2834640" cy="4114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projects</a:t>
            </a:r>
          </a:p>
        </p:txBody>
      </p:sp>
      <p:sp>
        <p:nvSpPr>
          <p:cNvPr id="17" name="TextBox 16"/>
          <p:cNvSpPr txBox="1"/>
          <p:nvPr/>
        </p:nvSpPr>
        <p:spPr>
          <a:xfrm>
            <a:off x="8366759" y="1719072"/>
            <a:ext cx="2834640" cy="365760"/>
          </a:xfrm>
          <a:prstGeom prst="rect">
            <a:avLst/>
          </a:prstGeom>
          <a:noFill/>
        </p:spPr>
        <p:txBody>
          <a:bodyPr wrap="square" lIns="0" rIns="0" tIns="0" bIns="0" anchor="t"/>
          <a:lstStyle/>
          <a:p>
            <a:pPr algn="l">
              <a:spcBef>
                <a:spcPts val="0"/>
              </a:spcBef>
              <a:spcAft>
                <a:spcPts val="200"/>
              </a:spcAft>
            </a:pPr>
            <a:r>
              <a:rPr sz="1400" b="0">
                <a:solidFill>
                  <a:srgbClr val="5C6B7A"/>
                </a:solidFill>
                <a:latin typeface="Calibri"/>
              </a:rPr>
              <a:t>Le projet</a:t>
            </a:r>
          </a:p>
        </p:txBody>
      </p:sp>
      <p:sp>
        <p:nvSpPr>
          <p:cNvPr id="18" name="Rounded Rectangle 17"/>
          <p:cNvSpPr/>
          <p:nvPr/>
        </p:nvSpPr>
        <p:spPr>
          <a:xfrm>
            <a:off x="2194560" y="3383280"/>
            <a:ext cx="3200400" cy="11430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77440" y="3547872"/>
            <a:ext cx="2834640" cy="4114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tasks</a:t>
            </a:r>
          </a:p>
        </p:txBody>
      </p:sp>
      <p:sp>
        <p:nvSpPr>
          <p:cNvPr id="20" name="TextBox 19"/>
          <p:cNvSpPr txBox="1"/>
          <p:nvPr/>
        </p:nvSpPr>
        <p:spPr>
          <a:xfrm>
            <a:off x="2377440" y="4005072"/>
            <a:ext cx="2834640" cy="365760"/>
          </a:xfrm>
          <a:prstGeom prst="rect">
            <a:avLst/>
          </a:prstGeom>
          <a:noFill/>
        </p:spPr>
        <p:txBody>
          <a:bodyPr wrap="square" lIns="0" rIns="0" tIns="0" bIns="0" anchor="t"/>
          <a:lstStyle/>
          <a:p>
            <a:pPr algn="l">
              <a:spcBef>
                <a:spcPts val="0"/>
              </a:spcBef>
              <a:spcAft>
                <a:spcPts val="200"/>
              </a:spcAft>
            </a:pPr>
            <a:r>
              <a:rPr sz="1400" b="0">
                <a:solidFill>
                  <a:srgbClr val="5C6B7A"/>
                </a:solidFill>
                <a:latin typeface="Calibri"/>
              </a:rPr>
              <a:t>Projet et assigné</a:t>
            </a:r>
          </a:p>
        </p:txBody>
      </p:sp>
      <p:sp>
        <p:nvSpPr>
          <p:cNvPr id="21" name="Rounded Rectangle 20"/>
          <p:cNvSpPr/>
          <p:nvPr/>
        </p:nvSpPr>
        <p:spPr>
          <a:xfrm>
            <a:off x="6583680" y="3383280"/>
            <a:ext cx="3200400" cy="11430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0" y="3547872"/>
            <a:ext cx="2834640" cy="41148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task_updates</a:t>
            </a:r>
          </a:p>
        </p:txBody>
      </p:sp>
      <p:sp>
        <p:nvSpPr>
          <p:cNvPr id="23" name="TextBox 22"/>
          <p:cNvSpPr txBox="1"/>
          <p:nvPr/>
        </p:nvSpPr>
        <p:spPr>
          <a:xfrm>
            <a:off x="6766560" y="4005072"/>
            <a:ext cx="2834640" cy="365760"/>
          </a:xfrm>
          <a:prstGeom prst="rect">
            <a:avLst/>
          </a:prstGeom>
          <a:noFill/>
        </p:spPr>
        <p:txBody>
          <a:bodyPr wrap="square" lIns="0" rIns="0" tIns="0" bIns="0" anchor="t"/>
          <a:lstStyle/>
          <a:p>
            <a:pPr algn="l">
              <a:spcBef>
                <a:spcPts val="0"/>
              </a:spcBef>
              <a:spcAft>
                <a:spcPts val="200"/>
              </a:spcAft>
            </a:pPr>
            <a:r>
              <a:rPr sz="1400" b="0">
                <a:solidFill>
                  <a:srgbClr val="5C6B7A"/>
                </a:solidFill>
                <a:latin typeface="Calibri"/>
              </a:rPr>
              <a:t>L'historique</a:t>
            </a:r>
          </a:p>
        </p:txBody>
      </p:sp>
      <p:sp>
        <p:nvSpPr>
          <p:cNvPr id="24" name="Rounded Rectangle 23"/>
          <p:cNvSpPr/>
          <p:nvPr/>
        </p:nvSpPr>
        <p:spPr>
          <a:xfrm>
            <a:off x="4160520" y="2377440"/>
            <a:ext cx="3840480" cy="82296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97680" y="2514600"/>
            <a:ext cx="3566160" cy="548640"/>
          </a:xfrm>
          <a:prstGeom prst="rect">
            <a:avLst/>
          </a:prstGeom>
          <a:noFill/>
        </p:spPr>
        <p:txBody>
          <a:bodyPr wrap="square" lIns="0" rIns="0" tIns="0" bIns="0" anchor="ctr"/>
          <a:lstStyle/>
          <a:p>
            <a:pPr algn="ctr">
              <a:spcBef>
                <a:spcPts val="0"/>
              </a:spcBef>
              <a:spcAft>
                <a:spcPts val="200"/>
              </a:spcAft>
            </a:pPr>
            <a:r>
              <a:rPr sz="1400" b="1">
                <a:solidFill>
                  <a:srgbClr val="2E6B9A"/>
                </a:solidFill>
                <a:latin typeface="Calibri"/>
              </a:rPr>
              <a:t>team_user  •  is_team_lead</a:t>
            </a:r>
          </a:p>
        </p:txBody>
      </p:sp>
      <p:sp>
        <p:nvSpPr>
          <p:cNvPr id="26" name="TextBox 25"/>
          <p:cNvSpPr txBox="1"/>
          <p:nvPr/>
        </p:nvSpPr>
        <p:spPr>
          <a:xfrm>
            <a:off x="457200" y="4754880"/>
            <a:ext cx="11247120" cy="100584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project_team relie un projet à ses équipes.</a:t>
            </a:r>
          </a:p>
          <a:p>
            <a:pPr algn="l">
              <a:spcBef>
                <a:spcPts val="0"/>
              </a:spcBef>
              <a:spcAft>
                <a:spcPts val="200"/>
              </a:spcAft>
            </a:pPr>
            <a:r>
              <a:rPr sz="1600" b="0">
                <a:solidFill>
                  <a:srgbClr val="1E2A36"/>
                </a:solidFill>
                <a:latin typeface="Calibri"/>
              </a:rPr>
              <a:t>Une tâche bloquée garde sa note. Chaque point reste dans l'historique.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Un serveur, deux clients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C6 • Définir l'architecture logicielle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19</a:t>
            </a:r>
          </a:p>
        </p:txBody>
      </p:sp>
      <p:sp>
        <p:nvSpPr>
          <p:cNvPr id="9" name="Rounded Rectangle 8"/>
          <p:cNvSpPr/>
          <p:nvPr/>
        </p:nvSpPr>
        <p:spPr>
          <a:xfrm>
            <a:off x="548640" y="1097280"/>
            <a:ext cx="5120640" cy="14173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280160"/>
            <a:ext cx="466344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Navigateur</a:t>
            </a:r>
          </a:p>
        </p:txBody>
      </p:sp>
      <p:sp>
        <p:nvSpPr>
          <p:cNvPr id="11" name="TextBox 10"/>
          <p:cNvSpPr txBox="1"/>
          <p:nvPr/>
        </p:nvSpPr>
        <p:spPr>
          <a:xfrm>
            <a:off x="777240" y="1737360"/>
            <a:ext cx="4663440" cy="45720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HTML, session</a:t>
            </a:r>
          </a:p>
        </p:txBody>
      </p:sp>
      <p:sp>
        <p:nvSpPr>
          <p:cNvPr id="12" name="Rounded Rectangle 11"/>
          <p:cNvSpPr/>
          <p:nvPr/>
        </p:nvSpPr>
        <p:spPr>
          <a:xfrm>
            <a:off x="6492240" y="1097280"/>
            <a:ext cx="5120640" cy="14173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280160"/>
            <a:ext cx="4663440" cy="365760"/>
          </a:xfrm>
          <a:prstGeom prst="rect">
            <a:avLst/>
          </a:prstGeom>
          <a:noFill/>
        </p:spPr>
        <p:txBody>
          <a:bodyPr wrap="square" lIns="0" rIns="0" tIns="0" bIns="0" anchor="t"/>
          <a:lstStyle/>
          <a:p>
            <a:pPr algn="l">
              <a:spcBef>
                <a:spcPts val="0"/>
              </a:spcBef>
              <a:spcAft>
                <a:spcPts val="200"/>
              </a:spcAft>
            </a:pPr>
            <a:r>
              <a:rPr sz="1800" b="1">
                <a:solidFill>
                  <a:srgbClr val="143252"/>
                </a:solidFill>
                <a:latin typeface="Calibri"/>
              </a:rPr>
              <a:t>Flutter</a:t>
            </a:r>
          </a:p>
        </p:txBody>
      </p:sp>
      <p:sp>
        <p:nvSpPr>
          <p:cNvPr id="14" name="TextBox 13"/>
          <p:cNvSpPr txBox="1"/>
          <p:nvPr/>
        </p:nvSpPr>
        <p:spPr>
          <a:xfrm>
            <a:off x="6720840" y="1737360"/>
            <a:ext cx="4663440" cy="457200"/>
          </a:xfrm>
          <a:prstGeom prst="rect">
            <a:avLst/>
          </a:prstGeom>
          <a:noFill/>
        </p:spPr>
        <p:txBody>
          <a:bodyPr wrap="square" lIns="0" rIns="0" tIns="0" bIns="0" anchor="t"/>
          <a:lstStyle/>
          <a:p>
            <a:pPr algn="l">
              <a:spcBef>
                <a:spcPts val="0"/>
              </a:spcBef>
              <a:spcAft>
                <a:spcPts val="200"/>
              </a:spcAft>
            </a:pPr>
            <a:r>
              <a:rPr sz="1600" b="0">
                <a:solidFill>
                  <a:srgbClr val="5C6B7A"/>
                </a:solidFill>
                <a:latin typeface="Calibri"/>
              </a:rPr>
              <a:t>JSON, jeton Sanctum</a:t>
            </a:r>
          </a:p>
        </p:txBody>
      </p:sp>
      <p:sp>
        <p:nvSpPr>
          <p:cNvPr id="15" name="Down Arrow 14"/>
          <p:cNvSpPr/>
          <p:nvPr/>
        </p:nvSpPr>
        <p:spPr>
          <a:xfrm>
            <a:off x="5806440" y="2651760"/>
            <a:ext cx="502920" cy="347472"/>
          </a:xfrm>
          <a:prstGeom prst="down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645920" y="3108960"/>
            <a:ext cx="8869680" cy="123444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28800" y="3246120"/>
            <a:ext cx="8503920" cy="365760"/>
          </a:xfrm>
          <a:prstGeom prst="rect">
            <a:avLst/>
          </a:prstGeom>
          <a:noFill/>
        </p:spPr>
        <p:txBody>
          <a:bodyPr wrap="square" lIns="0" rIns="0" tIns="0" bIns="0" anchor="t"/>
          <a:lstStyle/>
          <a:p>
            <a:pPr algn="ctr">
              <a:spcBef>
                <a:spcPts val="0"/>
              </a:spcBef>
              <a:spcAft>
                <a:spcPts val="200"/>
              </a:spcAft>
            </a:pPr>
            <a:r>
              <a:rPr sz="1800" b="1">
                <a:solidFill>
                  <a:srgbClr val="143252"/>
                </a:solidFill>
                <a:latin typeface="Calibri"/>
              </a:rPr>
              <a:t>Laravel  •  routes/web.php</a:t>
            </a:r>
          </a:p>
        </p:txBody>
      </p:sp>
      <p:sp>
        <p:nvSpPr>
          <p:cNvPr id="18" name="TextBox 17"/>
          <p:cNvSpPr txBox="1"/>
          <p:nvPr/>
        </p:nvSpPr>
        <p:spPr>
          <a:xfrm>
            <a:off x="1828800" y="3703320"/>
            <a:ext cx="8503920" cy="411480"/>
          </a:xfrm>
          <a:prstGeom prst="rect">
            <a:avLst/>
          </a:prstGeom>
          <a:noFill/>
        </p:spPr>
        <p:txBody>
          <a:bodyPr wrap="square" lIns="0" rIns="0" tIns="0" bIns="0" anchor="t"/>
          <a:lstStyle/>
          <a:p>
            <a:pPr algn="ctr">
              <a:spcBef>
                <a:spcPts val="0"/>
              </a:spcBef>
              <a:spcAft>
                <a:spcPts val="200"/>
              </a:spcAft>
            </a:pPr>
            <a:r>
              <a:rPr sz="1500" b="0">
                <a:solidFill>
                  <a:srgbClr val="1E2A36"/>
                </a:solidFill>
                <a:latin typeface="Calibri"/>
              </a:rPr>
              <a:t>respond() selon Accept: application/json</a:t>
            </a:r>
          </a:p>
        </p:txBody>
      </p:sp>
      <p:sp>
        <p:nvSpPr>
          <p:cNvPr id="19" name="Down Arrow 18"/>
          <p:cNvSpPr/>
          <p:nvPr/>
        </p:nvSpPr>
        <p:spPr>
          <a:xfrm>
            <a:off x="5806440" y="4480560"/>
            <a:ext cx="502920" cy="292608"/>
          </a:xfrm>
          <a:prstGeom prst="downArrow">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200400" y="4846320"/>
            <a:ext cx="5760720" cy="9601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83280" y="5010912"/>
            <a:ext cx="5394960" cy="640080"/>
          </a:xfrm>
          <a:prstGeom prst="rect">
            <a:avLst/>
          </a:prstGeom>
          <a:noFill/>
        </p:spPr>
        <p:txBody>
          <a:bodyPr wrap="square" lIns="0" rIns="0" tIns="0" bIns="0" anchor="ctr"/>
          <a:lstStyle/>
          <a:p>
            <a:pPr algn="ctr">
              <a:spcBef>
                <a:spcPts val="0"/>
              </a:spcBef>
              <a:spcAft>
                <a:spcPts val="200"/>
              </a:spcAft>
            </a:pPr>
            <a:r>
              <a:rPr sz="1600" b="1">
                <a:solidFill>
                  <a:srgbClr val="143252"/>
                </a:solidFill>
                <a:latin typeface="Calibri"/>
              </a:rPr>
              <a:t>MySQL    Les clients n'y accèdent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Technologies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C1 • Installer et configurer son environnement</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20</a:t>
            </a:r>
          </a:p>
        </p:txBody>
      </p:sp>
      <p:sp>
        <p:nvSpPr>
          <p:cNvPr id="9" name="Rounded Rectangle 8"/>
          <p:cNvSpPr/>
          <p:nvPr/>
        </p:nvSpPr>
        <p:spPr>
          <a:xfrm>
            <a:off x="411480" y="1143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40080" y="1417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508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1</a:t>
            </a:r>
          </a:p>
        </p:txBody>
      </p:sp>
      <p:sp>
        <p:nvSpPr>
          <p:cNvPr id="12" name="TextBox 11"/>
          <p:cNvSpPr txBox="1"/>
          <p:nvPr/>
        </p:nvSpPr>
        <p:spPr>
          <a:xfrm>
            <a:off x="1325880" y="1463040"/>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Laravel, PHP</a:t>
            </a:r>
          </a:p>
        </p:txBody>
      </p:sp>
      <p:sp>
        <p:nvSpPr>
          <p:cNvPr id="13" name="TextBox 12"/>
          <p:cNvSpPr txBox="1"/>
          <p:nvPr/>
        </p:nvSpPr>
        <p:spPr>
          <a:xfrm>
            <a:off x="640080" y="2194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Serveur, validation, politiques</a:t>
            </a:r>
          </a:p>
        </p:txBody>
      </p:sp>
      <p:sp>
        <p:nvSpPr>
          <p:cNvPr id="14" name="Rounded Rectangle 13"/>
          <p:cNvSpPr/>
          <p:nvPr/>
        </p:nvSpPr>
        <p:spPr>
          <a:xfrm>
            <a:off x="4297680" y="1143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26280" y="1417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508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2</a:t>
            </a:r>
          </a:p>
        </p:txBody>
      </p:sp>
      <p:sp>
        <p:nvSpPr>
          <p:cNvPr id="17" name="TextBox 16"/>
          <p:cNvSpPr txBox="1"/>
          <p:nvPr/>
        </p:nvSpPr>
        <p:spPr>
          <a:xfrm>
            <a:off x="5212080" y="1463040"/>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Blade, Bootstrap</a:t>
            </a:r>
          </a:p>
        </p:txBody>
      </p:sp>
      <p:sp>
        <p:nvSpPr>
          <p:cNvPr id="18" name="TextBox 17"/>
          <p:cNvSpPr txBox="1"/>
          <p:nvPr/>
        </p:nvSpPr>
        <p:spPr>
          <a:xfrm>
            <a:off x="4526280" y="2194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Écrans web, sans npm</a:t>
            </a:r>
          </a:p>
        </p:txBody>
      </p:sp>
      <p:sp>
        <p:nvSpPr>
          <p:cNvPr id="19" name="Rounded Rectangle 18"/>
          <p:cNvSpPr/>
          <p:nvPr/>
        </p:nvSpPr>
        <p:spPr>
          <a:xfrm>
            <a:off x="8183879" y="1143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1417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0" y="1508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3</a:t>
            </a:r>
          </a:p>
        </p:txBody>
      </p:sp>
      <p:sp>
        <p:nvSpPr>
          <p:cNvPr id="22" name="TextBox 21"/>
          <p:cNvSpPr txBox="1"/>
          <p:nvPr/>
        </p:nvSpPr>
        <p:spPr>
          <a:xfrm>
            <a:off x="9098280" y="1463040"/>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MySQL</a:t>
            </a:r>
          </a:p>
        </p:txBody>
      </p:sp>
      <p:sp>
        <p:nvSpPr>
          <p:cNvPr id="23" name="TextBox 22"/>
          <p:cNvSpPr txBox="1"/>
          <p:nvPr/>
        </p:nvSpPr>
        <p:spPr>
          <a:xfrm>
            <a:off x="8412480" y="2194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Données relationnelles</a:t>
            </a:r>
          </a:p>
        </p:txBody>
      </p:sp>
      <p:sp>
        <p:nvSpPr>
          <p:cNvPr id="24" name="Rounded Rectangle 23"/>
          <p:cNvSpPr/>
          <p:nvPr/>
        </p:nvSpPr>
        <p:spPr>
          <a:xfrm>
            <a:off x="411480" y="3429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080" y="3703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794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4</a:t>
            </a:r>
          </a:p>
        </p:txBody>
      </p:sp>
      <p:sp>
        <p:nvSpPr>
          <p:cNvPr id="27" name="TextBox 26"/>
          <p:cNvSpPr txBox="1"/>
          <p:nvPr/>
        </p:nvSpPr>
        <p:spPr>
          <a:xfrm>
            <a:off x="1325880" y="3749039"/>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Flutter</a:t>
            </a:r>
          </a:p>
        </p:txBody>
      </p:sp>
      <p:sp>
        <p:nvSpPr>
          <p:cNvPr id="28" name="TextBox 27"/>
          <p:cNvSpPr txBox="1"/>
          <p:nvPr/>
        </p:nvSpPr>
        <p:spPr>
          <a:xfrm>
            <a:off x="6400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Les trois rôles sur téléphone</a:t>
            </a:r>
          </a:p>
        </p:txBody>
      </p:sp>
      <p:sp>
        <p:nvSpPr>
          <p:cNvPr id="29" name="Rounded Rectangle 28"/>
          <p:cNvSpPr/>
          <p:nvPr/>
        </p:nvSpPr>
        <p:spPr>
          <a:xfrm>
            <a:off x="4297680" y="3429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526280" y="3703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26280" y="3794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5</a:t>
            </a:r>
          </a:p>
        </p:txBody>
      </p:sp>
      <p:sp>
        <p:nvSpPr>
          <p:cNvPr id="32" name="TextBox 31"/>
          <p:cNvSpPr txBox="1"/>
          <p:nvPr/>
        </p:nvSpPr>
        <p:spPr>
          <a:xfrm>
            <a:off x="5212080" y="3749039"/>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Sanctum</a:t>
            </a:r>
          </a:p>
        </p:txBody>
      </p:sp>
      <p:sp>
        <p:nvSpPr>
          <p:cNvPr id="33" name="TextBox 32"/>
          <p:cNvSpPr txBox="1"/>
          <p:nvPr/>
        </p:nvSpPr>
        <p:spPr>
          <a:xfrm>
            <a:off x="45262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Jeton mobile, session web</a:t>
            </a:r>
          </a:p>
        </p:txBody>
      </p:sp>
      <p:sp>
        <p:nvSpPr>
          <p:cNvPr id="34" name="Rounded Rectangle 33"/>
          <p:cNvSpPr/>
          <p:nvPr/>
        </p:nvSpPr>
        <p:spPr>
          <a:xfrm>
            <a:off x="8183879" y="3429000"/>
            <a:ext cx="3703320" cy="205740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412480" y="3703320"/>
            <a:ext cx="502920" cy="502920"/>
          </a:xfrm>
          <a:prstGeom prst="ellipse">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12480" y="3794760"/>
            <a:ext cx="502920" cy="320040"/>
          </a:xfrm>
          <a:prstGeom prst="rect">
            <a:avLst/>
          </a:prstGeom>
          <a:noFill/>
        </p:spPr>
        <p:txBody>
          <a:bodyPr wrap="square" lIns="0" rIns="0" tIns="0" bIns="0" anchor="t"/>
          <a:lstStyle/>
          <a:p>
            <a:pPr algn="ctr">
              <a:spcBef>
                <a:spcPts val="0"/>
              </a:spcBef>
              <a:spcAft>
                <a:spcPts val="200"/>
              </a:spcAft>
            </a:pPr>
            <a:r>
              <a:rPr sz="1400" b="1">
                <a:solidFill>
                  <a:srgbClr val="2E6B9A"/>
                </a:solidFill>
                <a:latin typeface="Calibri"/>
              </a:rPr>
              <a:t>6</a:t>
            </a:r>
          </a:p>
        </p:txBody>
      </p:sp>
      <p:sp>
        <p:nvSpPr>
          <p:cNvPr id="37" name="TextBox 36"/>
          <p:cNvSpPr txBox="1"/>
          <p:nvPr/>
        </p:nvSpPr>
        <p:spPr>
          <a:xfrm>
            <a:off x="9098280" y="3749039"/>
            <a:ext cx="2560320" cy="457200"/>
          </a:xfrm>
          <a:prstGeom prst="rect">
            <a:avLst/>
          </a:prstGeom>
          <a:noFill/>
        </p:spPr>
        <p:txBody>
          <a:bodyPr wrap="square" lIns="0" rIns="0" tIns="0" bIns="0" anchor="ctr"/>
          <a:lstStyle/>
          <a:p>
            <a:pPr algn="l">
              <a:spcBef>
                <a:spcPts val="0"/>
              </a:spcBef>
              <a:spcAft>
                <a:spcPts val="200"/>
              </a:spcAft>
            </a:pPr>
            <a:r>
              <a:rPr sz="1600" b="1">
                <a:solidFill>
                  <a:srgbClr val="143252"/>
                </a:solidFill>
                <a:latin typeface="Calibri"/>
              </a:rPr>
              <a:t>PHPUnit</a:t>
            </a:r>
          </a:p>
        </p:txBody>
      </p:sp>
      <p:sp>
        <p:nvSpPr>
          <p:cNvPr id="38" name="TextBox 37"/>
          <p:cNvSpPr txBox="1"/>
          <p:nvPr/>
        </p:nvSpPr>
        <p:spPr>
          <a:xfrm>
            <a:off x="84124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Les refus d'accès, rejoués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Sécurité et droits d'accès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C1 • Développer une application sécurisée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21</a:t>
            </a:r>
          </a:p>
        </p:txBody>
      </p:sp>
      <p:sp>
        <p:nvSpPr>
          <p:cNvPr id="9" name="Rounded Rectangle 8"/>
          <p:cNvSpPr/>
          <p:nvPr/>
        </p:nvSpPr>
        <p:spPr>
          <a:xfrm>
            <a:off x="411480" y="1097280"/>
            <a:ext cx="3703320" cy="2148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17319"/>
            <a:ext cx="3246120" cy="548640"/>
          </a:xfrm>
          <a:prstGeom prst="rect">
            <a:avLst/>
          </a:prstGeom>
          <a:noFill/>
        </p:spPr>
        <p:txBody>
          <a:bodyPr wrap="square" lIns="0" rIns="0" tIns="0" bIns="0" anchor="t"/>
          <a:lstStyle/>
          <a:p>
            <a:pPr algn="l">
              <a:spcBef>
                <a:spcPts val="0"/>
              </a:spcBef>
              <a:spcAft>
                <a:spcPts val="200"/>
              </a:spcAft>
            </a:pPr>
            <a:r>
              <a:rPr sz="1600" b="1">
                <a:solidFill>
                  <a:srgbClr val="143252"/>
                </a:solidFill>
                <a:latin typeface="Calibri"/>
              </a:rPr>
              <a:t>Mots de passe</a:t>
            </a:r>
          </a:p>
        </p:txBody>
      </p:sp>
      <p:sp>
        <p:nvSpPr>
          <p:cNvPr id="11" name="TextBox 10"/>
          <p:cNvSpPr txBox="1"/>
          <p:nvPr/>
        </p:nvSpPr>
        <p:spPr>
          <a:xfrm>
            <a:off x="640080" y="2148839"/>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Hachés, jamais renvoyés.</a:t>
            </a:r>
          </a:p>
        </p:txBody>
      </p:sp>
      <p:sp>
        <p:nvSpPr>
          <p:cNvPr id="12" name="Rounded Rectangle 11"/>
          <p:cNvSpPr/>
          <p:nvPr/>
        </p:nvSpPr>
        <p:spPr>
          <a:xfrm>
            <a:off x="4297680" y="1097280"/>
            <a:ext cx="3703320" cy="2148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1417319"/>
            <a:ext cx="3246120" cy="548640"/>
          </a:xfrm>
          <a:prstGeom prst="rect">
            <a:avLst/>
          </a:prstGeom>
          <a:noFill/>
        </p:spPr>
        <p:txBody>
          <a:bodyPr wrap="square" lIns="0" rIns="0" tIns="0" bIns="0" anchor="t"/>
          <a:lstStyle/>
          <a:p>
            <a:pPr algn="l">
              <a:spcBef>
                <a:spcPts val="0"/>
              </a:spcBef>
              <a:spcAft>
                <a:spcPts val="200"/>
              </a:spcAft>
            </a:pPr>
            <a:r>
              <a:rPr sz="1600" b="1">
                <a:solidFill>
                  <a:srgbClr val="143252"/>
                </a:solidFill>
                <a:latin typeface="Calibri"/>
              </a:rPr>
              <a:t>Session et jeton</a:t>
            </a:r>
          </a:p>
        </p:txBody>
      </p:sp>
      <p:sp>
        <p:nvSpPr>
          <p:cNvPr id="14" name="TextBox 13"/>
          <p:cNvSpPr txBox="1"/>
          <p:nvPr/>
        </p:nvSpPr>
        <p:spPr>
          <a:xfrm>
            <a:off x="4526280" y="2148839"/>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Session web, Bearer mobile.</a:t>
            </a:r>
          </a:p>
        </p:txBody>
      </p:sp>
      <p:sp>
        <p:nvSpPr>
          <p:cNvPr id="15" name="Rounded Rectangle 14"/>
          <p:cNvSpPr/>
          <p:nvPr/>
        </p:nvSpPr>
        <p:spPr>
          <a:xfrm>
            <a:off x="8183879" y="1097280"/>
            <a:ext cx="3703320" cy="2148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417319"/>
            <a:ext cx="3246120" cy="548640"/>
          </a:xfrm>
          <a:prstGeom prst="rect">
            <a:avLst/>
          </a:prstGeom>
          <a:noFill/>
        </p:spPr>
        <p:txBody>
          <a:bodyPr wrap="square" lIns="0" rIns="0" tIns="0" bIns="0" anchor="t"/>
          <a:lstStyle/>
          <a:p>
            <a:pPr algn="l">
              <a:spcBef>
                <a:spcPts val="0"/>
              </a:spcBef>
              <a:spcAft>
                <a:spcPts val="200"/>
              </a:spcAft>
            </a:pPr>
            <a:r>
              <a:rPr sz="1600" b="1">
                <a:solidFill>
                  <a:srgbClr val="143252"/>
                </a:solidFill>
                <a:latin typeface="Calibri"/>
              </a:rPr>
              <a:t>CSRF</a:t>
            </a:r>
          </a:p>
        </p:txBody>
      </p:sp>
      <p:sp>
        <p:nvSpPr>
          <p:cNvPr id="17" name="TextBox 16"/>
          <p:cNvSpPr txBox="1"/>
          <p:nvPr/>
        </p:nvSpPr>
        <p:spPr>
          <a:xfrm>
            <a:off x="8412480" y="2148839"/>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Formulaires web. Pas le jeton.</a:t>
            </a:r>
          </a:p>
        </p:txBody>
      </p:sp>
      <p:sp>
        <p:nvSpPr>
          <p:cNvPr id="18" name="Rounded Rectangle 17"/>
          <p:cNvSpPr/>
          <p:nvPr/>
        </p:nvSpPr>
        <p:spPr>
          <a:xfrm>
            <a:off x="411480" y="3429000"/>
            <a:ext cx="3703320" cy="2148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749039"/>
            <a:ext cx="3246120" cy="548640"/>
          </a:xfrm>
          <a:prstGeom prst="rect">
            <a:avLst/>
          </a:prstGeom>
          <a:noFill/>
        </p:spPr>
        <p:txBody>
          <a:bodyPr wrap="square" lIns="0" rIns="0" tIns="0" bIns="0" anchor="t"/>
          <a:lstStyle/>
          <a:p>
            <a:pPr algn="l">
              <a:spcBef>
                <a:spcPts val="0"/>
              </a:spcBef>
              <a:spcAft>
                <a:spcPts val="200"/>
              </a:spcAft>
            </a:pPr>
            <a:r>
              <a:rPr sz="1600" b="1">
                <a:solidFill>
                  <a:srgbClr val="143252"/>
                </a:solidFill>
                <a:latin typeface="Calibri"/>
              </a:rPr>
              <a:t>Rôles puis politique</a:t>
            </a:r>
          </a:p>
        </p:txBody>
      </p:sp>
      <p:sp>
        <p:nvSpPr>
          <p:cNvPr id="20" name="TextBox 19"/>
          <p:cNvSpPr txBox="1"/>
          <p:nvPr/>
        </p:nvSpPr>
        <p:spPr>
          <a:xfrm>
            <a:off x="6400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Le droit se teste sur la ressource.</a:t>
            </a:r>
          </a:p>
        </p:txBody>
      </p:sp>
      <p:sp>
        <p:nvSpPr>
          <p:cNvPr id="21" name="Rounded Rectangle 20"/>
          <p:cNvSpPr/>
          <p:nvPr/>
        </p:nvSpPr>
        <p:spPr>
          <a:xfrm>
            <a:off x="4297680" y="3429000"/>
            <a:ext cx="3703320" cy="21488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80" y="3749039"/>
            <a:ext cx="3246120" cy="548640"/>
          </a:xfrm>
          <a:prstGeom prst="rect">
            <a:avLst/>
          </a:prstGeom>
          <a:noFill/>
        </p:spPr>
        <p:txBody>
          <a:bodyPr wrap="square" lIns="0" rIns="0" tIns="0" bIns="0" anchor="t"/>
          <a:lstStyle/>
          <a:p>
            <a:pPr algn="l">
              <a:spcBef>
                <a:spcPts val="0"/>
              </a:spcBef>
              <a:spcAft>
                <a:spcPts val="200"/>
              </a:spcAft>
            </a:pPr>
            <a:r>
              <a:rPr sz="1600" b="1">
                <a:solidFill>
                  <a:srgbClr val="143252"/>
                </a:solidFill>
                <a:latin typeface="Calibri"/>
              </a:rPr>
              <a:t>Validation</a:t>
            </a:r>
          </a:p>
        </p:txBody>
      </p:sp>
      <p:sp>
        <p:nvSpPr>
          <p:cNvPr id="23" name="TextBox 22"/>
          <p:cNvSpPr txBox="1"/>
          <p:nvPr/>
        </p:nvSpPr>
        <p:spPr>
          <a:xfrm>
            <a:off x="45262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Avant toute écriture.</a:t>
            </a:r>
          </a:p>
        </p:txBody>
      </p:sp>
      <p:sp>
        <p:nvSpPr>
          <p:cNvPr id="24" name="Rounded Rectangle 23"/>
          <p:cNvSpPr/>
          <p:nvPr/>
        </p:nvSpPr>
        <p:spPr>
          <a:xfrm>
            <a:off x="8183879" y="3429000"/>
            <a:ext cx="3703320" cy="214884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3749039"/>
            <a:ext cx="3246120" cy="548640"/>
          </a:xfrm>
          <a:prstGeom prst="rect">
            <a:avLst/>
          </a:prstGeom>
          <a:noFill/>
        </p:spPr>
        <p:txBody>
          <a:bodyPr wrap="square" lIns="0" rIns="0" tIns="0" bIns="0" anchor="t"/>
          <a:lstStyle/>
          <a:p>
            <a:pPr algn="l">
              <a:spcBef>
                <a:spcPts val="0"/>
              </a:spcBef>
              <a:spcAft>
                <a:spcPts val="200"/>
              </a:spcAft>
            </a:pPr>
            <a:r>
              <a:rPr sz="1600" b="1">
                <a:solidFill>
                  <a:srgbClr val="8C3A4A"/>
                </a:solidFill>
                <a:latin typeface="Calibri"/>
              </a:rPr>
              <a:t>Limite assumée</a:t>
            </a:r>
          </a:p>
        </p:txBody>
      </p:sp>
      <p:sp>
        <p:nvSpPr>
          <p:cNvPr id="26" name="TextBox 25"/>
          <p:cNvSpPr txBox="1"/>
          <p:nvPr/>
        </p:nvSpPr>
        <p:spPr>
          <a:xfrm>
            <a:off x="8412480" y="4480560"/>
            <a:ext cx="3246120" cy="731520"/>
          </a:xfrm>
          <a:prstGeom prst="rect">
            <a:avLst/>
          </a:prstGeom>
          <a:noFill/>
        </p:spPr>
        <p:txBody>
          <a:bodyPr wrap="square" lIns="0" rIns="0" tIns="0" bIns="0" anchor="t"/>
          <a:lstStyle/>
          <a:p>
            <a:pPr algn="l">
              <a:spcBef>
                <a:spcPts val="0"/>
              </a:spcBef>
              <a:spcAft>
                <a:spcPts val="200"/>
              </a:spcAft>
            </a:pPr>
            <a:r>
              <a:rPr sz="1500" b="0">
                <a:solidFill>
                  <a:srgbClr val="5C6B7A"/>
                </a:solidFill>
                <a:latin typeface="Calibri"/>
              </a:rPr>
              <a:t>Pas de blocage des tentatives. Jetons sans date d'expiration.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1 — Accès sans authentification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22</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Ouvrir le tableau de bord sans être connecté.</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L'invité est renvoyé vers la page de connexion. La racine du site redirige aussi vers le login.</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2 — Identifiants incorrects</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23</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Envoyer une connexion JSON avec un mauvais mot de passe.</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Le serveur refuse. La réponse JSON est une erreur de validation, code 422. Aucun jeton n'est émis.</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3 — Tâche bloquée sans note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24</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Passer une tâche au statut bloqué sans écrire la note de blocage.</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La validation refuse l'enregistrement. La même règle vaut pour le formulaire web et pour l'appel JSON.</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4 — Tâche d'un autre membre</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25</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Avec un compte membre, tenter de mettre à jour une tâche assignée à quelqu'un d'autre.</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La politique updateStatus refuse. Seul l'assigné enregistre l'avancement.</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5 — Membre vers l'administration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26</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Avec un compte membre, ouvrir le tableau de bord administrateur.</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L'accès est refusé. Le membre ne crée pas non plus un utilisateur.</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6 — Le chef ne crée pas le projet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27</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Avec un compte chef d'équipe, tenter de créer un projet.</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La création de projet reste à l'administrateur. Le test vérifie le refus. Le chef peut, lui, créer une tâche dans un projet de ses équipes.</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Cas de test 7 — Jeton mobile absent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C9 • Préparer et exécuter les plans de tests</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28</a:t>
            </a:r>
          </a:p>
        </p:txBody>
      </p:sp>
      <p:sp>
        <p:nvSpPr>
          <p:cNvPr id="9" name="Rounded Rectangle 8"/>
          <p:cNvSpPr/>
          <p:nvPr/>
        </p:nvSpPr>
        <p:spPr>
          <a:xfrm>
            <a:off x="457200" y="1097280"/>
            <a:ext cx="11247120" cy="155448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3444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Démarche</a:t>
            </a:r>
          </a:p>
        </p:txBody>
      </p:sp>
      <p:sp>
        <p:nvSpPr>
          <p:cNvPr id="11" name="TextBox 10"/>
          <p:cNvSpPr txBox="1"/>
          <p:nvPr/>
        </p:nvSpPr>
        <p:spPr>
          <a:xfrm>
            <a:off x="685800" y="1554480"/>
            <a:ext cx="10789920" cy="86868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Appeler le tableau de bord en JSON sans envoyer le jeton Sanctum.</a:t>
            </a:r>
          </a:p>
        </p:txBody>
      </p:sp>
      <p:sp>
        <p:nvSpPr>
          <p:cNvPr id="12" name="Rounded Rectangle 11"/>
          <p:cNvSpPr/>
          <p:nvPr/>
        </p:nvSpPr>
        <p:spPr>
          <a:xfrm>
            <a:off x="457200" y="2834640"/>
            <a:ext cx="11247120" cy="164592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971800"/>
            <a:ext cx="10789920" cy="274320"/>
          </a:xfrm>
          <a:prstGeom prst="rect">
            <a:avLst/>
          </a:prstGeom>
          <a:noFill/>
        </p:spPr>
        <p:txBody>
          <a:bodyPr wrap="square" lIns="0" rIns="0" tIns="0" bIns="0" anchor="t"/>
          <a:lstStyle/>
          <a:p>
            <a:pPr algn="l">
              <a:spcBef>
                <a:spcPts val="0"/>
              </a:spcBef>
              <a:spcAft>
                <a:spcPts val="200"/>
              </a:spcAft>
            </a:pPr>
            <a:r>
              <a:rPr sz="1300" b="1">
                <a:solidFill>
                  <a:srgbClr val="2E6B9A"/>
                </a:solidFill>
                <a:latin typeface="Calibri"/>
              </a:rPr>
              <a:t>Résultat attendu et obtenu</a:t>
            </a:r>
          </a:p>
        </p:txBody>
      </p:sp>
      <p:sp>
        <p:nvSpPr>
          <p:cNvPr id="14" name="TextBox 13"/>
          <p:cNvSpPr txBox="1"/>
          <p:nvPr/>
        </p:nvSpPr>
        <p:spPr>
          <a:xfrm>
            <a:off x="685800" y="3291840"/>
            <a:ext cx="10789920" cy="96012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La réponse est 401. Avec un jeton valide, le membre lit son tableau et peut enregistrer un point.</a:t>
            </a:r>
          </a:p>
        </p:txBody>
      </p:sp>
      <p:sp>
        <p:nvSpPr>
          <p:cNvPr id="15" name="Rounded Rectangle 14"/>
          <p:cNvSpPr/>
          <p:nvPr/>
        </p:nvSpPr>
        <p:spPr>
          <a:xfrm>
            <a:off x="457200" y="4663440"/>
            <a:ext cx="11247120" cy="1143000"/>
          </a:xfrm>
          <a:prstGeom prst="roundRect">
            <a:avLst>
              <a:gd name="adj" fmla="val 8000"/>
            </a:avLst>
          </a:prstGeom>
          <a:solidFill>
            <a:srgbClr val="102A43"/>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92040"/>
            <a:ext cx="10789920" cy="685800"/>
          </a:xfrm>
          <a:prstGeom prst="rect">
            <a:avLst/>
          </a:prstGeom>
          <a:noFill/>
        </p:spPr>
        <p:txBody>
          <a:bodyPr wrap="square" lIns="0" rIns="0" tIns="0" bIns="0" anchor="ctr"/>
          <a:lstStyle/>
          <a:p>
            <a:pPr algn="l">
              <a:spcBef>
                <a:spcPts val="0"/>
              </a:spcBef>
              <a:spcAft>
                <a:spcPts val="200"/>
              </a:spcAft>
            </a:pPr>
            <a:r>
              <a:rPr sz="1600" b="1">
                <a:solidFill>
                  <a:srgbClr val="FFFFFF"/>
                </a:solidFill>
                <a:latin typeface="Calibri"/>
              </a:rPr>
              <a:t>Conclusion    Résultat conforme. La suite PHPUnit couvre ce cas.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Démonstration</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C2 • Développer des interfaces utilisateur</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29</a:t>
            </a:r>
          </a:p>
        </p:txBody>
      </p:sp>
      <p:pic>
        <p:nvPicPr>
          <p:cNvPr id="9" name="Picture 8" descr="lead.png"/>
          <p:cNvPicPr>
            <a:picLocks noChangeAspect="1"/>
          </p:cNvPicPr>
          <p:nvPr/>
        </p:nvPicPr>
        <p:blipFill>
          <a:blip r:embed="rId3"/>
          <a:stretch>
            <a:fillRect/>
          </a:stretch>
        </p:blipFill>
        <p:spPr>
          <a:xfrm>
            <a:off x="365760" y="1931469"/>
            <a:ext cx="3749039" cy="2172100"/>
          </a:xfrm>
          <a:prstGeom prst="rect">
            <a:avLst/>
          </a:prstGeom>
        </p:spPr>
      </p:pic>
      <p:sp>
        <p:nvSpPr>
          <p:cNvPr id="10" name="TextBox 9"/>
          <p:cNvSpPr txBox="1"/>
          <p:nvPr/>
        </p:nvSpPr>
        <p:spPr>
          <a:xfrm>
            <a:off x="365760" y="5029200"/>
            <a:ext cx="3749039" cy="365760"/>
          </a:xfrm>
          <a:prstGeom prst="rect">
            <a:avLst/>
          </a:prstGeom>
          <a:noFill/>
        </p:spPr>
        <p:txBody>
          <a:bodyPr wrap="square" lIns="0" rIns="0" tIns="0" bIns="0" anchor="t"/>
          <a:lstStyle/>
          <a:p>
            <a:pPr algn="ctr">
              <a:spcBef>
                <a:spcPts val="0"/>
              </a:spcBef>
              <a:spcAft>
                <a:spcPts val="200"/>
              </a:spcAft>
            </a:pPr>
            <a:r>
              <a:rPr sz="1400" b="1">
                <a:solidFill>
                  <a:srgbClr val="143252"/>
                </a:solidFill>
                <a:latin typeface="Calibri"/>
              </a:rPr>
              <a:t>Chef d'équipe</a:t>
            </a:r>
          </a:p>
        </p:txBody>
      </p:sp>
      <p:pic>
        <p:nvPicPr>
          <p:cNvPr id="11" name="Picture 10" descr="blocked.png"/>
          <p:cNvPicPr>
            <a:picLocks noChangeAspect="1"/>
          </p:cNvPicPr>
          <p:nvPr/>
        </p:nvPicPr>
        <p:blipFill>
          <a:blip r:embed="rId4"/>
          <a:stretch>
            <a:fillRect/>
          </a:stretch>
        </p:blipFill>
        <p:spPr>
          <a:xfrm>
            <a:off x="4279392" y="1794395"/>
            <a:ext cx="3749039" cy="2446248"/>
          </a:xfrm>
          <a:prstGeom prst="rect">
            <a:avLst/>
          </a:prstGeom>
        </p:spPr>
      </p:pic>
      <p:sp>
        <p:nvSpPr>
          <p:cNvPr id="12" name="TextBox 11"/>
          <p:cNvSpPr txBox="1"/>
          <p:nvPr/>
        </p:nvSpPr>
        <p:spPr>
          <a:xfrm>
            <a:off x="4279392" y="5029200"/>
            <a:ext cx="3749039" cy="365760"/>
          </a:xfrm>
          <a:prstGeom prst="rect">
            <a:avLst/>
          </a:prstGeom>
          <a:noFill/>
        </p:spPr>
        <p:txBody>
          <a:bodyPr wrap="square" lIns="0" rIns="0" tIns="0" bIns="0" anchor="t"/>
          <a:lstStyle/>
          <a:p>
            <a:pPr algn="ctr">
              <a:spcBef>
                <a:spcPts val="0"/>
              </a:spcBef>
              <a:spcAft>
                <a:spcPts val="200"/>
              </a:spcAft>
            </a:pPr>
            <a:r>
              <a:rPr sz="1400" b="1">
                <a:solidFill>
                  <a:srgbClr val="143252"/>
                </a:solidFill>
                <a:latin typeface="Calibri"/>
              </a:rPr>
              <a:t>Point d'avancement</a:t>
            </a:r>
          </a:p>
        </p:txBody>
      </p:sp>
      <p:pic>
        <p:nvPicPr>
          <p:cNvPr id="13" name="Picture 12" descr="admin.png"/>
          <p:cNvPicPr>
            <a:picLocks noChangeAspect="1"/>
          </p:cNvPicPr>
          <p:nvPr/>
        </p:nvPicPr>
        <p:blipFill>
          <a:blip r:embed="rId5"/>
          <a:stretch>
            <a:fillRect/>
          </a:stretch>
        </p:blipFill>
        <p:spPr>
          <a:xfrm>
            <a:off x="8193024" y="1794395"/>
            <a:ext cx="3749039" cy="2446248"/>
          </a:xfrm>
          <a:prstGeom prst="rect">
            <a:avLst/>
          </a:prstGeom>
        </p:spPr>
      </p:pic>
      <p:sp>
        <p:nvSpPr>
          <p:cNvPr id="14" name="TextBox 13"/>
          <p:cNvSpPr txBox="1"/>
          <p:nvPr/>
        </p:nvSpPr>
        <p:spPr>
          <a:xfrm>
            <a:off x="8193024" y="5029200"/>
            <a:ext cx="3749039" cy="365760"/>
          </a:xfrm>
          <a:prstGeom prst="rect">
            <a:avLst/>
          </a:prstGeom>
          <a:noFill/>
        </p:spPr>
        <p:txBody>
          <a:bodyPr wrap="square" lIns="0" rIns="0" tIns="0" bIns="0" anchor="t"/>
          <a:lstStyle/>
          <a:p>
            <a:pPr algn="ctr">
              <a:spcBef>
                <a:spcPts val="0"/>
              </a:spcBef>
              <a:spcAft>
                <a:spcPts val="200"/>
              </a:spcAft>
            </a:pPr>
            <a:r>
              <a:rPr sz="1400" b="1">
                <a:solidFill>
                  <a:srgbClr val="143252"/>
                </a:solidFill>
                <a:latin typeface="Calibri"/>
              </a:rPr>
              <a:t>Administrateur</a:t>
            </a:r>
          </a:p>
        </p:txBody>
      </p:sp>
      <p:sp>
        <p:nvSpPr>
          <p:cNvPr id="15" name="TextBox 14"/>
          <p:cNvSpPr txBox="1"/>
          <p:nvPr/>
        </p:nvSpPr>
        <p:spPr>
          <a:xfrm>
            <a:off x="457200" y="5532120"/>
            <a:ext cx="11247120" cy="365760"/>
          </a:xfrm>
          <a:prstGeom prst="rect">
            <a:avLst/>
          </a:prstGeom>
          <a:noFill/>
        </p:spPr>
        <p:txBody>
          <a:bodyPr wrap="square" lIns="0" rIns="0" tIns="0" bIns="0" anchor="t"/>
          <a:lstStyle/>
          <a:p>
            <a:pPr algn="ctr">
              <a:spcBef>
                <a:spcPts val="0"/>
              </a:spcBef>
              <a:spcAft>
                <a:spcPts val="200"/>
              </a:spcAft>
            </a:pPr>
            <a:r>
              <a:rPr sz="1400" b="0">
                <a:solidFill>
                  <a:srgbClr val="2E6B9A"/>
                </a:solidFill>
                <a:latin typeface="Calibri"/>
              </a:rPr>
              <a:t>En direct, environ 4 minutes. Les captures sont le site réel.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Déploiement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C10 • Préparer et documenter le déploiement</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30</a:t>
            </a:r>
          </a:p>
        </p:txBody>
      </p:sp>
      <p:sp>
        <p:nvSpPr>
          <p:cNvPr id="9" name="Rounded Rectangle 8"/>
          <p:cNvSpPr/>
          <p:nvPr/>
        </p:nvSpPr>
        <p:spPr>
          <a:xfrm>
            <a:off x="457200" y="1051560"/>
            <a:ext cx="11247120" cy="804672"/>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216151"/>
            <a:ext cx="2926080" cy="475488"/>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Serveur</a:t>
            </a:r>
          </a:p>
        </p:txBody>
      </p:sp>
      <p:sp>
        <p:nvSpPr>
          <p:cNvPr id="11" name="TextBox 10"/>
          <p:cNvSpPr txBox="1"/>
          <p:nvPr/>
        </p:nvSpPr>
        <p:spPr>
          <a:xfrm>
            <a:off x="3749039" y="1216151"/>
            <a:ext cx="7498079" cy="475488"/>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PHP, racine sur public/</a:t>
            </a:r>
          </a:p>
        </p:txBody>
      </p:sp>
      <p:sp>
        <p:nvSpPr>
          <p:cNvPr id="12" name="Rounded Rectangle 11"/>
          <p:cNvSpPr/>
          <p:nvPr/>
        </p:nvSpPr>
        <p:spPr>
          <a:xfrm>
            <a:off x="457200" y="1965960"/>
            <a:ext cx="11247120" cy="804672"/>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130552"/>
            <a:ext cx="2926080" cy="475488"/>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Base</a:t>
            </a:r>
          </a:p>
        </p:txBody>
      </p:sp>
      <p:sp>
        <p:nvSpPr>
          <p:cNvPr id="14" name="TextBox 13"/>
          <p:cNvSpPr txBox="1"/>
          <p:nvPr/>
        </p:nvSpPr>
        <p:spPr>
          <a:xfrm>
            <a:off x="3749039" y="2130552"/>
            <a:ext cx="7498079" cy="475488"/>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MySQL ou MariaDB, migrations</a:t>
            </a:r>
          </a:p>
        </p:txBody>
      </p:sp>
      <p:sp>
        <p:nvSpPr>
          <p:cNvPr id="15" name="Rounded Rectangle 14"/>
          <p:cNvSpPr/>
          <p:nvPr/>
        </p:nvSpPr>
        <p:spPr>
          <a:xfrm>
            <a:off x="457200" y="2880360"/>
            <a:ext cx="11247120" cy="804672"/>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44952"/>
            <a:ext cx="2926080" cy="475488"/>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Production</a:t>
            </a:r>
          </a:p>
        </p:txBody>
      </p:sp>
      <p:sp>
        <p:nvSpPr>
          <p:cNvPr id="17" name="TextBox 16"/>
          <p:cNvSpPr txBox="1"/>
          <p:nvPr/>
        </p:nvSpPr>
        <p:spPr>
          <a:xfrm>
            <a:off x="3749039" y="3044952"/>
            <a:ext cx="7498079" cy="475488"/>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Pas de comptes de démonstration</a:t>
            </a:r>
          </a:p>
        </p:txBody>
      </p:sp>
      <p:sp>
        <p:nvSpPr>
          <p:cNvPr id="18" name="Rounded Rectangle 17"/>
          <p:cNvSpPr/>
          <p:nvPr/>
        </p:nvSpPr>
        <p:spPr>
          <a:xfrm>
            <a:off x="457200" y="3794760"/>
            <a:ext cx="11247120" cy="804672"/>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959352"/>
            <a:ext cx="2926080" cy="475488"/>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Mobile</a:t>
            </a:r>
          </a:p>
        </p:txBody>
      </p:sp>
      <p:sp>
        <p:nvSpPr>
          <p:cNvPr id="20" name="TextBox 19"/>
          <p:cNvSpPr txBox="1"/>
          <p:nvPr/>
        </p:nvSpPr>
        <p:spPr>
          <a:xfrm>
            <a:off x="3749039" y="3959352"/>
            <a:ext cx="7498079" cy="475488"/>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Même serveur, jeton Sanctum, HTTPS</a:t>
            </a:r>
          </a:p>
        </p:txBody>
      </p:sp>
      <p:sp>
        <p:nvSpPr>
          <p:cNvPr id="21" name="Rounded Rectangle 20"/>
          <p:cNvSpPr/>
          <p:nvPr/>
        </p:nvSpPr>
        <p:spPr>
          <a:xfrm>
            <a:off x="457200" y="4709160"/>
            <a:ext cx="11247120" cy="804672"/>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873752"/>
            <a:ext cx="2926080" cy="475488"/>
          </a:xfrm>
          <a:prstGeom prst="rect">
            <a:avLst/>
          </a:prstGeom>
          <a:noFill/>
        </p:spPr>
        <p:txBody>
          <a:bodyPr wrap="square" lIns="0" rIns="0" tIns="0" bIns="0" anchor="ctr"/>
          <a:lstStyle/>
          <a:p>
            <a:pPr algn="l">
              <a:spcBef>
                <a:spcPts val="0"/>
              </a:spcBef>
              <a:spcAft>
                <a:spcPts val="200"/>
              </a:spcAft>
            </a:pPr>
            <a:r>
              <a:rPr sz="1600" b="1">
                <a:solidFill>
                  <a:srgbClr val="2E6B9A"/>
                </a:solidFill>
                <a:latin typeface="Calibri"/>
              </a:rPr>
              <a:t>Essais</a:t>
            </a:r>
          </a:p>
        </p:txBody>
      </p:sp>
      <p:sp>
        <p:nvSpPr>
          <p:cNvPr id="23" name="TextBox 22"/>
          <p:cNvSpPr txBox="1"/>
          <p:nvPr/>
        </p:nvSpPr>
        <p:spPr>
          <a:xfrm>
            <a:off x="3749039" y="4873752"/>
            <a:ext cx="7498079" cy="475488"/>
          </a:xfrm>
          <a:prstGeom prst="rect">
            <a:avLst/>
          </a:prstGeom>
          <a:noFill/>
        </p:spPr>
        <p:txBody>
          <a:bodyPr wrap="square" lIns="0" rIns="0" tIns="0" bIns="0" anchor="ctr"/>
          <a:lstStyle/>
          <a:p>
            <a:pPr algn="l">
              <a:spcBef>
                <a:spcPts val="0"/>
              </a:spcBef>
              <a:spcAft>
                <a:spcPts val="200"/>
              </a:spcAft>
            </a:pPr>
            <a:r>
              <a:rPr sz="1600" b="0">
                <a:solidFill>
                  <a:srgbClr val="1E2A36"/>
                </a:solidFill>
                <a:latin typeface="Calibri"/>
              </a:rPr>
              <a:t>lamraoui.alwaysdata.net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56032"/>
            <a:ext cx="10972800" cy="438912"/>
          </a:xfrm>
          <a:prstGeom prst="rect">
            <a:avLst/>
          </a:prstGeom>
          <a:noFill/>
        </p:spPr>
        <p:txBody>
          <a:bodyPr wrap="square" lIns="0" rIns="0" tIns="0" bIns="0" anchor="t"/>
          <a:lstStyle/>
          <a:p>
            <a:pPr algn="l">
              <a:spcBef>
                <a:spcPts val="0"/>
              </a:spcBef>
              <a:spcAft>
                <a:spcPts val="200"/>
              </a:spcAft>
            </a:pPr>
            <a:r>
              <a:rPr sz="2800" b="1">
                <a:solidFill>
                  <a:srgbClr val="143252"/>
                </a:solidFill>
                <a:latin typeface="Calibri"/>
              </a:rPr>
              <a:t>Bilan du projet</a:t>
            </a:r>
          </a:p>
        </p:txBody>
      </p:sp>
      <p:sp>
        <p:nvSpPr>
          <p:cNvPr id="4" name="Rectangle 3"/>
          <p:cNvSpPr/>
          <p:nvPr/>
        </p:nvSpPr>
        <p:spPr>
          <a:xfrm>
            <a:off x="457200" y="749808"/>
            <a:ext cx="640080" cy="4114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053328"/>
            <a:ext cx="11247120" cy="292608"/>
          </a:xfrm>
          <a:prstGeom prst="rect">
            <a:avLst/>
          </a:prstGeom>
          <a:noFill/>
        </p:spPr>
        <p:txBody>
          <a:bodyPr wrap="square" lIns="0" rIns="0" tIns="0" bIns="0" anchor="t"/>
          <a:lstStyle/>
          <a:p>
            <a:pPr algn="ctr">
              <a:spcBef>
                <a:spcPts val="0"/>
              </a:spcBef>
              <a:spcAft>
                <a:spcPts val="200"/>
              </a:spcAft>
            </a:pPr>
            <a:r>
              <a:rPr sz="1100" b="0">
                <a:solidFill>
                  <a:srgbClr val="5C6B7A"/>
                </a:solidFill>
                <a:latin typeface="Calibri"/>
              </a:rPr>
              <a:t>Réponse à la problématique</a:t>
            </a:r>
          </a:p>
        </p:txBody>
      </p:sp>
      <p:sp>
        <p:nvSpPr>
          <p:cNvPr id="6" name="Rectangle 5"/>
          <p:cNvSpPr/>
          <p:nvPr/>
        </p:nvSpPr>
        <p:spPr>
          <a:xfrm>
            <a:off x="0" y="6446520"/>
            <a:ext cx="12191695" cy="41148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510528"/>
            <a:ext cx="9601200" cy="274320"/>
          </a:xfrm>
          <a:prstGeom prst="rect">
            <a:avLst/>
          </a:prstGeom>
          <a:noFill/>
        </p:spPr>
        <p:txBody>
          <a:bodyPr wrap="square" lIns="0" rIns="0" tIns="0" bIns="0" anchor="ctr"/>
          <a:lstStyle/>
          <a:p>
            <a:pPr algn="l">
              <a:spcBef>
                <a:spcPts val="0"/>
              </a:spcBef>
              <a:spcAft>
                <a:spcPts val="200"/>
              </a:spcAft>
            </a:pPr>
            <a:r>
              <a:rPr sz="1200" b="0">
                <a:solidFill>
                  <a:srgbClr val="FFFFFF"/>
                </a:solidFill>
                <a:latin typeface="Calibri"/>
              </a:rPr>
              <a:t>BRIEFLY  •  Soutenance Bachelor CDA  •  Chiraz Lamraoui</a:t>
            </a:r>
          </a:p>
        </p:txBody>
      </p:sp>
      <p:sp>
        <p:nvSpPr>
          <p:cNvPr id="8" name="TextBox 7"/>
          <p:cNvSpPr txBox="1"/>
          <p:nvPr/>
        </p:nvSpPr>
        <p:spPr>
          <a:xfrm>
            <a:off x="10607040" y="6510528"/>
            <a:ext cx="1188720" cy="274320"/>
          </a:xfrm>
          <a:prstGeom prst="rect">
            <a:avLst/>
          </a:prstGeom>
          <a:noFill/>
        </p:spPr>
        <p:txBody>
          <a:bodyPr wrap="square" lIns="0" rIns="0" tIns="0" bIns="0" anchor="ctr"/>
          <a:lstStyle/>
          <a:p>
            <a:pPr algn="r">
              <a:spcBef>
                <a:spcPts val="0"/>
              </a:spcBef>
              <a:spcAft>
                <a:spcPts val="200"/>
              </a:spcAft>
            </a:pPr>
            <a:r>
              <a:rPr sz="1200" b="1">
                <a:solidFill>
                  <a:srgbClr val="FFFFFF"/>
                </a:solidFill>
                <a:latin typeface="Calibri"/>
              </a:rPr>
              <a:t>31</a:t>
            </a:r>
          </a:p>
        </p:txBody>
      </p:sp>
      <p:sp>
        <p:nvSpPr>
          <p:cNvPr id="9" name="Rounded Rectangle 8"/>
          <p:cNvSpPr/>
          <p:nvPr/>
        </p:nvSpPr>
        <p:spPr>
          <a:xfrm>
            <a:off x="411480" y="1051560"/>
            <a:ext cx="8595360" cy="228600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8138160" cy="32004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Réponse</a:t>
            </a:r>
          </a:p>
        </p:txBody>
      </p:sp>
      <p:sp>
        <p:nvSpPr>
          <p:cNvPr id="11" name="TextBox 10"/>
          <p:cNvSpPr txBox="1"/>
          <p:nvPr/>
        </p:nvSpPr>
        <p:spPr>
          <a:xfrm>
            <a:off x="640080" y="1691640"/>
            <a:ext cx="8138160" cy="1280160"/>
          </a:xfrm>
          <a:prstGeom prst="rect">
            <a:avLst/>
          </a:prstGeom>
          <a:noFill/>
        </p:spPr>
        <p:txBody>
          <a:bodyPr wrap="square" lIns="0" rIns="0" tIns="0" bIns="0" anchor="t"/>
          <a:lstStyle/>
          <a:p>
            <a:pPr algn="l">
              <a:spcBef>
                <a:spcPts val="0"/>
              </a:spcBef>
              <a:spcAft>
                <a:spcPts val="200"/>
              </a:spcAft>
            </a:pPr>
            <a:r>
              <a:rPr sz="1600" b="0">
                <a:solidFill>
                  <a:srgbClr val="1E2A36"/>
                </a:solidFill>
                <a:latin typeface="Calibri"/>
              </a:rPr>
              <a:t>Suivi quotidien, sur la tâche, web et mobile,</a:t>
            </a:r>
          </a:p>
          <a:p>
            <a:pPr algn="l">
              <a:spcBef>
                <a:spcPts val="0"/>
              </a:spcBef>
              <a:spcAft>
                <a:spcPts val="200"/>
              </a:spcAft>
            </a:pPr>
            <a:r>
              <a:rPr sz="1600" b="0">
                <a:solidFill>
                  <a:srgbClr val="1E2A36"/>
                </a:solidFill>
                <a:latin typeface="Calibri"/>
              </a:rPr>
              <a:t>avec des rôles distincts. Pas d'inscription publique.</a:t>
            </a:r>
          </a:p>
        </p:txBody>
      </p:sp>
      <p:pic>
        <p:nvPicPr>
          <p:cNvPr id="12" name="Picture 11" descr="phone.png"/>
          <p:cNvPicPr>
            <a:picLocks noChangeAspect="1"/>
          </p:cNvPicPr>
          <p:nvPr/>
        </p:nvPicPr>
        <p:blipFill>
          <a:blip r:embed="rId3"/>
          <a:stretch>
            <a:fillRect/>
          </a:stretch>
        </p:blipFill>
        <p:spPr>
          <a:xfrm>
            <a:off x="9921240" y="1051560"/>
            <a:ext cx="1188720" cy="2286000"/>
          </a:xfrm>
          <a:prstGeom prst="rect">
            <a:avLst/>
          </a:prstGeom>
        </p:spPr>
      </p:pic>
      <p:sp>
        <p:nvSpPr>
          <p:cNvPr id="13" name="Rounded Rectangle 12"/>
          <p:cNvSpPr/>
          <p:nvPr/>
        </p:nvSpPr>
        <p:spPr>
          <a:xfrm>
            <a:off x="411480" y="3474720"/>
            <a:ext cx="5623560" cy="16916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584448"/>
            <a:ext cx="5257800" cy="27432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Apports techniques</a:t>
            </a:r>
          </a:p>
        </p:txBody>
      </p:sp>
      <p:sp>
        <p:nvSpPr>
          <p:cNvPr id="15" name="TextBox 14"/>
          <p:cNvSpPr txBox="1"/>
          <p:nvPr/>
        </p:nvSpPr>
        <p:spPr>
          <a:xfrm>
            <a:off x="594360" y="3913632"/>
            <a:ext cx="5257800" cy="109728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Besoins, Scrum, modèle</a:t>
            </a:r>
          </a:p>
          <a:p>
            <a:pPr algn="l">
              <a:spcBef>
                <a:spcPts val="0"/>
              </a:spcBef>
              <a:spcAft>
                <a:spcPts val="200"/>
              </a:spcAft>
            </a:pPr>
            <a:r>
              <a:rPr sz="1500" b="0">
                <a:solidFill>
                  <a:srgbClr val="1E2A36"/>
                </a:solidFill>
                <a:latin typeface="Calibri"/>
              </a:rPr>
              <a:t>Laravel, Flutter, Sanctum, PHPUnit</a:t>
            </a:r>
          </a:p>
        </p:txBody>
      </p:sp>
      <p:sp>
        <p:nvSpPr>
          <p:cNvPr id="16" name="Rounded Rectangle 15"/>
          <p:cNvSpPr/>
          <p:nvPr/>
        </p:nvSpPr>
        <p:spPr>
          <a:xfrm>
            <a:off x="6217920" y="3474720"/>
            <a:ext cx="5486400" cy="1691640"/>
          </a:xfrm>
          <a:prstGeom prst="roundRect">
            <a:avLst>
              <a:gd name="adj" fmla="val 8000"/>
            </a:avLst>
          </a:prstGeom>
          <a:solidFill>
            <a:srgbClr val="FFFFFF"/>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584448"/>
            <a:ext cx="5120640" cy="274320"/>
          </a:xfrm>
          <a:prstGeom prst="rect">
            <a:avLst/>
          </a:prstGeom>
          <a:noFill/>
        </p:spPr>
        <p:txBody>
          <a:bodyPr wrap="square" lIns="0" rIns="0" tIns="0" bIns="0" anchor="t"/>
          <a:lstStyle/>
          <a:p>
            <a:pPr algn="l">
              <a:spcBef>
                <a:spcPts val="0"/>
              </a:spcBef>
              <a:spcAft>
                <a:spcPts val="200"/>
              </a:spcAft>
            </a:pPr>
            <a:r>
              <a:rPr sz="1400" b="1">
                <a:solidFill>
                  <a:srgbClr val="2E6B9A"/>
                </a:solidFill>
                <a:latin typeface="Calibri"/>
              </a:rPr>
              <a:t>Apports professionnels</a:t>
            </a:r>
          </a:p>
        </p:txBody>
      </p:sp>
      <p:sp>
        <p:nvSpPr>
          <p:cNvPr id="18" name="TextBox 17"/>
          <p:cNvSpPr txBox="1"/>
          <p:nvPr/>
        </p:nvSpPr>
        <p:spPr>
          <a:xfrm>
            <a:off x="6400800" y="3913632"/>
            <a:ext cx="5120640" cy="1097280"/>
          </a:xfrm>
          <a:prstGeom prst="rect">
            <a:avLst/>
          </a:prstGeom>
          <a:noFill/>
        </p:spPr>
        <p:txBody>
          <a:bodyPr wrap="square" lIns="0" rIns="0" tIns="0" bIns="0" anchor="t"/>
          <a:lstStyle/>
          <a:p>
            <a:pPr algn="l">
              <a:spcBef>
                <a:spcPts val="0"/>
              </a:spcBef>
              <a:spcAft>
                <a:spcPts val="200"/>
              </a:spcAft>
            </a:pPr>
            <a:r>
              <a:rPr sz="1500" b="0">
                <a:solidFill>
                  <a:srgbClr val="1E2A36"/>
                </a:solidFill>
                <a:latin typeface="Calibri"/>
              </a:rPr>
              <a:t>Autonomie, du besoin aux tests</a:t>
            </a:r>
          </a:p>
          <a:p>
            <a:pPr algn="l">
              <a:spcBef>
                <a:spcPts val="0"/>
              </a:spcBef>
              <a:spcAft>
                <a:spcPts val="200"/>
              </a:spcAft>
            </a:pPr>
            <a:r>
              <a:rPr sz="1500" b="0">
                <a:solidFill>
                  <a:srgbClr val="1E2A36"/>
                </a:solidFill>
                <a:latin typeface="Calibri"/>
              </a:rPr>
              <a:t>Front-end et parrainage à côté</a:t>
            </a:r>
          </a:p>
        </p:txBody>
      </p:sp>
      <p:sp>
        <p:nvSpPr>
          <p:cNvPr id="19" name="Rounded Rectangle 18"/>
          <p:cNvSpPr/>
          <p:nvPr/>
        </p:nvSpPr>
        <p:spPr>
          <a:xfrm>
            <a:off x="411480" y="5303520"/>
            <a:ext cx="11292840" cy="594360"/>
          </a:xfrm>
          <a:prstGeom prst="roundRect">
            <a:avLst>
              <a:gd name="adj" fmla="val 8000"/>
            </a:avLst>
          </a:prstGeom>
          <a:solidFill>
            <a:srgbClr val="F4F7FB"/>
          </a:solidFill>
          <a:ln w="14604">
            <a:solidFill>
              <a:srgbClr val="D5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413248"/>
            <a:ext cx="10972800" cy="384048"/>
          </a:xfrm>
          <a:prstGeom prst="rect">
            <a:avLst/>
          </a:prstGeom>
          <a:noFill/>
        </p:spPr>
        <p:txBody>
          <a:bodyPr wrap="square" lIns="0" rIns="0" tIns="0" bIns="0" anchor="ctr"/>
          <a:lstStyle/>
          <a:p>
            <a:pPr algn="l">
              <a:spcBef>
                <a:spcPts val="0"/>
              </a:spcBef>
              <a:spcAft>
                <a:spcPts val="200"/>
              </a:spcAft>
            </a:pPr>
            <a:r>
              <a:rPr sz="1400" b="0">
                <a:solidFill>
                  <a:srgbClr val="5C6B7A"/>
                </a:solidFill>
                <a:latin typeface="Calibri"/>
              </a:rPr>
              <a:t>Non livré    notification, brief du jour, export, expiration des jetons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846320" y="2468880"/>
            <a:ext cx="2468880" cy="1828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2697480"/>
            <a:ext cx="9966960" cy="1371600"/>
          </a:xfrm>
          <a:prstGeom prst="rect">
            <a:avLst/>
          </a:prstGeom>
          <a:noFill/>
        </p:spPr>
        <p:txBody>
          <a:bodyPr wrap="square" lIns="0" rIns="0" tIns="0" bIns="0" anchor="t"/>
          <a:lstStyle/>
          <a:p>
            <a:pPr algn="ctr">
              <a:spcBef>
                <a:spcPts val="0"/>
              </a:spcBef>
              <a:spcAft>
                <a:spcPts val="200"/>
              </a:spcAft>
            </a:pPr>
            <a:r>
              <a:rPr sz="2800" b="1">
                <a:solidFill>
                  <a:srgbClr val="FFFFFF"/>
                </a:solidFill>
                <a:latin typeface="Calibri"/>
              </a:rPr>
              <a:t>Merci pour votre attention.</a:t>
            </a:r>
          </a:p>
          <a:p>
            <a:pPr algn="ctr">
              <a:spcBef>
                <a:spcPts val="0"/>
              </a:spcBef>
              <a:spcAft>
                <a:spcPts val="200"/>
              </a:spcAft>
            </a:pPr>
            <a:r>
              <a:rPr sz="2800" b="1">
                <a:solidFill>
                  <a:srgbClr val="FFFFFF"/>
                </a:solidFill>
                <a:latin typeface="Calibri"/>
              </a:rPr>
              <a:t>Je suis à votre disposition pour répondre à vos questions.</a:t>
            </a:r>
          </a:p>
        </p:txBody>
      </p:sp>
      <p:sp>
        <p:nvSpPr>
          <p:cNvPr id="5" name="Rectangle 4"/>
          <p:cNvSpPr/>
          <p:nvPr/>
        </p:nvSpPr>
        <p:spPr>
          <a:xfrm>
            <a:off x="4846320" y="4206240"/>
            <a:ext cx="2468880" cy="18288"/>
          </a:xfrm>
          <a:prstGeom prst="rect">
            <a:avLst/>
          </a:prstGeom>
          <a:solidFill>
            <a:srgbClr val="2E6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5120640"/>
            <a:ext cx="9966960" cy="365760"/>
          </a:xfrm>
          <a:prstGeom prst="rect">
            <a:avLst/>
          </a:prstGeom>
          <a:noFill/>
        </p:spPr>
        <p:txBody>
          <a:bodyPr wrap="square" lIns="0" rIns="0" tIns="0" bIns="0" anchor="t"/>
          <a:lstStyle/>
          <a:p>
            <a:pPr algn="ctr">
              <a:spcBef>
                <a:spcPts val="0"/>
              </a:spcBef>
              <a:spcAft>
                <a:spcPts val="200"/>
              </a:spcAft>
            </a:pPr>
            <a:r>
              <a:rPr sz="1600" b="0">
                <a:solidFill>
                  <a:srgbClr val="D5E4F0"/>
                </a:solidFill>
                <a:latin typeface="Calibri"/>
              </a:rPr>
              <a:t>Chiraz Lamraoui   •   Briefly   •   27 octobre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Briefly, soutenance 40 minutes</dc:title>
  <dc:subject/>
  <dc:creator>Chiraz Lamraoui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