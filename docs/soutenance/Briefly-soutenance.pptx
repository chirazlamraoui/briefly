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m'appelle Chiraz Lamraoui. Je présente Briefly, mon projet de bachelor concepteur développeur d'applications. L'alternance est chez Drif Consult, avec Yasser El Habib Drif. L'enseignant est Anis Benammar. L'oral dure environ quarante minutes. Je pars du contexte, puis du besoin, des diagrammes, du code, des tests, et je termine par une démonstration.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parties. Dix minutes de contexte. Huit minutes pour les rôles, les cas d'utilisation et l'activité. Huit minutes pour les diagrammes et le code. Huit minutes pour la sécurité et les tests. Six minutes pour la démonstration et le bilan. Si je prends du retard, je raccourcis un cas de test, pas la démonstration. Environ quarante secondes.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titre se lit en trois activités. Développer une application sécurisée. Concevoir en couches. Préparer le déploiement, avec les tests. Je ne coche pas les onze compétences une par une. Le pied de page rappelle celle que la slide illustre. Environ une minute trente.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L'entreprise d'accueil est Drif Consult. Mon maître d'apprentissage est Yasser Drif. Au quotidien, j'ai travaillé sur Roman.ai, un coworker pour Slack. Je le situe seulement. Briefly arrive après ce cadre, ce n'est pas une fonction de ce produit.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missions, sans le journal semaine par semaine. Le front-end, les interfaces et leur cohérence. Le parrainage, relier un utilisateur aux personnes qu'il invite. Ce cadre m'a menée au mémoire. Briefly n'est pas une brique de Roman.ai. C'est le livrable du diplôme.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domaine, c'est le suivi quotidien d'une équipe. Le point du matin se fait souvent dans Slack ou Teams. Il n'est pas relié à une tâche, et un blocage disparaît dans le fil. Dans Briefly, c'est la tâche qui porte l'avancement. Je n'ai pas créé un objet brief à part. Environ une minute quarante.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lis la question, puis je la découpe. Organisation fermée, sans inscription publique. Suivi attaché aux tâches. Web et mobile, avec les mêmes règles. Trois rôles, avec des interdits. La suite de l'oral répond à ces quatre bouts. Environ une minute quinze.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familles. La messagerie est immédiate, et rien ne reste sur la tâche. Un tableau léger montre des cartes, sans les rôles de mon métier et sans note obligatoire. Une forge trace des tickets, et elle est lourde pour le point du matin. Environ une minute trente.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est une application interne, web et mobile. Quatre gestes : organiser, rendre compte, sécuriser, suivre. Je n'annonce pas de réunions, de fichiers, ni de notifications. Ce n'est pas dans l'application.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L'administrateur crée les comptes, les équipes et les projets. Il n'a pas de tâches personnelles. Le chef suit ses équipes. Il ne crée ni les projets ni les comptes. Chef, c'est le drapeau is_team_lead. Le membre ne met à jour que ses tâches. Environ une minute dix.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montre le diagramme, pas une liste. Trois acteurs, hors du système. Les ovales sont les cas. En bas, la relation include. Pour le membre, mettre à jour l'avancement inclut la note si le statut est bloqué. Pour le chef, assigner inclut l'appartenance à son équipe. Pour l'administrateur, créer un compte inclut au moins une équipe. Il n'y a pas de cas s'inscrire. Environ une minute trente.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suis le flux. Le membre ouvre sa tâche et saisit le statut, déjà fait, et la suite. Si ce n'est pas bloqué, la note est effacée. Si c'est bloqué, la note est obligatoire : sans elle, refus, rien n'est écrit. Avec elle, on la garde. Ensuite la tâche et une ligne d'historique sont enregistrées. Si le statut est terminé, completed_at est posé. Sinon, cette date est effacée. La même activité vaut pour le web et pour le téléphone. Environ une minute trente.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Scrum, parce que les écrans se jugent sur un incrément utilisable. Le backlog, le sprint, la user story, l'incrément. Je les ai portés seule, comme dans un mémoire. Le stand-up de la méthode organise mon travail. Le stand-up que l'application outille, c'est le besoin métier.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sprints, dates du mémoire. Février, la connexion. Puis l'espace membre. Début mars, le chef. Mi-mars, l'administration. Trois semaines ensuite pour Flutter, jusqu'au 19 avril. L'ordre suffit : accès, membre, chef, admin, mobile.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lis les flèches. Le membre envoie PATCH sur la tâche. Le contrôleur demande à TaskPolicy si c'est l'assigné. Le retour est oui, seulement l'assigné. Sur le contrôleur, la note est obligatoire si le statut est bloqué. TaskService enregistre la tâche et une ligne d'historique. La réponse est une page, ou du JSON.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montre les liens, pas toutes les colonnes. users et teams passent par team_user, où est le drapeau de chef. projects est relié aux équipes par project_team. Une tâche a un projet et un assigné. Chaque point est une ligne de task_updates. Le pourcentage d'un statut est fixe : 0, 60, 30, 100.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clients, un serveur, une base. Le navigateur a une session. Flutter a un jeton. Les deux appellent routes/web.php. respond choisit la page ou le JSON. Les politiques et les services sont au milieu. MySQL est en dessous. Les clients n'y vont pas. Environ une minute quarante.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 validation, dans UpdateTaskProgressRequest. Le statut est obligatoire. Déjà fait et la suite sont facultatifs. La note de blocage est facultative, sauf si le statut vaut BLOCKED : requiredIf la rend obligatoire. Si elle manque, rien n'est enregistré. Le téléphone subit la même règle, parce qu'elle est ici, pas dans Flutter.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fois la validation passée, TaskService lit le statut. Si c'est terminé, completed_at est posé, ou conservé s'il existait. Sinon la date est effacée. Si ce n'est pas bloqué, la note est mise à null. Puis une ligne task_updates reprend le même instantané. L'historique ne dépend pas de l'écran.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les distingue, parce qu'on les confond. À gauche, le pourcentage d'un statut. Il est fixe : à faire 0, en cours 60, bloqué 30, terminé 100. Le membre ne le saisit pas. À droite, le taux du tableau. C'est le nombre de tâches terminées, divisé par le total. Une tâche bloquée compte dans le total, elle ne compte pas comme terminée.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gauche, la politique. Mettre à jour l'avancement, c'est seulement si assigned_to est l'utilisateur courant. Le rôle membre ne suffit pas. À droite, respond. Si la requête n'annonce pas du JSON, on renvoie la page. Sinon, le JSON. Le téléphone et le navigateur passent par la même méthode. Environ une minute dix.</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Mots de passe hachés. Session régénérée. Jeton Sanctum, supprimé à la déconnexion. CSRF sur le web, levé pour le jeton Bearer. Rôle, puis politique sur la ressource. Deux limites que je dis moi-même. La connexion ne bloque pas les tentatives. Les jetons n'expirent pas. Environ une minute trente.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Sans session, on n'entre pas. Le test demande le tableau de bord et vérifie la redirection vers le login. Conforme.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Bloqué sans note, le serveur refuse. Le test web vérifie l'erreur de session sur blocker_note. Le même cas existe en JSON, avec un jeton, et la réponse est 422. La règle n'est pas recopiée dans Flutter. Conforme.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membre ne parle pas à la place d'un collègue. Le test envoie un statut terminé sur la tâche d'un autre, et attend un interdit. Conforme.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chef organise le travail, il ne crée pas le référentiel. Le test poste un projet et attend un interdit. Créer une tâche dans son équipe, lui, est autorisé. Conforme.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Sans jeton, le JSON répond 401. Avec le jeton, le parcours membre fonctionne. La déconnexion révoque le jeton courant. Conforme.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quitte la slide. Environ quatre minutes dans l'application. Le chef, puis un membre sur une tâche bloquée, puis l'administrateur. Si le temps reste, je montre le français et l'anglais. Les captures sont le site réel. Flutter reprend les mêmes parcours, en JSON, avec le jeton. En local : sophie.laurent, emma.nguyen et admin, à briefly.test, mot de passe password. Ces comptes ne sont pas créés hors du local.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backend en ligne. PHP, racine sur public, MySQL ou MariaDB. Hors local, le seeder ne crée pas les comptes de démonstration. Le téléphone passe en HTTPS, avec le jeton. L'adresse des essais est lamraoui.alwaysdata.net. Environ cinquante secondes.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Organisation fermée, avancement sur la tâche, web et mobile, trois rôles : c'est livré. J'ai porté l'analyse, les diagrammes, Laravel, Flutter et les tests, à côté du front-end et du parrainage. La ligne du bas n'est pas livrée.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pour votre attention. J'attends vos questions. Environ vingt secondes.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77240"/>
            <a:ext cx="5852160" cy="274320"/>
          </a:xfrm>
          <a:prstGeom prst="rect">
            <a:avLst/>
          </a:prstGeom>
          <a:noFill/>
        </p:spPr>
        <p:txBody>
          <a:bodyPr wrap="square" lIns="0" rIns="0" tIns="0" bIns="0" anchor="t"/>
          <a:lstStyle/>
          <a:p>
            <a:pPr algn="l">
              <a:spcBef>
                <a:spcPts val="0"/>
              </a:spcBef>
              <a:spcAft>
                <a:spcPts val="100"/>
              </a:spcAft>
            </a:pPr>
            <a:r>
              <a:rPr sz="1500" b="0">
                <a:solidFill>
                  <a:srgbClr val="C2516B"/>
                </a:solidFill>
                <a:latin typeface="Calibri"/>
              </a:rPr>
              <a:t>Bachelor concepteur développeur d'applications</a:t>
            </a:r>
          </a:p>
        </p:txBody>
      </p:sp>
      <p:sp>
        <p:nvSpPr>
          <p:cNvPr id="5" name="TextBox 4"/>
          <p:cNvSpPr txBox="1"/>
          <p:nvPr/>
        </p:nvSpPr>
        <p:spPr>
          <a:xfrm>
            <a:off x="502920" y="1234440"/>
            <a:ext cx="6035040" cy="1005840"/>
          </a:xfrm>
          <a:prstGeom prst="rect">
            <a:avLst/>
          </a:prstGeom>
          <a:noFill/>
        </p:spPr>
        <p:txBody>
          <a:bodyPr wrap="square" lIns="0" rIns="0" tIns="0" bIns="0" anchor="t"/>
          <a:lstStyle/>
          <a:p>
            <a:pPr algn="l">
              <a:spcBef>
                <a:spcPts val="0"/>
              </a:spcBef>
              <a:spcAft>
                <a:spcPts val="100"/>
              </a:spcAft>
            </a:pPr>
            <a:r>
              <a:rPr sz="6000" b="1">
                <a:solidFill>
                  <a:srgbClr val="3A2428"/>
                </a:solidFill>
                <a:latin typeface="Calibri"/>
              </a:rPr>
              <a:t>Briefly</a:t>
            </a:r>
          </a:p>
        </p:txBody>
      </p:sp>
      <p:sp>
        <p:nvSpPr>
          <p:cNvPr id="6" name="TextBox 5"/>
          <p:cNvSpPr txBox="1"/>
          <p:nvPr/>
        </p:nvSpPr>
        <p:spPr>
          <a:xfrm>
            <a:off x="502920" y="2377440"/>
            <a:ext cx="5760720" cy="1005840"/>
          </a:xfrm>
          <a:prstGeom prst="rect">
            <a:avLst/>
          </a:prstGeom>
          <a:noFill/>
        </p:spPr>
        <p:txBody>
          <a:bodyPr wrap="square" lIns="0" rIns="0" tIns="0" bIns="0" anchor="t"/>
          <a:lstStyle/>
          <a:p>
            <a:pPr algn="l">
              <a:spcBef>
                <a:spcPts val="0"/>
              </a:spcBef>
              <a:spcAft>
                <a:spcPts val="100"/>
              </a:spcAft>
            </a:pPr>
            <a:r>
              <a:rPr sz="2200" b="0">
                <a:solidFill>
                  <a:srgbClr val="2A211F"/>
                </a:solidFill>
                <a:latin typeface="Calibri"/>
              </a:rPr>
              <a:t>Le suivi quotidien</a:t>
            </a:r>
          </a:p>
          <a:p>
            <a:pPr algn="l">
              <a:spcBef>
                <a:spcPts val="0"/>
              </a:spcBef>
              <a:spcAft>
                <a:spcPts val="100"/>
              </a:spcAft>
            </a:pPr>
            <a:r>
              <a:rPr sz="2200" b="0">
                <a:solidFill>
                  <a:srgbClr val="2A211F"/>
                </a:solidFill>
                <a:latin typeface="Calibri"/>
              </a:rPr>
              <a:t>d'une équipe, collé à la tâche.</a:t>
            </a:r>
          </a:p>
        </p:txBody>
      </p:sp>
      <p:sp>
        <p:nvSpPr>
          <p:cNvPr id="7" name="TextBox 6"/>
          <p:cNvSpPr txBox="1"/>
          <p:nvPr/>
        </p:nvSpPr>
        <p:spPr>
          <a:xfrm>
            <a:off x="502920" y="3794760"/>
            <a:ext cx="5760720" cy="1188720"/>
          </a:xfrm>
          <a:prstGeom prst="rect">
            <a:avLst/>
          </a:prstGeom>
          <a:noFill/>
        </p:spPr>
        <p:txBody>
          <a:bodyPr wrap="square" lIns="0" rIns="0" tIns="0" bIns="0" anchor="t"/>
          <a:lstStyle/>
          <a:p>
            <a:pPr algn="l">
              <a:spcBef>
                <a:spcPts val="0"/>
              </a:spcBef>
              <a:spcAft>
                <a:spcPts val="100"/>
              </a:spcAft>
            </a:pPr>
            <a:r>
              <a:rPr sz="1600" b="0">
                <a:solidFill>
                  <a:srgbClr val="8A736C"/>
                </a:solidFill>
                <a:latin typeface="Calibri"/>
              </a:rPr>
              <a:t>Chiraz Lamraoui</a:t>
            </a:r>
          </a:p>
          <a:p>
            <a:pPr algn="l">
              <a:spcBef>
                <a:spcPts val="0"/>
              </a:spcBef>
              <a:spcAft>
                <a:spcPts val="100"/>
              </a:spcAft>
            </a:pPr>
            <a:r>
              <a:rPr sz="1600" b="0">
                <a:solidFill>
                  <a:srgbClr val="8A736C"/>
                </a:solidFill>
                <a:latin typeface="Calibri"/>
              </a:rPr>
              <a:t>Drif Consult  ·  Yasser El Habib Drif</a:t>
            </a:r>
          </a:p>
          <a:p>
            <a:pPr algn="l">
              <a:spcBef>
                <a:spcPts val="0"/>
              </a:spcBef>
              <a:spcAft>
                <a:spcPts val="100"/>
              </a:spcAft>
            </a:pPr>
            <a:r>
              <a:rPr sz="1600" b="0">
                <a:solidFill>
                  <a:srgbClr val="8A736C"/>
                </a:solidFill>
                <a:latin typeface="Calibri"/>
              </a:rPr>
              <a:t>Anis Benammar  ·  27 octobre 2026</a:t>
            </a:r>
          </a:p>
        </p:txBody>
      </p:sp>
      <p:sp>
        <p:nvSpPr>
          <p:cNvPr id="8" name="TextBox 7"/>
          <p:cNvSpPr txBox="1"/>
          <p:nvPr/>
        </p:nvSpPr>
        <p:spPr>
          <a:xfrm>
            <a:off x="502920" y="5943600"/>
            <a:ext cx="5486400" cy="274320"/>
          </a:xfrm>
          <a:prstGeom prst="rect">
            <a:avLst/>
          </a:prstGeom>
          <a:noFill/>
        </p:spPr>
        <p:txBody>
          <a:bodyPr wrap="square" lIns="0" rIns="0" tIns="0" bIns="0" anchor="t"/>
          <a:lstStyle/>
          <a:p>
            <a:pPr algn="l">
              <a:spcBef>
                <a:spcPts val="0"/>
              </a:spcBef>
              <a:spcAft>
                <a:spcPts val="100"/>
              </a:spcAft>
            </a:pPr>
            <a:r>
              <a:rPr sz="1400" b="1">
                <a:solidFill>
                  <a:srgbClr val="C2516B"/>
                </a:solidFill>
                <a:latin typeface="Calibri"/>
              </a:rPr>
              <a:t>Oral d'environ 40 minutes</a:t>
            </a:r>
          </a:p>
        </p:txBody>
      </p:sp>
      <p:sp>
        <p:nvSpPr>
          <p:cNvPr id="9" name="Rounded Rectangle 8"/>
          <p:cNvSpPr/>
          <p:nvPr/>
        </p:nvSpPr>
        <p:spPr>
          <a:xfrm>
            <a:off x="6537960" y="640080"/>
            <a:ext cx="5212080" cy="553212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ead.png"/>
          <p:cNvPicPr>
            <a:picLocks noChangeAspect="1"/>
          </p:cNvPicPr>
          <p:nvPr/>
        </p:nvPicPr>
        <p:blipFill>
          <a:blip r:embed="rId2"/>
          <a:stretch>
            <a:fillRect/>
          </a:stretch>
        </p:blipFill>
        <p:spPr>
          <a:xfrm>
            <a:off x="6675120" y="1975732"/>
            <a:ext cx="4937760" cy="286081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Plan</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Quarante minutes, cinq parties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a:t>
            </a:r>
          </a:p>
        </p:txBody>
      </p:sp>
      <p:sp>
        <p:nvSpPr>
          <p:cNvPr id="10" name="Oval 9"/>
          <p:cNvSpPr/>
          <p:nvPr/>
        </p:nvSpPr>
        <p:spPr>
          <a:xfrm>
            <a:off x="502920" y="1051560"/>
            <a:ext cx="566928" cy="566928"/>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179576"/>
            <a:ext cx="566928" cy="310896"/>
          </a:xfrm>
          <a:prstGeom prst="rect">
            <a:avLst/>
          </a:prstGeom>
          <a:noFill/>
        </p:spPr>
        <p:txBody>
          <a:bodyPr wrap="square" lIns="0" rIns="0" tIns="0" bIns="0" anchor="t"/>
          <a:lstStyle/>
          <a:p>
            <a:pPr algn="ctr">
              <a:spcBef>
                <a:spcPts val="0"/>
              </a:spcBef>
              <a:spcAft>
                <a:spcPts val="100"/>
              </a:spcAft>
            </a:pPr>
            <a:r>
              <a:rPr sz="1400" b="1">
                <a:solidFill>
                  <a:srgbClr val="FFFCFA"/>
                </a:solidFill>
                <a:latin typeface="Calibri"/>
              </a:rPr>
              <a:t>01</a:t>
            </a:r>
          </a:p>
        </p:txBody>
      </p:sp>
      <p:sp>
        <p:nvSpPr>
          <p:cNvPr id="12" name="TextBox 11"/>
          <p:cNvSpPr txBox="1"/>
          <p:nvPr/>
        </p:nvSpPr>
        <p:spPr>
          <a:xfrm>
            <a:off x="1325880" y="1069848"/>
            <a:ext cx="6583680" cy="310896"/>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Contexte</a:t>
            </a:r>
          </a:p>
        </p:txBody>
      </p:sp>
      <p:sp>
        <p:nvSpPr>
          <p:cNvPr id="13" name="TextBox 12"/>
          <p:cNvSpPr txBox="1"/>
          <p:nvPr/>
        </p:nvSpPr>
        <p:spPr>
          <a:xfrm>
            <a:off x="1325880" y="1399031"/>
            <a:ext cx="6583680" cy="274320"/>
          </a:xfrm>
          <a:prstGeom prst="rect">
            <a:avLst/>
          </a:prstGeom>
          <a:noFill/>
        </p:spPr>
        <p:txBody>
          <a:bodyPr wrap="square" lIns="0" rIns="0" tIns="0" bIns="0" anchor="t"/>
          <a:lstStyle/>
          <a:p>
            <a:pPr algn="l">
              <a:spcBef>
                <a:spcPts val="0"/>
              </a:spcBef>
              <a:spcAft>
                <a:spcPts val="100"/>
              </a:spcAft>
            </a:pPr>
            <a:r>
              <a:rPr sz="1400" b="0">
                <a:solidFill>
                  <a:srgbClr val="8A736C"/>
                </a:solidFill>
                <a:latin typeface="Calibri"/>
              </a:rPr>
              <a:t>Entreprise, rôle, problème</a:t>
            </a:r>
          </a:p>
        </p:txBody>
      </p:sp>
      <p:sp>
        <p:nvSpPr>
          <p:cNvPr id="14" name="TextBox 13"/>
          <p:cNvSpPr txBox="1"/>
          <p:nvPr/>
        </p:nvSpPr>
        <p:spPr>
          <a:xfrm>
            <a:off x="9326880" y="1161288"/>
            <a:ext cx="2194560" cy="365760"/>
          </a:xfrm>
          <a:prstGeom prst="rect">
            <a:avLst/>
          </a:prstGeom>
          <a:noFill/>
        </p:spPr>
        <p:txBody>
          <a:bodyPr wrap="square" lIns="0" rIns="0" tIns="0" bIns="0" anchor="t"/>
          <a:lstStyle/>
          <a:p>
            <a:pPr algn="r">
              <a:spcBef>
                <a:spcPts val="0"/>
              </a:spcBef>
              <a:spcAft>
                <a:spcPts val="100"/>
              </a:spcAft>
            </a:pPr>
            <a:r>
              <a:rPr sz="1800" b="1">
                <a:solidFill>
                  <a:srgbClr val="C2516B"/>
                </a:solidFill>
                <a:latin typeface="Calibri"/>
              </a:rPr>
              <a:t>10 min</a:t>
            </a:r>
          </a:p>
        </p:txBody>
      </p:sp>
      <p:sp>
        <p:nvSpPr>
          <p:cNvPr id="15" name="Oval 14"/>
          <p:cNvSpPr/>
          <p:nvPr/>
        </p:nvSpPr>
        <p:spPr>
          <a:xfrm>
            <a:off x="502920" y="2011680"/>
            <a:ext cx="566928" cy="566928"/>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139696"/>
            <a:ext cx="566928" cy="310896"/>
          </a:xfrm>
          <a:prstGeom prst="rect">
            <a:avLst/>
          </a:prstGeom>
          <a:noFill/>
        </p:spPr>
        <p:txBody>
          <a:bodyPr wrap="square" lIns="0" rIns="0" tIns="0" bIns="0" anchor="t"/>
          <a:lstStyle/>
          <a:p>
            <a:pPr algn="ctr">
              <a:spcBef>
                <a:spcPts val="0"/>
              </a:spcBef>
              <a:spcAft>
                <a:spcPts val="100"/>
              </a:spcAft>
            </a:pPr>
            <a:r>
              <a:rPr sz="1400" b="1">
                <a:solidFill>
                  <a:srgbClr val="FFFCFA"/>
                </a:solidFill>
                <a:latin typeface="Calibri"/>
              </a:rPr>
              <a:t>02</a:t>
            </a:r>
          </a:p>
        </p:txBody>
      </p:sp>
      <p:sp>
        <p:nvSpPr>
          <p:cNvPr id="17" name="TextBox 16"/>
          <p:cNvSpPr txBox="1"/>
          <p:nvPr/>
        </p:nvSpPr>
        <p:spPr>
          <a:xfrm>
            <a:off x="1325880" y="2029968"/>
            <a:ext cx="6583680" cy="310896"/>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Analyse</a:t>
            </a:r>
          </a:p>
        </p:txBody>
      </p:sp>
      <p:sp>
        <p:nvSpPr>
          <p:cNvPr id="18" name="TextBox 17"/>
          <p:cNvSpPr txBox="1"/>
          <p:nvPr/>
        </p:nvSpPr>
        <p:spPr>
          <a:xfrm>
            <a:off x="1325880" y="2359152"/>
            <a:ext cx="6583680" cy="274320"/>
          </a:xfrm>
          <a:prstGeom prst="rect">
            <a:avLst/>
          </a:prstGeom>
          <a:noFill/>
        </p:spPr>
        <p:txBody>
          <a:bodyPr wrap="square" lIns="0" rIns="0" tIns="0" bIns="0" anchor="t"/>
          <a:lstStyle/>
          <a:p>
            <a:pPr algn="l">
              <a:spcBef>
                <a:spcPts val="0"/>
              </a:spcBef>
              <a:spcAft>
                <a:spcPts val="100"/>
              </a:spcAft>
            </a:pPr>
            <a:r>
              <a:rPr sz="1400" b="0">
                <a:solidFill>
                  <a:srgbClr val="8A736C"/>
                </a:solidFill>
                <a:latin typeface="Calibri"/>
              </a:rPr>
              <a:t>Rôles, cas d'utilisation, activité</a:t>
            </a:r>
          </a:p>
        </p:txBody>
      </p:sp>
      <p:sp>
        <p:nvSpPr>
          <p:cNvPr id="19" name="TextBox 18"/>
          <p:cNvSpPr txBox="1"/>
          <p:nvPr/>
        </p:nvSpPr>
        <p:spPr>
          <a:xfrm>
            <a:off x="9326880" y="2121408"/>
            <a:ext cx="2194560" cy="365760"/>
          </a:xfrm>
          <a:prstGeom prst="rect">
            <a:avLst/>
          </a:prstGeom>
          <a:noFill/>
        </p:spPr>
        <p:txBody>
          <a:bodyPr wrap="square" lIns="0" rIns="0" tIns="0" bIns="0" anchor="t"/>
          <a:lstStyle/>
          <a:p>
            <a:pPr algn="r">
              <a:spcBef>
                <a:spcPts val="0"/>
              </a:spcBef>
              <a:spcAft>
                <a:spcPts val="100"/>
              </a:spcAft>
            </a:pPr>
            <a:r>
              <a:rPr sz="1800" b="1">
                <a:solidFill>
                  <a:srgbClr val="C2516B"/>
                </a:solidFill>
                <a:latin typeface="Calibri"/>
              </a:rPr>
              <a:t>8 min</a:t>
            </a:r>
          </a:p>
        </p:txBody>
      </p:sp>
      <p:sp>
        <p:nvSpPr>
          <p:cNvPr id="20" name="Oval 19"/>
          <p:cNvSpPr/>
          <p:nvPr/>
        </p:nvSpPr>
        <p:spPr>
          <a:xfrm>
            <a:off x="502920" y="2971800"/>
            <a:ext cx="566928" cy="566928"/>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099816"/>
            <a:ext cx="566928" cy="310896"/>
          </a:xfrm>
          <a:prstGeom prst="rect">
            <a:avLst/>
          </a:prstGeom>
          <a:noFill/>
        </p:spPr>
        <p:txBody>
          <a:bodyPr wrap="square" lIns="0" rIns="0" tIns="0" bIns="0" anchor="t"/>
          <a:lstStyle/>
          <a:p>
            <a:pPr algn="ctr">
              <a:spcBef>
                <a:spcPts val="0"/>
              </a:spcBef>
              <a:spcAft>
                <a:spcPts val="100"/>
              </a:spcAft>
            </a:pPr>
            <a:r>
              <a:rPr sz="1400" b="1">
                <a:solidFill>
                  <a:srgbClr val="FFFCFA"/>
                </a:solidFill>
                <a:latin typeface="Calibri"/>
              </a:rPr>
              <a:t>03</a:t>
            </a:r>
          </a:p>
        </p:txBody>
      </p:sp>
      <p:sp>
        <p:nvSpPr>
          <p:cNvPr id="22" name="TextBox 21"/>
          <p:cNvSpPr txBox="1"/>
          <p:nvPr/>
        </p:nvSpPr>
        <p:spPr>
          <a:xfrm>
            <a:off x="1325880" y="2990088"/>
            <a:ext cx="6583680" cy="310896"/>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Conception</a:t>
            </a:r>
          </a:p>
        </p:txBody>
      </p:sp>
      <p:sp>
        <p:nvSpPr>
          <p:cNvPr id="23" name="TextBox 22"/>
          <p:cNvSpPr txBox="1"/>
          <p:nvPr/>
        </p:nvSpPr>
        <p:spPr>
          <a:xfrm>
            <a:off x="1325880" y="3319272"/>
            <a:ext cx="6583680" cy="274320"/>
          </a:xfrm>
          <a:prstGeom prst="rect">
            <a:avLst/>
          </a:prstGeom>
          <a:noFill/>
        </p:spPr>
        <p:txBody>
          <a:bodyPr wrap="square" lIns="0" rIns="0" tIns="0" bIns="0" anchor="t"/>
          <a:lstStyle/>
          <a:p>
            <a:pPr algn="l">
              <a:spcBef>
                <a:spcPts val="0"/>
              </a:spcBef>
              <a:spcAft>
                <a:spcPts val="100"/>
              </a:spcAft>
            </a:pPr>
            <a:r>
              <a:rPr sz="1400" b="0">
                <a:solidFill>
                  <a:srgbClr val="8A736C"/>
                </a:solidFill>
                <a:latin typeface="Calibri"/>
              </a:rPr>
              <a:t>Diagrammes, puis le code</a:t>
            </a:r>
          </a:p>
        </p:txBody>
      </p:sp>
      <p:sp>
        <p:nvSpPr>
          <p:cNvPr id="24" name="TextBox 23"/>
          <p:cNvSpPr txBox="1"/>
          <p:nvPr/>
        </p:nvSpPr>
        <p:spPr>
          <a:xfrm>
            <a:off x="9326880" y="3081528"/>
            <a:ext cx="2194560" cy="365760"/>
          </a:xfrm>
          <a:prstGeom prst="rect">
            <a:avLst/>
          </a:prstGeom>
          <a:noFill/>
        </p:spPr>
        <p:txBody>
          <a:bodyPr wrap="square" lIns="0" rIns="0" tIns="0" bIns="0" anchor="t"/>
          <a:lstStyle/>
          <a:p>
            <a:pPr algn="r">
              <a:spcBef>
                <a:spcPts val="0"/>
              </a:spcBef>
              <a:spcAft>
                <a:spcPts val="100"/>
              </a:spcAft>
            </a:pPr>
            <a:r>
              <a:rPr sz="1800" b="1">
                <a:solidFill>
                  <a:srgbClr val="C2516B"/>
                </a:solidFill>
                <a:latin typeface="Calibri"/>
              </a:rPr>
              <a:t>8 min</a:t>
            </a:r>
          </a:p>
        </p:txBody>
      </p:sp>
      <p:sp>
        <p:nvSpPr>
          <p:cNvPr id="25" name="Oval 24"/>
          <p:cNvSpPr/>
          <p:nvPr/>
        </p:nvSpPr>
        <p:spPr>
          <a:xfrm>
            <a:off x="502920" y="3931920"/>
            <a:ext cx="566928" cy="566928"/>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4059936"/>
            <a:ext cx="566928" cy="310896"/>
          </a:xfrm>
          <a:prstGeom prst="rect">
            <a:avLst/>
          </a:prstGeom>
          <a:noFill/>
        </p:spPr>
        <p:txBody>
          <a:bodyPr wrap="square" lIns="0" rIns="0" tIns="0" bIns="0" anchor="t"/>
          <a:lstStyle/>
          <a:p>
            <a:pPr algn="ctr">
              <a:spcBef>
                <a:spcPts val="0"/>
              </a:spcBef>
              <a:spcAft>
                <a:spcPts val="100"/>
              </a:spcAft>
            </a:pPr>
            <a:r>
              <a:rPr sz="1400" b="1">
                <a:solidFill>
                  <a:srgbClr val="FFFCFA"/>
                </a:solidFill>
                <a:latin typeface="Calibri"/>
              </a:rPr>
              <a:t>04</a:t>
            </a:r>
          </a:p>
        </p:txBody>
      </p:sp>
      <p:sp>
        <p:nvSpPr>
          <p:cNvPr id="27" name="TextBox 26"/>
          <p:cNvSpPr txBox="1"/>
          <p:nvPr/>
        </p:nvSpPr>
        <p:spPr>
          <a:xfrm>
            <a:off x="1325880" y="3950208"/>
            <a:ext cx="6583680" cy="310896"/>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Sécurité et tests</a:t>
            </a:r>
          </a:p>
        </p:txBody>
      </p:sp>
      <p:sp>
        <p:nvSpPr>
          <p:cNvPr id="28" name="TextBox 27"/>
          <p:cNvSpPr txBox="1"/>
          <p:nvPr/>
        </p:nvSpPr>
        <p:spPr>
          <a:xfrm>
            <a:off x="1325880" y="4279392"/>
            <a:ext cx="6583680" cy="274320"/>
          </a:xfrm>
          <a:prstGeom prst="rect">
            <a:avLst/>
          </a:prstGeom>
          <a:noFill/>
        </p:spPr>
        <p:txBody>
          <a:bodyPr wrap="square" lIns="0" rIns="0" tIns="0" bIns="0" anchor="t"/>
          <a:lstStyle/>
          <a:p>
            <a:pPr algn="l">
              <a:spcBef>
                <a:spcPts val="0"/>
              </a:spcBef>
              <a:spcAft>
                <a:spcPts val="100"/>
              </a:spcAft>
            </a:pPr>
            <a:r>
              <a:rPr sz="1400" b="0">
                <a:solidFill>
                  <a:srgbClr val="8A736C"/>
                </a:solidFill>
                <a:latin typeface="Calibri"/>
              </a:rPr>
              <a:t>Cinq cas, avec le test</a:t>
            </a:r>
          </a:p>
        </p:txBody>
      </p:sp>
      <p:sp>
        <p:nvSpPr>
          <p:cNvPr id="29" name="TextBox 28"/>
          <p:cNvSpPr txBox="1"/>
          <p:nvPr/>
        </p:nvSpPr>
        <p:spPr>
          <a:xfrm>
            <a:off x="9326880" y="4041648"/>
            <a:ext cx="2194560" cy="365760"/>
          </a:xfrm>
          <a:prstGeom prst="rect">
            <a:avLst/>
          </a:prstGeom>
          <a:noFill/>
        </p:spPr>
        <p:txBody>
          <a:bodyPr wrap="square" lIns="0" rIns="0" tIns="0" bIns="0" anchor="t"/>
          <a:lstStyle/>
          <a:p>
            <a:pPr algn="r">
              <a:spcBef>
                <a:spcPts val="0"/>
              </a:spcBef>
              <a:spcAft>
                <a:spcPts val="100"/>
              </a:spcAft>
            </a:pPr>
            <a:r>
              <a:rPr sz="1800" b="1">
                <a:solidFill>
                  <a:srgbClr val="C2516B"/>
                </a:solidFill>
                <a:latin typeface="Calibri"/>
              </a:rPr>
              <a:t>8 min</a:t>
            </a:r>
          </a:p>
        </p:txBody>
      </p:sp>
      <p:sp>
        <p:nvSpPr>
          <p:cNvPr id="30" name="Oval 29"/>
          <p:cNvSpPr/>
          <p:nvPr/>
        </p:nvSpPr>
        <p:spPr>
          <a:xfrm>
            <a:off x="502920" y="4892040"/>
            <a:ext cx="566928" cy="566928"/>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5020055"/>
            <a:ext cx="566928" cy="310896"/>
          </a:xfrm>
          <a:prstGeom prst="rect">
            <a:avLst/>
          </a:prstGeom>
          <a:noFill/>
        </p:spPr>
        <p:txBody>
          <a:bodyPr wrap="square" lIns="0" rIns="0" tIns="0" bIns="0" anchor="t"/>
          <a:lstStyle/>
          <a:p>
            <a:pPr algn="ctr">
              <a:spcBef>
                <a:spcPts val="0"/>
              </a:spcBef>
              <a:spcAft>
                <a:spcPts val="100"/>
              </a:spcAft>
            </a:pPr>
            <a:r>
              <a:rPr sz="1400" b="1">
                <a:solidFill>
                  <a:srgbClr val="FFFCFA"/>
                </a:solidFill>
                <a:latin typeface="Calibri"/>
              </a:rPr>
              <a:t>05</a:t>
            </a:r>
          </a:p>
        </p:txBody>
      </p:sp>
      <p:sp>
        <p:nvSpPr>
          <p:cNvPr id="32" name="TextBox 31"/>
          <p:cNvSpPr txBox="1"/>
          <p:nvPr/>
        </p:nvSpPr>
        <p:spPr>
          <a:xfrm>
            <a:off x="1325880" y="4910327"/>
            <a:ext cx="6583680" cy="310896"/>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Démonstration et bilan</a:t>
            </a:r>
          </a:p>
        </p:txBody>
      </p:sp>
      <p:sp>
        <p:nvSpPr>
          <p:cNvPr id="33" name="TextBox 32"/>
          <p:cNvSpPr txBox="1"/>
          <p:nvPr/>
        </p:nvSpPr>
        <p:spPr>
          <a:xfrm>
            <a:off x="1325880" y="5239512"/>
            <a:ext cx="6583680" cy="274320"/>
          </a:xfrm>
          <a:prstGeom prst="rect">
            <a:avLst/>
          </a:prstGeom>
          <a:noFill/>
        </p:spPr>
        <p:txBody>
          <a:bodyPr wrap="square" lIns="0" rIns="0" tIns="0" bIns="0" anchor="t"/>
          <a:lstStyle/>
          <a:p>
            <a:pPr algn="l">
              <a:spcBef>
                <a:spcPts val="0"/>
              </a:spcBef>
              <a:spcAft>
                <a:spcPts val="100"/>
              </a:spcAft>
            </a:pPr>
            <a:r>
              <a:rPr sz="1400" b="0">
                <a:solidFill>
                  <a:srgbClr val="8A736C"/>
                </a:solidFill>
                <a:latin typeface="Calibri"/>
              </a:rPr>
              <a:t>Application, puis questions</a:t>
            </a:r>
          </a:p>
        </p:txBody>
      </p:sp>
      <p:sp>
        <p:nvSpPr>
          <p:cNvPr id="34" name="TextBox 33"/>
          <p:cNvSpPr txBox="1"/>
          <p:nvPr/>
        </p:nvSpPr>
        <p:spPr>
          <a:xfrm>
            <a:off x="9326880" y="5001768"/>
            <a:ext cx="2194560" cy="365760"/>
          </a:xfrm>
          <a:prstGeom prst="rect">
            <a:avLst/>
          </a:prstGeom>
          <a:noFill/>
        </p:spPr>
        <p:txBody>
          <a:bodyPr wrap="square" lIns="0" rIns="0" tIns="0" bIns="0" anchor="t"/>
          <a:lstStyle/>
          <a:p>
            <a:pPr algn="r">
              <a:spcBef>
                <a:spcPts val="0"/>
              </a:spcBef>
              <a:spcAft>
                <a:spcPts val="100"/>
              </a:spcAft>
            </a:pPr>
            <a:r>
              <a:rPr sz="1800" b="1">
                <a:solidFill>
                  <a:srgbClr val="C2516B"/>
                </a:solidFill>
                <a:latin typeface="Calibri"/>
              </a:rPr>
              <a:t>6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Référentiel CDA</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RNCP 37873  ·  trois activités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3</a:t>
            </a:r>
          </a:p>
        </p:txBody>
      </p:sp>
      <p:sp>
        <p:nvSpPr>
          <p:cNvPr id="10" name="Rounded Rectangle 9"/>
          <p:cNvSpPr/>
          <p:nvPr/>
        </p:nvSpPr>
        <p:spPr>
          <a:xfrm>
            <a:off x="411480" y="1051560"/>
            <a:ext cx="3703320" cy="47091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051560"/>
            <a:ext cx="3703320" cy="73152"/>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280160"/>
            <a:ext cx="3246120" cy="411480"/>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Développer</a:t>
            </a:r>
          </a:p>
        </p:txBody>
      </p:sp>
      <p:sp>
        <p:nvSpPr>
          <p:cNvPr id="13" name="TextBox 12"/>
          <p:cNvSpPr txBox="1"/>
          <p:nvPr/>
        </p:nvSpPr>
        <p:spPr>
          <a:xfrm>
            <a:off x="685800" y="196596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Environnement</a:t>
            </a:r>
          </a:p>
        </p:txBody>
      </p:sp>
      <p:sp>
        <p:nvSpPr>
          <p:cNvPr id="14" name="TextBox 13"/>
          <p:cNvSpPr txBox="1"/>
          <p:nvPr/>
        </p:nvSpPr>
        <p:spPr>
          <a:xfrm>
            <a:off x="685800" y="278892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Interfaces web et mobile</a:t>
            </a:r>
          </a:p>
        </p:txBody>
      </p:sp>
      <p:sp>
        <p:nvSpPr>
          <p:cNvPr id="15" name="TextBox 14"/>
          <p:cNvSpPr txBox="1"/>
          <p:nvPr/>
        </p:nvSpPr>
        <p:spPr>
          <a:xfrm>
            <a:off x="685800" y="361188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Composants métier</a:t>
            </a:r>
          </a:p>
        </p:txBody>
      </p:sp>
      <p:sp>
        <p:nvSpPr>
          <p:cNvPr id="16" name="TextBox 15"/>
          <p:cNvSpPr txBox="1"/>
          <p:nvPr/>
        </p:nvSpPr>
        <p:spPr>
          <a:xfrm>
            <a:off x="685800" y="443484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Scrum</a:t>
            </a:r>
          </a:p>
        </p:txBody>
      </p:sp>
      <p:sp>
        <p:nvSpPr>
          <p:cNvPr id="17" name="Rounded Rectangle 16"/>
          <p:cNvSpPr/>
          <p:nvPr/>
        </p:nvSpPr>
        <p:spPr>
          <a:xfrm>
            <a:off x="4297680" y="1051560"/>
            <a:ext cx="3703320" cy="47091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1051560"/>
            <a:ext cx="3703320" cy="73152"/>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1280160"/>
            <a:ext cx="3246120" cy="411480"/>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Concevoir</a:t>
            </a:r>
          </a:p>
        </p:txBody>
      </p:sp>
      <p:sp>
        <p:nvSpPr>
          <p:cNvPr id="20" name="TextBox 19"/>
          <p:cNvSpPr txBox="1"/>
          <p:nvPr/>
        </p:nvSpPr>
        <p:spPr>
          <a:xfrm>
            <a:off x="4572000" y="196596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Besoins et cas d'utilisation</a:t>
            </a:r>
          </a:p>
        </p:txBody>
      </p:sp>
      <p:sp>
        <p:nvSpPr>
          <p:cNvPr id="21" name="TextBox 20"/>
          <p:cNvSpPr txBox="1"/>
          <p:nvPr/>
        </p:nvSpPr>
        <p:spPr>
          <a:xfrm>
            <a:off x="4572000" y="278892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Architecture en couches</a:t>
            </a:r>
          </a:p>
        </p:txBody>
      </p:sp>
      <p:sp>
        <p:nvSpPr>
          <p:cNvPr id="22" name="TextBox 21"/>
          <p:cNvSpPr txBox="1"/>
          <p:nvPr/>
        </p:nvSpPr>
        <p:spPr>
          <a:xfrm>
            <a:off x="4572000" y="361188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Base relationnelle</a:t>
            </a:r>
          </a:p>
        </p:txBody>
      </p:sp>
      <p:sp>
        <p:nvSpPr>
          <p:cNvPr id="23" name="TextBox 22"/>
          <p:cNvSpPr txBox="1"/>
          <p:nvPr/>
        </p:nvSpPr>
        <p:spPr>
          <a:xfrm>
            <a:off x="4572000" y="443484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Eloquent</a:t>
            </a:r>
          </a:p>
        </p:txBody>
      </p:sp>
      <p:sp>
        <p:nvSpPr>
          <p:cNvPr id="24" name="Rounded Rectangle 23"/>
          <p:cNvSpPr/>
          <p:nvPr/>
        </p:nvSpPr>
        <p:spPr>
          <a:xfrm>
            <a:off x="8183879" y="1051560"/>
            <a:ext cx="3703320" cy="47091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83879" y="1051560"/>
            <a:ext cx="3703320" cy="73152"/>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1280160"/>
            <a:ext cx="3246120" cy="411480"/>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Déployer</a:t>
            </a:r>
          </a:p>
        </p:txBody>
      </p:sp>
      <p:sp>
        <p:nvSpPr>
          <p:cNvPr id="27" name="TextBox 26"/>
          <p:cNvSpPr txBox="1"/>
          <p:nvPr/>
        </p:nvSpPr>
        <p:spPr>
          <a:xfrm>
            <a:off x="8458200" y="196596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Plans de tests</a:t>
            </a:r>
          </a:p>
        </p:txBody>
      </p:sp>
      <p:sp>
        <p:nvSpPr>
          <p:cNvPr id="28" name="TextBox 27"/>
          <p:cNvSpPr txBox="1"/>
          <p:nvPr/>
        </p:nvSpPr>
        <p:spPr>
          <a:xfrm>
            <a:off x="8458200" y="278892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Même contrat web et mobile</a:t>
            </a:r>
          </a:p>
        </p:txBody>
      </p:sp>
      <p:sp>
        <p:nvSpPr>
          <p:cNvPr id="29" name="TextBox 28"/>
          <p:cNvSpPr txBox="1"/>
          <p:nvPr/>
        </p:nvSpPr>
        <p:spPr>
          <a:xfrm>
            <a:off x="8458200" y="361188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Mise en ligne</a:t>
            </a:r>
          </a:p>
        </p:txBody>
      </p:sp>
      <p:sp>
        <p:nvSpPr>
          <p:cNvPr id="30" name="TextBox 29"/>
          <p:cNvSpPr txBox="1"/>
          <p:nvPr/>
        </p:nvSpPr>
        <p:spPr>
          <a:xfrm>
            <a:off x="8458200" y="4434840"/>
            <a:ext cx="3108960" cy="5029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PHPUnit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L'organisme de stage</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Alternance 2025-2026</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4</a:t>
            </a:r>
          </a:p>
        </p:txBody>
      </p:sp>
      <p:sp>
        <p:nvSpPr>
          <p:cNvPr id="10" name="Rounded Rectangle 9"/>
          <p:cNvSpPr/>
          <p:nvPr/>
        </p:nvSpPr>
        <p:spPr>
          <a:xfrm>
            <a:off x="457200" y="1143000"/>
            <a:ext cx="11247120" cy="1005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399032"/>
            <a:ext cx="3017520" cy="457200"/>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Entreprise</a:t>
            </a:r>
          </a:p>
        </p:txBody>
      </p:sp>
      <p:sp>
        <p:nvSpPr>
          <p:cNvPr id="12" name="TextBox 11"/>
          <p:cNvSpPr txBox="1"/>
          <p:nvPr/>
        </p:nvSpPr>
        <p:spPr>
          <a:xfrm>
            <a:off x="3840480" y="1399032"/>
            <a:ext cx="7498079" cy="457200"/>
          </a:xfrm>
          <a:prstGeom prst="rect">
            <a:avLst/>
          </a:prstGeom>
          <a:noFill/>
        </p:spPr>
        <p:txBody>
          <a:bodyPr wrap="square" lIns="0" rIns="0" tIns="0" bIns="0" anchor="ctr"/>
          <a:lstStyle/>
          <a:p>
            <a:pPr algn="l">
              <a:spcBef>
                <a:spcPts val="0"/>
              </a:spcBef>
              <a:spcAft>
                <a:spcPts val="100"/>
              </a:spcAft>
            </a:pPr>
            <a:r>
              <a:rPr sz="2000" b="0">
                <a:solidFill>
                  <a:srgbClr val="3A2428"/>
                </a:solidFill>
                <a:latin typeface="Calibri"/>
              </a:rPr>
              <a:t>Drif Consult</a:t>
            </a:r>
          </a:p>
        </p:txBody>
      </p:sp>
      <p:sp>
        <p:nvSpPr>
          <p:cNvPr id="13" name="Rounded Rectangle 12"/>
          <p:cNvSpPr/>
          <p:nvPr/>
        </p:nvSpPr>
        <p:spPr>
          <a:xfrm>
            <a:off x="457200" y="2286000"/>
            <a:ext cx="11247120" cy="1005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542032"/>
            <a:ext cx="3017520" cy="457200"/>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Tuteur</a:t>
            </a:r>
          </a:p>
        </p:txBody>
      </p:sp>
      <p:sp>
        <p:nvSpPr>
          <p:cNvPr id="15" name="TextBox 14"/>
          <p:cNvSpPr txBox="1"/>
          <p:nvPr/>
        </p:nvSpPr>
        <p:spPr>
          <a:xfrm>
            <a:off x="3840480" y="2542032"/>
            <a:ext cx="7498079" cy="457200"/>
          </a:xfrm>
          <a:prstGeom prst="rect">
            <a:avLst/>
          </a:prstGeom>
          <a:noFill/>
        </p:spPr>
        <p:txBody>
          <a:bodyPr wrap="square" lIns="0" rIns="0" tIns="0" bIns="0" anchor="ctr"/>
          <a:lstStyle/>
          <a:p>
            <a:pPr algn="l">
              <a:spcBef>
                <a:spcPts val="0"/>
              </a:spcBef>
              <a:spcAft>
                <a:spcPts val="100"/>
              </a:spcAft>
            </a:pPr>
            <a:r>
              <a:rPr sz="2000" b="0">
                <a:solidFill>
                  <a:srgbClr val="3A2428"/>
                </a:solidFill>
                <a:latin typeface="Calibri"/>
              </a:rPr>
              <a:t>Yasser El Habib Drif</a:t>
            </a:r>
          </a:p>
        </p:txBody>
      </p:sp>
      <p:sp>
        <p:nvSpPr>
          <p:cNvPr id="16" name="Rounded Rectangle 15"/>
          <p:cNvSpPr/>
          <p:nvPr/>
        </p:nvSpPr>
        <p:spPr>
          <a:xfrm>
            <a:off x="457200" y="3429000"/>
            <a:ext cx="11247120" cy="1005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85032"/>
            <a:ext cx="3017520" cy="457200"/>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Produit du quotidien</a:t>
            </a:r>
          </a:p>
        </p:txBody>
      </p:sp>
      <p:sp>
        <p:nvSpPr>
          <p:cNvPr id="18" name="TextBox 17"/>
          <p:cNvSpPr txBox="1"/>
          <p:nvPr/>
        </p:nvSpPr>
        <p:spPr>
          <a:xfrm>
            <a:off x="3840480" y="3685032"/>
            <a:ext cx="7498079" cy="457200"/>
          </a:xfrm>
          <a:prstGeom prst="rect">
            <a:avLst/>
          </a:prstGeom>
          <a:noFill/>
        </p:spPr>
        <p:txBody>
          <a:bodyPr wrap="square" lIns="0" rIns="0" tIns="0" bIns="0" anchor="ctr"/>
          <a:lstStyle/>
          <a:p>
            <a:pPr algn="l">
              <a:spcBef>
                <a:spcPts val="0"/>
              </a:spcBef>
              <a:spcAft>
                <a:spcPts val="100"/>
              </a:spcAft>
            </a:pPr>
            <a:r>
              <a:rPr sz="2000" b="0">
                <a:solidFill>
                  <a:srgbClr val="3A2428"/>
                </a:solidFill>
                <a:latin typeface="Calibri"/>
              </a:rPr>
              <a:t>Roman.ai, coworker pour Slack</a:t>
            </a:r>
          </a:p>
        </p:txBody>
      </p:sp>
      <p:sp>
        <p:nvSpPr>
          <p:cNvPr id="19" name="Rounded Rectangle 18"/>
          <p:cNvSpPr/>
          <p:nvPr/>
        </p:nvSpPr>
        <p:spPr>
          <a:xfrm>
            <a:off x="457200" y="4572000"/>
            <a:ext cx="11247120" cy="1005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828032"/>
            <a:ext cx="3017520" cy="457200"/>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Cadre</a:t>
            </a:r>
          </a:p>
        </p:txBody>
      </p:sp>
      <p:sp>
        <p:nvSpPr>
          <p:cNvPr id="21" name="TextBox 20"/>
          <p:cNvSpPr txBox="1"/>
          <p:nvPr/>
        </p:nvSpPr>
        <p:spPr>
          <a:xfrm>
            <a:off x="3840480" y="4828032"/>
            <a:ext cx="7498079" cy="457200"/>
          </a:xfrm>
          <a:prstGeom prst="rect">
            <a:avLst/>
          </a:prstGeom>
          <a:noFill/>
        </p:spPr>
        <p:txBody>
          <a:bodyPr wrap="square" lIns="0" rIns="0" tIns="0" bIns="0" anchor="ctr"/>
          <a:lstStyle/>
          <a:p>
            <a:pPr algn="l">
              <a:spcBef>
                <a:spcPts val="0"/>
              </a:spcBef>
              <a:spcAft>
                <a:spcPts val="100"/>
              </a:spcAft>
            </a:pPr>
            <a:r>
              <a:rPr sz="2000" b="0">
                <a:solidFill>
                  <a:srgbClr val="3A2428"/>
                </a:solidFill>
                <a:latin typeface="Calibri"/>
              </a:rPr>
              <a:t>CDA, campus Paris, ADG Education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Ce que j'y ai fait</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Front-end et parrainage, en général</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5</a:t>
            </a:r>
          </a:p>
        </p:txBody>
      </p:sp>
      <p:sp>
        <p:nvSpPr>
          <p:cNvPr id="10" name="Rounded Rectangle 9"/>
          <p:cNvSpPr/>
          <p:nvPr/>
        </p:nvSpPr>
        <p:spPr>
          <a:xfrm>
            <a:off x="457200" y="1143000"/>
            <a:ext cx="5486400" cy="338328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17320"/>
            <a:ext cx="4937760" cy="411480"/>
          </a:xfrm>
          <a:prstGeom prst="rect">
            <a:avLst/>
          </a:prstGeom>
          <a:noFill/>
        </p:spPr>
        <p:txBody>
          <a:bodyPr wrap="square" lIns="0" rIns="0" tIns="0" bIns="0" anchor="t"/>
          <a:lstStyle/>
          <a:p>
            <a:pPr algn="l">
              <a:spcBef>
                <a:spcPts val="0"/>
              </a:spcBef>
              <a:spcAft>
                <a:spcPts val="100"/>
              </a:spcAft>
            </a:pPr>
            <a:r>
              <a:rPr sz="2400" b="1">
                <a:solidFill>
                  <a:srgbClr val="3A2428"/>
                </a:solidFill>
                <a:latin typeface="Calibri"/>
              </a:rPr>
              <a:t>Front-end</a:t>
            </a:r>
          </a:p>
        </p:txBody>
      </p:sp>
      <p:sp>
        <p:nvSpPr>
          <p:cNvPr id="12" name="TextBox 11"/>
          <p:cNvSpPr txBox="1"/>
          <p:nvPr/>
        </p:nvSpPr>
        <p:spPr>
          <a:xfrm>
            <a:off x="731520" y="2103120"/>
            <a:ext cx="4937760" cy="1463040"/>
          </a:xfrm>
          <a:prstGeom prst="rect">
            <a:avLst/>
          </a:prstGeom>
          <a:noFill/>
        </p:spPr>
        <p:txBody>
          <a:bodyPr wrap="square" lIns="0" rIns="0" tIns="0" bIns="0" anchor="t"/>
          <a:lstStyle/>
          <a:p>
            <a:pPr algn="l">
              <a:spcBef>
                <a:spcPts val="0"/>
              </a:spcBef>
              <a:spcAft>
                <a:spcPts val="100"/>
              </a:spcAft>
            </a:pPr>
            <a:r>
              <a:rPr sz="1800" b="0">
                <a:solidFill>
                  <a:srgbClr val="8A736C"/>
                </a:solidFill>
                <a:latin typeface="Calibri"/>
              </a:rPr>
              <a:t>Les interfaces du produit.</a:t>
            </a:r>
          </a:p>
          <a:p>
            <a:pPr algn="l">
              <a:spcBef>
                <a:spcPts val="0"/>
              </a:spcBef>
              <a:spcAft>
                <a:spcPts val="100"/>
              </a:spcAft>
            </a:pPr>
            <a:r>
              <a:rPr sz="1800" b="0">
                <a:solidFill>
                  <a:srgbClr val="8A736C"/>
                </a:solidFill>
                <a:latin typeface="Calibri"/>
              </a:rPr>
              <a:t>La cohérence visuelle des écrans.</a:t>
            </a:r>
          </a:p>
        </p:txBody>
      </p:sp>
      <p:sp>
        <p:nvSpPr>
          <p:cNvPr id="13" name="Rounded Rectangle 12"/>
          <p:cNvSpPr/>
          <p:nvPr/>
        </p:nvSpPr>
        <p:spPr>
          <a:xfrm>
            <a:off x="6217920" y="1143000"/>
            <a:ext cx="5486400" cy="338328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417320"/>
            <a:ext cx="4937760" cy="411480"/>
          </a:xfrm>
          <a:prstGeom prst="rect">
            <a:avLst/>
          </a:prstGeom>
          <a:noFill/>
        </p:spPr>
        <p:txBody>
          <a:bodyPr wrap="square" lIns="0" rIns="0" tIns="0" bIns="0" anchor="t"/>
          <a:lstStyle/>
          <a:p>
            <a:pPr algn="l">
              <a:spcBef>
                <a:spcPts val="0"/>
              </a:spcBef>
              <a:spcAft>
                <a:spcPts val="100"/>
              </a:spcAft>
            </a:pPr>
            <a:r>
              <a:rPr sz="2400" b="1">
                <a:solidFill>
                  <a:srgbClr val="3A2428"/>
                </a:solidFill>
                <a:latin typeface="Calibri"/>
              </a:rPr>
              <a:t>Parrainage</a:t>
            </a:r>
          </a:p>
        </p:txBody>
      </p:sp>
      <p:sp>
        <p:nvSpPr>
          <p:cNvPr id="15" name="TextBox 14"/>
          <p:cNvSpPr txBox="1"/>
          <p:nvPr/>
        </p:nvSpPr>
        <p:spPr>
          <a:xfrm>
            <a:off x="6492240" y="2103120"/>
            <a:ext cx="4937760" cy="1463040"/>
          </a:xfrm>
          <a:prstGeom prst="rect">
            <a:avLst/>
          </a:prstGeom>
          <a:noFill/>
        </p:spPr>
        <p:txBody>
          <a:bodyPr wrap="square" lIns="0" rIns="0" tIns="0" bIns="0" anchor="t"/>
          <a:lstStyle/>
          <a:p>
            <a:pPr algn="l">
              <a:spcBef>
                <a:spcPts val="0"/>
              </a:spcBef>
              <a:spcAft>
                <a:spcPts val="100"/>
              </a:spcAft>
            </a:pPr>
            <a:r>
              <a:rPr sz="1800" b="0">
                <a:solidFill>
                  <a:srgbClr val="8A736C"/>
                </a:solidFill>
                <a:latin typeface="Calibri"/>
              </a:rPr>
              <a:t>Relier un utilisateur</a:t>
            </a:r>
          </a:p>
          <a:p>
            <a:pPr algn="l">
              <a:spcBef>
                <a:spcPts val="0"/>
              </a:spcBef>
              <a:spcAft>
                <a:spcPts val="100"/>
              </a:spcAft>
            </a:pPr>
            <a:r>
              <a:rPr sz="1800" b="0">
                <a:solidFill>
                  <a:srgbClr val="8A736C"/>
                </a:solidFill>
                <a:latin typeface="Calibri"/>
              </a:rPr>
              <a:t>à ceux qu'il invite.</a:t>
            </a:r>
          </a:p>
        </p:txBody>
      </p:sp>
      <p:sp>
        <p:nvSpPr>
          <p:cNvPr id="16" name="Rounded Rectangle 15"/>
          <p:cNvSpPr/>
          <p:nvPr/>
        </p:nvSpPr>
        <p:spPr>
          <a:xfrm>
            <a:off x="457200" y="4709160"/>
            <a:ext cx="11247120" cy="10515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937760"/>
            <a:ext cx="10698480" cy="594360"/>
          </a:xfrm>
          <a:prstGeom prst="rect">
            <a:avLst/>
          </a:prstGeom>
          <a:noFill/>
        </p:spPr>
        <p:txBody>
          <a:bodyPr wrap="square" lIns="0" rIns="0" tIns="0" bIns="0" anchor="ctr"/>
          <a:lstStyle/>
          <a:p>
            <a:pPr algn="l">
              <a:spcBef>
                <a:spcPts val="0"/>
              </a:spcBef>
              <a:spcAft>
                <a:spcPts val="100"/>
              </a:spcAft>
            </a:pPr>
            <a:r>
              <a:rPr sz="1800" b="1">
                <a:solidFill>
                  <a:srgbClr val="3A2428"/>
                </a:solidFill>
                <a:latin typeface="Calibri"/>
              </a:rPr>
              <a:t>Briefly n'est pas une fonction de Roman.ai. C'est le projet du mémoire.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Le problème observé</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C5  ·  Analyser les besoins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6</a:t>
            </a:r>
          </a:p>
        </p:txBody>
      </p:sp>
      <p:sp>
        <p:nvSpPr>
          <p:cNvPr id="10" name="Rounded Rectangle 9"/>
          <p:cNvSpPr/>
          <p:nvPr/>
        </p:nvSpPr>
        <p:spPr>
          <a:xfrm>
            <a:off x="457200" y="1097280"/>
            <a:ext cx="11247120" cy="1005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85800" y="1353312"/>
            <a:ext cx="475488" cy="475488"/>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444752"/>
            <a:ext cx="475488" cy="292608"/>
          </a:xfrm>
          <a:prstGeom prst="rect">
            <a:avLst/>
          </a:prstGeom>
          <a:noFill/>
        </p:spPr>
        <p:txBody>
          <a:bodyPr wrap="square" lIns="0" rIns="0" tIns="0" bIns="0" anchor="t"/>
          <a:lstStyle/>
          <a:p>
            <a:pPr algn="ctr">
              <a:spcBef>
                <a:spcPts val="0"/>
              </a:spcBef>
              <a:spcAft>
                <a:spcPts val="100"/>
              </a:spcAft>
            </a:pPr>
            <a:r>
              <a:rPr sz="1400" b="1">
                <a:solidFill>
                  <a:srgbClr val="FFFCFA"/>
                </a:solidFill>
                <a:latin typeface="Calibri"/>
              </a:rPr>
              <a:t>1</a:t>
            </a:r>
          </a:p>
        </p:txBody>
      </p:sp>
      <p:sp>
        <p:nvSpPr>
          <p:cNvPr id="13" name="TextBox 12"/>
          <p:cNvSpPr txBox="1"/>
          <p:nvPr/>
        </p:nvSpPr>
        <p:spPr>
          <a:xfrm>
            <a:off x="1417320" y="1353312"/>
            <a:ext cx="9875520" cy="502920"/>
          </a:xfrm>
          <a:prstGeom prst="rect">
            <a:avLst/>
          </a:prstGeom>
          <a:noFill/>
        </p:spPr>
        <p:txBody>
          <a:bodyPr wrap="square" lIns="0" rIns="0" tIns="0" bIns="0" anchor="ctr"/>
          <a:lstStyle/>
          <a:p>
            <a:pPr algn="l">
              <a:spcBef>
                <a:spcPts val="0"/>
              </a:spcBef>
              <a:spcAft>
                <a:spcPts val="100"/>
              </a:spcAft>
            </a:pPr>
            <a:r>
              <a:rPr sz="2000" b="0">
                <a:solidFill>
                  <a:srgbClr val="2A211F"/>
                </a:solidFill>
                <a:latin typeface="Calibri"/>
              </a:rPr>
              <a:t>Le point du matin vit dans la messagerie.</a:t>
            </a:r>
          </a:p>
        </p:txBody>
      </p:sp>
      <p:sp>
        <p:nvSpPr>
          <p:cNvPr id="14" name="Rounded Rectangle 13"/>
          <p:cNvSpPr/>
          <p:nvPr/>
        </p:nvSpPr>
        <p:spPr>
          <a:xfrm>
            <a:off x="457200" y="2240280"/>
            <a:ext cx="11247120" cy="1005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5800" y="2496312"/>
            <a:ext cx="475488" cy="475488"/>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587752"/>
            <a:ext cx="475488" cy="292608"/>
          </a:xfrm>
          <a:prstGeom prst="rect">
            <a:avLst/>
          </a:prstGeom>
          <a:noFill/>
        </p:spPr>
        <p:txBody>
          <a:bodyPr wrap="square" lIns="0" rIns="0" tIns="0" bIns="0" anchor="t"/>
          <a:lstStyle/>
          <a:p>
            <a:pPr algn="ctr">
              <a:spcBef>
                <a:spcPts val="0"/>
              </a:spcBef>
              <a:spcAft>
                <a:spcPts val="100"/>
              </a:spcAft>
            </a:pPr>
            <a:r>
              <a:rPr sz="1400" b="1">
                <a:solidFill>
                  <a:srgbClr val="FFFCFA"/>
                </a:solidFill>
                <a:latin typeface="Calibri"/>
              </a:rPr>
              <a:t>2</a:t>
            </a:r>
          </a:p>
        </p:txBody>
      </p:sp>
      <p:sp>
        <p:nvSpPr>
          <p:cNvPr id="17" name="TextBox 16"/>
          <p:cNvSpPr txBox="1"/>
          <p:nvPr/>
        </p:nvSpPr>
        <p:spPr>
          <a:xfrm>
            <a:off x="1417320" y="2496312"/>
            <a:ext cx="9875520" cy="502920"/>
          </a:xfrm>
          <a:prstGeom prst="rect">
            <a:avLst/>
          </a:prstGeom>
          <a:noFill/>
        </p:spPr>
        <p:txBody>
          <a:bodyPr wrap="square" lIns="0" rIns="0" tIns="0" bIns="0" anchor="ctr"/>
          <a:lstStyle/>
          <a:p>
            <a:pPr algn="l">
              <a:spcBef>
                <a:spcPts val="0"/>
              </a:spcBef>
              <a:spcAft>
                <a:spcPts val="100"/>
              </a:spcAft>
            </a:pPr>
            <a:r>
              <a:rPr sz="2000" b="0">
                <a:solidFill>
                  <a:srgbClr val="2A211F"/>
                </a:solidFill>
                <a:latin typeface="Calibri"/>
              </a:rPr>
              <a:t>Le message n'est pas relié à une tâche.</a:t>
            </a:r>
          </a:p>
        </p:txBody>
      </p:sp>
      <p:sp>
        <p:nvSpPr>
          <p:cNvPr id="18" name="Rounded Rectangle 17"/>
          <p:cNvSpPr/>
          <p:nvPr/>
        </p:nvSpPr>
        <p:spPr>
          <a:xfrm>
            <a:off x="457200" y="3383280"/>
            <a:ext cx="11247120" cy="1005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5800" y="3639312"/>
            <a:ext cx="475488" cy="475488"/>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730752"/>
            <a:ext cx="475488" cy="292608"/>
          </a:xfrm>
          <a:prstGeom prst="rect">
            <a:avLst/>
          </a:prstGeom>
          <a:noFill/>
        </p:spPr>
        <p:txBody>
          <a:bodyPr wrap="square" lIns="0" rIns="0" tIns="0" bIns="0" anchor="t"/>
          <a:lstStyle/>
          <a:p>
            <a:pPr algn="ctr">
              <a:spcBef>
                <a:spcPts val="0"/>
              </a:spcBef>
              <a:spcAft>
                <a:spcPts val="100"/>
              </a:spcAft>
            </a:pPr>
            <a:r>
              <a:rPr sz="1400" b="1">
                <a:solidFill>
                  <a:srgbClr val="FFFCFA"/>
                </a:solidFill>
                <a:latin typeface="Calibri"/>
              </a:rPr>
              <a:t>3</a:t>
            </a:r>
          </a:p>
        </p:txBody>
      </p:sp>
      <p:sp>
        <p:nvSpPr>
          <p:cNvPr id="21" name="TextBox 20"/>
          <p:cNvSpPr txBox="1"/>
          <p:nvPr/>
        </p:nvSpPr>
        <p:spPr>
          <a:xfrm>
            <a:off x="1417320" y="3639312"/>
            <a:ext cx="9875520" cy="502920"/>
          </a:xfrm>
          <a:prstGeom prst="rect">
            <a:avLst/>
          </a:prstGeom>
          <a:noFill/>
        </p:spPr>
        <p:txBody>
          <a:bodyPr wrap="square" lIns="0" rIns="0" tIns="0" bIns="0" anchor="ctr"/>
          <a:lstStyle/>
          <a:p>
            <a:pPr algn="l">
              <a:spcBef>
                <a:spcPts val="0"/>
              </a:spcBef>
              <a:spcAft>
                <a:spcPts val="100"/>
              </a:spcAft>
            </a:pPr>
            <a:r>
              <a:rPr sz="2000" b="0">
                <a:solidFill>
                  <a:srgbClr val="2A211F"/>
                </a:solidFill>
                <a:latin typeface="Calibri"/>
              </a:rPr>
              <a:t>Le blocage disparaît dans le fil.</a:t>
            </a:r>
          </a:p>
        </p:txBody>
      </p:sp>
      <p:sp>
        <p:nvSpPr>
          <p:cNvPr id="22" name="Rounded Rectangle 21"/>
          <p:cNvSpPr/>
          <p:nvPr/>
        </p:nvSpPr>
        <p:spPr>
          <a:xfrm>
            <a:off x="457200" y="4526280"/>
            <a:ext cx="11247120" cy="1005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85800" y="4782312"/>
            <a:ext cx="475488" cy="475488"/>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73752"/>
            <a:ext cx="475488" cy="292608"/>
          </a:xfrm>
          <a:prstGeom prst="rect">
            <a:avLst/>
          </a:prstGeom>
          <a:noFill/>
        </p:spPr>
        <p:txBody>
          <a:bodyPr wrap="square" lIns="0" rIns="0" tIns="0" bIns="0" anchor="t"/>
          <a:lstStyle/>
          <a:p>
            <a:pPr algn="ctr">
              <a:spcBef>
                <a:spcPts val="0"/>
              </a:spcBef>
              <a:spcAft>
                <a:spcPts val="100"/>
              </a:spcAft>
            </a:pPr>
            <a:r>
              <a:rPr sz="1400" b="1">
                <a:solidFill>
                  <a:srgbClr val="FFFCFA"/>
                </a:solidFill>
                <a:latin typeface="Calibri"/>
              </a:rPr>
              <a:t>4</a:t>
            </a:r>
          </a:p>
        </p:txBody>
      </p:sp>
      <p:sp>
        <p:nvSpPr>
          <p:cNvPr id="25" name="TextBox 24"/>
          <p:cNvSpPr txBox="1"/>
          <p:nvPr/>
        </p:nvSpPr>
        <p:spPr>
          <a:xfrm>
            <a:off x="1417320" y="4782312"/>
            <a:ext cx="9875520" cy="502920"/>
          </a:xfrm>
          <a:prstGeom prst="rect">
            <a:avLst/>
          </a:prstGeom>
          <a:noFill/>
        </p:spPr>
        <p:txBody>
          <a:bodyPr wrap="square" lIns="0" rIns="0" tIns="0" bIns="0" anchor="ctr"/>
          <a:lstStyle/>
          <a:p>
            <a:pPr algn="l">
              <a:spcBef>
                <a:spcPts val="0"/>
              </a:spcBef>
              <a:spcAft>
                <a:spcPts val="100"/>
              </a:spcAft>
            </a:pPr>
            <a:r>
              <a:rPr sz="2000" b="0">
                <a:solidFill>
                  <a:srgbClr val="2A211F"/>
                </a:solidFill>
                <a:latin typeface="Calibri"/>
              </a:rPr>
              <a:t>Le chef n'a pas un tableau stable.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Problématique</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C5  ·  Analyser les besoins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7</a:t>
            </a:r>
          </a:p>
        </p:txBody>
      </p:sp>
      <p:sp>
        <p:nvSpPr>
          <p:cNvPr id="10" name="Rounded Rectangle 9"/>
          <p:cNvSpPr/>
          <p:nvPr/>
        </p:nvSpPr>
        <p:spPr>
          <a:xfrm>
            <a:off x="457200" y="1143000"/>
            <a:ext cx="11247120" cy="246888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371600"/>
            <a:ext cx="10607040" cy="2011680"/>
          </a:xfrm>
          <a:prstGeom prst="rect">
            <a:avLst/>
          </a:prstGeom>
          <a:noFill/>
        </p:spPr>
        <p:txBody>
          <a:bodyPr wrap="square" lIns="0" rIns="0" tIns="0" bIns="0" anchor="ctr"/>
          <a:lstStyle/>
          <a:p>
            <a:pPr algn="l">
              <a:spcBef>
                <a:spcPts val="0"/>
              </a:spcBef>
              <a:spcAft>
                <a:spcPts val="100"/>
              </a:spcAft>
            </a:pPr>
            <a:r>
              <a:rPr sz="2600" b="1">
                <a:solidFill>
                  <a:srgbClr val="3A2428"/>
                </a:solidFill>
                <a:latin typeface="Calibri"/>
              </a:rPr>
              <a:t>Comment donner à une organisation fermée un suivi quotidien, attaché aux tâches, sur le web et sur mobile, avec des rôles clairs ?</a:t>
            </a:r>
          </a:p>
        </p:txBody>
      </p:sp>
      <p:sp>
        <p:nvSpPr>
          <p:cNvPr id="12" name="Rounded Rectangle 11"/>
          <p:cNvSpPr/>
          <p:nvPr/>
        </p:nvSpPr>
        <p:spPr>
          <a:xfrm>
            <a:off x="457200" y="3840480"/>
            <a:ext cx="2788920" cy="17373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514600" cy="822960"/>
          </a:xfrm>
          <a:prstGeom prst="rect">
            <a:avLst/>
          </a:prstGeom>
          <a:noFill/>
        </p:spPr>
        <p:txBody>
          <a:bodyPr wrap="square" lIns="0" rIns="0" tIns="0" bIns="0" anchor="ctr"/>
          <a:lstStyle/>
          <a:p>
            <a:pPr algn="ctr">
              <a:spcBef>
                <a:spcPts val="0"/>
              </a:spcBef>
              <a:spcAft>
                <a:spcPts val="100"/>
              </a:spcAft>
            </a:pPr>
            <a:r>
              <a:rPr sz="1600" b="1">
                <a:solidFill>
                  <a:srgbClr val="C2516B"/>
                </a:solidFill>
                <a:latin typeface="Calibri"/>
              </a:rPr>
              <a:t>Organisation fermée</a:t>
            </a:r>
          </a:p>
        </p:txBody>
      </p:sp>
      <p:sp>
        <p:nvSpPr>
          <p:cNvPr id="14" name="Rounded Rectangle 13"/>
          <p:cNvSpPr/>
          <p:nvPr/>
        </p:nvSpPr>
        <p:spPr>
          <a:xfrm>
            <a:off x="3383280" y="3840480"/>
            <a:ext cx="2788920" cy="17373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0440" y="4297680"/>
            <a:ext cx="2514600" cy="822960"/>
          </a:xfrm>
          <a:prstGeom prst="rect">
            <a:avLst/>
          </a:prstGeom>
          <a:noFill/>
        </p:spPr>
        <p:txBody>
          <a:bodyPr wrap="square" lIns="0" rIns="0" tIns="0" bIns="0" anchor="ctr"/>
          <a:lstStyle/>
          <a:p>
            <a:pPr algn="ctr">
              <a:spcBef>
                <a:spcPts val="0"/>
              </a:spcBef>
              <a:spcAft>
                <a:spcPts val="100"/>
              </a:spcAft>
            </a:pPr>
            <a:r>
              <a:rPr sz="1600" b="1">
                <a:solidFill>
                  <a:srgbClr val="C2516B"/>
                </a:solidFill>
                <a:latin typeface="Calibri"/>
              </a:rPr>
              <a:t>Attaché aux tâches</a:t>
            </a:r>
          </a:p>
        </p:txBody>
      </p:sp>
      <p:sp>
        <p:nvSpPr>
          <p:cNvPr id="16" name="Rounded Rectangle 15"/>
          <p:cNvSpPr/>
          <p:nvPr/>
        </p:nvSpPr>
        <p:spPr>
          <a:xfrm>
            <a:off x="6309360" y="3840480"/>
            <a:ext cx="2788920" cy="17373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297680"/>
            <a:ext cx="2514600" cy="822960"/>
          </a:xfrm>
          <a:prstGeom prst="rect">
            <a:avLst/>
          </a:prstGeom>
          <a:noFill/>
        </p:spPr>
        <p:txBody>
          <a:bodyPr wrap="square" lIns="0" rIns="0" tIns="0" bIns="0" anchor="ctr"/>
          <a:lstStyle/>
          <a:p>
            <a:pPr algn="ctr">
              <a:spcBef>
                <a:spcPts val="0"/>
              </a:spcBef>
              <a:spcAft>
                <a:spcPts val="100"/>
              </a:spcAft>
            </a:pPr>
            <a:r>
              <a:rPr sz="1600" b="1">
                <a:solidFill>
                  <a:srgbClr val="C2516B"/>
                </a:solidFill>
                <a:latin typeface="Calibri"/>
              </a:rPr>
              <a:t>Web et mobile</a:t>
            </a:r>
          </a:p>
        </p:txBody>
      </p:sp>
      <p:sp>
        <p:nvSpPr>
          <p:cNvPr id="18" name="Rounded Rectangle 17"/>
          <p:cNvSpPr/>
          <p:nvPr/>
        </p:nvSpPr>
        <p:spPr>
          <a:xfrm>
            <a:off x="9235440" y="3840480"/>
            <a:ext cx="2788920" cy="17373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2600" y="4297680"/>
            <a:ext cx="2514600" cy="822960"/>
          </a:xfrm>
          <a:prstGeom prst="rect">
            <a:avLst/>
          </a:prstGeom>
          <a:noFill/>
        </p:spPr>
        <p:txBody>
          <a:bodyPr wrap="square" lIns="0" rIns="0" tIns="0" bIns="0" anchor="ctr"/>
          <a:lstStyle/>
          <a:p>
            <a:pPr algn="ctr">
              <a:spcBef>
                <a:spcPts val="0"/>
              </a:spcBef>
              <a:spcAft>
                <a:spcPts val="100"/>
              </a:spcAft>
            </a:pPr>
            <a:r>
              <a:rPr sz="1600" b="1">
                <a:solidFill>
                  <a:srgbClr val="C2516B"/>
                </a:solidFill>
                <a:latin typeface="Calibri"/>
              </a:rPr>
              <a:t>Rôles clairs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Ce que le marché ne réunit pas</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C5  ·  Analyser les besoins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8</a:t>
            </a:r>
          </a:p>
        </p:txBody>
      </p:sp>
      <p:sp>
        <p:nvSpPr>
          <p:cNvPr id="10" name="Rounded Rectangle 9"/>
          <p:cNvSpPr/>
          <p:nvPr/>
        </p:nvSpPr>
        <p:spPr>
          <a:xfrm>
            <a:off x="411480" y="1097280"/>
            <a:ext cx="3703320" cy="37947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097280"/>
            <a:ext cx="3703320" cy="73152"/>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371600"/>
            <a:ext cx="3246120" cy="365760"/>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Messagerie</a:t>
            </a:r>
          </a:p>
        </p:txBody>
      </p:sp>
      <p:sp>
        <p:nvSpPr>
          <p:cNvPr id="13" name="TextBox 12"/>
          <p:cNvSpPr txBox="1"/>
          <p:nvPr/>
        </p:nvSpPr>
        <p:spPr>
          <a:xfrm>
            <a:off x="640080" y="1874519"/>
            <a:ext cx="3246120" cy="320040"/>
          </a:xfrm>
          <a:prstGeom prst="rect">
            <a:avLst/>
          </a:prstGeom>
          <a:noFill/>
        </p:spPr>
        <p:txBody>
          <a:bodyPr wrap="square" lIns="0" rIns="0" tIns="0" bIns="0" anchor="t"/>
          <a:lstStyle/>
          <a:p>
            <a:pPr algn="l">
              <a:spcBef>
                <a:spcPts val="0"/>
              </a:spcBef>
              <a:spcAft>
                <a:spcPts val="100"/>
              </a:spcAft>
            </a:pPr>
            <a:r>
              <a:rPr sz="1400" b="1">
                <a:solidFill>
                  <a:srgbClr val="C2516B"/>
                </a:solidFill>
                <a:latin typeface="Calibri"/>
              </a:rPr>
              <a:t>Slack, Teams</a:t>
            </a:r>
          </a:p>
        </p:txBody>
      </p:sp>
      <p:sp>
        <p:nvSpPr>
          <p:cNvPr id="14" name="TextBox 13"/>
          <p:cNvSpPr txBox="1"/>
          <p:nvPr/>
        </p:nvSpPr>
        <p:spPr>
          <a:xfrm>
            <a:off x="640080" y="2468880"/>
            <a:ext cx="3246120" cy="1463040"/>
          </a:xfrm>
          <a:prstGeom prst="rect">
            <a:avLst/>
          </a:prstGeom>
          <a:noFill/>
        </p:spPr>
        <p:txBody>
          <a:bodyPr wrap="square" lIns="0" rIns="0" tIns="0" bIns="0" anchor="t"/>
          <a:lstStyle/>
          <a:p>
            <a:pPr algn="l">
              <a:spcBef>
                <a:spcPts val="0"/>
              </a:spcBef>
              <a:spcAft>
                <a:spcPts val="100"/>
              </a:spcAft>
            </a:pPr>
            <a:r>
              <a:rPr sz="1800" b="0">
                <a:solidFill>
                  <a:srgbClr val="2A211F"/>
                </a:solidFill>
                <a:latin typeface="Calibri"/>
              </a:rPr>
              <a:t>Immédiat.</a:t>
            </a:r>
          </a:p>
          <a:p>
            <a:pPr algn="l">
              <a:spcBef>
                <a:spcPts val="0"/>
              </a:spcBef>
              <a:spcAft>
                <a:spcPts val="100"/>
              </a:spcAft>
            </a:pPr>
            <a:r>
              <a:rPr sz="1800" b="0">
                <a:solidFill>
                  <a:srgbClr val="2A211F"/>
                </a:solidFill>
                <a:latin typeface="Calibri"/>
              </a:rPr>
              <a:t>Rien ne reste sur la tâche.</a:t>
            </a:r>
          </a:p>
        </p:txBody>
      </p:sp>
      <p:sp>
        <p:nvSpPr>
          <p:cNvPr id="15" name="Rounded Rectangle 14"/>
          <p:cNvSpPr/>
          <p:nvPr/>
        </p:nvSpPr>
        <p:spPr>
          <a:xfrm>
            <a:off x="4297680" y="1097280"/>
            <a:ext cx="3703320" cy="37947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1097280"/>
            <a:ext cx="3703320" cy="73152"/>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1371600"/>
            <a:ext cx="3246120" cy="365760"/>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Tableau léger</a:t>
            </a:r>
          </a:p>
        </p:txBody>
      </p:sp>
      <p:sp>
        <p:nvSpPr>
          <p:cNvPr id="18" name="TextBox 17"/>
          <p:cNvSpPr txBox="1"/>
          <p:nvPr/>
        </p:nvSpPr>
        <p:spPr>
          <a:xfrm>
            <a:off x="4526280" y="1874519"/>
            <a:ext cx="3246120" cy="320040"/>
          </a:xfrm>
          <a:prstGeom prst="rect">
            <a:avLst/>
          </a:prstGeom>
          <a:noFill/>
        </p:spPr>
        <p:txBody>
          <a:bodyPr wrap="square" lIns="0" rIns="0" tIns="0" bIns="0" anchor="t"/>
          <a:lstStyle/>
          <a:p>
            <a:pPr algn="l">
              <a:spcBef>
                <a:spcPts val="0"/>
              </a:spcBef>
              <a:spcAft>
                <a:spcPts val="100"/>
              </a:spcAft>
            </a:pPr>
            <a:r>
              <a:rPr sz="1400" b="1">
                <a:solidFill>
                  <a:srgbClr val="C2516B"/>
                </a:solidFill>
                <a:latin typeface="Calibri"/>
              </a:rPr>
              <a:t>Trello</a:t>
            </a:r>
          </a:p>
        </p:txBody>
      </p:sp>
      <p:sp>
        <p:nvSpPr>
          <p:cNvPr id="19" name="TextBox 18"/>
          <p:cNvSpPr txBox="1"/>
          <p:nvPr/>
        </p:nvSpPr>
        <p:spPr>
          <a:xfrm>
            <a:off x="4526280" y="2468880"/>
            <a:ext cx="3246120" cy="1463040"/>
          </a:xfrm>
          <a:prstGeom prst="rect">
            <a:avLst/>
          </a:prstGeom>
          <a:noFill/>
        </p:spPr>
        <p:txBody>
          <a:bodyPr wrap="square" lIns="0" rIns="0" tIns="0" bIns="0" anchor="t"/>
          <a:lstStyle/>
          <a:p>
            <a:pPr algn="l">
              <a:spcBef>
                <a:spcPts val="0"/>
              </a:spcBef>
              <a:spcAft>
                <a:spcPts val="100"/>
              </a:spcAft>
            </a:pPr>
            <a:r>
              <a:rPr sz="1800" b="0">
                <a:solidFill>
                  <a:srgbClr val="2A211F"/>
                </a:solidFill>
                <a:latin typeface="Calibri"/>
              </a:rPr>
              <a:t>Des cartes.</a:t>
            </a:r>
          </a:p>
          <a:p>
            <a:pPr algn="l">
              <a:spcBef>
                <a:spcPts val="0"/>
              </a:spcBef>
              <a:spcAft>
                <a:spcPts val="100"/>
              </a:spcAft>
            </a:pPr>
            <a:r>
              <a:rPr sz="1800" b="0">
                <a:solidFill>
                  <a:srgbClr val="2A211F"/>
                </a:solidFill>
                <a:latin typeface="Calibri"/>
              </a:rPr>
              <a:t>Pas de note obligatoire.</a:t>
            </a:r>
          </a:p>
        </p:txBody>
      </p:sp>
      <p:sp>
        <p:nvSpPr>
          <p:cNvPr id="20" name="Rounded Rectangle 19"/>
          <p:cNvSpPr/>
          <p:nvPr/>
        </p:nvSpPr>
        <p:spPr>
          <a:xfrm>
            <a:off x="8183879" y="1097280"/>
            <a:ext cx="3703320" cy="37947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1097280"/>
            <a:ext cx="3703320" cy="73152"/>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1371600"/>
            <a:ext cx="3246120" cy="365760"/>
          </a:xfrm>
          <a:prstGeom prst="rect">
            <a:avLst/>
          </a:prstGeom>
          <a:noFill/>
        </p:spPr>
        <p:txBody>
          <a:bodyPr wrap="square" lIns="0" rIns="0" tIns="0" bIns="0" anchor="t"/>
          <a:lstStyle/>
          <a:p>
            <a:pPr algn="l">
              <a:spcBef>
                <a:spcPts val="0"/>
              </a:spcBef>
              <a:spcAft>
                <a:spcPts val="100"/>
              </a:spcAft>
            </a:pPr>
            <a:r>
              <a:rPr sz="2000" b="1">
                <a:solidFill>
                  <a:srgbClr val="3A2428"/>
                </a:solidFill>
                <a:latin typeface="Calibri"/>
              </a:rPr>
              <a:t>Forge</a:t>
            </a:r>
          </a:p>
        </p:txBody>
      </p:sp>
      <p:sp>
        <p:nvSpPr>
          <p:cNvPr id="23" name="TextBox 22"/>
          <p:cNvSpPr txBox="1"/>
          <p:nvPr/>
        </p:nvSpPr>
        <p:spPr>
          <a:xfrm>
            <a:off x="8412480" y="1874519"/>
            <a:ext cx="3246120" cy="320040"/>
          </a:xfrm>
          <a:prstGeom prst="rect">
            <a:avLst/>
          </a:prstGeom>
          <a:noFill/>
        </p:spPr>
        <p:txBody>
          <a:bodyPr wrap="square" lIns="0" rIns="0" tIns="0" bIns="0" anchor="t"/>
          <a:lstStyle/>
          <a:p>
            <a:pPr algn="l">
              <a:spcBef>
                <a:spcPts val="0"/>
              </a:spcBef>
              <a:spcAft>
                <a:spcPts val="100"/>
              </a:spcAft>
            </a:pPr>
            <a:r>
              <a:rPr sz="1400" b="1">
                <a:solidFill>
                  <a:srgbClr val="C2516B"/>
                </a:solidFill>
                <a:latin typeface="Calibri"/>
              </a:rPr>
              <a:t>Jira, Linear</a:t>
            </a:r>
          </a:p>
        </p:txBody>
      </p:sp>
      <p:sp>
        <p:nvSpPr>
          <p:cNvPr id="24" name="TextBox 23"/>
          <p:cNvSpPr txBox="1"/>
          <p:nvPr/>
        </p:nvSpPr>
        <p:spPr>
          <a:xfrm>
            <a:off x="8412480" y="2468880"/>
            <a:ext cx="3246120" cy="1463040"/>
          </a:xfrm>
          <a:prstGeom prst="rect">
            <a:avLst/>
          </a:prstGeom>
          <a:noFill/>
        </p:spPr>
        <p:txBody>
          <a:bodyPr wrap="square" lIns="0" rIns="0" tIns="0" bIns="0" anchor="t"/>
          <a:lstStyle/>
          <a:p>
            <a:pPr algn="l">
              <a:spcBef>
                <a:spcPts val="0"/>
              </a:spcBef>
              <a:spcAft>
                <a:spcPts val="100"/>
              </a:spcAft>
            </a:pPr>
            <a:r>
              <a:rPr sz="1800" b="0">
                <a:solidFill>
                  <a:srgbClr val="2A211F"/>
                </a:solidFill>
                <a:latin typeface="Calibri"/>
              </a:rPr>
              <a:t>Des tickets.</a:t>
            </a:r>
          </a:p>
          <a:p>
            <a:pPr algn="l">
              <a:spcBef>
                <a:spcPts val="0"/>
              </a:spcBef>
              <a:spcAft>
                <a:spcPts val="100"/>
              </a:spcAft>
            </a:pPr>
            <a:r>
              <a:rPr sz="1800" b="0">
                <a:solidFill>
                  <a:srgbClr val="2A211F"/>
                </a:solidFill>
                <a:latin typeface="Calibri"/>
              </a:rPr>
              <a:t>Trop lourd pour le matin.</a:t>
            </a:r>
          </a:p>
        </p:txBody>
      </p:sp>
      <p:sp>
        <p:nvSpPr>
          <p:cNvPr id="25" name="Rounded Rectangle 24"/>
          <p:cNvSpPr/>
          <p:nvPr/>
        </p:nvSpPr>
        <p:spPr>
          <a:xfrm>
            <a:off x="411480" y="5074920"/>
            <a:ext cx="11338560" cy="7772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212080"/>
            <a:ext cx="10972800" cy="502920"/>
          </a:xfrm>
          <a:prstGeom prst="rect">
            <a:avLst/>
          </a:prstGeom>
          <a:noFill/>
        </p:spPr>
        <p:txBody>
          <a:bodyPr wrap="square" lIns="0" rIns="0" tIns="0" bIns="0" anchor="ctr"/>
          <a:lstStyle/>
          <a:p>
            <a:pPr algn="ctr">
              <a:spcBef>
                <a:spcPts val="0"/>
              </a:spcBef>
              <a:spcAft>
                <a:spcPts val="100"/>
              </a:spcAft>
            </a:pPr>
            <a:r>
              <a:rPr sz="1600" b="1">
                <a:solidFill>
                  <a:srgbClr val="3A2428"/>
                </a:solidFill>
                <a:latin typeface="Calibri"/>
              </a:rPr>
              <a:t>Aucun ne réunit les trois rôles, la note obligatoire, et les deux clients.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Briefly</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C5  ·  Maquetter l'application</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9</a:t>
            </a:r>
          </a:p>
        </p:txBody>
      </p:sp>
      <p:sp>
        <p:nvSpPr>
          <p:cNvPr id="10" name="Rounded Rectangle 9"/>
          <p:cNvSpPr/>
          <p:nvPr/>
        </p:nvSpPr>
        <p:spPr>
          <a:xfrm>
            <a:off x="365760" y="1051560"/>
            <a:ext cx="2880360" cy="2148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39"/>
            <a:ext cx="2514600" cy="457200"/>
          </a:xfrm>
          <a:prstGeom prst="rect">
            <a:avLst/>
          </a:prstGeom>
          <a:noFill/>
        </p:spPr>
        <p:txBody>
          <a:bodyPr wrap="square" lIns="0" rIns="0" tIns="0" bIns="0" anchor="t"/>
          <a:lstStyle/>
          <a:p>
            <a:pPr algn="l">
              <a:spcBef>
                <a:spcPts val="0"/>
              </a:spcBef>
              <a:spcAft>
                <a:spcPts val="100"/>
              </a:spcAft>
            </a:pPr>
            <a:r>
              <a:rPr sz="1800" b="1">
                <a:solidFill>
                  <a:srgbClr val="3A2428"/>
                </a:solidFill>
                <a:latin typeface="Calibri"/>
              </a:rPr>
              <a:t>Organiser</a:t>
            </a:r>
          </a:p>
        </p:txBody>
      </p:sp>
      <p:sp>
        <p:nvSpPr>
          <p:cNvPr id="12" name="TextBox 11"/>
          <p:cNvSpPr txBox="1"/>
          <p:nvPr/>
        </p:nvSpPr>
        <p:spPr>
          <a:xfrm>
            <a:off x="548640" y="2103120"/>
            <a:ext cx="2514600" cy="64008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Équipes, projets, tâches</a:t>
            </a:r>
          </a:p>
        </p:txBody>
      </p:sp>
      <p:sp>
        <p:nvSpPr>
          <p:cNvPr id="13" name="Rounded Rectangle 12"/>
          <p:cNvSpPr/>
          <p:nvPr/>
        </p:nvSpPr>
        <p:spPr>
          <a:xfrm>
            <a:off x="3429000" y="1051560"/>
            <a:ext cx="2880360" cy="2148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1463039"/>
            <a:ext cx="2514600" cy="457200"/>
          </a:xfrm>
          <a:prstGeom prst="rect">
            <a:avLst/>
          </a:prstGeom>
          <a:noFill/>
        </p:spPr>
        <p:txBody>
          <a:bodyPr wrap="square" lIns="0" rIns="0" tIns="0" bIns="0" anchor="t"/>
          <a:lstStyle/>
          <a:p>
            <a:pPr algn="l">
              <a:spcBef>
                <a:spcPts val="0"/>
              </a:spcBef>
              <a:spcAft>
                <a:spcPts val="100"/>
              </a:spcAft>
            </a:pPr>
            <a:r>
              <a:rPr sz="1800" b="1">
                <a:solidFill>
                  <a:srgbClr val="3A2428"/>
                </a:solidFill>
                <a:latin typeface="Calibri"/>
              </a:rPr>
              <a:t>Rendre compte</a:t>
            </a:r>
          </a:p>
        </p:txBody>
      </p:sp>
      <p:sp>
        <p:nvSpPr>
          <p:cNvPr id="15" name="TextBox 14"/>
          <p:cNvSpPr txBox="1"/>
          <p:nvPr/>
        </p:nvSpPr>
        <p:spPr>
          <a:xfrm>
            <a:off x="3611880" y="2103120"/>
            <a:ext cx="2514600" cy="64008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Déjà fait, suite, blocage</a:t>
            </a:r>
          </a:p>
        </p:txBody>
      </p:sp>
      <p:sp>
        <p:nvSpPr>
          <p:cNvPr id="16" name="Rounded Rectangle 15"/>
          <p:cNvSpPr/>
          <p:nvPr/>
        </p:nvSpPr>
        <p:spPr>
          <a:xfrm>
            <a:off x="365760" y="3383279"/>
            <a:ext cx="2880360" cy="2148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794759"/>
            <a:ext cx="2514600" cy="457200"/>
          </a:xfrm>
          <a:prstGeom prst="rect">
            <a:avLst/>
          </a:prstGeom>
          <a:noFill/>
        </p:spPr>
        <p:txBody>
          <a:bodyPr wrap="square" lIns="0" rIns="0" tIns="0" bIns="0" anchor="t"/>
          <a:lstStyle/>
          <a:p>
            <a:pPr algn="l">
              <a:spcBef>
                <a:spcPts val="0"/>
              </a:spcBef>
              <a:spcAft>
                <a:spcPts val="100"/>
              </a:spcAft>
            </a:pPr>
            <a:r>
              <a:rPr sz="1800" b="1">
                <a:solidFill>
                  <a:srgbClr val="3A2428"/>
                </a:solidFill>
                <a:latin typeface="Calibri"/>
              </a:rPr>
              <a:t>Sécuriser</a:t>
            </a:r>
          </a:p>
        </p:txBody>
      </p:sp>
      <p:sp>
        <p:nvSpPr>
          <p:cNvPr id="18" name="TextBox 17"/>
          <p:cNvSpPr txBox="1"/>
          <p:nvPr/>
        </p:nvSpPr>
        <p:spPr>
          <a:xfrm>
            <a:off x="548640" y="4434840"/>
            <a:ext cx="2514600" cy="64008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Trois rôles, politiques</a:t>
            </a:r>
          </a:p>
        </p:txBody>
      </p:sp>
      <p:sp>
        <p:nvSpPr>
          <p:cNvPr id="19" name="Rounded Rectangle 18"/>
          <p:cNvSpPr/>
          <p:nvPr/>
        </p:nvSpPr>
        <p:spPr>
          <a:xfrm>
            <a:off x="3429000" y="3383279"/>
            <a:ext cx="2880360" cy="2148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794759"/>
            <a:ext cx="2514600" cy="457200"/>
          </a:xfrm>
          <a:prstGeom prst="rect">
            <a:avLst/>
          </a:prstGeom>
          <a:noFill/>
        </p:spPr>
        <p:txBody>
          <a:bodyPr wrap="square" lIns="0" rIns="0" tIns="0" bIns="0" anchor="t"/>
          <a:lstStyle/>
          <a:p>
            <a:pPr algn="l">
              <a:spcBef>
                <a:spcPts val="0"/>
              </a:spcBef>
              <a:spcAft>
                <a:spcPts val="100"/>
              </a:spcAft>
            </a:pPr>
            <a:r>
              <a:rPr sz="1800" b="1">
                <a:solidFill>
                  <a:srgbClr val="3A2428"/>
                </a:solidFill>
                <a:latin typeface="Calibri"/>
              </a:rPr>
              <a:t>Suivre</a:t>
            </a:r>
          </a:p>
        </p:txBody>
      </p:sp>
      <p:sp>
        <p:nvSpPr>
          <p:cNvPr id="21" name="TextBox 20"/>
          <p:cNvSpPr txBox="1"/>
          <p:nvPr/>
        </p:nvSpPr>
        <p:spPr>
          <a:xfrm>
            <a:off x="3611880" y="4434840"/>
            <a:ext cx="2514600" cy="64008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Taux membre, équipe, projet</a:t>
            </a:r>
          </a:p>
        </p:txBody>
      </p:sp>
      <p:pic>
        <p:nvPicPr>
          <p:cNvPr id="22" name="Picture 21" descr="lead.png"/>
          <p:cNvPicPr>
            <a:picLocks noChangeAspect="1"/>
          </p:cNvPicPr>
          <p:nvPr/>
        </p:nvPicPr>
        <p:blipFill>
          <a:blip r:embed="rId3"/>
          <a:stretch>
            <a:fillRect/>
          </a:stretch>
        </p:blipFill>
        <p:spPr>
          <a:xfrm>
            <a:off x="6537960" y="1896265"/>
            <a:ext cx="5212080" cy="30197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Trois acteurs</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C5  ·  Analyser les besoins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10</a:t>
            </a:r>
          </a:p>
        </p:txBody>
      </p:sp>
      <p:sp>
        <p:nvSpPr>
          <p:cNvPr id="10" name="Rounded Rectangle 9"/>
          <p:cNvSpPr/>
          <p:nvPr/>
        </p:nvSpPr>
        <p:spPr>
          <a:xfrm>
            <a:off x="411480" y="1051560"/>
            <a:ext cx="3703320" cy="47091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051560"/>
            <a:ext cx="3703320" cy="64008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170432"/>
            <a:ext cx="3429000" cy="411480"/>
          </a:xfrm>
          <a:prstGeom prst="rect">
            <a:avLst/>
          </a:prstGeom>
          <a:noFill/>
        </p:spPr>
        <p:txBody>
          <a:bodyPr wrap="square" lIns="0" rIns="0" tIns="0" bIns="0" anchor="ctr"/>
          <a:lstStyle/>
          <a:p>
            <a:pPr algn="ctr">
              <a:spcBef>
                <a:spcPts val="0"/>
              </a:spcBef>
              <a:spcAft>
                <a:spcPts val="100"/>
              </a:spcAft>
            </a:pPr>
            <a:r>
              <a:rPr sz="1600" b="1">
                <a:solidFill>
                  <a:srgbClr val="FFFCFA"/>
                </a:solidFill>
                <a:latin typeface="Calibri"/>
              </a:rPr>
              <a:t>Administrateur</a:t>
            </a:r>
          </a:p>
        </p:txBody>
      </p:sp>
      <p:sp>
        <p:nvSpPr>
          <p:cNvPr id="13" name="TextBox 12"/>
          <p:cNvSpPr txBox="1"/>
          <p:nvPr/>
        </p:nvSpPr>
        <p:spPr>
          <a:xfrm>
            <a:off x="640080" y="1920240"/>
            <a:ext cx="3246120" cy="274320"/>
          </a:xfrm>
          <a:prstGeom prst="rect">
            <a:avLst/>
          </a:prstGeom>
          <a:noFill/>
        </p:spPr>
        <p:txBody>
          <a:bodyPr wrap="square" lIns="0" rIns="0" tIns="0" bIns="0" anchor="t"/>
          <a:lstStyle/>
          <a:p>
            <a:pPr algn="l">
              <a:spcBef>
                <a:spcPts val="0"/>
              </a:spcBef>
              <a:spcAft>
                <a:spcPts val="100"/>
              </a:spcAft>
            </a:pPr>
            <a:r>
              <a:rPr sz="1300" b="1">
                <a:solidFill>
                  <a:srgbClr val="2F6F62"/>
                </a:solidFill>
                <a:latin typeface="Calibri"/>
              </a:rPr>
              <a:t>Peut</a:t>
            </a:r>
          </a:p>
        </p:txBody>
      </p:sp>
      <p:sp>
        <p:nvSpPr>
          <p:cNvPr id="14" name="TextBox 13"/>
          <p:cNvSpPr txBox="1"/>
          <p:nvPr/>
        </p:nvSpPr>
        <p:spPr>
          <a:xfrm>
            <a:off x="640080" y="2286000"/>
            <a:ext cx="3246120" cy="11887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Comptes, équipes, projets, vue globale.</a:t>
            </a:r>
          </a:p>
        </p:txBody>
      </p:sp>
      <p:sp>
        <p:nvSpPr>
          <p:cNvPr id="15" name="TextBox 14"/>
          <p:cNvSpPr txBox="1"/>
          <p:nvPr/>
        </p:nvSpPr>
        <p:spPr>
          <a:xfrm>
            <a:off x="640080" y="3657600"/>
            <a:ext cx="324612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Ne peut pas</a:t>
            </a:r>
          </a:p>
        </p:txBody>
      </p:sp>
      <p:sp>
        <p:nvSpPr>
          <p:cNvPr id="16" name="TextBox 15"/>
          <p:cNvSpPr txBox="1"/>
          <p:nvPr/>
        </p:nvSpPr>
        <p:spPr>
          <a:xfrm>
            <a:off x="640080" y="4023360"/>
            <a:ext cx="3246120" cy="109728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Pas de tâches personnelles.</a:t>
            </a:r>
          </a:p>
        </p:txBody>
      </p:sp>
      <p:sp>
        <p:nvSpPr>
          <p:cNvPr id="17" name="Rounded Rectangle 16"/>
          <p:cNvSpPr/>
          <p:nvPr/>
        </p:nvSpPr>
        <p:spPr>
          <a:xfrm>
            <a:off x="4297680" y="1051560"/>
            <a:ext cx="3703320" cy="47091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1051560"/>
            <a:ext cx="3703320" cy="64008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170432"/>
            <a:ext cx="3429000" cy="411480"/>
          </a:xfrm>
          <a:prstGeom prst="rect">
            <a:avLst/>
          </a:prstGeom>
          <a:noFill/>
        </p:spPr>
        <p:txBody>
          <a:bodyPr wrap="square" lIns="0" rIns="0" tIns="0" bIns="0" anchor="ctr"/>
          <a:lstStyle/>
          <a:p>
            <a:pPr algn="ctr">
              <a:spcBef>
                <a:spcPts val="0"/>
              </a:spcBef>
              <a:spcAft>
                <a:spcPts val="100"/>
              </a:spcAft>
            </a:pPr>
            <a:r>
              <a:rPr sz="1600" b="1">
                <a:solidFill>
                  <a:srgbClr val="FFFCFA"/>
                </a:solidFill>
                <a:latin typeface="Calibri"/>
              </a:rPr>
              <a:t>Chef d'équipe</a:t>
            </a:r>
          </a:p>
        </p:txBody>
      </p:sp>
      <p:sp>
        <p:nvSpPr>
          <p:cNvPr id="20" name="TextBox 19"/>
          <p:cNvSpPr txBox="1"/>
          <p:nvPr/>
        </p:nvSpPr>
        <p:spPr>
          <a:xfrm>
            <a:off x="4526280" y="1920240"/>
            <a:ext cx="3246120" cy="274320"/>
          </a:xfrm>
          <a:prstGeom prst="rect">
            <a:avLst/>
          </a:prstGeom>
          <a:noFill/>
        </p:spPr>
        <p:txBody>
          <a:bodyPr wrap="square" lIns="0" rIns="0" tIns="0" bIns="0" anchor="t"/>
          <a:lstStyle/>
          <a:p>
            <a:pPr algn="l">
              <a:spcBef>
                <a:spcPts val="0"/>
              </a:spcBef>
              <a:spcAft>
                <a:spcPts val="100"/>
              </a:spcAft>
            </a:pPr>
            <a:r>
              <a:rPr sz="1300" b="1">
                <a:solidFill>
                  <a:srgbClr val="2F6F62"/>
                </a:solidFill>
                <a:latin typeface="Calibri"/>
              </a:rPr>
              <a:t>Peut</a:t>
            </a:r>
          </a:p>
        </p:txBody>
      </p:sp>
      <p:sp>
        <p:nvSpPr>
          <p:cNvPr id="21" name="TextBox 20"/>
          <p:cNvSpPr txBox="1"/>
          <p:nvPr/>
        </p:nvSpPr>
        <p:spPr>
          <a:xfrm>
            <a:off x="4526280" y="2286000"/>
            <a:ext cx="3246120" cy="11887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Tâches de ses équipes, filtre, fiche.</a:t>
            </a:r>
          </a:p>
        </p:txBody>
      </p:sp>
      <p:sp>
        <p:nvSpPr>
          <p:cNvPr id="22" name="TextBox 21"/>
          <p:cNvSpPr txBox="1"/>
          <p:nvPr/>
        </p:nvSpPr>
        <p:spPr>
          <a:xfrm>
            <a:off x="4526280" y="3657600"/>
            <a:ext cx="324612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Ne peut pas</a:t>
            </a:r>
          </a:p>
        </p:txBody>
      </p:sp>
      <p:sp>
        <p:nvSpPr>
          <p:cNvPr id="23" name="TextBox 22"/>
          <p:cNvSpPr txBox="1"/>
          <p:nvPr/>
        </p:nvSpPr>
        <p:spPr>
          <a:xfrm>
            <a:off x="4526280" y="4023360"/>
            <a:ext cx="3246120" cy="109728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Ni les projets, ni les comptes.</a:t>
            </a:r>
          </a:p>
        </p:txBody>
      </p:sp>
      <p:sp>
        <p:nvSpPr>
          <p:cNvPr id="24" name="Rounded Rectangle 23"/>
          <p:cNvSpPr/>
          <p:nvPr/>
        </p:nvSpPr>
        <p:spPr>
          <a:xfrm>
            <a:off x="8183879" y="1051560"/>
            <a:ext cx="3703320" cy="47091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83879" y="1051560"/>
            <a:ext cx="3703320" cy="64008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1170432"/>
            <a:ext cx="3429000" cy="411480"/>
          </a:xfrm>
          <a:prstGeom prst="rect">
            <a:avLst/>
          </a:prstGeom>
          <a:noFill/>
        </p:spPr>
        <p:txBody>
          <a:bodyPr wrap="square" lIns="0" rIns="0" tIns="0" bIns="0" anchor="ctr"/>
          <a:lstStyle/>
          <a:p>
            <a:pPr algn="ctr">
              <a:spcBef>
                <a:spcPts val="0"/>
              </a:spcBef>
              <a:spcAft>
                <a:spcPts val="100"/>
              </a:spcAft>
            </a:pPr>
            <a:r>
              <a:rPr sz="1600" b="1">
                <a:solidFill>
                  <a:srgbClr val="FFFCFA"/>
                </a:solidFill>
                <a:latin typeface="Calibri"/>
              </a:rPr>
              <a:t>Membre</a:t>
            </a:r>
          </a:p>
        </p:txBody>
      </p:sp>
      <p:sp>
        <p:nvSpPr>
          <p:cNvPr id="27" name="TextBox 26"/>
          <p:cNvSpPr txBox="1"/>
          <p:nvPr/>
        </p:nvSpPr>
        <p:spPr>
          <a:xfrm>
            <a:off x="8412480" y="1920240"/>
            <a:ext cx="3246120" cy="274320"/>
          </a:xfrm>
          <a:prstGeom prst="rect">
            <a:avLst/>
          </a:prstGeom>
          <a:noFill/>
        </p:spPr>
        <p:txBody>
          <a:bodyPr wrap="square" lIns="0" rIns="0" tIns="0" bIns="0" anchor="t"/>
          <a:lstStyle/>
          <a:p>
            <a:pPr algn="l">
              <a:spcBef>
                <a:spcPts val="0"/>
              </a:spcBef>
              <a:spcAft>
                <a:spcPts val="100"/>
              </a:spcAft>
            </a:pPr>
            <a:r>
              <a:rPr sz="1300" b="1">
                <a:solidFill>
                  <a:srgbClr val="2F6F62"/>
                </a:solidFill>
                <a:latin typeface="Calibri"/>
              </a:rPr>
              <a:t>Peut</a:t>
            </a:r>
          </a:p>
        </p:txBody>
      </p:sp>
      <p:sp>
        <p:nvSpPr>
          <p:cNvPr id="28" name="TextBox 27"/>
          <p:cNvSpPr txBox="1"/>
          <p:nvPr/>
        </p:nvSpPr>
        <p:spPr>
          <a:xfrm>
            <a:off x="8412480" y="2286000"/>
            <a:ext cx="3246120" cy="118872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Ses tâches, son point, son historique.</a:t>
            </a:r>
          </a:p>
        </p:txBody>
      </p:sp>
      <p:sp>
        <p:nvSpPr>
          <p:cNvPr id="29" name="TextBox 28"/>
          <p:cNvSpPr txBox="1"/>
          <p:nvPr/>
        </p:nvSpPr>
        <p:spPr>
          <a:xfrm>
            <a:off x="8412480" y="3657600"/>
            <a:ext cx="324612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Ne peut pas</a:t>
            </a:r>
          </a:p>
        </p:txBody>
      </p:sp>
      <p:sp>
        <p:nvSpPr>
          <p:cNvPr id="30" name="TextBox 29"/>
          <p:cNvSpPr txBox="1"/>
          <p:nvPr/>
        </p:nvSpPr>
        <p:spPr>
          <a:xfrm>
            <a:off x="8412480" y="4023360"/>
            <a:ext cx="3246120" cy="109728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Seulement ce qui lui est assigné.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Cas d'utilisation</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C5  ·  Analyser les besoins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11</a:t>
            </a:r>
          </a:p>
        </p:txBody>
      </p:sp>
      <p:pic>
        <p:nvPicPr>
          <p:cNvPr id="10" name="Picture 9" descr="usecase.png"/>
          <p:cNvPicPr>
            <a:picLocks noChangeAspect="1"/>
          </p:cNvPicPr>
          <p:nvPr/>
        </p:nvPicPr>
        <p:blipFill>
          <a:blip r:embed="rId3"/>
          <a:stretch>
            <a:fillRect/>
          </a:stretch>
        </p:blipFill>
        <p:spPr>
          <a:xfrm>
            <a:off x="1365885" y="914400"/>
            <a:ext cx="9429750" cy="50292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Activité : mettre à jour l'avancement</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C3  ·  Composants métier</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12</a:t>
            </a:r>
          </a:p>
        </p:txBody>
      </p:sp>
      <p:pic>
        <p:nvPicPr>
          <p:cNvPr id="10" name="Picture 9" descr="activity.png"/>
          <p:cNvPicPr>
            <a:picLocks noChangeAspect="1"/>
          </p:cNvPicPr>
          <p:nvPr/>
        </p:nvPicPr>
        <p:blipFill>
          <a:blip r:embed="rId3"/>
          <a:stretch>
            <a:fillRect/>
          </a:stretch>
        </p:blipFill>
        <p:spPr>
          <a:xfrm>
            <a:off x="492759" y="914400"/>
            <a:ext cx="11176000" cy="50292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Scrum</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C4  ·  Gestion de projet</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13</a:t>
            </a:r>
          </a:p>
        </p:txBody>
      </p:sp>
      <p:sp>
        <p:nvSpPr>
          <p:cNvPr id="10" name="Rounded Rectangle 9"/>
          <p:cNvSpPr/>
          <p:nvPr/>
        </p:nvSpPr>
        <p:spPr>
          <a:xfrm>
            <a:off x="457200" y="1143000"/>
            <a:ext cx="5577840" cy="205740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08760"/>
            <a:ext cx="5029200" cy="457200"/>
          </a:xfrm>
          <a:prstGeom prst="rect">
            <a:avLst/>
          </a:prstGeom>
          <a:noFill/>
        </p:spPr>
        <p:txBody>
          <a:bodyPr wrap="square" lIns="0" rIns="0" tIns="0" bIns="0" anchor="t"/>
          <a:lstStyle/>
          <a:p>
            <a:pPr algn="l">
              <a:spcBef>
                <a:spcPts val="0"/>
              </a:spcBef>
              <a:spcAft>
                <a:spcPts val="100"/>
              </a:spcAft>
            </a:pPr>
            <a:r>
              <a:rPr sz="2200" b="1">
                <a:solidFill>
                  <a:srgbClr val="3A2428"/>
                </a:solidFill>
                <a:latin typeface="Calibri"/>
              </a:rPr>
              <a:t>Backlog</a:t>
            </a:r>
          </a:p>
        </p:txBody>
      </p:sp>
      <p:sp>
        <p:nvSpPr>
          <p:cNvPr id="12" name="TextBox 11"/>
          <p:cNvSpPr txBox="1"/>
          <p:nvPr/>
        </p:nvSpPr>
        <p:spPr>
          <a:xfrm>
            <a:off x="731520" y="2194560"/>
            <a:ext cx="5029200" cy="548640"/>
          </a:xfrm>
          <a:prstGeom prst="rect">
            <a:avLst/>
          </a:prstGeom>
          <a:noFill/>
        </p:spPr>
        <p:txBody>
          <a:bodyPr wrap="square" lIns="0" rIns="0" tIns="0" bIns="0" anchor="t"/>
          <a:lstStyle/>
          <a:p>
            <a:pPr algn="l">
              <a:spcBef>
                <a:spcPts val="0"/>
              </a:spcBef>
              <a:spcAft>
                <a:spcPts val="100"/>
              </a:spcAft>
            </a:pPr>
            <a:r>
              <a:rPr sz="1800" b="0">
                <a:solidFill>
                  <a:srgbClr val="8A736C"/>
                </a:solidFill>
                <a:latin typeface="Calibri"/>
              </a:rPr>
              <a:t>La liste priorisée.</a:t>
            </a:r>
          </a:p>
        </p:txBody>
      </p:sp>
      <p:sp>
        <p:nvSpPr>
          <p:cNvPr id="13" name="Rounded Rectangle 12"/>
          <p:cNvSpPr/>
          <p:nvPr/>
        </p:nvSpPr>
        <p:spPr>
          <a:xfrm>
            <a:off x="6309360" y="1143000"/>
            <a:ext cx="5577840" cy="205740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508760"/>
            <a:ext cx="5029200" cy="457200"/>
          </a:xfrm>
          <a:prstGeom prst="rect">
            <a:avLst/>
          </a:prstGeom>
          <a:noFill/>
        </p:spPr>
        <p:txBody>
          <a:bodyPr wrap="square" lIns="0" rIns="0" tIns="0" bIns="0" anchor="t"/>
          <a:lstStyle/>
          <a:p>
            <a:pPr algn="l">
              <a:spcBef>
                <a:spcPts val="0"/>
              </a:spcBef>
              <a:spcAft>
                <a:spcPts val="100"/>
              </a:spcAft>
            </a:pPr>
            <a:r>
              <a:rPr sz="2200" b="1">
                <a:solidFill>
                  <a:srgbClr val="3A2428"/>
                </a:solidFill>
                <a:latin typeface="Calibri"/>
              </a:rPr>
              <a:t>Sprint</a:t>
            </a:r>
          </a:p>
        </p:txBody>
      </p:sp>
      <p:sp>
        <p:nvSpPr>
          <p:cNvPr id="15" name="TextBox 14"/>
          <p:cNvSpPr txBox="1"/>
          <p:nvPr/>
        </p:nvSpPr>
        <p:spPr>
          <a:xfrm>
            <a:off x="6583680" y="2194560"/>
            <a:ext cx="5029200" cy="548640"/>
          </a:xfrm>
          <a:prstGeom prst="rect">
            <a:avLst/>
          </a:prstGeom>
          <a:noFill/>
        </p:spPr>
        <p:txBody>
          <a:bodyPr wrap="square" lIns="0" rIns="0" tIns="0" bIns="0" anchor="t"/>
          <a:lstStyle/>
          <a:p>
            <a:pPr algn="l">
              <a:spcBef>
                <a:spcPts val="0"/>
              </a:spcBef>
              <a:spcAft>
                <a:spcPts val="100"/>
              </a:spcAft>
            </a:pPr>
            <a:r>
              <a:rPr sz="1800" b="0">
                <a:solidFill>
                  <a:srgbClr val="8A736C"/>
                </a:solidFill>
                <a:latin typeface="Calibri"/>
              </a:rPr>
              <a:t>Un cycle court, un incrément.</a:t>
            </a:r>
          </a:p>
        </p:txBody>
      </p:sp>
      <p:sp>
        <p:nvSpPr>
          <p:cNvPr id="16" name="Rounded Rectangle 15"/>
          <p:cNvSpPr/>
          <p:nvPr/>
        </p:nvSpPr>
        <p:spPr>
          <a:xfrm>
            <a:off x="457200" y="3429000"/>
            <a:ext cx="5577840" cy="205740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794760"/>
            <a:ext cx="5029200" cy="457200"/>
          </a:xfrm>
          <a:prstGeom prst="rect">
            <a:avLst/>
          </a:prstGeom>
          <a:noFill/>
        </p:spPr>
        <p:txBody>
          <a:bodyPr wrap="square" lIns="0" rIns="0" tIns="0" bIns="0" anchor="t"/>
          <a:lstStyle/>
          <a:p>
            <a:pPr algn="l">
              <a:spcBef>
                <a:spcPts val="0"/>
              </a:spcBef>
              <a:spcAft>
                <a:spcPts val="100"/>
              </a:spcAft>
            </a:pPr>
            <a:r>
              <a:rPr sz="2200" b="1">
                <a:solidFill>
                  <a:srgbClr val="3A2428"/>
                </a:solidFill>
                <a:latin typeface="Calibri"/>
              </a:rPr>
              <a:t>User story</a:t>
            </a:r>
          </a:p>
        </p:txBody>
      </p:sp>
      <p:sp>
        <p:nvSpPr>
          <p:cNvPr id="18" name="TextBox 17"/>
          <p:cNvSpPr txBox="1"/>
          <p:nvPr/>
        </p:nvSpPr>
        <p:spPr>
          <a:xfrm>
            <a:off x="731520" y="4480560"/>
            <a:ext cx="5029200" cy="548640"/>
          </a:xfrm>
          <a:prstGeom prst="rect">
            <a:avLst/>
          </a:prstGeom>
          <a:noFill/>
        </p:spPr>
        <p:txBody>
          <a:bodyPr wrap="square" lIns="0" rIns="0" tIns="0" bIns="0" anchor="t"/>
          <a:lstStyle/>
          <a:p>
            <a:pPr algn="l">
              <a:spcBef>
                <a:spcPts val="0"/>
              </a:spcBef>
              <a:spcAft>
                <a:spcPts val="100"/>
              </a:spcAft>
            </a:pPr>
            <a:r>
              <a:rPr sz="1800" b="0">
                <a:solidFill>
                  <a:srgbClr val="8A736C"/>
                </a:solidFill>
                <a:latin typeface="Calibri"/>
              </a:rPr>
              <a:t>Le besoin, dit depuis un rôle.</a:t>
            </a:r>
          </a:p>
        </p:txBody>
      </p:sp>
      <p:sp>
        <p:nvSpPr>
          <p:cNvPr id="19" name="Rounded Rectangle 18"/>
          <p:cNvSpPr/>
          <p:nvPr/>
        </p:nvSpPr>
        <p:spPr>
          <a:xfrm>
            <a:off x="6309360" y="3429000"/>
            <a:ext cx="5577840" cy="205740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794760"/>
            <a:ext cx="5029200" cy="457200"/>
          </a:xfrm>
          <a:prstGeom prst="rect">
            <a:avLst/>
          </a:prstGeom>
          <a:noFill/>
        </p:spPr>
        <p:txBody>
          <a:bodyPr wrap="square" lIns="0" rIns="0" tIns="0" bIns="0" anchor="t"/>
          <a:lstStyle/>
          <a:p>
            <a:pPr algn="l">
              <a:spcBef>
                <a:spcPts val="0"/>
              </a:spcBef>
              <a:spcAft>
                <a:spcPts val="100"/>
              </a:spcAft>
            </a:pPr>
            <a:r>
              <a:rPr sz="2200" b="1">
                <a:solidFill>
                  <a:srgbClr val="3A2428"/>
                </a:solidFill>
                <a:latin typeface="Calibri"/>
              </a:rPr>
              <a:t>Incrément</a:t>
            </a:r>
          </a:p>
        </p:txBody>
      </p:sp>
      <p:sp>
        <p:nvSpPr>
          <p:cNvPr id="21" name="TextBox 20"/>
          <p:cNvSpPr txBox="1"/>
          <p:nvPr/>
        </p:nvSpPr>
        <p:spPr>
          <a:xfrm>
            <a:off x="6583680" y="4480560"/>
            <a:ext cx="5029200" cy="548640"/>
          </a:xfrm>
          <a:prstGeom prst="rect">
            <a:avLst/>
          </a:prstGeom>
          <a:noFill/>
        </p:spPr>
        <p:txBody>
          <a:bodyPr wrap="square" lIns="0" rIns="0" tIns="0" bIns="0" anchor="t"/>
          <a:lstStyle/>
          <a:p>
            <a:pPr algn="l">
              <a:spcBef>
                <a:spcPts val="0"/>
              </a:spcBef>
              <a:spcAft>
                <a:spcPts val="100"/>
              </a:spcAft>
            </a:pPr>
            <a:r>
              <a:rPr sz="1800" b="0">
                <a:solidFill>
                  <a:srgbClr val="8A736C"/>
                </a:solidFill>
                <a:latin typeface="Calibri"/>
              </a:rPr>
              <a:t>Une partie que l'on peut essayer.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Cinq sprints</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C4  ·  Gestion de projet</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14</a:t>
            </a:r>
          </a:p>
        </p:txBody>
      </p:sp>
      <p:sp>
        <p:nvSpPr>
          <p:cNvPr id="10" name="Rounded Rectangle 9"/>
          <p:cNvSpPr/>
          <p:nvPr/>
        </p:nvSpPr>
        <p:spPr>
          <a:xfrm>
            <a:off x="457200" y="1051560"/>
            <a:ext cx="11247120" cy="841248"/>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252728"/>
            <a:ext cx="640080" cy="457200"/>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S1</a:t>
            </a:r>
          </a:p>
        </p:txBody>
      </p:sp>
      <p:sp>
        <p:nvSpPr>
          <p:cNvPr id="12" name="TextBox 11"/>
          <p:cNvSpPr txBox="1"/>
          <p:nvPr/>
        </p:nvSpPr>
        <p:spPr>
          <a:xfrm>
            <a:off x="1554480" y="1252728"/>
            <a:ext cx="4023360" cy="457200"/>
          </a:xfrm>
          <a:prstGeom prst="rect">
            <a:avLst/>
          </a:prstGeom>
          <a:noFill/>
        </p:spPr>
        <p:txBody>
          <a:bodyPr wrap="square" lIns="0" rIns="0" tIns="0" bIns="0" anchor="ctr"/>
          <a:lstStyle/>
          <a:p>
            <a:pPr algn="l">
              <a:spcBef>
                <a:spcPts val="0"/>
              </a:spcBef>
              <a:spcAft>
                <a:spcPts val="100"/>
              </a:spcAft>
            </a:pPr>
            <a:r>
              <a:rPr sz="1500" b="0">
                <a:solidFill>
                  <a:srgbClr val="8A736C"/>
                </a:solidFill>
                <a:latin typeface="Calibri"/>
              </a:rPr>
              <a:t>2 au 15 février</a:t>
            </a:r>
          </a:p>
        </p:txBody>
      </p:sp>
      <p:sp>
        <p:nvSpPr>
          <p:cNvPr id="13" name="TextBox 12"/>
          <p:cNvSpPr txBox="1"/>
          <p:nvPr/>
        </p:nvSpPr>
        <p:spPr>
          <a:xfrm>
            <a:off x="5669280" y="1252728"/>
            <a:ext cx="5669280" cy="457200"/>
          </a:xfrm>
          <a:prstGeom prst="rect">
            <a:avLst/>
          </a:prstGeom>
          <a:noFill/>
        </p:spPr>
        <p:txBody>
          <a:bodyPr wrap="square" lIns="0" rIns="0" tIns="0" bIns="0" anchor="ctr"/>
          <a:lstStyle/>
          <a:p>
            <a:pPr algn="l">
              <a:spcBef>
                <a:spcPts val="0"/>
              </a:spcBef>
              <a:spcAft>
                <a:spcPts val="100"/>
              </a:spcAft>
            </a:pPr>
            <a:r>
              <a:rPr sz="1800" b="1">
                <a:solidFill>
                  <a:srgbClr val="3A2428"/>
                </a:solidFill>
                <a:latin typeface="Calibri"/>
              </a:rPr>
              <a:t>Connexion, profil, langue, thème</a:t>
            </a:r>
          </a:p>
        </p:txBody>
      </p:sp>
      <p:sp>
        <p:nvSpPr>
          <p:cNvPr id="14" name="Rounded Rectangle 13"/>
          <p:cNvSpPr/>
          <p:nvPr/>
        </p:nvSpPr>
        <p:spPr>
          <a:xfrm>
            <a:off x="457200" y="1984248"/>
            <a:ext cx="11247120" cy="841248"/>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185416"/>
            <a:ext cx="640080" cy="457200"/>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S2</a:t>
            </a:r>
          </a:p>
        </p:txBody>
      </p:sp>
      <p:sp>
        <p:nvSpPr>
          <p:cNvPr id="16" name="TextBox 15"/>
          <p:cNvSpPr txBox="1"/>
          <p:nvPr/>
        </p:nvSpPr>
        <p:spPr>
          <a:xfrm>
            <a:off x="1554480" y="2185416"/>
            <a:ext cx="4023360" cy="457200"/>
          </a:xfrm>
          <a:prstGeom prst="rect">
            <a:avLst/>
          </a:prstGeom>
          <a:noFill/>
        </p:spPr>
        <p:txBody>
          <a:bodyPr wrap="square" lIns="0" rIns="0" tIns="0" bIns="0" anchor="ctr"/>
          <a:lstStyle/>
          <a:p>
            <a:pPr algn="l">
              <a:spcBef>
                <a:spcPts val="0"/>
              </a:spcBef>
              <a:spcAft>
                <a:spcPts val="100"/>
              </a:spcAft>
            </a:pPr>
            <a:r>
              <a:rPr sz="1500" b="0">
                <a:solidFill>
                  <a:srgbClr val="8A736C"/>
                </a:solidFill>
                <a:latin typeface="Calibri"/>
              </a:rPr>
              <a:t>16 février au 1er mars</a:t>
            </a:r>
          </a:p>
        </p:txBody>
      </p:sp>
      <p:sp>
        <p:nvSpPr>
          <p:cNvPr id="17" name="TextBox 16"/>
          <p:cNvSpPr txBox="1"/>
          <p:nvPr/>
        </p:nvSpPr>
        <p:spPr>
          <a:xfrm>
            <a:off x="5669280" y="2185416"/>
            <a:ext cx="5669280" cy="457200"/>
          </a:xfrm>
          <a:prstGeom prst="rect">
            <a:avLst/>
          </a:prstGeom>
          <a:noFill/>
        </p:spPr>
        <p:txBody>
          <a:bodyPr wrap="square" lIns="0" rIns="0" tIns="0" bIns="0" anchor="ctr"/>
          <a:lstStyle/>
          <a:p>
            <a:pPr algn="l">
              <a:spcBef>
                <a:spcPts val="0"/>
              </a:spcBef>
              <a:spcAft>
                <a:spcPts val="100"/>
              </a:spcAft>
            </a:pPr>
            <a:r>
              <a:rPr sz="1800" b="1">
                <a:solidFill>
                  <a:srgbClr val="3A2428"/>
                </a:solidFill>
                <a:latin typeface="Calibri"/>
              </a:rPr>
              <a:t>Espace membre</a:t>
            </a:r>
          </a:p>
        </p:txBody>
      </p:sp>
      <p:sp>
        <p:nvSpPr>
          <p:cNvPr id="18" name="Rounded Rectangle 17"/>
          <p:cNvSpPr/>
          <p:nvPr/>
        </p:nvSpPr>
        <p:spPr>
          <a:xfrm>
            <a:off x="457200" y="2916936"/>
            <a:ext cx="11247120" cy="841248"/>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118104"/>
            <a:ext cx="640080" cy="457200"/>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S3</a:t>
            </a:r>
          </a:p>
        </p:txBody>
      </p:sp>
      <p:sp>
        <p:nvSpPr>
          <p:cNvPr id="20" name="TextBox 19"/>
          <p:cNvSpPr txBox="1"/>
          <p:nvPr/>
        </p:nvSpPr>
        <p:spPr>
          <a:xfrm>
            <a:off x="1554480" y="3118104"/>
            <a:ext cx="4023360" cy="457200"/>
          </a:xfrm>
          <a:prstGeom prst="rect">
            <a:avLst/>
          </a:prstGeom>
          <a:noFill/>
        </p:spPr>
        <p:txBody>
          <a:bodyPr wrap="square" lIns="0" rIns="0" tIns="0" bIns="0" anchor="ctr"/>
          <a:lstStyle/>
          <a:p>
            <a:pPr algn="l">
              <a:spcBef>
                <a:spcPts val="0"/>
              </a:spcBef>
              <a:spcAft>
                <a:spcPts val="100"/>
              </a:spcAft>
            </a:pPr>
            <a:r>
              <a:rPr sz="1500" b="0">
                <a:solidFill>
                  <a:srgbClr val="8A736C"/>
                </a:solidFill>
                <a:latin typeface="Calibri"/>
              </a:rPr>
              <a:t>2 au 15 mars</a:t>
            </a:r>
          </a:p>
        </p:txBody>
      </p:sp>
      <p:sp>
        <p:nvSpPr>
          <p:cNvPr id="21" name="TextBox 20"/>
          <p:cNvSpPr txBox="1"/>
          <p:nvPr/>
        </p:nvSpPr>
        <p:spPr>
          <a:xfrm>
            <a:off x="5669280" y="3118104"/>
            <a:ext cx="5669280" cy="457200"/>
          </a:xfrm>
          <a:prstGeom prst="rect">
            <a:avLst/>
          </a:prstGeom>
          <a:noFill/>
        </p:spPr>
        <p:txBody>
          <a:bodyPr wrap="square" lIns="0" rIns="0" tIns="0" bIns="0" anchor="ctr"/>
          <a:lstStyle/>
          <a:p>
            <a:pPr algn="l">
              <a:spcBef>
                <a:spcPts val="0"/>
              </a:spcBef>
              <a:spcAft>
                <a:spcPts val="100"/>
              </a:spcAft>
            </a:pPr>
            <a:r>
              <a:rPr sz="1800" b="1">
                <a:solidFill>
                  <a:srgbClr val="3A2428"/>
                </a:solidFill>
                <a:latin typeface="Calibri"/>
              </a:rPr>
              <a:t>Espace chef d'équipe</a:t>
            </a:r>
          </a:p>
        </p:txBody>
      </p:sp>
      <p:sp>
        <p:nvSpPr>
          <p:cNvPr id="22" name="Rounded Rectangle 21"/>
          <p:cNvSpPr/>
          <p:nvPr/>
        </p:nvSpPr>
        <p:spPr>
          <a:xfrm>
            <a:off x="457200" y="3849624"/>
            <a:ext cx="11247120" cy="841248"/>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050791"/>
            <a:ext cx="640080" cy="457200"/>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S4</a:t>
            </a:r>
          </a:p>
        </p:txBody>
      </p:sp>
      <p:sp>
        <p:nvSpPr>
          <p:cNvPr id="24" name="TextBox 23"/>
          <p:cNvSpPr txBox="1"/>
          <p:nvPr/>
        </p:nvSpPr>
        <p:spPr>
          <a:xfrm>
            <a:off x="1554480" y="4050791"/>
            <a:ext cx="4023360" cy="457200"/>
          </a:xfrm>
          <a:prstGeom prst="rect">
            <a:avLst/>
          </a:prstGeom>
          <a:noFill/>
        </p:spPr>
        <p:txBody>
          <a:bodyPr wrap="square" lIns="0" rIns="0" tIns="0" bIns="0" anchor="ctr"/>
          <a:lstStyle/>
          <a:p>
            <a:pPr algn="l">
              <a:spcBef>
                <a:spcPts val="0"/>
              </a:spcBef>
              <a:spcAft>
                <a:spcPts val="100"/>
              </a:spcAft>
            </a:pPr>
            <a:r>
              <a:rPr sz="1500" b="0">
                <a:solidFill>
                  <a:srgbClr val="8A736C"/>
                </a:solidFill>
                <a:latin typeface="Calibri"/>
              </a:rPr>
              <a:t>16 au 29 mars</a:t>
            </a:r>
          </a:p>
        </p:txBody>
      </p:sp>
      <p:sp>
        <p:nvSpPr>
          <p:cNvPr id="25" name="TextBox 24"/>
          <p:cNvSpPr txBox="1"/>
          <p:nvPr/>
        </p:nvSpPr>
        <p:spPr>
          <a:xfrm>
            <a:off x="5669280" y="4050791"/>
            <a:ext cx="5669280" cy="457200"/>
          </a:xfrm>
          <a:prstGeom prst="rect">
            <a:avLst/>
          </a:prstGeom>
          <a:noFill/>
        </p:spPr>
        <p:txBody>
          <a:bodyPr wrap="square" lIns="0" rIns="0" tIns="0" bIns="0" anchor="ctr"/>
          <a:lstStyle/>
          <a:p>
            <a:pPr algn="l">
              <a:spcBef>
                <a:spcPts val="0"/>
              </a:spcBef>
              <a:spcAft>
                <a:spcPts val="100"/>
              </a:spcAft>
            </a:pPr>
            <a:r>
              <a:rPr sz="1800" b="1">
                <a:solidFill>
                  <a:srgbClr val="3A2428"/>
                </a:solidFill>
                <a:latin typeface="Calibri"/>
              </a:rPr>
              <a:t>Administration</a:t>
            </a:r>
          </a:p>
        </p:txBody>
      </p:sp>
      <p:sp>
        <p:nvSpPr>
          <p:cNvPr id="26" name="Rounded Rectangle 25"/>
          <p:cNvSpPr/>
          <p:nvPr/>
        </p:nvSpPr>
        <p:spPr>
          <a:xfrm>
            <a:off x="457200" y="4782312"/>
            <a:ext cx="11247120" cy="841248"/>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983480"/>
            <a:ext cx="640080" cy="457200"/>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S5</a:t>
            </a:r>
          </a:p>
        </p:txBody>
      </p:sp>
      <p:sp>
        <p:nvSpPr>
          <p:cNvPr id="28" name="TextBox 27"/>
          <p:cNvSpPr txBox="1"/>
          <p:nvPr/>
        </p:nvSpPr>
        <p:spPr>
          <a:xfrm>
            <a:off x="1554480" y="4983480"/>
            <a:ext cx="4023360" cy="457200"/>
          </a:xfrm>
          <a:prstGeom prst="rect">
            <a:avLst/>
          </a:prstGeom>
          <a:noFill/>
        </p:spPr>
        <p:txBody>
          <a:bodyPr wrap="square" lIns="0" rIns="0" tIns="0" bIns="0" anchor="ctr"/>
          <a:lstStyle/>
          <a:p>
            <a:pPr algn="l">
              <a:spcBef>
                <a:spcPts val="0"/>
              </a:spcBef>
              <a:spcAft>
                <a:spcPts val="100"/>
              </a:spcAft>
            </a:pPr>
            <a:r>
              <a:rPr sz="1500" b="0">
                <a:solidFill>
                  <a:srgbClr val="8A736C"/>
                </a:solidFill>
                <a:latin typeface="Calibri"/>
              </a:rPr>
              <a:t>30 mars au 19 avril</a:t>
            </a:r>
          </a:p>
        </p:txBody>
      </p:sp>
      <p:sp>
        <p:nvSpPr>
          <p:cNvPr id="29" name="TextBox 28"/>
          <p:cNvSpPr txBox="1"/>
          <p:nvPr/>
        </p:nvSpPr>
        <p:spPr>
          <a:xfrm>
            <a:off x="5669280" y="4983480"/>
            <a:ext cx="5669280" cy="457200"/>
          </a:xfrm>
          <a:prstGeom prst="rect">
            <a:avLst/>
          </a:prstGeom>
          <a:noFill/>
        </p:spPr>
        <p:txBody>
          <a:bodyPr wrap="square" lIns="0" rIns="0" tIns="0" bIns="0" anchor="ctr"/>
          <a:lstStyle/>
          <a:p>
            <a:pPr algn="l">
              <a:spcBef>
                <a:spcPts val="0"/>
              </a:spcBef>
              <a:spcAft>
                <a:spcPts val="100"/>
              </a:spcAft>
            </a:pPr>
            <a:r>
              <a:rPr sz="1800" b="1">
                <a:solidFill>
                  <a:srgbClr val="3A2428"/>
                </a:solidFill>
                <a:latin typeface="Calibri"/>
              </a:rPr>
              <a:t>Application Flutter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Séquence du point d'avancement</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C6  ·  Architecture logicielle</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15</a:t>
            </a:r>
          </a:p>
        </p:txBody>
      </p:sp>
      <p:pic>
        <p:nvPicPr>
          <p:cNvPr id="10" name="Picture 9" descr="sequence.png"/>
          <p:cNvPicPr>
            <a:picLocks noChangeAspect="1"/>
          </p:cNvPicPr>
          <p:nvPr/>
        </p:nvPicPr>
        <p:blipFill>
          <a:blip r:embed="rId3"/>
          <a:stretch>
            <a:fillRect/>
          </a:stretch>
        </p:blipFill>
        <p:spPr>
          <a:xfrm>
            <a:off x="2057399" y="914400"/>
            <a:ext cx="8046720" cy="50292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Modèle de données</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C7  ·  Base relationnelle</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16</a:t>
            </a:r>
          </a:p>
        </p:txBody>
      </p:sp>
      <p:pic>
        <p:nvPicPr>
          <p:cNvPr id="10" name="Picture 9" descr="class.png"/>
          <p:cNvPicPr>
            <a:picLocks noChangeAspect="1"/>
          </p:cNvPicPr>
          <p:nvPr/>
        </p:nvPicPr>
        <p:blipFill>
          <a:blip r:embed="rId3"/>
          <a:stretch>
            <a:fillRect/>
          </a:stretch>
        </p:blipFill>
        <p:spPr>
          <a:xfrm>
            <a:off x="1508760" y="914400"/>
            <a:ext cx="9144000" cy="50292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Architecture 3-tiers</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C6  ·  Architecture logicielle</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17</a:t>
            </a:r>
          </a:p>
        </p:txBody>
      </p:sp>
      <p:pic>
        <p:nvPicPr>
          <p:cNvPr id="10" name="Picture 9" descr="architecture.png"/>
          <p:cNvPicPr>
            <a:picLocks noChangeAspect="1"/>
          </p:cNvPicPr>
          <p:nvPr/>
        </p:nvPicPr>
        <p:blipFill>
          <a:blip r:embed="rId3"/>
          <a:stretch>
            <a:fillRect/>
          </a:stretch>
        </p:blipFill>
        <p:spPr>
          <a:xfrm>
            <a:off x="1770017" y="914400"/>
            <a:ext cx="8621485" cy="50292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La note devient obligatoire</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C3  ·  Composants métier</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18</a:t>
            </a:r>
          </a:p>
        </p:txBody>
      </p:sp>
      <p:pic>
        <p:nvPicPr>
          <p:cNvPr id="10" name="Picture 9" descr="code-blocker.png"/>
          <p:cNvPicPr>
            <a:picLocks noChangeAspect="1"/>
          </p:cNvPicPr>
          <p:nvPr/>
        </p:nvPicPr>
        <p:blipFill>
          <a:blip r:embed="rId3"/>
          <a:stretch>
            <a:fillRect/>
          </a:stretch>
        </p:blipFill>
        <p:spPr>
          <a:xfrm>
            <a:off x="2250748" y="1051560"/>
            <a:ext cx="7660022" cy="47548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Ce que le service enregistre</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C3  ·  Composants métier</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19</a:t>
            </a:r>
          </a:p>
        </p:txBody>
      </p:sp>
      <p:pic>
        <p:nvPicPr>
          <p:cNvPr id="10" name="Picture 9" descr="code-record.png"/>
          <p:cNvPicPr>
            <a:picLocks noChangeAspect="1"/>
          </p:cNvPicPr>
          <p:nvPr/>
        </p:nvPicPr>
        <p:blipFill>
          <a:blip r:embed="rId3"/>
          <a:stretch>
            <a:fillRect/>
          </a:stretch>
        </p:blipFill>
        <p:spPr>
          <a:xfrm>
            <a:off x="1581370" y="960120"/>
            <a:ext cx="8998778" cy="489204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Deux pourcentages différents</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C3  ·  Composants métier</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20</a:t>
            </a:r>
          </a:p>
        </p:txBody>
      </p:sp>
      <p:sp>
        <p:nvSpPr>
          <p:cNvPr id="10" name="TextBox 9"/>
          <p:cNvSpPr txBox="1"/>
          <p:nvPr/>
        </p:nvSpPr>
        <p:spPr>
          <a:xfrm>
            <a:off x="411480" y="868680"/>
            <a:ext cx="530352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Pourcentage du statut</a:t>
            </a:r>
          </a:p>
        </p:txBody>
      </p:sp>
      <p:sp>
        <p:nvSpPr>
          <p:cNvPr id="11" name="TextBox 10"/>
          <p:cNvSpPr txBox="1"/>
          <p:nvPr/>
        </p:nvSpPr>
        <p:spPr>
          <a:xfrm>
            <a:off x="6126480" y="868680"/>
            <a:ext cx="557784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Taux du tableau  ·  terminées / total</a:t>
            </a:r>
          </a:p>
        </p:txBody>
      </p:sp>
      <p:pic>
        <p:nvPicPr>
          <p:cNvPr id="12" name="Picture 11" descr="code-percent.png"/>
          <p:cNvPicPr>
            <a:picLocks noChangeAspect="1"/>
          </p:cNvPicPr>
          <p:nvPr/>
        </p:nvPicPr>
        <p:blipFill>
          <a:blip r:embed="rId3"/>
          <a:stretch>
            <a:fillRect/>
          </a:stretch>
        </p:blipFill>
        <p:spPr>
          <a:xfrm>
            <a:off x="411480" y="1280160"/>
            <a:ext cx="5394960" cy="3126874"/>
          </a:xfrm>
          <a:prstGeom prst="rect">
            <a:avLst/>
          </a:prstGeom>
        </p:spPr>
      </p:pic>
      <p:pic>
        <p:nvPicPr>
          <p:cNvPr id="13" name="Picture 12" descr="code-rate.png"/>
          <p:cNvPicPr>
            <a:picLocks noChangeAspect="1"/>
          </p:cNvPicPr>
          <p:nvPr/>
        </p:nvPicPr>
        <p:blipFill>
          <a:blip r:embed="rId4"/>
          <a:stretch>
            <a:fillRect/>
          </a:stretch>
        </p:blipFill>
        <p:spPr>
          <a:xfrm>
            <a:off x="6126480" y="1280160"/>
            <a:ext cx="5623560" cy="211115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Le droit, puis la réponse</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C6  ·  Architecture logicielle</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21</a:t>
            </a:r>
          </a:p>
        </p:txBody>
      </p:sp>
      <p:sp>
        <p:nvSpPr>
          <p:cNvPr id="10" name="TextBox 9"/>
          <p:cNvSpPr txBox="1"/>
          <p:nvPr/>
        </p:nvSpPr>
        <p:spPr>
          <a:xfrm>
            <a:off x="411480" y="868680"/>
            <a:ext cx="548640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TaskPolicy::updateStatus</a:t>
            </a:r>
          </a:p>
        </p:txBody>
      </p:sp>
      <p:sp>
        <p:nvSpPr>
          <p:cNvPr id="11" name="TextBox 10"/>
          <p:cNvSpPr txBox="1"/>
          <p:nvPr/>
        </p:nvSpPr>
        <p:spPr>
          <a:xfrm>
            <a:off x="6309360" y="868680"/>
            <a:ext cx="539496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Controller::respond</a:t>
            </a:r>
          </a:p>
        </p:txBody>
      </p:sp>
      <p:pic>
        <p:nvPicPr>
          <p:cNvPr id="12" name="Picture 11" descr="code-policy.png"/>
          <p:cNvPicPr>
            <a:picLocks noChangeAspect="1"/>
          </p:cNvPicPr>
          <p:nvPr/>
        </p:nvPicPr>
        <p:blipFill>
          <a:blip r:embed="rId3"/>
          <a:stretch>
            <a:fillRect/>
          </a:stretch>
        </p:blipFill>
        <p:spPr>
          <a:xfrm>
            <a:off x="411480" y="1325880"/>
            <a:ext cx="5577840" cy="1448560"/>
          </a:xfrm>
          <a:prstGeom prst="rect">
            <a:avLst/>
          </a:prstGeom>
        </p:spPr>
      </p:pic>
      <p:pic>
        <p:nvPicPr>
          <p:cNvPr id="13" name="Picture 12" descr="code-respond.png"/>
          <p:cNvPicPr>
            <a:picLocks noChangeAspect="1"/>
          </p:cNvPicPr>
          <p:nvPr/>
        </p:nvPicPr>
        <p:blipFill>
          <a:blip r:embed="rId4"/>
          <a:stretch>
            <a:fillRect/>
          </a:stretch>
        </p:blipFill>
        <p:spPr>
          <a:xfrm>
            <a:off x="6263640" y="1325880"/>
            <a:ext cx="5486400" cy="17524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Sécurité</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C1  ·  Application sécurisée</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22</a:t>
            </a:r>
          </a:p>
        </p:txBody>
      </p:sp>
      <p:sp>
        <p:nvSpPr>
          <p:cNvPr id="10" name="Rounded Rectangle 9"/>
          <p:cNvSpPr/>
          <p:nvPr/>
        </p:nvSpPr>
        <p:spPr>
          <a:xfrm>
            <a:off x="411480" y="1097280"/>
            <a:ext cx="3703320" cy="2148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417319"/>
            <a:ext cx="3246120" cy="457200"/>
          </a:xfrm>
          <a:prstGeom prst="rect">
            <a:avLst/>
          </a:prstGeom>
          <a:noFill/>
        </p:spPr>
        <p:txBody>
          <a:bodyPr wrap="square" lIns="0" rIns="0" tIns="0" bIns="0" anchor="t"/>
          <a:lstStyle/>
          <a:p>
            <a:pPr algn="l">
              <a:spcBef>
                <a:spcPts val="0"/>
              </a:spcBef>
              <a:spcAft>
                <a:spcPts val="100"/>
              </a:spcAft>
            </a:pPr>
            <a:r>
              <a:rPr sz="1600" b="1">
                <a:solidFill>
                  <a:srgbClr val="3A2428"/>
                </a:solidFill>
                <a:latin typeface="Calibri"/>
              </a:rPr>
              <a:t>Mots de passe</a:t>
            </a:r>
          </a:p>
        </p:txBody>
      </p:sp>
      <p:sp>
        <p:nvSpPr>
          <p:cNvPr id="12" name="TextBox 11"/>
          <p:cNvSpPr txBox="1"/>
          <p:nvPr/>
        </p:nvSpPr>
        <p:spPr>
          <a:xfrm>
            <a:off x="640080" y="2057400"/>
            <a:ext cx="3246120" cy="82296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Hachés, jamais renvoyés.</a:t>
            </a:r>
          </a:p>
        </p:txBody>
      </p:sp>
      <p:sp>
        <p:nvSpPr>
          <p:cNvPr id="13" name="Rounded Rectangle 12"/>
          <p:cNvSpPr/>
          <p:nvPr/>
        </p:nvSpPr>
        <p:spPr>
          <a:xfrm>
            <a:off x="4297680" y="1097280"/>
            <a:ext cx="3703320" cy="2148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417319"/>
            <a:ext cx="3246120" cy="457200"/>
          </a:xfrm>
          <a:prstGeom prst="rect">
            <a:avLst/>
          </a:prstGeom>
          <a:noFill/>
        </p:spPr>
        <p:txBody>
          <a:bodyPr wrap="square" lIns="0" rIns="0" tIns="0" bIns="0" anchor="t"/>
          <a:lstStyle/>
          <a:p>
            <a:pPr algn="l">
              <a:spcBef>
                <a:spcPts val="0"/>
              </a:spcBef>
              <a:spcAft>
                <a:spcPts val="100"/>
              </a:spcAft>
            </a:pPr>
            <a:r>
              <a:rPr sz="1600" b="1">
                <a:solidFill>
                  <a:srgbClr val="3A2428"/>
                </a:solidFill>
                <a:latin typeface="Calibri"/>
              </a:rPr>
              <a:t>Session et jeton</a:t>
            </a:r>
          </a:p>
        </p:txBody>
      </p:sp>
      <p:sp>
        <p:nvSpPr>
          <p:cNvPr id="15" name="TextBox 14"/>
          <p:cNvSpPr txBox="1"/>
          <p:nvPr/>
        </p:nvSpPr>
        <p:spPr>
          <a:xfrm>
            <a:off x="4526280" y="2057400"/>
            <a:ext cx="3246120" cy="82296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Session web, Bearer mobile.</a:t>
            </a:r>
          </a:p>
        </p:txBody>
      </p:sp>
      <p:sp>
        <p:nvSpPr>
          <p:cNvPr id="16" name="Rounded Rectangle 15"/>
          <p:cNvSpPr/>
          <p:nvPr/>
        </p:nvSpPr>
        <p:spPr>
          <a:xfrm>
            <a:off x="8183879" y="1097280"/>
            <a:ext cx="3703320" cy="2148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1417319"/>
            <a:ext cx="3246120" cy="457200"/>
          </a:xfrm>
          <a:prstGeom prst="rect">
            <a:avLst/>
          </a:prstGeom>
          <a:noFill/>
        </p:spPr>
        <p:txBody>
          <a:bodyPr wrap="square" lIns="0" rIns="0" tIns="0" bIns="0" anchor="t"/>
          <a:lstStyle/>
          <a:p>
            <a:pPr algn="l">
              <a:spcBef>
                <a:spcPts val="0"/>
              </a:spcBef>
              <a:spcAft>
                <a:spcPts val="100"/>
              </a:spcAft>
            </a:pPr>
            <a:r>
              <a:rPr sz="1600" b="1">
                <a:solidFill>
                  <a:srgbClr val="3A2428"/>
                </a:solidFill>
                <a:latin typeface="Calibri"/>
              </a:rPr>
              <a:t>CSRF</a:t>
            </a:r>
          </a:p>
        </p:txBody>
      </p:sp>
      <p:sp>
        <p:nvSpPr>
          <p:cNvPr id="18" name="TextBox 17"/>
          <p:cNvSpPr txBox="1"/>
          <p:nvPr/>
        </p:nvSpPr>
        <p:spPr>
          <a:xfrm>
            <a:off x="8412480" y="2057400"/>
            <a:ext cx="3246120" cy="82296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Formulaires web. Pas le jeton.</a:t>
            </a:r>
          </a:p>
        </p:txBody>
      </p:sp>
      <p:sp>
        <p:nvSpPr>
          <p:cNvPr id="19" name="Rounded Rectangle 18"/>
          <p:cNvSpPr/>
          <p:nvPr/>
        </p:nvSpPr>
        <p:spPr>
          <a:xfrm>
            <a:off x="411480" y="3429000"/>
            <a:ext cx="3703320" cy="2148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49039"/>
            <a:ext cx="3246120" cy="457200"/>
          </a:xfrm>
          <a:prstGeom prst="rect">
            <a:avLst/>
          </a:prstGeom>
          <a:noFill/>
        </p:spPr>
        <p:txBody>
          <a:bodyPr wrap="square" lIns="0" rIns="0" tIns="0" bIns="0" anchor="t"/>
          <a:lstStyle/>
          <a:p>
            <a:pPr algn="l">
              <a:spcBef>
                <a:spcPts val="0"/>
              </a:spcBef>
              <a:spcAft>
                <a:spcPts val="100"/>
              </a:spcAft>
            </a:pPr>
            <a:r>
              <a:rPr sz="1600" b="1">
                <a:solidFill>
                  <a:srgbClr val="3A2428"/>
                </a:solidFill>
                <a:latin typeface="Calibri"/>
              </a:rPr>
              <a:t>Politique</a:t>
            </a:r>
          </a:p>
        </p:txBody>
      </p:sp>
      <p:sp>
        <p:nvSpPr>
          <p:cNvPr id="21" name="TextBox 20"/>
          <p:cNvSpPr txBox="1"/>
          <p:nvPr/>
        </p:nvSpPr>
        <p:spPr>
          <a:xfrm>
            <a:off x="640080" y="4389120"/>
            <a:ext cx="3246120" cy="82296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Le droit se teste sur la ressource.</a:t>
            </a:r>
          </a:p>
        </p:txBody>
      </p:sp>
      <p:sp>
        <p:nvSpPr>
          <p:cNvPr id="22" name="Rounded Rectangle 21"/>
          <p:cNvSpPr/>
          <p:nvPr/>
        </p:nvSpPr>
        <p:spPr>
          <a:xfrm>
            <a:off x="4297680" y="3429000"/>
            <a:ext cx="3703320" cy="214884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3749039"/>
            <a:ext cx="3246120" cy="457200"/>
          </a:xfrm>
          <a:prstGeom prst="rect">
            <a:avLst/>
          </a:prstGeom>
          <a:noFill/>
        </p:spPr>
        <p:txBody>
          <a:bodyPr wrap="square" lIns="0" rIns="0" tIns="0" bIns="0" anchor="t"/>
          <a:lstStyle/>
          <a:p>
            <a:pPr algn="l">
              <a:spcBef>
                <a:spcPts val="0"/>
              </a:spcBef>
              <a:spcAft>
                <a:spcPts val="100"/>
              </a:spcAft>
            </a:pPr>
            <a:r>
              <a:rPr sz="1600" b="1">
                <a:solidFill>
                  <a:srgbClr val="3A2428"/>
                </a:solidFill>
                <a:latin typeface="Calibri"/>
              </a:rPr>
              <a:t>Validation</a:t>
            </a:r>
          </a:p>
        </p:txBody>
      </p:sp>
      <p:sp>
        <p:nvSpPr>
          <p:cNvPr id="24" name="TextBox 23"/>
          <p:cNvSpPr txBox="1"/>
          <p:nvPr/>
        </p:nvSpPr>
        <p:spPr>
          <a:xfrm>
            <a:off x="4526280" y="4389120"/>
            <a:ext cx="3246120" cy="82296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Avant toute écriture.</a:t>
            </a:r>
          </a:p>
        </p:txBody>
      </p:sp>
      <p:sp>
        <p:nvSpPr>
          <p:cNvPr id="25" name="Rounded Rectangle 24"/>
          <p:cNvSpPr/>
          <p:nvPr/>
        </p:nvSpPr>
        <p:spPr>
          <a:xfrm>
            <a:off x="8183879" y="3429000"/>
            <a:ext cx="3703320" cy="2148840"/>
          </a:xfrm>
          <a:prstGeom prst="roundRect">
            <a:avLst>
              <a:gd name="adj" fmla="val 8000"/>
            </a:avLst>
          </a:prstGeom>
          <a:solidFill>
            <a:srgbClr val="FBF6F3"/>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3749039"/>
            <a:ext cx="3246120" cy="457200"/>
          </a:xfrm>
          <a:prstGeom prst="rect">
            <a:avLst/>
          </a:prstGeom>
          <a:noFill/>
        </p:spPr>
        <p:txBody>
          <a:bodyPr wrap="square" lIns="0" rIns="0" tIns="0" bIns="0" anchor="t"/>
          <a:lstStyle/>
          <a:p>
            <a:pPr algn="l">
              <a:spcBef>
                <a:spcPts val="0"/>
              </a:spcBef>
              <a:spcAft>
                <a:spcPts val="100"/>
              </a:spcAft>
            </a:pPr>
            <a:r>
              <a:rPr sz="1600" b="1">
                <a:solidFill>
                  <a:srgbClr val="C2516B"/>
                </a:solidFill>
                <a:latin typeface="Calibri"/>
              </a:rPr>
              <a:t>Limite assumée</a:t>
            </a:r>
          </a:p>
        </p:txBody>
      </p:sp>
      <p:sp>
        <p:nvSpPr>
          <p:cNvPr id="27" name="TextBox 26"/>
          <p:cNvSpPr txBox="1"/>
          <p:nvPr/>
        </p:nvSpPr>
        <p:spPr>
          <a:xfrm>
            <a:off x="8412480" y="4389120"/>
            <a:ext cx="3246120" cy="822960"/>
          </a:xfrm>
          <a:prstGeom prst="rect">
            <a:avLst/>
          </a:prstGeom>
          <a:noFill/>
        </p:spPr>
        <p:txBody>
          <a:bodyPr wrap="square" lIns="0" rIns="0" tIns="0" bIns="0" anchor="t"/>
          <a:lstStyle/>
          <a:p>
            <a:pPr algn="l">
              <a:spcBef>
                <a:spcPts val="0"/>
              </a:spcBef>
              <a:spcAft>
                <a:spcPts val="100"/>
              </a:spcAft>
            </a:pPr>
            <a:r>
              <a:rPr sz="1500" b="0">
                <a:solidFill>
                  <a:srgbClr val="8A736C"/>
                </a:solidFill>
                <a:latin typeface="Calibri"/>
              </a:rPr>
              <a:t>Pas de blocage des tentatives.</a:t>
            </a:r>
          </a:p>
          <a:p>
            <a:pPr algn="l">
              <a:spcBef>
                <a:spcPts val="0"/>
              </a:spcBef>
              <a:spcAft>
                <a:spcPts val="100"/>
              </a:spcAft>
            </a:pPr>
            <a:r>
              <a:rPr sz="1500" b="0">
                <a:solidFill>
                  <a:srgbClr val="8A736C"/>
                </a:solidFill>
                <a:latin typeface="Calibri"/>
              </a:rPr>
              <a:t>Jetons sans expiration.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Test  ·  sans session</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C9  ·  Plans de tests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23</a:t>
            </a:r>
          </a:p>
        </p:txBody>
      </p:sp>
      <p:sp>
        <p:nvSpPr>
          <p:cNvPr id="10" name="Rounded Rectangle 9"/>
          <p:cNvSpPr/>
          <p:nvPr/>
        </p:nvSpPr>
        <p:spPr>
          <a:xfrm>
            <a:off x="365760" y="100584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143000"/>
            <a:ext cx="525780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Démarche</a:t>
            </a:r>
          </a:p>
        </p:txBody>
      </p:sp>
      <p:sp>
        <p:nvSpPr>
          <p:cNvPr id="12" name="TextBox 11"/>
          <p:cNvSpPr txBox="1"/>
          <p:nvPr/>
        </p:nvSpPr>
        <p:spPr>
          <a:xfrm>
            <a:off x="548640" y="150876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Ouvrir le tableau de bord sans être connecté.</a:t>
            </a:r>
          </a:p>
        </p:txBody>
      </p:sp>
      <p:sp>
        <p:nvSpPr>
          <p:cNvPr id="13" name="Rounded Rectangle 12"/>
          <p:cNvSpPr/>
          <p:nvPr/>
        </p:nvSpPr>
        <p:spPr>
          <a:xfrm>
            <a:off x="365760" y="310896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246120"/>
            <a:ext cx="5257800" cy="274320"/>
          </a:xfrm>
          <a:prstGeom prst="rect">
            <a:avLst/>
          </a:prstGeom>
          <a:noFill/>
        </p:spPr>
        <p:txBody>
          <a:bodyPr wrap="square" lIns="0" rIns="0" tIns="0" bIns="0" anchor="t"/>
          <a:lstStyle/>
          <a:p>
            <a:pPr algn="l">
              <a:spcBef>
                <a:spcPts val="0"/>
              </a:spcBef>
              <a:spcAft>
                <a:spcPts val="100"/>
              </a:spcAft>
            </a:pPr>
            <a:r>
              <a:rPr sz="1300" b="1">
                <a:solidFill>
                  <a:srgbClr val="2F6F62"/>
                </a:solidFill>
                <a:latin typeface="Calibri"/>
              </a:rPr>
              <a:t>Résultat</a:t>
            </a:r>
          </a:p>
        </p:txBody>
      </p:sp>
      <p:sp>
        <p:nvSpPr>
          <p:cNvPr id="15" name="TextBox 14"/>
          <p:cNvSpPr txBox="1"/>
          <p:nvPr/>
        </p:nvSpPr>
        <p:spPr>
          <a:xfrm>
            <a:off x="548640" y="361188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L'invité est renvoyé vers la connexion. La racine du site aussi.</a:t>
            </a:r>
          </a:p>
        </p:txBody>
      </p:sp>
      <p:pic>
        <p:nvPicPr>
          <p:cNvPr id="16" name="Picture 15" descr="code-test-guest.png"/>
          <p:cNvPicPr>
            <a:picLocks noChangeAspect="1"/>
          </p:cNvPicPr>
          <p:nvPr/>
        </p:nvPicPr>
        <p:blipFill>
          <a:blip r:embed="rId3"/>
          <a:stretch>
            <a:fillRect/>
          </a:stretch>
        </p:blipFill>
        <p:spPr>
          <a:xfrm>
            <a:off x="6172200" y="1097280"/>
            <a:ext cx="5623560" cy="133129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Test  ·  bloqué sans note</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C9  ·  Plans de tests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24</a:t>
            </a:r>
          </a:p>
        </p:txBody>
      </p:sp>
      <p:sp>
        <p:nvSpPr>
          <p:cNvPr id="10" name="Rounded Rectangle 9"/>
          <p:cNvSpPr/>
          <p:nvPr/>
        </p:nvSpPr>
        <p:spPr>
          <a:xfrm>
            <a:off x="365760" y="100584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143000"/>
            <a:ext cx="525780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Démarche</a:t>
            </a:r>
          </a:p>
        </p:txBody>
      </p:sp>
      <p:sp>
        <p:nvSpPr>
          <p:cNvPr id="12" name="TextBox 11"/>
          <p:cNvSpPr txBox="1"/>
          <p:nvPr/>
        </p:nvSpPr>
        <p:spPr>
          <a:xfrm>
            <a:off x="548640" y="150876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Passer une tâche au statut bloqué, sans écrire la note.</a:t>
            </a:r>
          </a:p>
        </p:txBody>
      </p:sp>
      <p:sp>
        <p:nvSpPr>
          <p:cNvPr id="13" name="Rounded Rectangle 12"/>
          <p:cNvSpPr/>
          <p:nvPr/>
        </p:nvSpPr>
        <p:spPr>
          <a:xfrm>
            <a:off x="365760" y="310896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246120"/>
            <a:ext cx="5257800" cy="274320"/>
          </a:xfrm>
          <a:prstGeom prst="rect">
            <a:avLst/>
          </a:prstGeom>
          <a:noFill/>
        </p:spPr>
        <p:txBody>
          <a:bodyPr wrap="square" lIns="0" rIns="0" tIns="0" bIns="0" anchor="t"/>
          <a:lstStyle/>
          <a:p>
            <a:pPr algn="l">
              <a:spcBef>
                <a:spcPts val="0"/>
              </a:spcBef>
              <a:spcAft>
                <a:spcPts val="100"/>
              </a:spcAft>
            </a:pPr>
            <a:r>
              <a:rPr sz="1300" b="1">
                <a:solidFill>
                  <a:srgbClr val="2F6F62"/>
                </a:solidFill>
                <a:latin typeface="Calibri"/>
              </a:rPr>
              <a:t>Résultat</a:t>
            </a:r>
          </a:p>
        </p:txBody>
      </p:sp>
      <p:sp>
        <p:nvSpPr>
          <p:cNvPr id="15" name="TextBox 14"/>
          <p:cNvSpPr txBox="1"/>
          <p:nvPr/>
        </p:nvSpPr>
        <p:spPr>
          <a:xfrm>
            <a:off x="548640" y="361188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Le formulaire web refuse. L'appel JSON refuse aussi, en 422.</a:t>
            </a:r>
          </a:p>
        </p:txBody>
      </p:sp>
      <p:pic>
        <p:nvPicPr>
          <p:cNvPr id="16" name="Picture 15" descr="code-test-blocker.png"/>
          <p:cNvPicPr>
            <a:picLocks noChangeAspect="1"/>
          </p:cNvPicPr>
          <p:nvPr/>
        </p:nvPicPr>
        <p:blipFill>
          <a:blip r:embed="rId3"/>
          <a:stretch>
            <a:fillRect/>
          </a:stretch>
        </p:blipFill>
        <p:spPr>
          <a:xfrm>
            <a:off x="6172200" y="1097280"/>
            <a:ext cx="5623560" cy="2076994"/>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Test  ·  la tâche d'un autre</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C9  ·  Plans de tests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25</a:t>
            </a:r>
          </a:p>
        </p:txBody>
      </p:sp>
      <p:sp>
        <p:nvSpPr>
          <p:cNvPr id="10" name="Rounded Rectangle 9"/>
          <p:cNvSpPr/>
          <p:nvPr/>
        </p:nvSpPr>
        <p:spPr>
          <a:xfrm>
            <a:off x="365760" y="100584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143000"/>
            <a:ext cx="525780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Démarche</a:t>
            </a:r>
          </a:p>
        </p:txBody>
      </p:sp>
      <p:sp>
        <p:nvSpPr>
          <p:cNvPr id="12" name="TextBox 11"/>
          <p:cNvSpPr txBox="1"/>
          <p:nvPr/>
        </p:nvSpPr>
        <p:spPr>
          <a:xfrm>
            <a:off x="548640" y="150876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Avec un compte membre, mettre à jour une tâche assignée à quelqu'un d'autre.</a:t>
            </a:r>
          </a:p>
        </p:txBody>
      </p:sp>
      <p:sp>
        <p:nvSpPr>
          <p:cNvPr id="13" name="Rounded Rectangle 12"/>
          <p:cNvSpPr/>
          <p:nvPr/>
        </p:nvSpPr>
        <p:spPr>
          <a:xfrm>
            <a:off x="365760" y="310896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246120"/>
            <a:ext cx="5257800" cy="274320"/>
          </a:xfrm>
          <a:prstGeom prst="rect">
            <a:avLst/>
          </a:prstGeom>
          <a:noFill/>
        </p:spPr>
        <p:txBody>
          <a:bodyPr wrap="square" lIns="0" rIns="0" tIns="0" bIns="0" anchor="t"/>
          <a:lstStyle/>
          <a:p>
            <a:pPr algn="l">
              <a:spcBef>
                <a:spcPts val="0"/>
              </a:spcBef>
              <a:spcAft>
                <a:spcPts val="100"/>
              </a:spcAft>
            </a:pPr>
            <a:r>
              <a:rPr sz="1300" b="1">
                <a:solidFill>
                  <a:srgbClr val="2F6F62"/>
                </a:solidFill>
                <a:latin typeface="Calibri"/>
              </a:rPr>
              <a:t>Résultat</a:t>
            </a:r>
          </a:p>
        </p:txBody>
      </p:sp>
      <p:sp>
        <p:nvSpPr>
          <p:cNvPr id="15" name="TextBox 14"/>
          <p:cNvSpPr txBox="1"/>
          <p:nvPr/>
        </p:nvSpPr>
        <p:spPr>
          <a:xfrm>
            <a:off x="548640" y="361188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La politique refuse. La réponse est 403.</a:t>
            </a:r>
          </a:p>
        </p:txBody>
      </p:sp>
      <p:pic>
        <p:nvPicPr>
          <p:cNvPr id="16" name="Picture 15" descr="code-test-other.png"/>
          <p:cNvPicPr>
            <a:picLocks noChangeAspect="1"/>
          </p:cNvPicPr>
          <p:nvPr/>
        </p:nvPicPr>
        <p:blipFill>
          <a:blip r:embed="rId3"/>
          <a:stretch>
            <a:fillRect/>
          </a:stretch>
        </p:blipFill>
        <p:spPr>
          <a:xfrm>
            <a:off x="6172200" y="1097280"/>
            <a:ext cx="5623560" cy="184186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Test  ·  le chef ne crée pas le projet</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C9  ·  Plans de tests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26</a:t>
            </a:r>
          </a:p>
        </p:txBody>
      </p:sp>
      <p:sp>
        <p:nvSpPr>
          <p:cNvPr id="10" name="Rounded Rectangle 9"/>
          <p:cNvSpPr/>
          <p:nvPr/>
        </p:nvSpPr>
        <p:spPr>
          <a:xfrm>
            <a:off x="365760" y="100584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143000"/>
            <a:ext cx="525780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Démarche</a:t>
            </a:r>
          </a:p>
        </p:txBody>
      </p:sp>
      <p:sp>
        <p:nvSpPr>
          <p:cNvPr id="12" name="TextBox 11"/>
          <p:cNvSpPr txBox="1"/>
          <p:nvPr/>
        </p:nvSpPr>
        <p:spPr>
          <a:xfrm>
            <a:off x="548640" y="150876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Avec un compte chef d'équipe, tenter de créer un projet.</a:t>
            </a:r>
          </a:p>
        </p:txBody>
      </p:sp>
      <p:sp>
        <p:nvSpPr>
          <p:cNvPr id="13" name="Rounded Rectangle 12"/>
          <p:cNvSpPr/>
          <p:nvPr/>
        </p:nvSpPr>
        <p:spPr>
          <a:xfrm>
            <a:off x="365760" y="310896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246120"/>
            <a:ext cx="5257800" cy="274320"/>
          </a:xfrm>
          <a:prstGeom prst="rect">
            <a:avLst/>
          </a:prstGeom>
          <a:noFill/>
        </p:spPr>
        <p:txBody>
          <a:bodyPr wrap="square" lIns="0" rIns="0" tIns="0" bIns="0" anchor="t"/>
          <a:lstStyle/>
          <a:p>
            <a:pPr algn="l">
              <a:spcBef>
                <a:spcPts val="0"/>
              </a:spcBef>
              <a:spcAft>
                <a:spcPts val="100"/>
              </a:spcAft>
            </a:pPr>
            <a:r>
              <a:rPr sz="1300" b="1">
                <a:solidFill>
                  <a:srgbClr val="2F6F62"/>
                </a:solidFill>
                <a:latin typeface="Calibri"/>
              </a:rPr>
              <a:t>Résultat</a:t>
            </a:r>
          </a:p>
        </p:txBody>
      </p:sp>
      <p:sp>
        <p:nvSpPr>
          <p:cNvPr id="15" name="TextBox 14"/>
          <p:cNvSpPr txBox="1"/>
          <p:nvPr/>
        </p:nvSpPr>
        <p:spPr>
          <a:xfrm>
            <a:off x="548640" y="361188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La création reste à l'administrateur. Le chef peut créer une tâche dans son périmètre.</a:t>
            </a:r>
          </a:p>
        </p:txBody>
      </p:sp>
      <p:pic>
        <p:nvPicPr>
          <p:cNvPr id="16" name="Picture 15" descr="code-test-lead.png"/>
          <p:cNvPicPr>
            <a:picLocks noChangeAspect="1"/>
          </p:cNvPicPr>
          <p:nvPr/>
        </p:nvPicPr>
        <p:blipFill>
          <a:blip r:embed="rId3"/>
          <a:stretch>
            <a:fillRect/>
          </a:stretch>
        </p:blipFill>
        <p:spPr>
          <a:xfrm>
            <a:off x="6172200" y="1097280"/>
            <a:ext cx="5623560" cy="243305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Test  ·  JSON sans jeton</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C9  ·  Plans de tests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27</a:t>
            </a:r>
          </a:p>
        </p:txBody>
      </p:sp>
      <p:sp>
        <p:nvSpPr>
          <p:cNvPr id="10" name="Rounded Rectangle 9"/>
          <p:cNvSpPr/>
          <p:nvPr/>
        </p:nvSpPr>
        <p:spPr>
          <a:xfrm>
            <a:off x="365760" y="100584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143000"/>
            <a:ext cx="5257800" cy="274320"/>
          </a:xfrm>
          <a:prstGeom prst="rect">
            <a:avLst/>
          </a:prstGeom>
          <a:noFill/>
        </p:spPr>
        <p:txBody>
          <a:bodyPr wrap="square" lIns="0" rIns="0" tIns="0" bIns="0" anchor="t"/>
          <a:lstStyle/>
          <a:p>
            <a:pPr algn="l">
              <a:spcBef>
                <a:spcPts val="0"/>
              </a:spcBef>
              <a:spcAft>
                <a:spcPts val="100"/>
              </a:spcAft>
            </a:pPr>
            <a:r>
              <a:rPr sz="1300" b="1">
                <a:solidFill>
                  <a:srgbClr val="C2516B"/>
                </a:solidFill>
                <a:latin typeface="Calibri"/>
              </a:rPr>
              <a:t>Démarche</a:t>
            </a:r>
          </a:p>
        </p:txBody>
      </p:sp>
      <p:sp>
        <p:nvSpPr>
          <p:cNvPr id="12" name="TextBox 11"/>
          <p:cNvSpPr txBox="1"/>
          <p:nvPr/>
        </p:nvSpPr>
        <p:spPr>
          <a:xfrm>
            <a:off x="548640" y="150876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Appeler le tableau de bord en JSON, sans le jeton Sanctum.</a:t>
            </a:r>
          </a:p>
        </p:txBody>
      </p:sp>
      <p:sp>
        <p:nvSpPr>
          <p:cNvPr id="13" name="Rounded Rectangle 12"/>
          <p:cNvSpPr/>
          <p:nvPr/>
        </p:nvSpPr>
        <p:spPr>
          <a:xfrm>
            <a:off x="365760" y="3108960"/>
            <a:ext cx="562356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246120"/>
            <a:ext cx="5257800" cy="274320"/>
          </a:xfrm>
          <a:prstGeom prst="rect">
            <a:avLst/>
          </a:prstGeom>
          <a:noFill/>
        </p:spPr>
        <p:txBody>
          <a:bodyPr wrap="square" lIns="0" rIns="0" tIns="0" bIns="0" anchor="t"/>
          <a:lstStyle/>
          <a:p>
            <a:pPr algn="l">
              <a:spcBef>
                <a:spcPts val="0"/>
              </a:spcBef>
              <a:spcAft>
                <a:spcPts val="100"/>
              </a:spcAft>
            </a:pPr>
            <a:r>
              <a:rPr sz="1300" b="1">
                <a:solidFill>
                  <a:srgbClr val="2F6F62"/>
                </a:solidFill>
                <a:latin typeface="Calibri"/>
              </a:rPr>
              <a:t>Résultat</a:t>
            </a:r>
          </a:p>
        </p:txBody>
      </p:sp>
      <p:sp>
        <p:nvSpPr>
          <p:cNvPr id="15" name="TextBox 14"/>
          <p:cNvSpPr txBox="1"/>
          <p:nvPr/>
        </p:nvSpPr>
        <p:spPr>
          <a:xfrm>
            <a:off x="548640" y="3611880"/>
            <a:ext cx="5257800" cy="128016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La réponse est 401. Avec un jeton valide, le membre lit son tableau.</a:t>
            </a:r>
          </a:p>
        </p:txBody>
      </p:sp>
      <p:pic>
        <p:nvPicPr>
          <p:cNvPr id="16" name="Picture 15" descr="code-test-401.png"/>
          <p:cNvPicPr>
            <a:picLocks noChangeAspect="1"/>
          </p:cNvPicPr>
          <p:nvPr/>
        </p:nvPicPr>
        <p:blipFill>
          <a:blip r:embed="rId3"/>
          <a:stretch>
            <a:fillRect/>
          </a:stretch>
        </p:blipFill>
        <p:spPr>
          <a:xfrm>
            <a:off x="6172200" y="1097280"/>
            <a:ext cx="5623560" cy="1331291"/>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Démonstration</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C2  ·  Interfaces</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28</a:t>
            </a:r>
          </a:p>
        </p:txBody>
      </p:sp>
      <p:pic>
        <p:nvPicPr>
          <p:cNvPr id="10" name="Picture 9" descr="lead.png"/>
          <p:cNvPicPr>
            <a:picLocks noChangeAspect="1"/>
          </p:cNvPicPr>
          <p:nvPr/>
        </p:nvPicPr>
        <p:blipFill>
          <a:blip r:embed="rId3"/>
          <a:stretch>
            <a:fillRect/>
          </a:stretch>
        </p:blipFill>
        <p:spPr>
          <a:xfrm>
            <a:off x="365760" y="1954329"/>
            <a:ext cx="3749039" cy="2172100"/>
          </a:xfrm>
          <a:prstGeom prst="rect">
            <a:avLst/>
          </a:prstGeom>
        </p:spPr>
      </p:pic>
      <p:sp>
        <p:nvSpPr>
          <p:cNvPr id="11" name="TextBox 10"/>
          <p:cNvSpPr txBox="1"/>
          <p:nvPr/>
        </p:nvSpPr>
        <p:spPr>
          <a:xfrm>
            <a:off x="365760" y="5212080"/>
            <a:ext cx="3749039" cy="320040"/>
          </a:xfrm>
          <a:prstGeom prst="rect">
            <a:avLst/>
          </a:prstGeom>
          <a:noFill/>
        </p:spPr>
        <p:txBody>
          <a:bodyPr wrap="square" lIns="0" rIns="0" tIns="0" bIns="0" anchor="t"/>
          <a:lstStyle/>
          <a:p>
            <a:pPr algn="ctr">
              <a:spcBef>
                <a:spcPts val="0"/>
              </a:spcBef>
              <a:spcAft>
                <a:spcPts val="100"/>
              </a:spcAft>
            </a:pPr>
            <a:r>
              <a:rPr sz="1400" b="1">
                <a:solidFill>
                  <a:srgbClr val="3A2428"/>
                </a:solidFill>
                <a:latin typeface="Calibri"/>
              </a:rPr>
              <a:t>Chef d'équipe</a:t>
            </a:r>
          </a:p>
        </p:txBody>
      </p:sp>
      <p:pic>
        <p:nvPicPr>
          <p:cNvPr id="12" name="Picture 11" descr="blocked.png"/>
          <p:cNvPicPr>
            <a:picLocks noChangeAspect="1"/>
          </p:cNvPicPr>
          <p:nvPr/>
        </p:nvPicPr>
        <p:blipFill>
          <a:blip r:embed="rId4"/>
          <a:stretch>
            <a:fillRect/>
          </a:stretch>
        </p:blipFill>
        <p:spPr>
          <a:xfrm>
            <a:off x="4279392" y="1817255"/>
            <a:ext cx="3749039" cy="2446248"/>
          </a:xfrm>
          <a:prstGeom prst="rect">
            <a:avLst/>
          </a:prstGeom>
        </p:spPr>
      </p:pic>
      <p:sp>
        <p:nvSpPr>
          <p:cNvPr id="13" name="TextBox 12"/>
          <p:cNvSpPr txBox="1"/>
          <p:nvPr/>
        </p:nvSpPr>
        <p:spPr>
          <a:xfrm>
            <a:off x="4279392" y="5212080"/>
            <a:ext cx="3749039" cy="320040"/>
          </a:xfrm>
          <a:prstGeom prst="rect">
            <a:avLst/>
          </a:prstGeom>
          <a:noFill/>
        </p:spPr>
        <p:txBody>
          <a:bodyPr wrap="square" lIns="0" rIns="0" tIns="0" bIns="0" anchor="t"/>
          <a:lstStyle/>
          <a:p>
            <a:pPr algn="ctr">
              <a:spcBef>
                <a:spcPts val="0"/>
              </a:spcBef>
              <a:spcAft>
                <a:spcPts val="100"/>
              </a:spcAft>
            </a:pPr>
            <a:r>
              <a:rPr sz="1400" b="1">
                <a:solidFill>
                  <a:srgbClr val="3A2428"/>
                </a:solidFill>
                <a:latin typeface="Calibri"/>
              </a:rPr>
              <a:t>Point d'avancement</a:t>
            </a:r>
          </a:p>
        </p:txBody>
      </p:sp>
      <p:pic>
        <p:nvPicPr>
          <p:cNvPr id="14" name="Picture 13" descr="admin.png"/>
          <p:cNvPicPr>
            <a:picLocks noChangeAspect="1"/>
          </p:cNvPicPr>
          <p:nvPr/>
        </p:nvPicPr>
        <p:blipFill>
          <a:blip r:embed="rId5"/>
          <a:stretch>
            <a:fillRect/>
          </a:stretch>
        </p:blipFill>
        <p:spPr>
          <a:xfrm>
            <a:off x="8193024" y="1817255"/>
            <a:ext cx="3749039" cy="2446248"/>
          </a:xfrm>
          <a:prstGeom prst="rect">
            <a:avLst/>
          </a:prstGeom>
        </p:spPr>
      </p:pic>
      <p:sp>
        <p:nvSpPr>
          <p:cNvPr id="15" name="TextBox 14"/>
          <p:cNvSpPr txBox="1"/>
          <p:nvPr/>
        </p:nvSpPr>
        <p:spPr>
          <a:xfrm>
            <a:off x="8193024" y="5212080"/>
            <a:ext cx="3749039" cy="320040"/>
          </a:xfrm>
          <a:prstGeom prst="rect">
            <a:avLst/>
          </a:prstGeom>
          <a:noFill/>
        </p:spPr>
        <p:txBody>
          <a:bodyPr wrap="square" lIns="0" rIns="0" tIns="0" bIns="0" anchor="t"/>
          <a:lstStyle/>
          <a:p>
            <a:pPr algn="ctr">
              <a:spcBef>
                <a:spcPts val="0"/>
              </a:spcBef>
              <a:spcAft>
                <a:spcPts val="100"/>
              </a:spcAft>
            </a:pPr>
            <a:r>
              <a:rPr sz="1400" b="1">
                <a:solidFill>
                  <a:srgbClr val="3A2428"/>
                </a:solidFill>
                <a:latin typeface="Calibri"/>
              </a:rPr>
              <a:t>Administrateur</a:t>
            </a:r>
          </a:p>
        </p:txBody>
      </p:sp>
      <p:sp>
        <p:nvSpPr>
          <p:cNvPr id="16" name="TextBox 15"/>
          <p:cNvSpPr txBox="1"/>
          <p:nvPr/>
        </p:nvSpPr>
        <p:spPr>
          <a:xfrm>
            <a:off x="411480" y="5623560"/>
            <a:ext cx="11247120" cy="292608"/>
          </a:xfrm>
          <a:prstGeom prst="rect">
            <a:avLst/>
          </a:prstGeom>
          <a:noFill/>
        </p:spPr>
        <p:txBody>
          <a:bodyPr wrap="square" lIns="0" rIns="0" tIns="0" bIns="0" anchor="t"/>
          <a:lstStyle/>
          <a:p>
            <a:pPr algn="ctr">
              <a:spcBef>
                <a:spcPts val="0"/>
              </a:spcBef>
              <a:spcAft>
                <a:spcPts val="100"/>
              </a:spcAft>
            </a:pPr>
            <a:r>
              <a:rPr sz="1400" b="1">
                <a:solidFill>
                  <a:srgbClr val="C2516B"/>
                </a:solidFill>
                <a:latin typeface="Calibri"/>
              </a:rPr>
              <a:t>En direct, environ 4 minutes.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Déploiement</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C10  ·  Documenter la mise en ligne</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29</a:t>
            </a:r>
          </a:p>
        </p:txBody>
      </p:sp>
      <p:sp>
        <p:nvSpPr>
          <p:cNvPr id="10" name="Rounded Rectangle 9"/>
          <p:cNvSpPr/>
          <p:nvPr/>
        </p:nvSpPr>
        <p:spPr>
          <a:xfrm>
            <a:off x="457200" y="1051560"/>
            <a:ext cx="11247120" cy="804672"/>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216151"/>
            <a:ext cx="2926080" cy="475488"/>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Serveur</a:t>
            </a:r>
          </a:p>
        </p:txBody>
      </p:sp>
      <p:sp>
        <p:nvSpPr>
          <p:cNvPr id="12" name="TextBox 11"/>
          <p:cNvSpPr txBox="1"/>
          <p:nvPr/>
        </p:nvSpPr>
        <p:spPr>
          <a:xfrm>
            <a:off x="3749039" y="1216151"/>
            <a:ext cx="7498079" cy="475488"/>
          </a:xfrm>
          <a:prstGeom prst="rect">
            <a:avLst/>
          </a:prstGeom>
          <a:noFill/>
        </p:spPr>
        <p:txBody>
          <a:bodyPr wrap="square" lIns="0" rIns="0" tIns="0" bIns="0" anchor="ctr"/>
          <a:lstStyle/>
          <a:p>
            <a:pPr algn="l">
              <a:spcBef>
                <a:spcPts val="0"/>
              </a:spcBef>
              <a:spcAft>
                <a:spcPts val="100"/>
              </a:spcAft>
            </a:pPr>
            <a:r>
              <a:rPr sz="1800" b="0">
                <a:solidFill>
                  <a:srgbClr val="2A211F"/>
                </a:solidFill>
                <a:latin typeface="Calibri"/>
              </a:rPr>
              <a:t>PHP, racine sur public/</a:t>
            </a:r>
          </a:p>
        </p:txBody>
      </p:sp>
      <p:sp>
        <p:nvSpPr>
          <p:cNvPr id="13" name="Rounded Rectangle 12"/>
          <p:cNvSpPr/>
          <p:nvPr/>
        </p:nvSpPr>
        <p:spPr>
          <a:xfrm>
            <a:off x="457200" y="1965960"/>
            <a:ext cx="11247120" cy="804672"/>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130552"/>
            <a:ext cx="2926080" cy="475488"/>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Base</a:t>
            </a:r>
          </a:p>
        </p:txBody>
      </p:sp>
      <p:sp>
        <p:nvSpPr>
          <p:cNvPr id="15" name="TextBox 14"/>
          <p:cNvSpPr txBox="1"/>
          <p:nvPr/>
        </p:nvSpPr>
        <p:spPr>
          <a:xfrm>
            <a:off x="3749039" y="2130552"/>
            <a:ext cx="7498079" cy="475488"/>
          </a:xfrm>
          <a:prstGeom prst="rect">
            <a:avLst/>
          </a:prstGeom>
          <a:noFill/>
        </p:spPr>
        <p:txBody>
          <a:bodyPr wrap="square" lIns="0" rIns="0" tIns="0" bIns="0" anchor="ctr"/>
          <a:lstStyle/>
          <a:p>
            <a:pPr algn="l">
              <a:spcBef>
                <a:spcPts val="0"/>
              </a:spcBef>
              <a:spcAft>
                <a:spcPts val="100"/>
              </a:spcAft>
            </a:pPr>
            <a:r>
              <a:rPr sz="1800" b="0">
                <a:solidFill>
                  <a:srgbClr val="2A211F"/>
                </a:solidFill>
                <a:latin typeface="Calibri"/>
              </a:rPr>
              <a:t>MySQL ou MariaDB, migrations</a:t>
            </a:r>
          </a:p>
        </p:txBody>
      </p:sp>
      <p:sp>
        <p:nvSpPr>
          <p:cNvPr id="16" name="Rounded Rectangle 15"/>
          <p:cNvSpPr/>
          <p:nvPr/>
        </p:nvSpPr>
        <p:spPr>
          <a:xfrm>
            <a:off x="457200" y="2880360"/>
            <a:ext cx="11247120" cy="804672"/>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044952"/>
            <a:ext cx="2926080" cy="475488"/>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Production</a:t>
            </a:r>
          </a:p>
        </p:txBody>
      </p:sp>
      <p:sp>
        <p:nvSpPr>
          <p:cNvPr id="18" name="TextBox 17"/>
          <p:cNvSpPr txBox="1"/>
          <p:nvPr/>
        </p:nvSpPr>
        <p:spPr>
          <a:xfrm>
            <a:off x="3749039" y="3044952"/>
            <a:ext cx="7498079" cy="475488"/>
          </a:xfrm>
          <a:prstGeom prst="rect">
            <a:avLst/>
          </a:prstGeom>
          <a:noFill/>
        </p:spPr>
        <p:txBody>
          <a:bodyPr wrap="square" lIns="0" rIns="0" tIns="0" bIns="0" anchor="ctr"/>
          <a:lstStyle/>
          <a:p>
            <a:pPr algn="l">
              <a:spcBef>
                <a:spcPts val="0"/>
              </a:spcBef>
              <a:spcAft>
                <a:spcPts val="100"/>
              </a:spcAft>
            </a:pPr>
            <a:r>
              <a:rPr sz="1800" b="0">
                <a:solidFill>
                  <a:srgbClr val="2A211F"/>
                </a:solidFill>
                <a:latin typeface="Calibri"/>
              </a:rPr>
              <a:t>Pas de comptes de démonstration</a:t>
            </a:r>
          </a:p>
        </p:txBody>
      </p:sp>
      <p:sp>
        <p:nvSpPr>
          <p:cNvPr id="19" name="Rounded Rectangle 18"/>
          <p:cNvSpPr/>
          <p:nvPr/>
        </p:nvSpPr>
        <p:spPr>
          <a:xfrm>
            <a:off x="457200" y="3794760"/>
            <a:ext cx="11247120" cy="804672"/>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59352"/>
            <a:ext cx="2926080" cy="475488"/>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Mobile</a:t>
            </a:r>
          </a:p>
        </p:txBody>
      </p:sp>
      <p:sp>
        <p:nvSpPr>
          <p:cNvPr id="21" name="TextBox 20"/>
          <p:cNvSpPr txBox="1"/>
          <p:nvPr/>
        </p:nvSpPr>
        <p:spPr>
          <a:xfrm>
            <a:off x="3749039" y="3959352"/>
            <a:ext cx="7498079" cy="475488"/>
          </a:xfrm>
          <a:prstGeom prst="rect">
            <a:avLst/>
          </a:prstGeom>
          <a:noFill/>
        </p:spPr>
        <p:txBody>
          <a:bodyPr wrap="square" lIns="0" rIns="0" tIns="0" bIns="0" anchor="ctr"/>
          <a:lstStyle/>
          <a:p>
            <a:pPr algn="l">
              <a:spcBef>
                <a:spcPts val="0"/>
              </a:spcBef>
              <a:spcAft>
                <a:spcPts val="100"/>
              </a:spcAft>
            </a:pPr>
            <a:r>
              <a:rPr sz="1800" b="0">
                <a:solidFill>
                  <a:srgbClr val="2A211F"/>
                </a:solidFill>
                <a:latin typeface="Calibri"/>
              </a:rPr>
              <a:t>Même serveur, jeton Sanctum, HTTPS</a:t>
            </a:r>
          </a:p>
        </p:txBody>
      </p:sp>
      <p:sp>
        <p:nvSpPr>
          <p:cNvPr id="22" name="Rounded Rectangle 21"/>
          <p:cNvSpPr/>
          <p:nvPr/>
        </p:nvSpPr>
        <p:spPr>
          <a:xfrm>
            <a:off x="457200" y="4709160"/>
            <a:ext cx="11247120" cy="804672"/>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873752"/>
            <a:ext cx="2926080" cy="475488"/>
          </a:xfrm>
          <a:prstGeom prst="rect">
            <a:avLst/>
          </a:prstGeom>
          <a:noFill/>
        </p:spPr>
        <p:txBody>
          <a:bodyPr wrap="square" lIns="0" rIns="0" tIns="0" bIns="0" anchor="ctr"/>
          <a:lstStyle/>
          <a:p>
            <a:pPr algn="l">
              <a:spcBef>
                <a:spcPts val="0"/>
              </a:spcBef>
              <a:spcAft>
                <a:spcPts val="100"/>
              </a:spcAft>
            </a:pPr>
            <a:r>
              <a:rPr sz="1600" b="1">
                <a:solidFill>
                  <a:srgbClr val="C2516B"/>
                </a:solidFill>
                <a:latin typeface="Calibri"/>
              </a:rPr>
              <a:t>Essais</a:t>
            </a:r>
          </a:p>
        </p:txBody>
      </p:sp>
      <p:sp>
        <p:nvSpPr>
          <p:cNvPr id="24" name="TextBox 23"/>
          <p:cNvSpPr txBox="1"/>
          <p:nvPr/>
        </p:nvSpPr>
        <p:spPr>
          <a:xfrm>
            <a:off x="3749039" y="4873752"/>
            <a:ext cx="7498079" cy="475488"/>
          </a:xfrm>
          <a:prstGeom prst="rect">
            <a:avLst/>
          </a:prstGeom>
          <a:noFill/>
        </p:spPr>
        <p:txBody>
          <a:bodyPr wrap="square" lIns="0" rIns="0" tIns="0" bIns="0" anchor="ctr"/>
          <a:lstStyle/>
          <a:p>
            <a:pPr algn="l">
              <a:spcBef>
                <a:spcPts val="0"/>
              </a:spcBef>
              <a:spcAft>
                <a:spcPts val="100"/>
              </a:spcAft>
            </a:pPr>
            <a:r>
              <a:rPr sz="1800" b="0">
                <a:solidFill>
                  <a:srgbClr val="2A211F"/>
                </a:solidFill>
                <a:latin typeface="Calibri"/>
              </a:rPr>
              <a:t>lamraoui.alwaysdata.net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38912" y="201168"/>
            <a:ext cx="11155680" cy="420624"/>
          </a:xfrm>
          <a:prstGeom prst="rect">
            <a:avLst/>
          </a:prstGeom>
          <a:noFill/>
        </p:spPr>
        <p:txBody>
          <a:bodyPr wrap="square" lIns="0" rIns="0" tIns="0" bIns="0" anchor="t"/>
          <a:lstStyle/>
          <a:p>
            <a:pPr algn="l">
              <a:spcBef>
                <a:spcPts val="0"/>
              </a:spcBef>
              <a:spcAft>
                <a:spcPts val="100"/>
              </a:spcAft>
            </a:pPr>
            <a:r>
              <a:rPr sz="2800" b="1">
                <a:solidFill>
                  <a:srgbClr val="3A2428"/>
                </a:solidFill>
                <a:latin typeface="Calibri"/>
              </a:rPr>
              <a:t>Bilan</a:t>
            </a:r>
          </a:p>
        </p:txBody>
      </p:sp>
      <p:sp>
        <p:nvSpPr>
          <p:cNvPr id="5" name="TextBox 4"/>
          <p:cNvSpPr txBox="1"/>
          <p:nvPr/>
        </p:nvSpPr>
        <p:spPr>
          <a:xfrm>
            <a:off x="411480" y="6053328"/>
            <a:ext cx="9692640" cy="256032"/>
          </a:xfrm>
          <a:prstGeom prst="rect">
            <a:avLst/>
          </a:prstGeom>
          <a:noFill/>
        </p:spPr>
        <p:txBody>
          <a:bodyPr wrap="square" lIns="0" rIns="0" tIns="0" bIns="0" anchor="ctr"/>
          <a:lstStyle/>
          <a:p>
            <a:pPr algn="l">
              <a:spcBef>
                <a:spcPts val="0"/>
              </a:spcBef>
              <a:spcAft>
                <a:spcPts val="100"/>
              </a:spcAft>
            </a:pPr>
            <a:r>
              <a:rPr sz="1200" b="0">
                <a:solidFill>
                  <a:srgbClr val="C2516B"/>
                </a:solidFill>
                <a:latin typeface="Calibri"/>
              </a:rPr>
              <a:t>Réponse à la question</a:t>
            </a:r>
          </a:p>
        </p:txBody>
      </p:sp>
      <p:sp>
        <p:nvSpPr>
          <p:cNvPr id="6" name="Rectangle 5"/>
          <p:cNvSpPr/>
          <p:nvPr/>
        </p:nvSpPr>
        <p:spPr>
          <a:xfrm>
            <a:off x="411480" y="6364224"/>
            <a:ext cx="11338560" cy="13716"/>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7315200" cy="292608"/>
          </a:xfrm>
          <a:prstGeom prst="rect">
            <a:avLst/>
          </a:prstGeom>
          <a:noFill/>
        </p:spPr>
        <p:txBody>
          <a:bodyPr wrap="square" lIns="0" rIns="0" tIns="0" bIns="0" anchor="ctr"/>
          <a:lstStyle/>
          <a:p>
            <a:pPr algn="l">
              <a:spcBef>
                <a:spcPts val="0"/>
              </a:spcBef>
              <a:spcAft>
                <a:spcPts val="100"/>
              </a:spcAft>
            </a:pPr>
            <a:r>
              <a:rPr sz="1200" b="0">
                <a:solidFill>
                  <a:srgbClr val="8A736C"/>
                </a:solidFill>
                <a:latin typeface="Calibri"/>
              </a:rPr>
              <a:t>Briefly    ·    Chiraz Lamraoui    ·    27 octobre 2026</a:t>
            </a:r>
          </a:p>
        </p:txBody>
      </p:sp>
      <p:sp>
        <p:nvSpPr>
          <p:cNvPr id="8" name="Oval 7"/>
          <p:cNvSpPr/>
          <p:nvPr/>
        </p:nvSpPr>
        <p:spPr>
          <a:xfrm>
            <a:off x="11109960" y="6419088"/>
            <a:ext cx="347472" cy="347472"/>
          </a:xfrm>
          <a:prstGeom prst="ellipse">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09960" y="6455664"/>
            <a:ext cx="347472" cy="274320"/>
          </a:xfrm>
          <a:prstGeom prst="rect">
            <a:avLst/>
          </a:prstGeom>
          <a:noFill/>
        </p:spPr>
        <p:txBody>
          <a:bodyPr wrap="square" lIns="0" rIns="0" tIns="0" bIns="0" anchor="t"/>
          <a:lstStyle/>
          <a:p>
            <a:pPr algn="ctr">
              <a:spcBef>
                <a:spcPts val="0"/>
              </a:spcBef>
              <a:spcAft>
                <a:spcPts val="100"/>
              </a:spcAft>
            </a:pPr>
            <a:r>
              <a:rPr sz="1100" b="1">
                <a:solidFill>
                  <a:srgbClr val="FFFCFA"/>
                </a:solidFill>
                <a:latin typeface="Calibri"/>
              </a:rPr>
              <a:t>30</a:t>
            </a:r>
          </a:p>
        </p:txBody>
      </p:sp>
      <p:sp>
        <p:nvSpPr>
          <p:cNvPr id="10" name="Rounded Rectangle 9"/>
          <p:cNvSpPr/>
          <p:nvPr/>
        </p:nvSpPr>
        <p:spPr>
          <a:xfrm>
            <a:off x="411480" y="1051560"/>
            <a:ext cx="8686800" cy="19659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188720"/>
            <a:ext cx="8229600" cy="274320"/>
          </a:xfrm>
          <a:prstGeom prst="rect">
            <a:avLst/>
          </a:prstGeom>
          <a:noFill/>
        </p:spPr>
        <p:txBody>
          <a:bodyPr wrap="square" lIns="0" rIns="0" tIns="0" bIns="0" anchor="t"/>
          <a:lstStyle/>
          <a:p>
            <a:pPr algn="l">
              <a:spcBef>
                <a:spcPts val="0"/>
              </a:spcBef>
              <a:spcAft>
                <a:spcPts val="100"/>
              </a:spcAft>
            </a:pPr>
            <a:r>
              <a:rPr sz="1400" b="1">
                <a:solidFill>
                  <a:srgbClr val="C2516B"/>
                </a:solidFill>
                <a:latin typeface="Calibri"/>
              </a:rPr>
              <a:t>Réponse</a:t>
            </a:r>
          </a:p>
        </p:txBody>
      </p:sp>
      <p:sp>
        <p:nvSpPr>
          <p:cNvPr id="12" name="TextBox 11"/>
          <p:cNvSpPr txBox="1"/>
          <p:nvPr/>
        </p:nvSpPr>
        <p:spPr>
          <a:xfrm>
            <a:off x="640080" y="1600200"/>
            <a:ext cx="8229600" cy="1097280"/>
          </a:xfrm>
          <a:prstGeom prst="rect">
            <a:avLst/>
          </a:prstGeom>
          <a:noFill/>
        </p:spPr>
        <p:txBody>
          <a:bodyPr wrap="square" lIns="0" rIns="0" tIns="0" bIns="0" anchor="t"/>
          <a:lstStyle/>
          <a:p>
            <a:pPr algn="l">
              <a:spcBef>
                <a:spcPts val="0"/>
              </a:spcBef>
              <a:spcAft>
                <a:spcPts val="100"/>
              </a:spcAft>
            </a:pPr>
            <a:r>
              <a:rPr sz="1800" b="0">
                <a:solidFill>
                  <a:srgbClr val="2A211F"/>
                </a:solidFill>
                <a:latin typeface="Calibri"/>
              </a:rPr>
              <a:t>Suivi quotidien, sur la tâche, web et mobile,</a:t>
            </a:r>
          </a:p>
          <a:p>
            <a:pPr algn="l">
              <a:spcBef>
                <a:spcPts val="0"/>
              </a:spcBef>
              <a:spcAft>
                <a:spcPts val="100"/>
              </a:spcAft>
            </a:pPr>
            <a:r>
              <a:rPr sz="1800" b="0">
                <a:solidFill>
                  <a:srgbClr val="2A211F"/>
                </a:solidFill>
                <a:latin typeface="Calibri"/>
              </a:rPr>
              <a:t>avec des rôles distincts. Pas d'inscription publique.</a:t>
            </a:r>
          </a:p>
        </p:txBody>
      </p:sp>
      <p:pic>
        <p:nvPicPr>
          <p:cNvPr id="13" name="Picture 12" descr="phone.png"/>
          <p:cNvPicPr>
            <a:picLocks noChangeAspect="1"/>
          </p:cNvPicPr>
          <p:nvPr/>
        </p:nvPicPr>
        <p:blipFill>
          <a:blip r:embed="rId3"/>
          <a:stretch>
            <a:fillRect/>
          </a:stretch>
        </p:blipFill>
        <p:spPr>
          <a:xfrm>
            <a:off x="10004450" y="1051560"/>
            <a:ext cx="1022299" cy="1965960"/>
          </a:xfrm>
          <a:prstGeom prst="rect">
            <a:avLst/>
          </a:prstGeom>
        </p:spPr>
      </p:pic>
      <p:sp>
        <p:nvSpPr>
          <p:cNvPr id="14" name="Rounded Rectangle 13"/>
          <p:cNvSpPr/>
          <p:nvPr/>
        </p:nvSpPr>
        <p:spPr>
          <a:xfrm>
            <a:off x="411480" y="3200400"/>
            <a:ext cx="5623560" cy="17373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337560"/>
            <a:ext cx="5212080" cy="274320"/>
          </a:xfrm>
          <a:prstGeom prst="rect">
            <a:avLst/>
          </a:prstGeom>
          <a:noFill/>
        </p:spPr>
        <p:txBody>
          <a:bodyPr wrap="square" lIns="0" rIns="0" tIns="0" bIns="0" anchor="t"/>
          <a:lstStyle/>
          <a:p>
            <a:pPr algn="l">
              <a:spcBef>
                <a:spcPts val="0"/>
              </a:spcBef>
              <a:spcAft>
                <a:spcPts val="100"/>
              </a:spcAft>
            </a:pPr>
            <a:r>
              <a:rPr sz="1400" b="1">
                <a:solidFill>
                  <a:srgbClr val="C2516B"/>
                </a:solidFill>
                <a:latin typeface="Calibri"/>
              </a:rPr>
              <a:t>Technique</a:t>
            </a:r>
          </a:p>
        </p:txBody>
      </p:sp>
      <p:sp>
        <p:nvSpPr>
          <p:cNvPr id="16" name="TextBox 15"/>
          <p:cNvSpPr txBox="1"/>
          <p:nvPr/>
        </p:nvSpPr>
        <p:spPr>
          <a:xfrm>
            <a:off x="640080" y="3703320"/>
            <a:ext cx="5212080" cy="100584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Besoins, diagrammes, Scrum</a:t>
            </a:r>
          </a:p>
          <a:p>
            <a:pPr algn="l">
              <a:spcBef>
                <a:spcPts val="0"/>
              </a:spcBef>
              <a:spcAft>
                <a:spcPts val="100"/>
              </a:spcAft>
            </a:pPr>
            <a:r>
              <a:rPr sz="1600" b="0">
                <a:solidFill>
                  <a:srgbClr val="2A211F"/>
                </a:solidFill>
                <a:latin typeface="Calibri"/>
              </a:rPr>
              <a:t>Laravel, Flutter, PHPUnit</a:t>
            </a:r>
          </a:p>
        </p:txBody>
      </p:sp>
      <p:sp>
        <p:nvSpPr>
          <p:cNvPr id="17" name="Rounded Rectangle 16"/>
          <p:cNvSpPr/>
          <p:nvPr/>
        </p:nvSpPr>
        <p:spPr>
          <a:xfrm>
            <a:off x="6217920" y="3200400"/>
            <a:ext cx="5486400" cy="173736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337560"/>
            <a:ext cx="5029200" cy="274320"/>
          </a:xfrm>
          <a:prstGeom prst="rect">
            <a:avLst/>
          </a:prstGeom>
          <a:noFill/>
        </p:spPr>
        <p:txBody>
          <a:bodyPr wrap="square" lIns="0" rIns="0" tIns="0" bIns="0" anchor="t"/>
          <a:lstStyle/>
          <a:p>
            <a:pPr algn="l">
              <a:spcBef>
                <a:spcPts val="0"/>
              </a:spcBef>
              <a:spcAft>
                <a:spcPts val="100"/>
              </a:spcAft>
            </a:pPr>
            <a:r>
              <a:rPr sz="1400" b="1">
                <a:solidFill>
                  <a:srgbClr val="C2516B"/>
                </a:solidFill>
                <a:latin typeface="Calibri"/>
              </a:rPr>
              <a:t>Professionnel</a:t>
            </a:r>
          </a:p>
        </p:txBody>
      </p:sp>
      <p:sp>
        <p:nvSpPr>
          <p:cNvPr id="19" name="TextBox 18"/>
          <p:cNvSpPr txBox="1"/>
          <p:nvPr/>
        </p:nvSpPr>
        <p:spPr>
          <a:xfrm>
            <a:off x="6446520" y="3703320"/>
            <a:ext cx="5029200" cy="1005840"/>
          </a:xfrm>
          <a:prstGeom prst="rect">
            <a:avLst/>
          </a:prstGeom>
          <a:noFill/>
        </p:spPr>
        <p:txBody>
          <a:bodyPr wrap="square" lIns="0" rIns="0" tIns="0" bIns="0" anchor="t"/>
          <a:lstStyle/>
          <a:p>
            <a:pPr algn="l">
              <a:spcBef>
                <a:spcPts val="0"/>
              </a:spcBef>
              <a:spcAft>
                <a:spcPts val="100"/>
              </a:spcAft>
            </a:pPr>
            <a:r>
              <a:rPr sz="1600" b="0">
                <a:solidFill>
                  <a:srgbClr val="2A211F"/>
                </a:solidFill>
                <a:latin typeface="Calibri"/>
              </a:rPr>
              <a:t>Du besoin jusqu'aux tests</a:t>
            </a:r>
          </a:p>
          <a:p>
            <a:pPr algn="l">
              <a:spcBef>
                <a:spcPts val="0"/>
              </a:spcBef>
              <a:spcAft>
                <a:spcPts val="100"/>
              </a:spcAft>
            </a:pPr>
            <a:r>
              <a:rPr sz="1600" b="0">
                <a:solidFill>
                  <a:srgbClr val="2A211F"/>
                </a:solidFill>
                <a:latin typeface="Calibri"/>
              </a:rPr>
              <a:t>Front-end et parrainage à côté</a:t>
            </a:r>
          </a:p>
        </p:txBody>
      </p:sp>
      <p:sp>
        <p:nvSpPr>
          <p:cNvPr id="20" name="Rounded Rectangle 19"/>
          <p:cNvSpPr/>
          <p:nvPr/>
        </p:nvSpPr>
        <p:spPr>
          <a:xfrm>
            <a:off x="411480" y="5120640"/>
            <a:ext cx="11292840" cy="731520"/>
          </a:xfrm>
          <a:prstGeom prst="roundRect">
            <a:avLst>
              <a:gd name="adj" fmla="val 8000"/>
            </a:avLst>
          </a:prstGeom>
          <a:solidFill>
            <a:srgbClr val="FFFCFA"/>
          </a:solidFill>
          <a:ln w="15875">
            <a:solidFill>
              <a:srgbClr val="E4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257800"/>
            <a:ext cx="10881360" cy="457200"/>
          </a:xfrm>
          <a:prstGeom prst="rect">
            <a:avLst/>
          </a:prstGeom>
          <a:noFill/>
        </p:spPr>
        <p:txBody>
          <a:bodyPr wrap="square" lIns="0" rIns="0" tIns="0" bIns="0" anchor="ctr"/>
          <a:lstStyle/>
          <a:p>
            <a:pPr algn="l">
              <a:spcBef>
                <a:spcPts val="0"/>
              </a:spcBef>
              <a:spcAft>
                <a:spcPts val="100"/>
              </a:spcAft>
            </a:pPr>
            <a:r>
              <a:rPr sz="1500" b="0">
                <a:solidFill>
                  <a:srgbClr val="8A736C"/>
                </a:solidFill>
                <a:latin typeface="Calibri"/>
              </a:rPr>
              <a:t>Pas livré    notification, brief du jour, export, expiration des jetons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937760" y="2331720"/>
            <a:ext cx="2286000" cy="2286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606040"/>
            <a:ext cx="9966960" cy="1463040"/>
          </a:xfrm>
          <a:prstGeom prst="rect">
            <a:avLst/>
          </a:prstGeom>
          <a:noFill/>
        </p:spPr>
        <p:txBody>
          <a:bodyPr wrap="square" lIns="0" rIns="0" tIns="0" bIns="0" anchor="t"/>
          <a:lstStyle/>
          <a:p>
            <a:pPr algn="ctr">
              <a:spcBef>
                <a:spcPts val="0"/>
              </a:spcBef>
              <a:spcAft>
                <a:spcPts val="100"/>
              </a:spcAft>
            </a:pPr>
            <a:r>
              <a:rPr sz="2800" b="1">
                <a:solidFill>
                  <a:srgbClr val="3A2428"/>
                </a:solidFill>
                <a:latin typeface="Calibri"/>
              </a:rPr>
              <a:t>Merci pour votre attention.</a:t>
            </a:r>
          </a:p>
          <a:p>
            <a:pPr algn="ctr">
              <a:spcBef>
                <a:spcPts val="0"/>
              </a:spcBef>
              <a:spcAft>
                <a:spcPts val="100"/>
              </a:spcAft>
            </a:pPr>
            <a:r>
              <a:rPr sz="2800" b="1">
                <a:solidFill>
                  <a:srgbClr val="3A2428"/>
                </a:solidFill>
                <a:latin typeface="Calibri"/>
              </a:rPr>
              <a:t>Je suis à votre disposition pour vos questions.</a:t>
            </a:r>
          </a:p>
        </p:txBody>
      </p:sp>
      <p:sp>
        <p:nvSpPr>
          <p:cNvPr id="6" name="Rectangle 5"/>
          <p:cNvSpPr/>
          <p:nvPr/>
        </p:nvSpPr>
        <p:spPr>
          <a:xfrm>
            <a:off x="4937760" y="4297680"/>
            <a:ext cx="2286000" cy="22860"/>
          </a:xfrm>
          <a:prstGeom prst="rect">
            <a:avLst/>
          </a:prstGeom>
          <a:solidFill>
            <a:srgbClr val="C251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4663440"/>
            <a:ext cx="9966960" cy="365760"/>
          </a:xfrm>
          <a:prstGeom prst="rect">
            <a:avLst/>
          </a:prstGeom>
          <a:noFill/>
        </p:spPr>
        <p:txBody>
          <a:bodyPr wrap="square" lIns="0" rIns="0" tIns="0" bIns="0" anchor="t"/>
          <a:lstStyle/>
          <a:p>
            <a:pPr algn="ctr">
              <a:spcBef>
                <a:spcPts val="0"/>
              </a:spcBef>
              <a:spcAft>
                <a:spcPts val="100"/>
              </a:spcAft>
            </a:pPr>
            <a:r>
              <a:rPr sz="1600" b="0">
                <a:solidFill>
                  <a:srgbClr val="8A736C"/>
                </a:solidFill>
                <a:latin typeface="Calibri"/>
              </a:rPr>
              <a:t>Chiraz Lamraoui    ·    Briefly    ·    27 octobre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Briefly, soutenance 40 minutes</dc:title>
  <dc:subject/>
  <dc:creator>Chiraz Lamraoui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